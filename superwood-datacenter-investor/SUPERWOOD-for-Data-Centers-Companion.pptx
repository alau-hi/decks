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1.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a:t>
            </a:r>
            <a:pPr indent="0" marL="0">
              <a:buNone/>
            </a:pPr>
            <a:r>
              <a:rPr lang="en-US" sz="2300" i="1" dirty="0">
                <a:solidFill>
                  <a:srgbClr val="E2B877"/>
                </a:solidFill>
                <a:latin typeface="Georgia" pitchFamily="34" charset="0"/>
                <a:ea typeface="Georgia" pitchFamily="34" charset="-122"/>
                <a:cs typeface="Georgia" pitchFamily="34" charset="-120"/>
              </a:rPr>
              <a:t>Two of the complaints are about the building.</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DEAL WITH TWO OF THE COMPLAINTS</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5074920"/>
            <a:ext cx="6583680" cy="640080"/>
          </a:xfrm>
          <a:prstGeom prst="roundRect">
            <a:avLst>
              <a:gd name="adj" fmla="val 12857"/>
            </a:avLst>
          </a:prstGeom>
          <a:solidFill>
            <a:srgbClr val="261A0F"/>
          </a:solidFill>
          <a:ln/>
        </p:spPr>
      </p:sp>
      <p:sp>
        <p:nvSpPr>
          <p:cNvPr id="16" name="Text 14"/>
          <p:cNvSpPr/>
          <p:nvPr/>
        </p:nvSpPr>
        <p:spPr>
          <a:xfrm>
            <a:off x="731520" y="5120640"/>
            <a:ext cx="6217920" cy="54864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Entitlement is where hyperscalers lose time. Power, water and rates are outside our scope.</a:t>
            </a:r>
            <a:endParaRPr lang="en-US" sz="1100" dirty="0"/>
          </a:p>
        </p:txBody>
      </p:sp>
      <p:sp>
        <p:nvSpPr>
          <p:cNvPr id="17" name="Text 15"/>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8" name="Shape 16"/>
          <p:cNvSpPr/>
          <p:nvPr/>
        </p:nvSpPr>
        <p:spPr>
          <a:xfrm>
            <a:off x="7315200" y="2331720"/>
            <a:ext cx="4343400" cy="1554480"/>
          </a:xfrm>
          <a:prstGeom prst="roundRect">
            <a:avLst>
              <a:gd name="adj" fmla="val 5294"/>
            </a:avLst>
          </a:prstGeom>
          <a:solidFill>
            <a:srgbClr val="2E2113"/>
          </a:solidFill>
          <a:ln/>
        </p:spPr>
      </p:sp>
      <p:sp>
        <p:nvSpPr>
          <p:cNvPr id="19" name="Text 17"/>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0" name="Text 18"/>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1" name="Shape 19"/>
          <p:cNvSpPr/>
          <p:nvPr/>
        </p:nvSpPr>
        <p:spPr>
          <a:xfrm>
            <a:off x="7315200" y="4023360"/>
            <a:ext cx="4343400" cy="1554480"/>
          </a:xfrm>
          <a:prstGeom prst="roundRect">
            <a:avLst>
              <a:gd name="adj" fmla="val 5294"/>
            </a:avLst>
          </a:prstGeom>
          <a:solidFill>
            <a:srgbClr val="2E2113"/>
          </a:solidFill>
          <a:ln/>
        </p:spPr>
      </p:sp>
      <p:sp>
        <p:nvSpPr>
          <p:cNvPr id="22" name="Text 20"/>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3" name="Text 21"/>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4" name="Text 22"/>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FIT</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How much SUPERWOOD could a 1 GW data center require?</a:t>
            </a:r>
            <a:endParaRPr lang="en-US" sz="2700" dirty="0"/>
          </a:p>
        </p:txBody>
      </p:sp>
      <p:pic>
        <p:nvPicPr>
          <p:cNvPr id="6" name="Image 0" descr="prep/charts/worth.png">    </p:cNvPr>
          <p:cNvPicPr>
            <a:picLocks noChangeAspect="1"/>
          </p:cNvPicPr>
          <p:nvPr/>
        </p:nvPicPr>
        <p:blipFill>
          <a:blip r:embed="rId1"/>
          <a:stretch>
            <a:fillRect/>
          </a:stretch>
        </p:blipFill>
        <p:spPr>
          <a:xfrm>
            <a:off x="502920" y="1965960"/>
            <a:ext cx="4572000" cy="2232837"/>
          </a:xfrm>
          <a:prstGeom prst="rect">
            <a:avLst/>
          </a:prstGeom>
        </p:spPr>
      </p:pic>
      <p:sp>
        <p:nvSpPr>
          <p:cNvPr id="7" name="Text 4"/>
          <p:cNvSpPr/>
          <p:nvPr/>
        </p:nvSpPr>
        <p:spPr>
          <a:xfrm>
            <a:off x="5394960" y="1737360"/>
            <a:ext cx="201168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HORIZON</a:t>
            </a:r>
            <a:endParaRPr lang="en-US" sz="900" dirty="0"/>
          </a:p>
        </p:txBody>
      </p:sp>
      <p:sp>
        <p:nvSpPr>
          <p:cNvPr id="8" name="Text 5"/>
          <p:cNvSpPr/>
          <p:nvPr/>
        </p:nvSpPr>
        <p:spPr>
          <a:xfrm>
            <a:off x="749808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INCUMBENT REPLACED</a:t>
            </a:r>
            <a:endParaRPr lang="en-US" sz="900" dirty="0"/>
          </a:p>
        </p:txBody>
      </p:sp>
      <p:sp>
        <p:nvSpPr>
          <p:cNvPr id="9" name="Text 6"/>
          <p:cNvSpPr/>
          <p:nvPr/>
        </p:nvSpPr>
        <p:spPr>
          <a:xfrm>
            <a:off x="877824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SUPERWOOD REQUIRED</a:t>
            </a:r>
            <a:endParaRPr lang="en-US" sz="900" dirty="0"/>
          </a:p>
        </p:txBody>
      </p:sp>
      <p:sp>
        <p:nvSpPr>
          <p:cNvPr id="10" name="Text 7"/>
          <p:cNvSpPr/>
          <p:nvPr/>
        </p:nvSpPr>
        <p:spPr>
          <a:xfrm>
            <a:off x="10058400" y="1737360"/>
            <a:ext cx="160020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PLANT-YEARS</a:t>
            </a:r>
            <a:endParaRPr lang="en-US" sz="900" dirty="0"/>
          </a:p>
        </p:txBody>
      </p:sp>
      <p:sp>
        <p:nvSpPr>
          <p:cNvPr id="11" name="Shape 8"/>
          <p:cNvSpPr/>
          <p:nvPr/>
        </p:nvSpPr>
        <p:spPr>
          <a:xfrm>
            <a:off x="5394960" y="2258568"/>
            <a:ext cx="6263640" cy="10973"/>
          </a:xfrm>
          <a:prstGeom prst="rect">
            <a:avLst/>
          </a:prstGeom>
          <a:solidFill>
            <a:srgbClr val="3A2B1A"/>
          </a:solidFill>
          <a:ln/>
        </p:spPr>
      </p:sp>
      <p:sp>
        <p:nvSpPr>
          <p:cNvPr id="12" name="Text 9"/>
          <p:cNvSpPr/>
          <p:nvPr/>
        </p:nvSpPr>
        <p:spPr>
          <a:xfrm>
            <a:off x="5394960" y="2331720"/>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Immediate — skins, screens, fences</a:t>
            </a:r>
            <a:endParaRPr lang="en-US" sz="1200" dirty="0"/>
          </a:p>
        </p:txBody>
      </p:sp>
      <p:sp>
        <p:nvSpPr>
          <p:cNvPr id="13" name="Text 10"/>
          <p:cNvSpPr/>
          <p:nvPr/>
        </p:nvSpPr>
        <p:spPr>
          <a:xfrm>
            <a:off x="749808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3,300–12,000 tons</a:t>
            </a:r>
            <a:endParaRPr lang="en-US" sz="1150" dirty="0"/>
          </a:p>
        </p:txBody>
      </p:sp>
      <p:sp>
        <p:nvSpPr>
          <p:cNvPr id="14" name="Text 11"/>
          <p:cNvSpPr/>
          <p:nvPr/>
        </p:nvSpPr>
        <p:spPr>
          <a:xfrm>
            <a:off x="877824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1,200–2,700 tons (1.4–3.1M sf)</a:t>
            </a:r>
            <a:endParaRPr lang="en-US" sz="1150" dirty="0"/>
          </a:p>
        </p:txBody>
      </p:sp>
      <p:sp>
        <p:nvSpPr>
          <p:cNvPr id="15" name="Text 12"/>
          <p:cNvSpPr/>
          <p:nvPr/>
        </p:nvSpPr>
        <p:spPr>
          <a:xfrm>
            <a:off x="10058400" y="2331720"/>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1.4–3.1 yr of SuperMill One</a:t>
            </a:r>
            <a:endParaRPr lang="en-US" sz="1150" dirty="0"/>
          </a:p>
        </p:txBody>
      </p:sp>
      <p:sp>
        <p:nvSpPr>
          <p:cNvPr id="16" name="Shape 13"/>
          <p:cNvSpPr/>
          <p:nvPr/>
        </p:nvSpPr>
        <p:spPr>
          <a:xfrm>
            <a:off x="5394960" y="3008376"/>
            <a:ext cx="6263640" cy="10973"/>
          </a:xfrm>
          <a:prstGeom prst="rect">
            <a:avLst/>
          </a:prstGeom>
          <a:solidFill>
            <a:srgbClr val="3A2B1A"/>
          </a:solidFill>
          <a:ln/>
        </p:spPr>
      </p:sp>
      <p:sp>
        <p:nvSpPr>
          <p:cNvPr id="17" name="Text 14"/>
          <p:cNvSpPr/>
          <p:nvPr/>
        </p:nvSpPr>
        <p:spPr>
          <a:xfrm>
            <a:off x="5394960" y="3081528"/>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Soon — racks, platforms, barriers</a:t>
            </a:r>
            <a:endParaRPr lang="en-US" sz="1200" dirty="0"/>
          </a:p>
        </p:txBody>
      </p:sp>
      <p:sp>
        <p:nvSpPr>
          <p:cNvPr id="18" name="Text 15"/>
          <p:cNvSpPr/>
          <p:nvPr/>
        </p:nvSpPr>
        <p:spPr>
          <a:xfrm>
            <a:off x="749808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12,000–30,000 tons</a:t>
            </a:r>
            <a:endParaRPr lang="en-US" sz="1150" dirty="0"/>
          </a:p>
        </p:txBody>
      </p:sp>
      <p:sp>
        <p:nvSpPr>
          <p:cNvPr id="19" name="Text 16"/>
          <p:cNvSpPr/>
          <p:nvPr/>
        </p:nvSpPr>
        <p:spPr>
          <a:xfrm>
            <a:off x="877824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3,500–18,000 tons</a:t>
            </a:r>
            <a:endParaRPr lang="en-US" sz="1150" dirty="0"/>
          </a:p>
        </p:txBody>
      </p:sp>
      <p:sp>
        <p:nvSpPr>
          <p:cNvPr id="20" name="Text 17"/>
          <p:cNvSpPr/>
          <p:nvPr/>
        </p:nvSpPr>
        <p:spPr>
          <a:xfrm>
            <a:off x="10058400" y="3081528"/>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0.1–0.6 yr of SuperMill Two</a:t>
            </a:r>
            <a:endParaRPr lang="en-US" sz="1150" dirty="0"/>
          </a:p>
        </p:txBody>
      </p:sp>
      <p:sp>
        <p:nvSpPr>
          <p:cNvPr id="21" name="Shape 18"/>
          <p:cNvSpPr/>
          <p:nvPr/>
        </p:nvSpPr>
        <p:spPr>
          <a:xfrm>
            <a:off x="5394960" y="3758184"/>
            <a:ext cx="6263640" cy="10973"/>
          </a:xfrm>
          <a:prstGeom prst="rect">
            <a:avLst/>
          </a:prstGeom>
          <a:solidFill>
            <a:srgbClr val="3A2B1A"/>
          </a:solidFill>
          <a:ln/>
        </p:spPr>
      </p:sp>
      <p:sp>
        <p:nvSpPr>
          <p:cNvPr id="22" name="Text 19"/>
          <p:cNvSpPr/>
          <p:nvPr/>
        </p:nvSpPr>
        <p:spPr>
          <a:xfrm>
            <a:off x="5394960" y="3831336"/>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Medium term — frame, roofs, enclosures</a:t>
            </a:r>
            <a:endParaRPr lang="en-US" sz="1200" dirty="0"/>
          </a:p>
        </p:txBody>
      </p:sp>
      <p:sp>
        <p:nvSpPr>
          <p:cNvPr id="23" name="Text 20"/>
          <p:cNvSpPr/>
          <p:nvPr/>
        </p:nvSpPr>
        <p:spPr>
          <a:xfrm>
            <a:off x="749808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53,000–108,000 tons</a:t>
            </a:r>
            <a:endParaRPr lang="en-US" sz="1150" dirty="0"/>
          </a:p>
        </p:txBody>
      </p:sp>
      <p:sp>
        <p:nvSpPr>
          <p:cNvPr id="24" name="Text 21"/>
          <p:cNvSpPr/>
          <p:nvPr/>
        </p:nvSpPr>
        <p:spPr>
          <a:xfrm>
            <a:off x="877824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16,000–65,000 tons</a:t>
            </a:r>
            <a:endParaRPr lang="en-US" sz="1150" dirty="0"/>
          </a:p>
        </p:txBody>
      </p:sp>
      <p:sp>
        <p:nvSpPr>
          <p:cNvPr id="25" name="Text 22"/>
          <p:cNvSpPr/>
          <p:nvPr/>
        </p:nvSpPr>
        <p:spPr>
          <a:xfrm>
            <a:off x="10058400" y="3831336"/>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0.5–2.1 yr of SuperMill Two</a:t>
            </a:r>
            <a:endParaRPr lang="en-US" sz="1150" dirty="0"/>
          </a:p>
        </p:txBody>
      </p:sp>
      <p:sp>
        <p:nvSpPr>
          <p:cNvPr id="26" name="Shape 23"/>
          <p:cNvSpPr/>
          <p:nvPr/>
        </p:nvSpPr>
        <p:spPr>
          <a:xfrm>
            <a:off x="5394960" y="4507992"/>
            <a:ext cx="6263640" cy="10973"/>
          </a:xfrm>
          <a:prstGeom prst="rect">
            <a:avLst/>
          </a:prstGeom>
          <a:solidFill>
            <a:srgbClr val="3A2B1A"/>
          </a:solidFill>
          <a:ln/>
        </p:spPr>
      </p:sp>
      <p:sp>
        <p:nvSpPr>
          <p:cNvPr id="27" name="Text 24"/>
          <p:cNvSpPr/>
          <p:nvPr/>
        </p:nvSpPr>
        <p:spPr>
          <a:xfrm>
            <a:off x="5394960" y="4581144"/>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Long term — slab, foundations, server boxes</a:t>
            </a:r>
            <a:endParaRPr lang="en-US" sz="1200" dirty="0"/>
          </a:p>
        </p:txBody>
      </p:sp>
      <p:sp>
        <p:nvSpPr>
          <p:cNvPr id="28" name="Text 25"/>
          <p:cNvSpPr/>
          <p:nvPr/>
        </p:nvSpPr>
        <p:spPr>
          <a:xfrm>
            <a:off x="749808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1,002,000–2,089,000 tons</a:t>
            </a:r>
            <a:endParaRPr lang="en-US" sz="1150" dirty="0"/>
          </a:p>
        </p:txBody>
      </p:sp>
      <p:sp>
        <p:nvSpPr>
          <p:cNvPr id="29" name="Text 26"/>
          <p:cNvSpPr/>
          <p:nvPr/>
        </p:nvSpPr>
        <p:spPr>
          <a:xfrm>
            <a:off x="877824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58,000–362,000 tons</a:t>
            </a:r>
            <a:endParaRPr lang="en-US" sz="1150" dirty="0"/>
          </a:p>
        </p:txBody>
      </p:sp>
      <p:sp>
        <p:nvSpPr>
          <p:cNvPr id="30" name="Text 27"/>
          <p:cNvSpPr/>
          <p:nvPr/>
        </p:nvSpPr>
        <p:spPr>
          <a:xfrm>
            <a:off x="10058400" y="4581144"/>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1.8–12 yr of SuperMill Two</a:t>
            </a:r>
            <a:endParaRPr lang="en-US" sz="1150" dirty="0"/>
          </a:p>
        </p:txBody>
      </p:sp>
      <p:sp>
        <p:nvSpPr>
          <p:cNvPr id="31" name="Shape 28"/>
          <p:cNvSpPr/>
          <p:nvPr/>
        </p:nvSpPr>
        <p:spPr>
          <a:xfrm>
            <a:off x="502920" y="5440680"/>
            <a:ext cx="11155680" cy="640080"/>
          </a:xfrm>
          <a:prstGeom prst="roundRect">
            <a:avLst>
              <a:gd name="adj" fmla="val 12857"/>
            </a:avLst>
          </a:prstGeom>
          <a:solidFill>
            <a:srgbClr val="261A0F"/>
          </a:solidFill>
          <a:ln/>
        </p:spPr>
      </p:sp>
      <p:sp>
        <p:nvSpPr>
          <p:cNvPr id="32" name="Text 29"/>
          <p:cNvSpPr/>
          <p:nvPr/>
        </p:nvSpPr>
        <p:spPr>
          <a:xfrm>
            <a:off x="777240" y="5486400"/>
            <a:ext cx="10607040" cy="548640"/>
          </a:xfrm>
          <a:prstGeom prst="rect">
            <a:avLst/>
          </a:prstGeom>
          <a:noFill/>
          <a:ln/>
        </p:spPr>
        <p:txBody>
          <a:bodyPr wrap="square" lIns="0" tIns="0" rIns="0" bIns="0" rtlCol="0" anchor="ctr"/>
          <a:lstStyle/>
          <a:p>
            <a:pPr indent="0" marL="0">
              <a:buNone/>
            </a:pPr>
            <a:r>
              <a:rPr lang="en-US" sz="1200" b="1" dirty="0">
                <a:solidFill>
                  <a:srgbClr val="E2B877"/>
                </a:solidFill>
                <a:latin typeface="Calibri" pitchFamily="34" charset="0"/>
                <a:ea typeface="Calibri" pitchFamily="34" charset="-122"/>
                <a:cs typeface="Calibri" pitchFamily="34" charset="-120"/>
              </a:rPr>
              <a:t>Two or three gigawatts of data center would take all of SuperMill Two's output for years.  </a:t>
            </a:r>
            <a:pPr indent="0" marL="0">
              <a:buNone/>
            </a:pPr>
            <a:r>
              <a:rPr lang="en-US" sz="1200" dirty="0">
                <a:solidFill>
                  <a:srgbClr val="CDBFA9"/>
                </a:solidFill>
                <a:latin typeface="Calibri" pitchFamily="34" charset="0"/>
                <a:ea typeface="Calibri" pitchFamily="34" charset="-122"/>
                <a:cs typeface="Calibri" pitchFamily="34" charset="-120"/>
              </a:rPr>
              <a:t>A basis-of-design win with one hyperscaler is the demand case for the second mill. It is also the capacity constraint.</a:t>
            </a:r>
            <a:endParaRPr lang="en-US" sz="1200" dirty="0"/>
          </a:p>
        </p:txBody>
      </p:sp>
      <p:sp>
        <p:nvSpPr>
          <p:cNvPr id="33" name="Text 30"/>
          <p:cNvSpPr/>
          <p:nvPr/>
        </p:nvSpPr>
        <p:spPr>
          <a:xfrm>
            <a:off x="502920" y="6144768"/>
            <a:ext cx="11155680" cy="329184"/>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(slide 5 model; low–high scenarios). Incumbent replaced is steel except the long-term row (concrete, rebar, server enclosures at 40% of IT mass — estimate; electronics excluded). SUPERWOOD required uses a 0.3–0.6 steel substitution factor (estimate). Plant output: SuperMill One ≈ 900 tons/yr (1M sf), SuperMill Two ≈ 31,000 tons/yr (36M sf) at 0.87 kg/sf, 1.3 t/m³. Pricing is set per application.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000" dirty="0"/>
          </a:p>
          <a:p>
            <a:pPr indent="0" marL="0">
              <a:buNone/>
            </a:pPr>
            <a:endParaRPr lang="en-US" sz="1000" dirty="0"/>
          </a:p>
          <a:p>
            <a:pPr indent="0" marL="0">
              <a:buNone/>
            </a:pPr>
            <a:r>
              <a:rPr lang="en-US" sz="10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00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mullion2.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5"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2011680"/>
            <a:ext cx="5486400" cy="2377440"/>
          </a:xfrm>
          <a:prstGeom prst="roundRect">
            <a:avLst>
              <a:gd name="adj" fmla="val 3462"/>
            </a:avLst>
          </a:prstGeom>
          <a:solidFill>
            <a:srgbClr val="2E2113"/>
          </a:solidFill>
          <a:ln/>
        </p:spPr>
      </p:sp>
      <p:sp>
        <p:nvSpPr>
          <p:cNvPr id="7" name="Text 5"/>
          <p:cNvSpPr/>
          <p:nvPr/>
        </p:nvSpPr>
        <p:spPr>
          <a:xfrm>
            <a:off x="77724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Shape 7"/>
          <p:cNvSpPr/>
          <p:nvPr/>
        </p:nvSpPr>
        <p:spPr>
          <a:xfrm>
            <a:off x="6172200" y="2011680"/>
            <a:ext cx="5486400" cy="2377440"/>
          </a:xfrm>
          <a:prstGeom prst="roundRect">
            <a:avLst>
              <a:gd name="adj" fmla="val 3462"/>
            </a:avLst>
          </a:prstGeom>
          <a:solidFill>
            <a:srgbClr val="2E2113"/>
          </a:solidFill>
          <a:ln/>
        </p:spPr>
      </p:sp>
      <p:sp>
        <p:nvSpPr>
          <p:cNvPr id="10" name="Text 8"/>
          <p:cNvSpPr/>
          <p:nvPr/>
        </p:nvSpPr>
        <p:spPr>
          <a:xfrm>
            <a:off x="644652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1" name="Text 9"/>
          <p:cNvSpPr/>
          <p:nvPr/>
        </p:nvSpPr>
        <p:spPr>
          <a:xfrm>
            <a:off x="644652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2" name="Shape 10"/>
          <p:cNvSpPr/>
          <p:nvPr/>
        </p:nvSpPr>
        <p:spPr>
          <a:xfrm>
            <a:off x="502920" y="5623560"/>
            <a:ext cx="11155680" cy="548640"/>
          </a:xfrm>
          <a:prstGeom prst="roundRect">
            <a:avLst>
              <a:gd name="adj" fmla="val 15000"/>
            </a:avLst>
          </a:prstGeom>
          <a:solidFill>
            <a:srgbClr val="2E2113"/>
          </a:solidFill>
          <a:ln/>
        </p:spPr>
      </p:sp>
      <p:sp>
        <p:nvSpPr>
          <p:cNvPr id="13" name="Text 11"/>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2026-09-05T15:19:39Z</dcterms:created>
  <dcterms:modified xsi:type="dcterms:W3CDTF">2026-09-05T15:19:39Z</dcterms:modified>
</cp:coreProperties>
</file>