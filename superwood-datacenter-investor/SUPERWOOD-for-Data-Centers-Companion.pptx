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image" Target="../media/image-5-4.pn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image" Target="../media/image-11-7.jp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50E08">
              <a:alpha val="58000"/>
            </a:srgbClr>
          </a:solidFill>
          <a:ln/>
        </p:spPr>
      </p:sp>
      <p:sp>
        <p:nvSpPr>
          <p:cNvPr id="3" name="Shape 1"/>
          <p:cNvSpPr/>
          <p:nvPr/>
        </p:nvSpPr>
        <p:spPr>
          <a:xfrm>
            <a:off x="0" y="3566160"/>
            <a:ext cx="12188952" cy="3291840"/>
          </a:xfrm>
          <a:prstGeom prst="rect">
            <a:avLst/>
          </a:prstGeom>
          <a:solidFill>
            <a:srgbClr val="120C07">
              <a:alpha val="78000"/>
            </a:srgbClr>
          </a:solidFill>
          <a:ln/>
        </p:spPr>
      </p:sp>
      <p:pic>
        <p:nvPicPr>
          <p:cNvPr id="4" name="Image 0" descr="prep/inventwood_logo.png">    </p:cNvPr>
          <p:cNvPicPr>
            <a:picLocks noChangeAspect="1"/>
          </p:cNvPicPr>
          <p:nvPr/>
        </p:nvPicPr>
        <p:blipFill>
          <a:blip r:embed="rId2"/>
          <a:stretch>
            <a:fillRect/>
          </a:stretch>
        </p:blipFill>
        <p:spPr>
          <a:xfrm>
            <a:off x="566928" y="3794760"/>
            <a:ext cx="4206240" cy="616801"/>
          </a:xfrm>
          <a:prstGeom prst="rect">
            <a:avLst/>
          </a:prstGeom>
        </p:spPr>
      </p:pic>
      <p:sp>
        <p:nvSpPr>
          <p:cNvPr id="5" name="Text 2"/>
          <p:cNvSpPr/>
          <p:nvPr/>
        </p:nvSpPr>
        <p:spPr>
          <a:xfrm>
            <a:off x="658368" y="4572000"/>
            <a:ext cx="10789920" cy="822960"/>
          </a:xfrm>
          <a:prstGeom prst="rect">
            <a:avLst/>
          </a:prstGeom>
          <a:noFill/>
          <a:ln/>
        </p:spPr>
        <p:txBody>
          <a:bodyPr wrap="square" lIns="0" tIns="0" rIns="0" bIns="0" rtlCol="0" anchor="t"/>
          <a:lstStyle/>
          <a:p>
            <a:pPr indent="0" marL="0">
              <a:buNone/>
            </a:pPr>
            <a:r>
              <a:rPr lang="en-US" sz="4000" dirty="0">
                <a:solidFill>
                  <a:srgbClr val="F4ECDF"/>
                </a:solidFill>
                <a:latin typeface="Georgia" pitchFamily="34" charset="0"/>
                <a:ea typeface="Georgia" pitchFamily="34" charset="-122"/>
                <a:cs typeface="Georgia" pitchFamily="34" charset="-120"/>
              </a:rPr>
              <a:t>SUPERWOOD for Data Centers</a:t>
            </a:r>
            <a:endParaRPr lang="en-US" sz="4000" dirty="0"/>
          </a:p>
        </p:txBody>
      </p:sp>
      <p:sp>
        <p:nvSpPr>
          <p:cNvPr id="6" name="Text 3"/>
          <p:cNvSpPr/>
          <p:nvPr/>
        </p:nvSpPr>
        <p:spPr>
          <a:xfrm>
            <a:off x="658368" y="5577840"/>
            <a:ext cx="7315200" cy="640080"/>
          </a:xfrm>
          <a:prstGeom prst="rect">
            <a:avLst/>
          </a:prstGeom>
          <a:noFill/>
          <a:ln/>
        </p:spPr>
        <p:txBody>
          <a:bodyPr wrap="square" lIns="0" tIns="0" rIns="0" bIns="0" rtlCol="0" anchor="t"/>
          <a:lstStyle/>
          <a:p>
            <a:pPr indent="0" marL="0">
              <a:buNone/>
            </a:pPr>
            <a:r>
              <a:rPr lang="en-US" sz="1400" dirty="0">
                <a:solidFill>
                  <a:srgbClr val="F4ECDF"/>
                </a:solidFill>
                <a:latin typeface="Calibri" pitchFamily="34" charset="0"/>
                <a:ea typeface="Calibri" pitchFamily="34" charset="-122"/>
                <a:cs typeface="Calibri" pitchFamily="34" charset="-120"/>
              </a:rPr>
              <a:t>Companion to the SUPERMILLS Investor Overview</a:t>
            </a:r>
            <a:pPr indent="0" marL="0">
              <a:buNone/>
            </a:pPr>
            <a:endParaRPr lang="en-US" sz="1400" dirty="0"/>
          </a:p>
          <a:p>
            <a:pPr indent="0" marL="0">
              <a:buNone/>
            </a:pPr>
            <a:r>
              <a:rPr lang="en-US" sz="1400" b="1" dirty="0">
                <a:solidFill>
                  <a:srgbClr val="CDA165"/>
                </a:solidFill>
                <a:latin typeface="Calibri" pitchFamily="34" charset="0"/>
                <a:ea typeface="Calibri" pitchFamily="34" charset="-122"/>
                <a:cs typeface="Calibri" pitchFamily="34" charset="-120"/>
              </a:rPr>
              <a:t>September 2026</a:t>
            </a:r>
            <a:endParaRPr lang="en-US" sz="1400" dirty="0"/>
          </a:p>
        </p:txBody>
      </p:sp>
      <p:sp>
        <p:nvSpPr>
          <p:cNvPr id="7" name="Text 4"/>
          <p:cNvSpPr/>
          <p:nvPr/>
        </p:nvSpPr>
        <p:spPr>
          <a:xfrm>
            <a:off x="8257032" y="6400800"/>
            <a:ext cx="3291840" cy="274320"/>
          </a:xfrm>
          <a:prstGeom prst="rect">
            <a:avLst/>
          </a:prstGeom>
          <a:noFill/>
          <a:ln/>
        </p:spPr>
        <p:txBody>
          <a:bodyPr wrap="square" lIns="0" tIns="0" rIns="0" bIns="0" rtlCol="0" anchor="ctr"/>
          <a:lstStyle/>
          <a:p>
            <a:pPr algn="r" indent="0" marL="0">
              <a:buNone/>
            </a:pPr>
            <a:r>
              <a:rPr lang="en-US" sz="900" spc="300" kern="0" dirty="0">
                <a:solidFill>
                  <a:srgbClr val="CDBFA9"/>
                </a:solidFill>
                <a:latin typeface="Calibri" pitchFamily="34" charset="0"/>
                <a:ea typeface="Calibri" pitchFamily="34" charset="-122"/>
                <a:cs typeface="Calibri" pitchFamily="34" charset="-120"/>
              </a:rPr>
              <a:t>INVENTWOOD  ·  CONFIDENTIAL</a:t>
            </a:r>
            <a:endParaRPr lang="en-US" sz="900" dirty="0"/>
          </a:p>
        </p:txBody>
      </p:sp>
      <p:sp>
        <p:nvSpPr>
          <p:cNvPr id="8" name="Text 5"/>
          <p:cNvSpPr/>
          <p:nvPr/>
        </p:nvSpPr>
        <p:spPr>
          <a:xfrm>
            <a:off x="10085832" y="228600"/>
            <a:ext cx="1737360" cy="228600"/>
          </a:xfrm>
          <a:prstGeom prst="rect">
            <a:avLst/>
          </a:prstGeom>
          <a:noFill/>
          <a:ln/>
        </p:spPr>
        <p:txBody>
          <a:bodyPr wrap="square" lIns="0" tIns="0" rIns="0" bIns="0" rtlCol="0" anchor="ctr"/>
          <a:lstStyle/>
          <a:p>
            <a:pPr algn="r" indent="0" marL="0">
              <a:buNone/>
            </a:pPr>
            <a:r>
              <a:rPr lang="en-US" sz="800" i="1" dirty="0">
                <a:solidFill>
                  <a:srgbClr val="E8DECB"/>
                </a:solidFill>
                <a:latin typeface="Calibri" pitchFamily="34" charset="0"/>
                <a:ea typeface="Calibri" pitchFamily="34" charset="-122"/>
                <a:cs typeface="Calibri" pitchFamily="34" charset="-120"/>
              </a:rPr>
              <a:t>Concept rendering</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thesis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THESIS</a:t>
            </a:r>
            <a:endParaRPr lang="en-US" sz="1200" dirty="0"/>
          </a:p>
        </p:txBody>
      </p:sp>
      <p:sp>
        <p:nvSpPr>
          <p:cNvPr id="5" name="Text 3"/>
          <p:cNvSpPr/>
          <p:nvPr/>
        </p:nvSpPr>
        <p:spPr>
          <a:xfrm>
            <a:off x="502920" y="804672"/>
            <a:ext cx="11155680" cy="868680"/>
          </a:xfrm>
          <a:prstGeom prst="rect">
            <a:avLst/>
          </a:prstGeom>
          <a:noFill/>
          <a:ln/>
        </p:spPr>
        <p:txBody>
          <a:bodyPr wrap="square" lIns="0" tIns="0" rIns="0" bIns="0" rtlCol="0" anchor="ctr"/>
          <a:lstStyle/>
          <a:p>
            <a:pPr indent="0" marL="0">
              <a:buNone/>
            </a:pPr>
            <a:r>
              <a:rPr lang="en-US" sz="2400" dirty="0">
                <a:solidFill>
                  <a:srgbClr val="F4ECDF"/>
                </a:solidFill>
                <a:latin typeface="Georgia" pitchFamily="34" charset="0"/>
                <a:ea typeface="Georgia" pitchFamily="34" charset="-122"/>
                <a:cs typeface="Georgia" pitchFamily="34" charset="-120"/>
              </a:rPr>
              <a:t>We help data centers decarbonize and improve their impact on communities, while they accelerate SUPERWOOD's journey from premium skins into </a:t>
            </a:r>
            <a:pPr indent="0" marL="0">
              <a:buNone/>
            </a:pPr>
            <a:r>
              <a:rPr lang="en-US" sz="2400" i="1" dirty="0">
                <a:solidFill>
                  <a:srgbClr val="E2B877"/>
                </a:solidFill>
                <a:latin typeface="Georgia" pitchFamily="34" charset="0"/>
                <a:ea typeface="Georgia" pitchFamily="34" charset="-122"/>
                <a:cs typeface="Georgia" pitchFamily="34" charset="-120"/>
              </a:rPr>
              <a:t>structural</a:t>
            </a:r>
            <a:pPr indent="0" marL="0">
              <a:buNone/>
            </a:pPr>
            <a:r>
              <a:rPr lang="en-US" sz="2400" dirty="0">
                <a:solidFill>
                  <a:srgbClr val="F4ECDF"/>
                </a:solidFill>
                <a:latin typeface="Georgia" pitchFamily="34" charset="0"/>
                <a:ea typeface="Georgia" pitchFamily="34" charset="-122"/>
                <a:cs typeface="Georgia" pitchFamily="34" charset="-120"/>
              </a:rPr>
              <a:t> applications</a:t>
            </a:r>
            <a:endParaRPr lang="en-US" sz="2400" dirty="0"/>
          </a:p>
        </p:txBody>
      </p:sp>
      <p:sp>
        <p:nvSpPr>
          <p:cNvPr id="6" name="Shape 4"/>
          <p:cNvSpPr/>
          <p:nvPr/>
        </p:nvSpPr>
        <p:spPr>
          <a:xfrm>
            <a:off x="502920" y="1920240"/>
            <a:ext cx="3611880" cy="3246120"/>
          </a:xfrm>
          <a:prstGeom prst="roundRect">
            <a:avLst>
              <a:gd name="adj" fmla="val 2535"/>
            </a:avLst>
          </a:prstGeom>
          <a:solidFill>
            <a:srgbClr val="261A0F"/>
          </a:solidFill>
          <a:ln/>
        </p:spPr>
      </p:sp>
      <p:sp>
        <p:nvSpPr>
          <p:cNvPr id="7" name="Text 5"/>
          <p:cNvSpPr/>
          <p:nvPr/>
        </p:nvSpPr>
        <p:spPr>
          <a:xfrm>
            <a:off x="777240" y="2148840"/>
            <a:ext cx="914400" cy="548640"/>
          </a:xfrm>
          <a:prstGeom prst="rect">
            <a:avLst/>
          </a:prstGeom>
          <a:noFill/>
          <a:ln/>
        </p:spPr>
        <p:txBody>
          <a:bodyPr wrap="square" lIns="0" tIns="0" rIns="0" bIns="0" rtlCol="0" anchor="ctr"/>
          <a:lstStyle/>
          <a:p>
            <a:pPr indent="0" marL="0">
              <a:buNone/>
            </a:pPr>
            <a:r>
              <a:rPr lang="en-US" sz="2800" dirty="0">
                <a:solidFill>
                  <a:srgbClr val="B87D44"/>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777240" y="2788920"/>
            <a:ext cx="3063240" cy="822960"/>
          </a:xfrm>
          <a:prstGeom prst="rect">
            <a:avLst/>
          </a:prstGeom>
          <a:noFill/>
          <a:ln/>
        </p:spPr>
        <p:txBody>
          <a:bodyPr wrap="square" lIns="0" tIns="0" rIns="0" bIns="0" rtlCol="0" anchor="t"/>
          <a:lstStyle/>
          <a:p>
            <a:pPr indent="0" marL="0">
              <a:buNone/>
            </a:pPr>
            <a:r>
              <a:rPr lang="en-US" sz="1450" b="1" dirty="0">
                <a:solidFill>
                  <a:srgbClr val="F4ECDF"/>
                </a:solidFill>
                <a:latin typeface="Calibri" pitchFamily="34" charset="0"/>
                <a:ea typeface="Calibri" pitchFamily="34" charset="-122"/>
                <a:cs typeface="Calibri" pitchFamily="34" charset="-120"/>
              </a:rPr>
              <a:t>The buyer is short of steel and already building with wood</a:t>
            </a:r>
            <a:endParaRPr lang="en-US" sz="1450" dirty="0"/>
          </a:p>
        </p:txBody>
      </p:sp>
      <p:sp>
        <p:nvSpPr>
          <p:cNvPr id="9" name="Text 7"/>
          <p:cNvSpPr/>
          <p:nvPr/>
        </p:nvSpPr>
        <p:spPr>
          <a:xfrm>
            <a:off x="777240" y="3657600"/>
            <a:ext cx="3063240" cy="1417320"/>
          </a:xfrm>
          <a:prstGeom prst="rect">
            <a:avLst/>
          </a:prstGeom>
          <a:noFill/>
          <a:ln/>
        </p:spPr>
        <p:txBody>
          <a:bodyPr wrap="square" lIns="0" tIns="0" rIns="0" bIns="0" rtlCol="0" anchor="t"/>
          <a:lstStyle/>
          <a:p>
            <a:pPr indent="0" marL="0">
              <a:buNone/>
            </a:pPr>
            <a:r>
              <a:rPr lang="en-US" sz="1100" dirty="0">
                <a:solidFill>
                  <a:srgbClr val="CDBFA9"/>
                </a:solidFill>
                <a:latin typeface="Calibri" pitchFamily="34" charset="0"/>
                <a:ea typeface="Calibri" pitchFamily="34" charset="-122"/>
                <a:cs typeface="Calibri" pitchFamily="34" charset="-120"/>
              </a:rPr>
              <a:t>Data centers are among the fastest-growing buyers of structural steel. Customers report backlogs and shortages, and Microsoft and Meta already build data-center structures in mass timber.</a:t>
            </a:r>
            <a:endParaRPr lang="en-US" sz="1100" dirty="0"/>
          </a:p>
        </p:txBody>
      </p:sp>
      <p:sp>
        <p:nvSpPr>
          <p:cNvPr id="10" name="Shape 8"/>
          <p:cNvSpPr/>
          <p:nvPr/>
        </p:nvSpPr>
        <p:spPr>
          <a:xfrm>
            <a:off x="4274820" y="1920240"/>
            <a:ext cx="3611880" cy="3246120"/>
          </a:xfrm>
          <a:prstGeom prst="roundRect">
            <a:avLst>
              <a:gd name="adj" fmla="val 2535"/>
            </a:avLst>
          </a:prstGeom>
          <a:solidFill>
            <a:srgbClr val="261A0F"/>
          </a:solidFill>
          <a:ln/>
        </p:spPr>
      </p:sp>
      <p:sp>
        <p:nvSpPr>
          <p:cNvPr id="11" name="Text 9"/>
          <p:cNvSpPr/>
          <p:nvPr/>
        </p:nvSpPr>
        <p:spPr>
          <a:xfrm>
            <a:off x="4549140" y="2148840"/>
            <a:ext cx="914400" cy="548640"/>
          </a:xfrm>
          <a:prstGeom prst="rect">
            <a:avLst/>
          </a:prstGeom>
          <a:noFill/>
          <a:ln/>
        </p:spPr>
        <p:txBody>
          <a:bodyPr wrap="square" lIns="0" tIns="0" rIns="0" bIns="0" rtlCol="0" anchor="ctr"/>
          <a:lstStyle/>
          <a:p>
            <a:pPr indent="0" marL="0">
              <a:buNone/>
            </a:pPr>
            <a:r>
              <a:rPr lang="en-US" sz="2800" dirty="0">
                <a:solidFill>
                  <a:srgbClr val="B87D44"/>
                </a:solidFill>
                <a:latin typeface="Georgia" pitchFamily="34" charset="0"/>
                <a:ea typeface="Georgia" pitchFamily="34" charset="-122"/>
                <a:cs typeface="Georgia" pitchFamily="34" charset="-120"/>
              </a:rPr>
              <a:t>02</a:t>
            </a:r>
            <a:endParaRPr lang="en-US" sz="2800" dirty="0"/>
          </a:p>
        </p:txBody>
      </p:sp>
      <p:sp>
        <p:nvSpPr>
          <p:cNvPr id="12" name="Text 10"/>
          <p:cNvSpPr/>
          <p:nvPr/>
        </p:nvSpPr>
        <p:spPr>
          <a:xfrm>
            <a:off x="4549140" y="2788920"/>
            <a:ext cx="3063240" cy="822960"/>
          </a:xfrm>
          <a:prstGeom prst="rect">
            <a:avLst/>
          </a:prstGeom>
          <a:noFill/>
          <a:ln/>
        </p:spPr>
        <p:txBody>
          <a:bodyPr wrap="square" lIns="0" tIns="0" rIns="0" bIns="0" rtlCol="0" anchor="t"/>
          <a:lstStyle/>
          <a:p>
            <a:pPr indent="0" marL="0">
              <a:buNone/>
            </a:pPr>
            <a:r>
              <a:rPr lang="en-US" sz="1450" b="1" dirty="0">
                <a:solidFill>
                  <a:srgbClr val="F4ECDF"/>
                </a:solidFill>
                <a:latin typeface="Calibri" pitchFamily="34" charset="0"/>
                <a:ea typeface="Calibri" pitchFamily="34" charset="-122"/>
                <a:cs typeface="Calibri" pitchFamily="34" charset="-120"/>
              </a:rPr>
              <a:t>We turbocharge the wood they already use</a:t>
            </a:r>
            <a:endParaRPr lang="en-US" sz="1450" dirty="0"/>
          </a:p>
        </p:txBody>
      </p:sp>
      <p:sp>
        <p:nvSpPr>
          <p:cNvPr id="13" name="Text 11"/>
          <p:cNvSpPr/>
          <p:nvPr/>
        </p:nvSpPr>
        <p:spPr>
          <a:xfrm>
            <a:off x="4549140" y="3657600"/>
            <a:ext cx="3063240" cy="1417320"/>
          </a:xfrm>
          <a:prstGeom prst="rect">
            <a:avLst/>
          </a:prstGeom>
          <a:noFill/>
          <a:ln/>
        </p:spPr>
        <p:txBody>
          <a:bodyPr wrap="square" lIns="0" tIns="0" rIns="0" bIns="0" rtlCol="0" anchor="t"/>
          <a:lstStyle/>
          <a:p>
            <a:pPr indent="0" marL="0">
              <a:buNone/>
            </a:pPr>
            <a:r>
              <a:rPr lang="en-US" sz="1100" dirty="0">
                <a:solidFill>
                  <a:srgbClr val="CDBFA9"/>
                </a:solidFill>
                <a:latin typeface="Calibri" pitchFamily="34" charset="0"/>
                <a:ea typeface="Calibri" pitchFamily="34" charset="-122"/>
                <a:cs typeface="Calibri" pitchFamily="34" charset="-120"/>
              </a:rPr>
              <a:t>Mass timber replaces concrete floors. SUPERWOOD, stronger than A36 steel in tension at one-sixth the weight, adds the steel: members, skins and screens — and strengthens the mass timber itself. It ships today from SuperMill One; truss design and mass-timber enhancement are under way.</a:t>
            </a:r>
            <a:endParaRPr lang="en-US" sz="1100" dirty="0"/>
          </a:p>
        </p:txBody>
      </p:sp>
      <p:sp>
        <p:nvSpPr>
          <p:cNvPr id="14" name="Shape 12"/>
          <p:cNvSpPr/>
          <p:nvPr/>
        </p:nvSpPr>
        <p:spPr>
          <a:xfrm>
            <a:off x="8046720" y="1920240"/>
            <a:ext cx="3611880" cy="3246120"/>
          </a:xfrm>
          <a:prstGeom prst="roundRect">
            <a:avLst>
              <a:gd name="adj" fmla="val 2535"/>
            </a:avLst>
          </a:prstGeom>
          <a:solidFill>
            <a:srgbClr val="261A0F"/>
          </a:solidFill>
          <a:ln/>
        </p:spPr>
      </p:sp>
      <p:sp>
        <p:nvSpPr>
          <p:cNvPr id="15" name="Text 13"/>
          <p:cNvSpPr/>
          <p:nvPr/>
        </p:nvSpPr>
        <p:spPr>
          <a:xfrm>
            <a:off x="8321040" y="2148840"/>
            <a:ext cx="914400" cy="548640"/>
          </a:xfrm>
          <a:prstGeom prst="rect">
            <a:avLst/>
          </a:prstGeom>
          <a:noFill/>
          <a:ln/>
        </p:spPr>
        <p:txBody>
          <a:bodyPr wrap="square" lIns="0" tIns="0" rIns="0" bIns="0" rtlCol="0" anchor="ctr"/>
          <a:lstStyle/>
          <a:p>
            <a:pPr indent="0" marL="0">
              <a:buNone/>
            </a:pPr>
            <a:r>
              <a:rPr lang="en-US" sz="2800" dirty="0">
                <a:solidFill>
                  <a:srgbClr val="B87D44"/>
                </a:solidFill>
                <a:latin typeface="Georgia" pitchFamily="34" charset="0"/>
                <a:ea typeface="Georgia" pitchFamily="34" charset="-122"/>
                <a:cs typeface="Georgia" pitchFamily="34" charset="-120"/>
              </a:rPr>
              <a:t>03</a:t>
            </a:r>
            <a:endParaRPr lang="en-US" sz="2800" dirty="0"/>
          </a:p>
        </p:txBody>
      </p:sp>
      <p:sp>
        <p:nvSpPr>
          <p:cNvPr id="16" name="Text 14"/>
          <p:cNvSpPr/>
          <p:nvPr/>
        </p:nvSpPr>
        <p:spPr>
          <a:xfrm>
            <a:off x="8321040" y="2788920"/>
            <a:ext cx="3063240" cy="822960"/>
          </a:xfrm>
          <a:prstGeom prst="rect">
            <a:avLst/>
          </a:prstGeom>
          <a:noFill/>
          <a:ln/>
        </p:spPr>
        <p:txBody>
          <a:bodyPr wrap="square" lIns="0" tIns="0" rIns="0" bIns="0" rtlCol="0" anchor="t"/>
          <a:lstStyle/>
          <a:p>
            <a:pPr indent="0" marL="0">
              <a:buNone/>
            </a:pPr>
            <a:r>
              <a:rPr lang="en-US" sz="1450" b="1" dirty="0">
                <a:solidFill>
                  <a:srgbClr val="F4ECDF"/>
                </a:solidFill>
                <a:latin typeface="Calibri" pitchFamily="34" charset="0"/>
                <a:ea typeface="Calibri" pitchFamily="34" charset="-122"/>
                <a:cs typeface="Calibri" pitchFamily="34" charset="-120"/>
              </a:rPr>
              <a:t>One basis-of-design win is SuperMill Two-scale demand</a:t>
            </a:r>
            <a:endParaRPr lang="en-US" sz="1450" dirty="0"/>
          </a:p>
        </p:txBody>
      </p:sp>
      <p:sp>
        <p:nvSpPr>
          <p:cNvPr id="17" name="Text 15"/>
          <p:cNvSpPr/>
          <p:nvPr/>
        </p:nvSpPr>
        <p:spPr>
          <a:xfrm>
            <a:off x="8321040" y="3657600"/>
            <a:ext cx="3063240" cy="1417320"/>
          </a:xfrm>
          <a:prstGeom prst="rect">
            <a:avLst/>
          </a:prstGeom>
          <a:noFill/>
          <a:ln/>
        </p:spPr>
        <p:txBody>
          <a:bodyPr wrap="square" lIns="0" tIns="0" rIns="0" bIns="0" rtlCol="0" anchor="t"/>
          <a:lstStyle/>
          <a:p>
            <a:pPr indent="0" marL="0">
              <a:buNone/>
            </a:pPr>
            <a:r>
              <a:rPr lang="en-US" sz="1100" dirty="0">
                <a:solidFill>
                  <a:srgbClr val="CDBFA9"/>
                </a:solidFill>
                <a:latin typeface="Calibri" pitchFamily="34" charset="0"/>
                <a:ea typeface="Calibri" pitchFamily="34" charset="-122"/>
                <a:cs typeface="Calibri" pitchFamily="34" charset="-120"/>
              </a:rPr>
              <a:t>A gigawatt data center's skins alone are one to three years of SuperMill One's output; its structure is a year or more of SuperMill Two. Long term: prefabricated envelopes and, eventually, foundations.</a:t>
            </a:r>
            <a:endParaRPr lang="en-US" sz="1100" dirty="0"/>
          </a:p>
        </p:txBody>
      </p:sp>
      <p:sp>
        <p:nvSpPr>
          <p:cNvPr id="18" name="Text 16"/>
          <p:cNvSpPr/>
          <p:nvPr/>
        </p:nvSpPr>
        <p:spPr>
          <a:xfrm>
            <a:off x="502920" y="5486400"/>
            <a:ext cx="11155680" cy="45720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The company, team, mills, cost roadmap and the raise are in the SUPERMILLS Investor Overview. This deck covers one application. Strength: company test data vs ASTM A36; data center sizing: company estimate (slides 5–6).</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buyer</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BUYER</a:t>
            </a:r>
            <a:endParaRPr lang="en-US" sz="1200" dirty="0"/>
          </a:p>
        </p:txBody>
      </p:sp>
      <p:sp>
        <p:nvSpPr>
          <p:cNvPr id="5" name="Text 3"/>
          <p:cNvSpPr/>
          <p:nvPr/>
        </p:nvSpPr>
        <p:spPr>
          <a:xfrm>
            <a:off x="502920" y="804672"/>
            <a:ext cx="11155680" cy="868680"/>
          </a:xfrm>
          <a:prstGeom prst="rect">
            <a:avLst/>
          </a:prstGeom>
          <a:noFill/>
          <a:ln/>
        </p:spPr>
        <p:txBody>
          <a:bodyPr wrap="square" lIns="0" tIns="0" rIns="0" bIns="0" rtlCol="0" anchor="ctr"/>
          <a:lstStyle/>
          <a:p>
            <a:pPr indent="0" marL="0">
              <a:buNone/>
            </a:pPr>
            <a:r>
              <a:rPr lang="en-US" sz="2700" dirty="0">
                <a:solidFill>
                  <a:srgbClr val="F4ECDF"/>
                </a:solidFill>
                <a:latin typeface="Georgia" pitchFamily="34" charset="0"/>
                <a:ea typeface="Georgia" pitchFamily="34" charset="-122"/>
                <a:cs typeface="Georgia" pitchFamily="34" charset="-120"/>
              </a:rPr>
              <a:t>US data center construction is running at </a:t>
            </a:r>
            <a:pPr indent="0" marL="0">
              <a:buNone/>
            </a:pPr>
            <a:r>
              <a:rPr lang="en-US" sz="2700" i="1" dirty="0">
                <a:solidFill>
                  <a:srgbClr val="E2B877"/>
                </a:solidFill>
                <a:latin typeface="Georgia" pitchFamily="34" charset="0"/>
                <a:ea typeface="Georgia" pitchFamily="34" charset="-122"/>
                <a:cs typeface="Georgia" pitchFamily="34" charset="-120"/>
              </a:rPr>
              <a:t>$75 billion a year</a:t>
            </a:r>
            <a:pPr indent="0" marL="0">
              <a:buNone/>
            </a:pPr>
            <a:r>
              <a:rPr lang="en-US" sz="2700" dirty="0">
                <a:solidFill>
                  <a:srgbClr val="F4ECDF"/>
                </a:solidFill>
                <a:latin typeface="Georgia" pitchFamily="34" charset="0"/>
                <a:ea typeface="Georgia" pitchFamily="34" charset="-122"/>
                <a:cs typeface="Georgia" pitchFamily="34" charset="-120"/>
              </a:rPr>
              <a:t>, up 57% in twelve months</a:t>
            </a:r>
            <a:endParaRPr lang="en-US" sz="2700" dirty="0"/>
          </a:p>
        </p:txBody>
      </p:sp>
      <p:pic>
        <p:nvPicPr>
          <p:cNvPr id="6" name="Image 0" descr="prep/charts/construction.png">    </p:cNvPr>
          <p:cNvPicPr>
            <a:picLocks noChangeAspect="1"/>
          </p:cNvPicPr>
          <p:nvPr/>
        </p:nvPicPr>
        <p:blipFill>
          <a:blip r:embed="rId1"/>
          <a:stretch>
            <a:fillRect/>
          </a:stretch>
        </p:blipFill>
        <p:spPr>
          <a:xfrm>
            <a:off x="502920" y="1783080"/>
            <a:ext cx="5852160" cy="2926080"/>
          </a:xfrm>
          <a:prstGeom prst="rect">
            <a:avLst/>
          </a:prstGeom>
        </p:spPr>
      </p:pic>
      <p:sp>
        <p:nvSpPr>
          <p:cNvPr id="7" name="Text 4"/>
          <p:cNvSpPr/>
          <p:nvPr/>
        </p:nvSpPr>
        <p:spPr>
          <a:xfrm>
            <a:off x="6675120" y="1783080"/>
            <a:ext cx="50292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HOW IT IS PROJECTED TO GROW</a:t>
            </a:r>
            <a:endParaRPr lang="en-US" sz="900" dirty="0"/>
          </a:p>
        </p:txBody>
      </p:sp>
      <p:sp>
        <p:nvSpPr>
          <p:cNvPr id="8" name="Shape 5"/>
          <p:cNvSpPr/>
          <p:nvPr/>
        </p:nvSpPr>
        <p:spPr>
          <a:xfrm>
            <a:off x="6675120" y="2231136"/>
            <a:ext cx="128016" cy="128016"/>
          </a:xfrm>
          <a:prstGeom prst="ellipse">
            <a:avLst/>
          </a:prstGeom>
          <a:solidFill>
            <a:srgbClr val="E2B877"/>
          </a:solidFill>
          <a:ln/>
        </p:spPr>
      </p:sp>
      <p:sp>
        <p:nvSpPr>
          <p:cNvPr id="9" name="Text 6"/>
          <p:cNvSpPr/>
          <p:nvPr/>
        </p:nvSpPr>
        <p:spPr>
          <a:xfrm>
            <a:off x="6995160" y="2148840"/>
            <a:ext cx="4754880" cy="292608"/>
          </a:xfrm>
          <a:prstGeom prst="rect">
            <a:avLst/>
          </a:prstGeom>
          <a:noFill/>
          <a:ln/>
        </p:spPr>
        <p:txBody>
          <a:bodyPr wrap="square" lIns="0" tIns="0" rIns="0" bIns="0" rtlCol="0" anchor="ctr"/>
          <a:lstStyle/>
          <a:p>
            <a:pPr indent="0" marL="0">
              <a:buNone/>
            </a:pPr>
            <a:r>
              <a:rPr lang="en-US" sz="1250" b="1" dirty="0">
                <a:solidFill>
                  <a:srgbClr val="F4ECDF"/>
                </a:solidFill>
                <a:latin typeface="Calibri" pitchFamily="34" charset="0"/>
                <a:ea typeface="Calibri" pitchFamily="34" charset="-122"/>
                <a:cs typeface="Calibri" pitchFamily="34" charset="-120"/>
              </a:rPr>
              <a:t>66 GW under construction in North America</a:t>
            </a:r>
            <a:endParaRPr lang="en-US" sz="1250" dirty="0"/>
          </a:p>
        </p:txBody>
      </p:sp>
      <p:sp>
        <p:nvSpPr>
          <p:cNvPr id="10" name="Text 7"/>
          <p:cNvSpPr/>
          <p:nvPr/>
        </p:nvSpPr>
        <p:spPr>
          <a:xfrm>
            <a:off x="6995160" y="2459736"/>
            <a:ext cx="4754880" cy="640080"/>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JLL, midyear 2026 — more electricity than Germany uses. At the published 50–100 tons of structural steel per MW, that pipeline alone is 3.3–6.6 million tons of structural steel.</a:t>
            </a:r>
            <a:endParaRPr lang="en-US" sz="950" dirty="0"/>
          </a:p>
        </p:txBody>
      </p:sp>
      <p:sp>
        <p:nvSpPr>
          <p:cNvPr id="11" name="Shape 8"/>
          <p:cNvSpPr/>
          <p:nvPr/>
        </p:nvSpPr>
        <p:spPr>
          <a:xfrm>
            <a:off x="6675120" y="3191256"/>
            <a:ext cx="128016" cy="128016"/>
          </a:xfrm>
          <a:prstGeom prst="ellipse">
            <a:avLst/>
          </a:prstGeom>
          <a:solidFill>
            <a:srgbClr val="E2B877"/>
          </a:solidFill>
          <a:ln/>
        </p:spPr>
      </p:sp>
      <p:sp>
        <p:nvSpPr>
          <p:cNvPr id="12" name="Text 9"/>
          <p:cNvSpPr/>
          <p:nvPr/>
        </p:nvSpPr>
        <p:spPr>
          <a:xfrm>
            <a:off x="6995160" y="3108960"/>
            <a:ext cx="4754880" cy="292608"/>
          </a:xfrm>
          <a:prstGeom prst="rect">
            <a:avLst/>
          </a:prstGeom>
          <a:noFill/>
          <a:ln/>
        </p:spPr>
        <p:txBody>
          <a:bodyPr wrap="square" lIns="0" tIns="0" rIns="0" bIns="0" rtlCol="0" anchor="ctr"/>
          <a:lstStyle/>
          <a:p>
            <a:pPr indent="0" marL="0">
              <a:buNone/>
            </a:pPr>
            <a:r>
              <a:rPr lang="en-US" sz="1250" b="1" dirty="0">
                <a:solidFill>
                  <a:srgbClr val="F4ECDF"/>
                </a:solidFill>
                <a:latin typeface="Calibri" pitchFamily="34" charset="0"/>
                <a:ea typeface="Calibri" pitchFamily="34" charset="-122"/>
                <a:cs typeface="Calibri" pitchFamily="34" charset="-120"/>
              </a:rPr>
              <a:t>Global capacity roughly triples by 2030</a:t>
            </a:r>
            <a:endParaRPr lang="en-US" sz="1250" dirty="0"/>
          </a:p>
        </p:txBody>
      </p:sp>
      <p:sp>
        <p:nvSpPr>
          <p:cNvPr id="13" name="Text 10"/>
          <p:cNvSpPr/>
          <p:nvPr/>
        </p:nvSpPr>
        <p:spPr>
          <a:xfrm>
            <a:off x="6995160" y="3419856"/>
            <a:ext cx="4754880" cy="640080"/>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McKinsey: 82 GW in 2025 to about 219 GW in 2030, AI workloads driving 71% of the growth. JLL: 103 GW to 200 GW.</a:t>
            </a:r>
            <a:endParaRPr lang="en-US" sz="950" dirty="0"/>
          </a:p>
        </p:txBody>
      </p:sp>
      <p:sp>
        <p:nvSpPr>
          <p:cNvPr id="14" name="Shape 11"/>
          <p:cNvSpPr/>
          <p:nvPr/>
        </p:nvSpPr>
        <p:spPr>
          <a:xfrm>
            <a:off x="6675120" y="4151376"/>
            <a:ext cx="128016" cy="128016"/>
          </a:xfrm>
          <a:prstGeom prst="ellipse">
            <a:avLst/>
          </a:prstGeom>
          <a:solidFill>
            <a:srgbClr val="E2B877"/>
          </a:solidFill>
          <a:ln/>
        </p:spPr>
      </p:sp>
      <p:sp>
        <p:nvSpPr>
          <p:cNvPr id="15" name="Text 12"/>
          <p:cNvSpPr/>
          <p:nvPr/>
        </p:nvSpPr>
        <p:spPr>
          <a:xfrm>
            <a:off x="6995160" y="4069080"/>
            <a:ext cx="4754880" cy="292608"/>
          </a:xfrm>
          <a:prstGeom prst="rect">
            <a:avLst/>
          </a:prstGeom>
          <a:noFill/>
          <a:ln/>
        </p:spPr>
        <p:txBody>
          <a:bodyPr wrap="square" lIns="0" tIns="0" rIns="0" bIns="0" rtlCol="0" anchor="ctr"/>
          <a:lstStyle/>
          <a:p>
            <a:pPr indent="0" marL="0">
              <a:buNone/>
            </a:pPr>
            <a:r>
              <a:rPr lang="en-US" sz="1250" b="1" dirty="0">
                <a:solidFill>
                  <a:srgbClr val="F4ECDF"/>
                </a:solidFill>
                <a:latin typeface="Calibri" pitchFamily="34" charset="0"/>
                <a:ea typeface="Calibri" pitchFamily="34" charset="-122"/>
                <a:cs typeface="Calibri" pitchFamily="34" charset="-120"/>
              </a:rPr>
              <a:t>Global data center capex passes $1 trillion in 2026</a:t>
            </a:r>
            <a:endParaRPr lang="en-US" sz="1250" dirty="0"/>
          </a:p>
        </p:txBody>
      </p:sp>
      <p:sp>
        <p:nvSpPr>
          <p:cNvPr id="16" name="Text 13"/>
          <p:cNvSpPr/>
          <p:nvPr/>
        </p:nvSpPr>
        <p:spPr>
          <a:xfrm>
            <a:off x="6995160" y="4379976"/>
            <a:ext cx="4754880" cy="640080"/>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Dell'Oro: up 57% in 2025, above $1 trillion in 2026, $1.7 trillion by 2030 — mostly servers and chips; the buildings are the Census share on the left.</a:t>
            </a:r>
            <a:endParaRPr lang="en-US" sz="950" dirty="0"/>
          </a:p>
        </p:txBody>
      </p:sp>
      <p:sp>
        <p:nvSpPr>
          <p:cNvPr id="17" name="Shape 14"/>
          <p:cNvSpPr/>
          <p:nvPr/>
        </p:nvSpPr>
        <p:spPr>
          <a:xfrm>
            <a:off x="502920" y="5029200"/>
            <a:ext cx="3611880" cy="914400"/>
          </a:xfrm>
          <a:prstGeom prst="roundRect">
            <a:avLst>
              <a:gd name="adj" fmla="val 9000"/>
            </a:avLst>
          </a:prstGeom>
          <a:solidFill>
            <a:srgbClr val="2E2113"/>
          </a:solidFill>
          <a:ln/>
        </p:spPr>
      </p:sp>
      <p:sp>
        <p:nvSpPr>
          <p:cNvPr id="18" name="Text 15"/>
          <p:cNvSpPr/>
          <p:nvPr/>
        </p:nvSpPr>
        <p:spPr>
          <a:xfrm>
            <a:off x="731520" y="5138928"/>
            <a:ext cx="3154680" cy="274320"/>
          </a:xfrm>
          <a:prstGeom prst="rect">
            <a:avLst/>
          </a:prstGeom>
          <a:noFill/>
          <a:ln/>
        </p:spPr>
        <p:txBody>
          <a:bodyPr wrap="square" lIns="0" tIns="0" rIns="0" bIns="0" rtlCol="0" anchor="ctr"/>
          <a:lstStyle/>
          <a:p>
            <a:pPr indent="0" marL="0">
              <a:buNone/>
            </a:pPr>
            <a:r>
              <a:rPr lang="en-US" sz="1200" b="1" dirty="0">
                <a:solidFill>
                  <a:srgbClr val="F4ECDF"/>
                </a:solidFill>
                <a:latin typeface="Calibri" pitchFamily="34" charset="0"/>
                <a:ea typeface="Calibri" pitchFamily="34" charset="-122"/>
                <a:cs typeface="Calibri" pitchFamily="34" charset="-120"/>
              </a:rPr>
              <a:t>Steel-intensive</a:t>
            </a:r>
            <a:endParaRPr lang="en-US" sz="1200" dirty="0"/>
          </a:p>
        </p:txBody>
      </p:sp>
      <p:sp>
        <p:nvSpPr>
          <p:cNvPr id="19" name="Text 16"/>
          <p:cNvSpPr/>
          <p:nvPr/>
        </p:nvSpPr>
        <p:spPr>
          <a:xfrm>
            <a:off x="731520" y="5413248"/>
            <a:ext cx="3154680" cy="502920"/>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500–1,000 tons of structural steel and 5,000–10,000 m³ of concrete per 10 MW.</a:t>
            </a:r>
            <a:endParaRPr lang="en-US" sz="950" dirty="0"/>
          </a:p>
        </p:txBody>
      </p:sp>
      <p:sp>
        <p:nvSpPr>
          <p:cNvPr id="20" name="Shape 17"/>
          <p:cNvSpPr/>
          <p:nvPr/>
        </p:nvSpPr>
        <p:spPr>
          <a:xfrm>
            <a:off x="4274820" y="5029200"/>
            <a:ext cx="3611880" cy="914400"/>
          </a:xfrm>
          <a:prstGeom prst="roundRect">
            <a:avLst>
              <a:gd name="adj" fmla="val 9000"/>
            </a:avLst>
          </a:prstGeom>
          <a:solidFill>
            <a:srgbClr val="2E2113"/>
          </a:solidFill>
          <a:ln/>
        </p:spPr>
      </p:sp>
      <p:sp>
        <p:nvSpPr>
          <p:cNvPr id="21" name="Text 18"/>
          <p:cNvSpPr/>
          <p:nvPr/>
        </p:nvSpPr>
        <p:spPr>
          <a:xfrm>
            <a:off x="4503420" y="5138928"/>
            <a:ext cx="3154680" cy="274320"/>
          </a:xfrm>
          <a:prstGeom prst="rect">
            <a:avLst/>
          </a:prstGeom>
          <a:noFill/>
          <a:ln/>
        </p:spPr>
        <p:txBody>
          <a:bodyPr wrap="square" lIns="0" tIns="0" rIns="0" bIns="0" rtlCol="0" anchor="ctr"/>
          <a:lstStyle/>
          <a:p>
            <a:pPr indent="0" marL="0">
              <a:buNone/>
            </a:pPr>
            <a:r>
              <a:rPr lang="en-US" sz="1200" b="1" dirty="0">
                <a:solidFill>
                  <a:srgbClr val="F4ECDF"/>
                </a:solidFill>
                <a:latin typeface="Calibri" pitchFamily="34" charset="0"/>
                <a:ea typeface="Calibri" pitchFamily="34" charset="-122"/>
                <a:cs typeface="Calibri" pitchFamily="34" charset="-120"/>
              </a:rPr>
              <a:t>Supply-chain challenged</a:t>
            </a:r>
            <a:endParaRPr lang="en-US" sz="1200" dirty="0"/>
          </a:p>
        </p:txBody>
      </p:sp>
      <p:sp>
        <p:nvSpPr>
          <p:cNvPr id="22" name="Text 19"/>
          <p:cNvSpPr/>
          <p:nvPr/>
        </p:nvSpPr>
        <p:spPr>
          <a:xfrm>
            <a:off x="4503420" y="5413248"/>
            <a:ext cx="3154680" cy="502920"/>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Customers report backlogs and a shortage of structural steel; supply chain and timeline are their first concern.</a:t>
            </a:r>
            <a:endParaRPr lang="en-US" sz="950" dirty="0"/>
          </a:p>
        </p:txBody>
      </p:sp>
      <p:sp>
        <p:nvSpPr>
          <p:cNvPr id="23" name="Shape 20"/>
          <p:cNvSpPr/>
          <p:nvPr/>
        </p:nvSpPr>
        <p:spPr>
          <a:xfrm>
            <a:off x="8046720" y="5029200"/>
            <a:ext cx="3611880" cy="914400"/>
          </a:xfrm>
          <a:prstGeom prst="roundRect">
            <a:avLst>
              <a:gd name="adj" fmla="val 9000"/>
            </a:avLst>
          </a:prstGeom>
          <a:solidFill>
            <a:srgbClr val="2E2113"/>
          </a:solidFill>
          <a:ln/>
        </p:spPr>
      </p:sp>
      <p:sp>
        <p:nvSpPr>
          <p:cNvPr id="24" name="Text 21"/>
          <p:cNvSpPr/>
          <p:nvPr/>
        </p:nvSpPr>
        <p:spPr>
          <a:xfrm>
            <a:off x="8275320" y="5138928"/>
            <a:ext cx="3154680" cy="274320"/>
          </a:xfrm>
          <a:prstGeom prst="rect">
            <a:avLst/>
          </a:prstGeom>
          <a:noFill/>
          <a:ln/>
        </p:spPr>
        <p:txBody>
          <a:bodyPr wrap="square" lIns="0" tIns="0" rIns="0" bIns="0" rtlCol="0" anchor="ctr"/>
          <a:lstStyle/>
          <a:p>
            <a:pPr indent="0" marL="0">
              <a:buNone/>
            </a:pPr>
            <a:r>
              <a:rPr lang="en-US" sz="1200" b="1" dirty="0">
                <a:solidFill>
                  <a:srgbClr val="F4ECDF"/>
                </a:solidFill>
                <a:latin typeface="Calibri" pitchFamily="34" charset="0"/>
                <a:ea typeface="Calibri" pitchFamily="34" charset="-122"/>
                <a:cs typeface="Calibri" pitchFamily="34" charset="-120"/>
              </a:rPr>
              <a:t>Highly repeatable</a:t>
            </a:r>
            <a:endParaRPr lang="en-US" sz="1200" dirty="0"/>
          </a:p>
        </p:txBody>
      </p:sp>
      <p:sp>
        <p:nvSpPr>
          <p:cNvPr id="25" name="Text 22"/>
          <p:cNvSpPr/>
          <p:nvPr/>
        </p:nvSpPr>
        <p:spPr>
          <a:xfrm>
            <a:off x="8275320" y="5413248"/>
            <a:ext cx="3154680" cy="502920"/>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Hyperscalers build to a standard basis of design, one data center after another.</a:t>
            </a:r>
            <a:endParaRPr lang="en-US" sz="950" dirty="0"/>
          </a:p>
        </p:txBody>
      </p:sp>
      <p:sp>
        <p:nvSpPr>
          <p:cNvPr id="26" name="Text 23"/>
          <p:cNvSpPr/>
          <p:nvPr/>
        </p:nvSpPr>
        <p:spPr>
          <a:xfrm>
            <a:off x="502920" y="6053328"/>
            <a:ext cx="11155680" cy="41148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US Census Bureau, Construction Spending (C30), private data center construction put in place: July 2026 preliminary seasonally adjusted annual rate $75.2B vs $47.8B in July 2025 (+57%); bars are calendar-year totals, not seasonally adjusted; buildings only, servers excluded. JLL North America Data Center Report Midyear 2026 (66 GW). McKinsey, AI power (2025). JLL Global Data Center Outlook 2026. Dell'Oro Group (2026). Steel intensity: arXiv 2509.21312, secondary; tonnage derived. Shortage statements are what customers report to InventWood.</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buyer</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BUYER · THE COMMUNITY</a:t>
            </a:r>
            <a:endParaRPr lang="en-US" sz="1200" dirty="0"/>
          </a:p>
        </p:txBody>
      </p:sp>
      <p:sp>
        <p:nvSpPr>
          <p:cNvPr id="5" name="Text 3"/>
          <p:cNvSpPr/>
          <p:nvPr/>
        </p:nvSpPr>
        <p:spPr>
          <a:xfrm>
            <a:off x="502920" y="804672"/>
            <a:ext cx="11155680" cy="868680"/>
          </a:xfrm>
          <a:prstGeom prst="rect">
            <a:avLst/>
          </a:prstGeom>
          <a:noFill/>
          <a:ln/>
        </p:spPr>
        <p:txBody>
          <a:bodyPr wrap="square" lIns="0" tIns="0" rIns="0" bIns="0" rtlCol="0" anchor="ctr"/>
          <a:lstStyle/>
          <a:p>
            <a:pPr indent="0" marL="0">
              <a:buNone/>
            </a:pPr>
            <a:r>
              <a:rPr lang="en-US" sz="2500" dirty="0">
                <a:solidFill>
                  <a:srgbClr val="F4ECDF"/>
                </a:solidFill>
                <a:latin typeface="Georgia" pitchFamily="34" charset="0"/>
                <a:ea typeface="Georgia" pitchFamily="34" charset="-122"/>
                <a:cs typeface="Georgia" pitchFamily="34" charset="-120"/>
              </a:rPr>
              <a:t>Community pushback now blocks or delays more data center projects than ever.</a:t>
            </a:r>
            <a:endParaRPr lang="en-US" sz="2500" dirty="0"/>
          </a:p>
        </p:txBody>
      </p:sp>
      <p:sp>
        <p:nvSpPr>
          <p:cNvPr id="6" name="Shape 4"/>
          <p:cNvSpPr/>
          <p:nvPr/>
        </p:nvSpPr>
        <p:spPr>
          <a:xfrm>
            <a:off x="502920" y="1783080"/>
            <a:ext cx="5440680" cy="2788920"/>
          </a:xfrm>
          <a:prstGeom prst="roundRect">
            <a:avLst>
              <a:gd name="adj" fmla="val 2951"/>
            </a:avLst>
          </a:prstGeom>
          <a:solidFill>
            <a:srgbClr val="261A0F"/>
          </a:solidFill>
          <a:ln/>
        </p:spPr>
      </p:sp>
      <p:pic>
        <p:nvPicPr>
          <p:cNvPr id="7" name="Image 0" descr="prep/tiles/tile_fence_security.jpg">    </p:cNvPr>
          <p:cNvPicPr>
            <a:picLocks noChangeAspect="1"/>
          </p:cNvPicPr>
          <p:nvPr/>
        </p:nvPicPr>
        <p:blipFill>
          <a:blip r:embed="rId1"/>
          <a:srcRect l="0" r="0" t="0" b="0"/>
          <a:stretch/>
        </p:blipFill>
        <p:spPr>
          <a:xfrm>
            <a:off x="502920" y="1783080"/>
            <a:ext cx="5440680" cy="1417320"/>
          </a:xfrm>
          <a:prstGeom prst="rect">
            <a:avLst/>
          </a:prstGeom>
        </p:spPr>
      </p:pic>
      <p:sp>
        <p:nvSpPr>
          <p:cNvPr id="8" name="Text 5"/>
          <p:cNvSpPr/>
          <p:nvPr/>
        </p:nvSpPr>
        <p:spPr>
          <a:xfrm>
            <a:off x="777240" y="3337560"/>
            <a:ext cx="2743200" cy="182880"/>
          </a:xfrm>
          <a:prstGeom prst="rect">
            <a:avLst/>
          </a:prstGeom>
          <a:noFill/>
          <a:ln/>
        </p:spPr>
        <p:txBody>
          <a:bodyPr wrap="square" lIns="0" tIns="0" rIns="0" bIns="0" rtlCol="0" anchor="ctr"/>
          <a:lstStyle/>
          <a:p>
            <a:pPr indent="0" marL="0">
              <a:buNone/>
            </a:pPr>
            <a:r>
              <a:rPr lang="en-US" sz="750" b="1" spc="150" kern="0" dirty="0">
                <a:solidFill>
                  <a:srgbClr val="CDA165"/>
                </a:solidFill>
                <a:latin typeface="Calibri" pitchFamily="34" charset="0"/>
                <a:ea typeface="Calibri" pitchFamily="34" charset="-122"/>
                <a:cs typeface="Calibri" pitchFamily="34" charset="-120"/>
              </a:rPr>
              <a:t>COMPLAINT</a:t>
            </a:r>
            <a:endParaRPr lang="en-US" sz="750" dirty="0"/>
          </a:p>
        </p:txBody>
      </p:sp>
      <p:sp>
        <p:nvSpPr>
          <p:cNvPr id="9" name="Text 6"/>
          <p:cNvSpPr/>
          <p:nvPr/>
        </p:nvSpPr>
        <p:spPr>
          <a:xfrm>
            <a:off x="777240" y="3502152"/>
            <a:ext cx="4892040" cy="329184"/>
          </a:xfrm>
          <a:prstGeom prst="rect">
            <a:avLst/>
          </a:prstGeom>
          <a:noFill/>
          <a:ln/>
        </p:spPr>
        <p:txBody>
          <a:bodyPr wrap="square" lIns="0" tIns="0" rIns="0" bIns="0" rtlCol="0" anchor="ctr"/>
          <a:lstStyle/>
          <a:p>
            <a:pPr indent="0" marL="0">
              <a:buNone/>
            </a:pPr>
            <a:r>
              <a:rPr lang="en-US" sz="1700" dirty="0">
                <a:solidFill>
                  <a:srgbClr val="F4ECDF"/>
                </a:solidFill>
                <a:latin typeface="Georgia" pitchFamily="34" charset="0"/>
                <a:ea typeface="Georgia" pitchFamily="34" charset="-122"/>
                <a:cs typeface="Georgia" pitchFamily="34" charset="-120"/>
              </a:rPr>
              <a:t>Aesthetics</a:t>
            </a:r>
            <a:endParaRPr lang="en-US" sz="1700" dirty="0"/>
          </a:p>
        </p:txBody>
      </p:sp>
      <p:sp>
        <p:nvSpPr>
          <p:cNvPr id="10" name="Text 7"/>
          <p:cNvSpPr/>
          <p:nvPr/>
        </p:nvSpPr>
        <p:spPr>
          <a:xfrm>
            <a:off x="777240" y="3840480"/>
            <a:ext cx="4892040" cy="274320"/>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Windowless boxes on farmland. Counties answer with setbacks and design standards.</a:t>
            </a:r>
            <a:endParaRPr lang="en-US" sz="950" dirty="0"/>
          </a:p>
        </p:txBody>
      </p:sp>
      <p:sp>
        <p:nvSpPr>
          <p:cNvPr id="11" name="Shape 8"/>
          <p:cNvSpPr/>
          <p:nvPr/>
        </p:nvSpPr>
        <p:spPr>
          <a:xfrm>
            <a:off x="777240" y="4142232"/>
            <a:ext cx="4892040" cy="10973"/>
          </a:xfrm>
          <a:prstGeom prst="rect">
            <a:avLst/>
          </a:prstGeom>
          <a:solidFill>
            <a:srgbClr val="3A2B1A"/>
          </a:solidFill>
          <a:ln/>
        </p:spPr>
      </p:sp>
      <p:sp>
        <p:nvSpPr>
          <p:cNvPr id="12" name="Text 9"/>
          <p:cNvSpPr/>
          <p:nvPr/>
        </p:nvSpPr>
        <p:spPr>
          <a:xfrm>
            <a:off x="777240" y="4187952"/>
            <a:ext cx="4892040" cy="329184"/>
          </a:xfrm>
          <a:prstGeom prst="rect">
            <a:avLst/>
          </a:prstGeom>
          <a:noFill/>
          <a:ln/>
        </p:spPr>
        <p:txBody>
          <a:bodyPr wrap="square" lIns="0" tIns="0" rIns="0" bIns="0" rtlCol="0" anchor="ctr"/>
          <a:lstStyle/>
          <a:p>
            <a:pPr indent="0" marL="0">
              <a:buNone/>
            </a:pPr>
            <a:r>
              <a:rPr lang="en-US" sz="750" b="1" spc="150" kern="0" dirty="0">
                <a:solidFill>
                  <a:srgbClr val="E2B877"/>
                </a:solidFill>
                <a:latin typeface="Calibri" pitchFamily="34" charset="0"/>
                <a:ea typeface="Calibri" pitchFamily="34" charset="-122"/>
                <a:cs typeface="Calibri" pitchFamily="34" charset="-120"/>
              </a:rPr>
              <a:t>SUPERWOOD   </a:t>
            </a:r>
            <a:pPr indent="0" marL="0">
              <a:buNone/>
            </a:pPr>
            <a:r>
              <a:rPr lang="en-US" sz="1000" dirty="0">
                <a:solidFill>
                  <a:srgbClr val="F4ECDF"/>
                </a:solidFill>
                <a:latin typeface="Calibri" pitchFamily="34" charset="0"/>
                <a:ea typeface="Calibri" pitchFamily="34" charset="-122"/>
                <a:cs typeface="Calibri" pitchFamily="34" charset="-120"/>
              </a:rPr>
              <a:t>Facades, fences and screens that read as architecture.</a:t>
            </a:r>
            <a:endParaRPr lang="en-US" sz="750" dirty="0"/>
          </a:p>
        </p:txBody>
      </p:sp>
      <p:sp>
        <p:nvSpPr>
          <p:cNvPr id="13" name="Shape 10"/>
          <p:cNvSpPr/>
          <p:nvPr/>
        </p:nvSpPr>
        <p:spPr>
          <a:xfrm>
            <a:off x="6217920" y="1783080"/>
            <a:ext cx="5440680" cy="2788920"/>
          </a:xfrm>
          <a:prstGeom prst="roundRect">
            <a:avLst>
              <a:gd name="adj" fmla="val 2951"/>
            </a:avLst>
          </a:prstGeom>
          <a:solidFill>
            <a:srgbClr val="261A0F"/>
          </a:solidFill>
          <a:ln/>
        </p:spPr>
      </p:sp>
      <p:pic>
        <p:nvPicPr>
          <p:cNvPr id="14" name="Image 1" descr="prep/tiles/tile_fanbox.jpg">    </p:cNvPr>
          <p:cNvPicPr>
            <a:picLocks noChangeAspect="1"/>
          </p:cNvPicPr>
          <p:nvPr/>
        </p:nvPicPr>
        <p:blipFill>
          <a:blip r:embed="rId2"/>
          <a:srcRect l="0" r="0" t="0" b="0"/>
          <a:stretch/>
        </p:blipFill>
        <p:spPr>
          <a:xfrm>
            <a:off x="6217920" y="1783080"/>
            <a:ext cx="5440680" cy="1417320"/>
          </a:xfrm>
          <a:prstGeom prst="rect">
            <a:avLst/>
          </a:prstGeom>
        </p:spPr>
      </p:pic>
      <p:sp>
        <p:nvSpPr>
          <p:cNvPr id="15" name="Text 11"/>
          <p:cNvSpPr/>
          <p:nvPr/>
        </p:nvSpPr>
        <p:spPr>
          <a:xfrm>
            <a:off x="6492240" y="3337560"/>
            <a:ext cx="2743200" cy="182880"/>
          </a:xfrm>
          <a:prstGeom prst="rect">
            <a:avLst/>
          </a:prstGeom>
          <a:noFill/>
          <a:ln/>
        </p:spPr>
        <p:txBody>
          <a:bodyPr wrap="square" lIns="0" tIns="0" rIns="0" bIns="0" rtlCol="0" anchor="ctr"/>
          <a:lstStyle/>
          <a:p>
            <a:pPr indent="0" marL="0">
              <a:buNone/>
            </a:pPr>
            <a:r>
              <a:rPr lang="en-US" sz="750" b="1" spc="150" kern="0" dirty="0">
                <a:solidFill>
                  <a:srgbClr val="CDA165"/>
                </a:solidFill>
                <a:latin typeface="Calibri" pitchFamily="34" charset="0"/>
                <a:ea typeface="Calibri" pitchFamily="34" charset="-122"/>
                <a:cs typeface="Calibri" pitchFamily="34" charset="-120"/>
              </a:rPr>
              <a:t>COMPLAINT</a:t>
            </a:r>
            <a:endParaRPr lang="en-US" sz="750" dirty="0"/>
          </a:p>
        </p:txBody>
      </p:sp>
      <p:sp>
        <p:nvSpPr>
          <p:cNvPr id="16" name="Text 12"/>
          <p:cNvSpPr/>
          <p:nvPr/>
        </p:nvSpPr>
        <p:spPr>
          <a:xfrm>
            <a:off x="6492240" y="3502152"/>
            <a:ext cx="4892040" cy="329184"/>
          </a:xfrm>
          <a:prstGeom prst="rect">
            <a:avLst/>
          </a:prstGeom>
          <a:noFill/>
          <a:ln/>
        </p:spPr>
        <p:txBody>
          <a:bodyPr wrap="square" lIns="0" tIns="0" rIns="0" bIns="0" rtlCol="0" anchor="ctr"/>
          <a:lstStyle/>
          <a:p>
            <a:pPr indent="0" marL="0">
              <a:buNone/>
            </a:pPr>
            <a:r>
              <a:rPr lang="en-US" sz="1700" dirty="0">
                <a:solidFill>
                  <a:srgbClr val="F4ECDF"/>
                </a:solidFill>
                <a:latin typeface="Georgia" pitchFamily="34" charset="0"/>
                <a:ea typeface="Georgia" pitchFamily="34" charset="-122"/>
                <a:cs typeface="Georgia" pitchFamily="34" charset="-120"/>
              </a:rPr>
              <a:t>Noise</a:t>
            </a:r>
            <a:endParaRPr lang="en-US" sz="1700" dirty="0"/>
          </a:p>
        </p:txBody>
      </p:sp>
      <p:sp>
        <p:nvSpPr>
          <p:cNvPr id="17" name="Text 13"/>
          <p:cNvSpPr/>
          <p:nvPr/>
        </p:nvSpPr>
        <p:spPr>
          <a:xfrm>
            <a:off x="6492240" y="3840480"/>
            <a:ext cx="4892040" cy="274320"/>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Fans, chillers, generator tests. Property-line decibel limits are spreading.</a:t>
            </a:r>
            <a:endParaRPr lang="en-US" sz="950" dirty="0"/>
          </a:p>
        </p:txBody>
      </p:sp>
      <p:sp>
        <p:nvSpPr>
          <p:cNvPr id="18" name="Shape 14"/>
          <p:cNvSpPr/>
          <p:nvPr/>
        </p:nvSpPr>
        <p:spPr>
          <a:xfrm>
            <a:off x="6492240" y="4142232"/>
            <a:ext cx="4892040" cy="10973"/>
          </a:xfrm>
          <a:prstGeom prst="rect">
            <a:avLst/>
          </a:prstGeom>
          <a:solidFill>
            <a:srgbClr val="3A2B1A"/>
          </a:solidFill>
          <a:ln/>
        </p:spPr>
      </p:sp>
      <p:sp>
        <p:nvSpPr>
          <p:cNvPr id="19" name="Text 15"/>
          <p:cNvSpPr/>
          <p:nvPr/>
        </p:nvSpPr>
        <p:spPr>
          <a:xfrm>
            <a:off x="6492240" y="4187952"/>
            <a:ext cx="4892040" cy="329184"/>
          </a:xfrm>
          <a:prstGeom prst="rect">
            <a:avLst/>
          </a:prstGeom>
          <a:noFill/>
          <a:ln/>
        </p:spPr>
        <p:txBody>
          <a:bodyPr wrap="square" lIns="0" tIns="0" rIns="0" bIns="0" rtlCol="0" anchor="ctr"/>
          <a:lstStyle/>
          <a:p>
            <a:pPr indent="0" marL="0">
              <a:buNone/>
            </a:pPr>
            <a:r>
              <a:rPr lang="en-US" sz="750" b="1" spc="150" kern="0" dirty="0">
                <a:solidFill>
                  <a:srgbClr val="E2B877"/>
                </a:solidFill>
                <a:latin typeface="Calibri" pitchFamily="34" charset="0"/>
                <a:ea typeface="Calibri" pitchFamily="34" charset="-122"/>
                <a:cs typeface="Calibri" pitchFamily="34" charset="-120"/>
              </a:rPr>
              <a:t>SUPERWOOD   </a:t>
            </a:r>
            <a:pPr indent="0" marL="0">
              <a:buNone/>
            </a:pPr>
            <a:r>
              <a:rPr lang="en-US" sz="1000" dirty="0">
                <a:solidFill>
                  <a:srgbClr val="F4ECDF"/>
                </a:solidFill>
                <a:latin typeface="Calibri" pitchFamily="34" charset="0"/>
                <a:ea typeface="Calibri" pitchFamily="34" charset="-122"/>
                <a:cs typeface="Calibri" pitchFamily="34" charset="-120"/>
              </a:rPr>
              <a:t>Acoustic screens and barriers; quieter fan enclosures and ductwork.</a:t>
            </a:r>
            <a:endParaRPr lang="en-US" sz="750" dirty="0"/>
          </a:p>
        </p:txBody>
      </p:sp>
      <p:sp>
        <p:nvSpPr>
          <p:cNvPr id="20" name="Text 16"/>
          <p:cNvSpPr/>
          <p:nvPr/>
        </p:nvSpPr>
        <p:spPr>
          <a:xfrm>
            <a:off x="8897112" y="4590288"/>
            <a:ext cx="2743200" cy="256032"/>
          </a:xfrm>
          <a:prstGeom prst="rect">
            <a:avLst/>
          </a:prstGeom>
          <a:noFill/>
          <a:ln/>
        </p:spPr>
        <p:txBody>
          <a:bodyPr wrap="square" lIns="0" tIns="0" rIns="0" bIns="0" rtlCol="0" anchor="ctr"/>
          <a:lstStyle/>
          <a:p>
            <a:pPr algn="r" indent="0" marL="0">
              <a:buNone/>
            </a:pPr>
            <a:r>
              <a:rPr lang="en-US" sz="900" i="1" dirty="0">
                <a:solidFill>
                  <a:srgbClr val="9D8D76"/>
                </a:solidFill>
                <a:latin typeface="Calibri" pitchFamily="34" charset="0"/>
                <a:ea typeface="Calibri" pitchFamily="34" charset="-122"/>
                <a:cs typeface="Calibri" pitchFamily="34" charset="-120"/>
              </a:rPr>
              <a:t>Concept renderings</a:t>
            </a:r>
            <a:endParaRPr lang="en-US" sz="900" dirty="0"/>
          </a:p>
        </p:txBody>
      </p:sp>
      <p:sp>
        <p:nvSpPr>
          <p:cNvPr id="21" name="Shape 17"/>
          <p:cNvSpPr/>
          <p:nvPr/>
        </p:nvSpPr>
        <p:spPr>
          <a:xfrm>
            <a:off x="502920" y="4846320"/>
            <a:ext cx="27432" cy="640080"/>
          </a:xfrm>
          <a:prstGeom prst="rect">
            <a:avLst/>
          </a:prstGeom>
          <a:solidFill>
            <a:srgbClr val="CDA165"/>
          </a:solidFill>
          <a:ln/>
        </p:spPr>
      </p:sp>
      <p:sp>
        <p:nvSpPr>
          <p:cNvPr id="22" name="Text 18"/>
          <p:cNvSpPr/>
          <p:nvPr/>
        </p:nvSpPr>
        <p:spPr>
          <a:xfrm>
            <a:off x="685800" y="4846320"/>
            <a:ext cx="5257800" cy="292608"/>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75 projects, about $130 billion, blocked or delayed in one quarter</a:t>
            </a:r>
            <a:endParaRPr lang="en-US" sz="1100" dirty="0"/>
          </a:p>
        </p:txBody>
      </p:sp>
      <p:sp>
        <p:nvSpPr>
          <p:cNvPr id="23" name="Text 19"/>
          <p:cNvSpPr/>
          <p:nvPr/>
        </p:nvSpPr>
        <p:spPr>
          <a:xfrm>
            <a:off x="685800" y="5157216"/>
            <a:ext cx="5257800" cy="329184"/>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Q1 2026, as much as all of 2025. 833 opposition groups in 49 states.</a:t>
            </a:r>
            <a:endParaRPr lang="en-US" sz="900" dirty="0"/>
          </a:p>
        </p:txBody>
      </p:sp>
      <p:sp>
        <p:nvSpPr>
          <p:cNvPr id="24" name="Shape 20"/>
          <p:cNvSpPr/>
          <p:nvPr/>
        </p:nvSpPr>
        <p:spPr>
          <a:xfrm>
            <a:off x="6217920" y="4846320"/>
            <a:ext cx="27432" cy="640080"/>
          </a:xfrm>
          <a:prstGeom prst="rect">
            <a:avLst/>
          </a:prstGeom>
          <a:solidFill>
            <a:srgbClr val="CDA165"/>
          </a:solidFill>
          <a:ln/>
        </p:spPr>
      </p:sp>
      <p:sp>
        <p:nvSpPr>
          <p:cNvPr id="25" name="Text 21"/>
          <p:cNvSpPr/>
          <p:nvPr/>
        </p:nvSpPr>
        <p:spPr>
          <a:xfrm>
            <a:off x="6400800" y="4846320"/>
            <a:ext cx="5257800" cy="292608"/>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Rules are following</a:t>
            </a:r>
            <a:endParaRPr lang="en-US" sz="1100" dirty="0"/>
          </a:p>
        </p:txBody>
      </p:sp>
      <p:sp>
        <p:nvSpPr>
          <p:cNvPr id="26" name="Text 22"/>
          <p:cNvSpPr/>
          <p:nvPr/>
        </p:nvSpPr>
        <p:spPr>
          <a:xfrm>
            <a:off x="6400800" y="5157216"/>
            <a:ext cx="5257800" cy="329184"/>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Henry County, Virginia: 1,000 ft setbacks, 50 dBA at the property line.</a:t>
            </a:r>
            <a:endParaRPr lang="en-US" sz="900" dirty="0"/>
          </a:p>
        </p:txBody>
      </p:sp>
      <p:sp>
        <p:nvSpPr>
          <p:cNvPr id="27" name="Text 23"/>
          <p:cNvSpPr/>
          <p:nvPr/>
        </p:nvSpPr>
        <p:spPr>
          <a:xfrm>
            <a:off x="502920" y="5577840"/>
            <a:ext cx="11155680" cy="411480"/>
          </a:xfrm>
          <a:prstGeom prst="rect">
            <a:avLst/>
          </a:prstGeom>
          <a:noFill/>
          <a:ln/>
        </p:spPr>
        <p:txBody>
          <a:bodyPr wrap="square" lIns="0" tIns="0" rIns="0" bIns="0" rtlCol="0" anchor="ctr"/>
          <a:lstStyle/>
          <a:p>
            <a:pPr indent="0" marL="0">
              <a:buNone/>
            </a:pPr>
            <a:r>
              <a:rPr lang="en-US" sz="1500" dirty="0">
                <a:solidFill>
                  <a:srgbClr val="F4ECDF"/>
                </a:solidFill>
                <a:latin typeface="Georgia" pitchFamily="34" charset="0"/>
                <a:ea typeface="Georgia" pitchFamily="34" charset="-122"/>
                <a:cs typeface="Georgia" pitchFamily="34" charset="-120"/>
              </a:rPr>
              <a:t>We help with these two. </a:t>
            </a:r>
            <a:pPr indent="0" marL="0">
              <a:buNone/>
            </a:pPr>
            <a:r>
              <a:rPr lang="en-US" sz="1500" i="1" dirty="0">
                <a:solidFill>
                  <a:srgbClr val="E2B877"/>
                </a:solidFill>
                <a:latin typeface="Georgia" pitchFamily="34" charset="0"/>
                <a:ea typeface="Georgia" pitchFamily="34" charset="-122"/>
                <a:cs typeface="Georgia" pitchFamily="34" charset="-120"/>
              </a:rPr>
              <a:t>We can go much further</a:t>
            </a:r>
            <a:pPr indent="0" marL="0">
              <a:buNone/>
            </a:pPr>
            <a:r>
              <a:rPr lang="en-US" sz="1500" dirty="0">
                <a:solidFill>
                  <a:srgbClr val="F4ECDF"/>
                </a:solidFill>
                <a:latin typeface="Georgia" pitchFamily="34" charset="0"/>
                <a:ea typeface="Georgia" pitchFamily="34" charset="-122"/>
                <a:cs typeface="Georgia" pitchFamily="34" charset="-120"/>
              </a:rPr>
              <a:t>: into the structure of the building and what is inside it.</a:t>
            </a:r>
            <a:endParaRPr lang="en-US" sz="1500" dirty="0"/>
          </a:p>
        </p:txBody>
      </p:sp>
      <p:sp>
        <p:nvSpPr>
          <p:cNvPr id="28" name="Text 24"/>
          <p:cNvSpPr/>
          <p:nvPr/>
        </p:nvSpPr>
        <p:spPr>
          <a:xfrm>
            <a:off x="502920" y="6144768"/>
            <a:ext cx="11155680" cy="32004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Data Center Watch, Q1 2026 report (June 2026). Virginia HB 153; Henry County, VA ordinance, Aug 2026. Electricity rates and water are the other leading objections; SUPERWOOD does not address them.</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buyer</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BUYER · WOOD EMERGING</a:t>
            </a:r>
            <a:endParaRPr lang="en-US" sz="1200" dirty="0"/>
          </a:p>
        </p:txBody>
      </p:sp>
      <p:sp>
        <p:nvSpPr>
          <p:cNvPr id="5" name="Text 3"/>
          <p:cNvSpPr/>
          <p:nvPr/>
        </p:nvSpPr>
        <p:spPr>
          <a:xfrm>
            <a:off x="502920" y="804672"/>
            <a:ext cx="11155680" cy="868680"/>
          </a:xfrm>
          <a:prstGeom prst="rect">
            <a:avLst/>
          </a:prstGeom>
          <a:noFill/>
          <a:ln/>
        </p:spPr>
        <p:txBody>
          <a:bodyPr wrap="square" lIns="0" tIns="0" rIns="0" bIns="0" rtlCol="0" anchor="ctr"/>
          <a:lstStyle/>
          <a:p>
            <a:pPr indent="0" marL="0">
              <a:buNone/>
            </a:pPr>
            <a:r>
              <a:rPr lang="en-US" sz="2300" dirty="0">
                <a:solidFill>
                  <a:srgbClr val="F4ECDF"/>
                </a:solidFill>
                <a:latin typeface="Georgia" pitchFamily="34" charset="0"/>
                <a:ea typeface="Georgia" pitchFamily="34" charset="-122"/>
                <a:cs typeface="Georgia" pitchFamily="34" charset="-120"/>
              </a:rPr>
              <a:t>Hyperscalers are already building structures with wood. We </a:t>
            </a:r>
            <a:pPr indent="0" marL="0">
              <a:buNone/>
            </a:pPr>
            <a:r>
              <a:rPr lang="en-US" sz="2300" i="1" dirty="0">
                <a:solidFill>
                  <a:srgbClr val="E2B877"/>
                </a:solidFill>
                <a:latin typeface="Georgia" pitchFamily="34" charset="0"/>
                <a:ea typeface="Georgia" pitchFamily="34" charset="-122"/>
                <a:cs typeface="Georgia" pitchFamily="34" charset="-120"/>
              </a:rPr>
              <a:t>turbocharge</a:t>
            </a:r>
            <a:pPr indent="0" marL="0">
              <a:buNone/>
            </a:pPr>
            <a:r>
              <a:rPr lang="en-US" sz="2300" dirty="0">
                <a:solidFill>
                  <a:srgbClr val="F4ECDF"/>
                </a:solidFill>
                <a:latin typeface="Georgia" pitchFamily="34" charset="0"/>
                <a:ea typeface="Georgia" pitchFamily="34" charset="-122"/>
                <a:cs typeface="Georgia" pitchFamily="34" charset="-120"/>
              </a:rPr>
              <a:t> wood.</a:t>
            </a:r>
            <a:endParaRPr lang="en-US" sz="2300" dirty="0"/>
          </a:p>
        </p:txBody>
      </p:sp>
      <p:sp>
        <p:nvSpPr>
          <p:cNvPr id="6" name="Shape 4"/>
          <p:cNvSpPr/>
          <p:nvPr/>
        </p:nvSpPr>
        <p:spPr>
          <a:xfrm>
            <a:off x="502920" y="1828800"/>
            <a:ext cx="4206240" cy="2057400"/>
          </a:xfrm>
          <a:prstGeom prst="roundRect">
            <a:avLst>
              <a:gd name="adj" fmla="val 4000"/>
            </a:avLst>
          </a:prstGeom>
          <a:solidFill>
            <a:srgbClr val="2E2113"/>
          </a:solidFill>
          <a:ln/>
        </p:spPr>
      </p:sp>
      <p:pic>
        <p:nvPicPr>
          <p:cNvPr id="7" name="Image 0" descr="prep/ms_clt_datacenter.jpg">    </p:cNvPr>
          <p:cNvPicPr>
            <a:picLocks noChangeAspect="1"/>
          </p:cNvPicPr>
          <p:nvPr/>
        </p:nvPicPr>
        <p:blipFill>
          <a:blip r:embed="rId1"/>
          <a:srcRect l="0" r="0" t="0" b="0"/>
          <a:stretch/>
        </p:blipFill>
        <p:spPr>
          <a:xfrm>
            <a:off x="640080" y="1938528"/>
            <a:ext cx="3931920" cy="960120"/>
          </a:xfrm>
          <a:prstGeom prst="rect">
            <a:avLst/>
          </a:prstGeom>
        </p:spPr>
      </p:pic>
      <p:sp>
        <p:nvSpPr>
          <p:cNvPr id="8" name="Text 5"/>
          <p:cNvSpPr/>
          <p:nvPr/>
        </p:nvSpPr>
        <p:spPr>
          <a:xfrm>
            <a:off x="3246120" y="2679192"/>
            <a:ext cx="1280160" cy="182880"/>
          </a:xfrm>
          <a:prstGeom prst="rect">
            <a:avLst/>
          </a:prstGeom>
          <a:noFill/>
          <a:ln/>
        </p:spPr>
        <p:txBody>
          <a:bodyPr wrap="square" lIns="0" tIns="0" rIns="0" bIns="0" rtlCol="0" anchor="ctr"/>
          <a:lstStyle/>
          <a:p>
            <a:pPr algn="r" indent="0" marL="0">
              <a:buNone/>
            </a:pPr>
            <a:r>
              <a:rPr lang="en-US" sz="700" i="1" dirty="0">
                <a:solidFill>
                  <a:srgbClr val="E8DECB"/>
                </a:solidFill>
                <a:latin typeface="Calibri" pitchFamily="34" charset="0"/>
                <a:ea typeface="Calibri" pitchFamily="34" charset="-122"/>
                <a:cs typeface="Calibri" pitchFamily="34" charset="-120"/>
              </a:rPr>
              <a:t>Photo: Microsoft</a:t>
            </a:r>
            <a:endParaRPr lang="en-US" sz="700" dirty="0"/>
          </a:p>
        </p:txBody>
      </p:sp>
      <p:pic>
        <p:nvPicPr>
          <p:cNvPr id="9" name="Image 1" descr="prep/logo_microsoft.png">    </p:cNvPr>
          <p:cNvPicPr>
            <a:picLocks noChangeAspect="1"/>
          </p:cNvPicPr>
          <p:nvPr/>
        </p:nvPicPr>
        <p:blipFill>
          <a:blip r:embed="rId2"/>
          <a:stretch>
            <a:fillRect/>
          </a:stretch>
        </p:blipFill>
        <p:spPr>
          <a:xfrm>
            <a:off x="731520" y="2971800"/>
            <a:ext cx="986130" cy="210312"/>
          </a:xfrm>
          <a:prstGeom prst="rect">
            <a:avLst/>
          </a:prstGeom>
        </p:spPr>
      </p:pic>
      <p:sp>
        <p:nvSpPr>
          <p:cNvPr id="10" name="Text 6"/>
          <p:cNvSpPr/>
          <p:nvPr/>
        </p:nvSpPr>
        <p:spPr>
          <a:xfrm>
            <a:off x="731520" y="3227832"/>
            <a:ext cx="3749040" cy="475488"/>
          </a:xfrm>
          <a:prstGeom prst="rect">
            <a:avLst/>
          </a:prstGeom>
          <a:noFill/>
          <a:ln/>
        </p:spPr>
        <p:txBody>
          <a:bodyPr wrap="square" lIns="0" tIns="0" rIns="0" bIns="0" rtlCol="0" anchor="t"/>
          <a:lstStyle/>
          <a:p>
            <a:pPr indent="0" marL="0">
              <a:buNone/>
            </a:pPr>
            <a:r>
              <a:rPr lang="en-US" sz="800" dirty="0">
                <a:solidFill>
                  <a:srgbClr val="CDBFA9"/>
                </a:solidFill>
                <a:latin typeface="Calibri" pitchFamily="34" charset="0"/>
                <a:ea typeface="Calibri" pitchFamily="34" charset="-122"/>
                <a:cs typeface="Calibri" pitchFamily="34" charset="-120"/>
              </a:rPr>
              <a:t>Two Northern Virginia datacenters with cross-laminated timber floors on a steel frame — about 35% less embodied carbon than conventional steel construction, 65% less than precast. Gensler; Thornton Tomasetti.</a:t>
            </a:r>
            <a:endParaRPr lang="en-US" sz="800" dirty="0"/>
          </a:p>
        </p:txBody>
      </p:sp>
      <p:sp>
        <p:nvSpPr>
          <p:cNvPr id="11" name="Text 7"/>
          <p:cNvSpPr/>
          <p:nvPr/>
        </p:nvSpPr>
        <p:spPr>
          <a:xfrm>
            <a:off x="731520" y="3685032"/>
            <a:ext cx="3749040" cy="164592"/>
          </a:xfrm>
          <a:prstGeom prst="rect">
            <a:avLst/>
          </a:prstGeom>
          <a:noFill/>
          <a:ln/>
        </p:spPr>
        <p:txBody>
          <a:bodyPr wrap="square" lIns="0" tIns="0" rIns="0" bIns="0" rtlCol="0" anchor="ctr"/>
          <a:lstStyle/>
          <a:p>
            <a:pPr indent="0" marL="0">
              <a:buNone/>
            </a:pPr>
            <a:r>
              <a:rPr lang="en-US" sz="700" i="1" dirty="0">
                <a:solidFill>
                  <a:srgbClr val="9D8D76"/>
                </a:solidFill>
                <a:latin typeface="Calibri" pitchFamily="34" charset="0"/>
                <a:ea typeface="Calibri" pitchFamily="34" charset="-122"/>
                <a:cs typeface="Calibri" pitchFamily="34" charset="-120"/>
              </a:rPr>
              <a:t>Microsoft Source, Nov 2024</a:t>
            </a:r>
            <a:endParaRPr lang="en-US" sz="700" dirty="0"/>
          </a:p>
        </p:txBody>
      </p:sp>
      <p:sp>
        <p:nvSpPr>
          <p:cNvPr id="12" name="Shape 8"/>
          <p:cNvSpPr/>
          <p:nvPr/>
        </p:nvSpPr>
        <p:spPr>
          <a:xfrm>
            <a:off x="502920" y="3977640"/>
            <a:ext cx="4206240" cy="2057400"/>
          </a:xfrm>
          <a:prstGeom prst="roundRect">
            <a:avLst>
              <a:gd name="adj" fmla="val 4000"/>
            </a:avLst>
          </a:prstGeom>
          <a:solidFill>
            <a:srgbClr val="2E2113"/>
          </a:solidFill>
          <a:ln/>
        </p:spPr>
      </p:sp>
      <p:pic>
        <p:nvPicPr>
          <p:cNvPr id="13" name="Image 2" descr="prep/meta_aiken_masstimber.jpg">    </p:cNvPr>
          <p:cNvPicPr>
            <a:picLocks noChangeAspect="1"/>
          </p:cNvPicPr>
          <p:nvPr/>
        </p:nvPicPr>
        <p:blipFill>
          <a:blip r:embed="rId3"/>
          <a:srcRect l="0" r="0" t="0" b="0"/>
          <a:stretch/>
        </p:blipFill>
        <p:spPr>
          <a:xfrm>
            <a:off x="640080" y="4087368"/>
            <a:ext cx="3931920" cy="960120"/>
          </a:xfrm>
          <a:prstGeom prst="rect">
            <a:avLst/>
          </a:prstGeom>
        </p:spPr>
      </p:pic>
      <p:sp>
        <p:nvSpPr>
          <p:cNvPr id="14" name="Text 9"/>
          <p:cNvSpPr/>
          <p:nvPr/>
        </p:nvSpPr>
        <p:spPr>
          <a:xfrm>
            <a:off x="3246120" y="4828032"/>
            <a:ext cx="1280160" cy="182880"/>
          </a:xfrm>
          <a:prstGeom prst="rect">
            <a:avLst/>
          </a:prstGeom>
          <a:noFill/>
          <a:ln/>
        </p:spPr>
        <p:txBody>
          <a:bodyPr wrap="square" lIns="0" tIns="0" rIns="0" bIns="0" rtlCol="0" anchor="ctr"/>
          <a:lstStyle/>
          <a:p>
            <a:pPr algn="r" indent="0" marL="0">
              <a:buNone/>
            </a:pPr>
            <a:r>
              <a:rPr lang="en-US" sz="700" i="1" dirty="0">
                <a:solidFill>
                  <a:srgbClr val="E8DECB"/>
                </a:solidFill>
                <a:latin typeface="Calibri" pitchFamily="34" charset="0"/>
                <a:ea typeface="Calibri" pitchFamily="34" charset="-122"/>
                <a:cs typeface="Calibri" pitchFamily="34" charset="-120"/>
              </a:rPr>
              <a:t>Photo: Meta</a:t>
            </a:r>
            <a:endParaRPr lang="en-US" sz="700" dirty="0"/>
          </a:p>
        </p:txBody>
      </p:sp>
      <p:pic>
        <p:nvPicPr>
          <p:cNvPr id="15" name="Image 3" descr="prep/logo_meta.png">    </p:cNvPr>
          <p:cNvPicPr>
            <a:picLocks noChangeAspect="1"/>
          </p:cNvPicPr>
          <p:nvPr/>
        </p:nvPicPr>
        <p:blipFill>
          <a:blip r:embed="rId4"/>
          <a:stretch>
            <a:fillRect/>
          </a:stretch>
        </p:blipFill>
        <p:spPr>
          <a:xfrm>
            <a:off x="731520" y="5120640"/>
            <a:ext cx="1043852" cy="210312"/>
          </a:xfrm>
          <a:prstGeom prst="rect">
            <a:avLst/>
          </a:prstGeom>
        </p:spPr>
      </p:pic>
      <p:sp>
        <p:nvSpPr>
          <p:cNvPr id="16" name="Text 10"/>
          <p:cNvSpPr/>
          <p:nvPr/>
        </p:nvSpPr>
        <p:spPr>
          <a:xfrm>
            <a:off x="731520" y="5376672"/>
            <a:ext cx="3749040" cy="475488"/>
          </a:xfrm>
          <a:prstGeom prst="rect">
            <a:avLst/>
          </a:prstGeom>
          <a:noFill/>
          <a:ln/>
        </p:spPr>
        <p:txBody>
          <a:bodyPr wrap="square" lIns="0" tIns="0" rIns="0" bIns="0" rtlCol="0" anchor="t"/>
          <a:lstStyle/>
          <a:p>
            <a:pPr indent="0" marL="0">
              <a:buNone/>
            </a:pPr>
            <a:r>
              <a:rPr lang="en-US" sz="800" dirty="0">
                <a:solidFill>
                  <a:srgbClr val="CDBFA9"/>
                </a:solidFill>
                <a:latin typeface="Calibri" pitchFamily="34" charset="0"/>
                <a:ea typeface="Calibri" pitchFamily="34" charset="-122"/>
                <a:cs typeface="Calibri" pitchFamily="34" charset="-120"/>
              </a:rPr>
              <a:t>Mass-timber data-center administrative buildings: Aiken, South Carolina completed 2025 (DPR, SmartLam); Cheyenne and Montgomery under way; about 41% less embodied carbon in the materials substituted.</a:t>
            </a:r>
            <a:endParaRPr lang="en-US" sz="800" dirty="0"/>
          </a:p>
        </p:txBody>
      </p:sp>
      <p:sp>
        <p:nvSpPr>
          <p:cNvPr id="17" name="Text 11"/>
          <p:cNvSpPr/>
          <p:nvPr/>
        </p:nvSpPr>
        <p:spPr>
          <a:xfrm>
            <a:off x="731520" y="5833872"/>
            <a:ext cx="3749040" cy="164592"/>
          </a:xfrm>
          <a:prstGeom prst="rect">
            <a:avLst/>
          </a:prstGeom>
          <a:noFill/>
          <a:ln/>
        </p:spPr>
        <p:txBody>
          <a:bodyPr wrap="square" lIns="0" tIns="0" rIns="0" bIns="0" rtlCol="0" anchor="ctr"/>
          <a:lstStyle/>
          <a:p>
            <a:pPr indent="0" marL="0">
              <a:buNone/>
            </a:pPr>
            <a:r>
              <a:rPr lang="en-US" sz="700" i="1" dirty="0">
                <a:solidFill>
                  <a:srgbClr val="9D8D76"/>
                </a:solidFill>
                <a:latin typeface="Calibri" pitchFamily="34" charset="0"/>
                <a:ea typeface="Calibri" pitchFamily="34" charset="-122"/>
                <a:cs typeface="Calibri" pitchFamily="34" charset="-120"/>
              </a:rPr>
              <a:t>Meta Sustainability, 31 Jul 2025</a:t>
            </a:r>
            <a:endParaRPr lang="en-US" sz="700" dirty="0"/>
          </a:p>
        </p:txBody>
      </p:sp>
      <p:sp>
        <p:nvSpPr>
          <p:cNvPr id="18" name="Text 12"/>
          <p:cNvSpPr/>
          <p:nvPr/>
        </p:nvSpPr>
        <p:spPr>
          <a:xfrm>
            <a:off x="6309360" y="1920240"/>
            <a:ext cx="2103120" cy="457200"/>
          </a:xfrm>
          <a:prstGeom prst="rect">
            <a:avLst/>
          </a:prstGeom>
          <a:noFill/>
          <a:ln/>
        </p:spPr>
        <p:txBody>
          <a:bodyPr wrap="square" lIns="0" tIns="0" rIns="0" bIns="0" rtlCol="0" anchor="b"/>
          <a:lstStyle/>
          <a:p>
            <a:pPr indent="0" marL="0">
              <a:buNone/>
            </a:pPr>
            <a:r>
              <a:rPr lang="en-US" sz="1200" b="1" spc="120" kern="0" dirty="0">
                <a:solidFill>
                  <a:srgbClr val="CDA165"/>
                </a:solidFill>
                <a:latin typeface="Calibri" pitchFamily="34" charset="0"/>
                <a:ea typeface="Calibri" pitchFamily="34" charset="-122"/>
                <a:cs typeface="Calibri" pitchFamily="34" charset="-120"/>
              </a:rPr>
              <a:t>MASS TIMBER TODAY (CLT, GLULAM)</a:t>
            </a:r>
            <a:endParaRPr lang="en-US" sz="1200" dirty="0"/>
          </a:p>
        </p:txBody>
      </p:sp>
      <p:sp>
        <p:nvSpPr>
          <p:cNvPr id="19" name="Text 13"/>
          <p:cNvSpPr/>
          <p:nvPr/>
        </p:nvSpPr>
        <p:spPr>
          <a:xfrm>
            <a:off x="8503920" y="1920240"/>
            <a:ext cx="3154680" cy="457200"/>
          </a:xfrm>
          <a:prstGeom prst="rect">
            <a:avLst/>
          </a:prstGeom>
          <a:noFill/>
          <a:ln/>
        </p:spPr>
        <p:txBody>
          <a:bodyPr wrap="square" lIns="0" tIns="0" rIns="0" bIns="0" rtlCol="0" anchor="b"/>
          <a:lstStyle/>
          <a:p>
            <a:pPr indent="0" marL="0">
              <a:buNone/>
            </a:pPr>
            <a:r>
              <a:rPr lang="en-US" sz="1200" b="1" spc="120" kern="0" dirty="0">
                <a:solidFill>
                  <a:srgbClr val="CDA165"/>
                </a:solidFill>
                <a:latin typeface="Calibri" pitchFamily="34" charset="0"/>
                <a:ea typeface="Calibri" pitchFamily="34" charset="-122"/>
                <a:cs typeface="Calibri" pitchFamily="34" charset="-120"/>
              </a:rPr>
              <a:t>WITH SUPERWOOD</a:t>
            </a:r>
            <a:endParaRPr lang="en-US" sz="1200" dirty="0"/>
          </a:p>
        </p:txBody>
      </p:sp>
      <p:pic>
        <p:nvPicPr>
          <p:cNvPr id="20" name="Image 4" descr="prep/beam_glulam.jpg">    </p:cNvPr>
          <p:cNvPicPr>
            <a:picLocks noChangeAspect="1"/>
          </p:cNvPicPr>
          <p:nvPr/>
        </p:nvPicPr>
        <p:blipFill>
          <a:blip r:embed="rId5"/>
          <a:srcRect l="0" r="0" t="0" b="0"/>
          <a:stretch/>
        </p:blipFill>
        <p:spPr>
          <a:xfrm>
            <a:off x="6309360" y="2468880"/>
            <a:ext cx="1188720" cy="658368"/>
          </a:xfrm>
          <a:prstGeom prst="rect">
            <a:avLst/>
          </a:prstGeom>
        </p:spPr>
      </p:pic>
      <p:pic>
        <p:nvPicPr>
          <p:cNvPr id="21" name="Image 5" descr="prep/beam_hybrid.jpg">    </p:cNvPr>
          <p:cNvPicPr>
            <a:picLocks noChangeAspect="1"/>
          </p:cNvPicPr>
          <p:nvPr/>
        </p:nvPicPr>
        <p:blipFill>
          <a:blip r:embed="rId6"/>
          <a:srcRect l="0" r="0" t="0" b="0"/>
          <a:stretch/>
        </p:blipFill>
        <p:spPr>
          <a:xfrm>
            <a:off x="8503920" y="2468880"/>
            <a:ext cx="1188720" cy="658368"/>
          </a:xfrm>
          <a:prstGeom prst="rect">
            <a:avLst/>
          </a:prstGeom>
        </p:spPr>
      </p:pic>
      <p:pic>
        <p:nvPicPr>
          <p:cNvPr id="22" name="Image 6" descr="prep/beam_thin.jpg">    </p:cNvPr>
          <p:cNvPicPr>
            <a:picLocks noChangeAspect="1"/>
          </p:cNvPicPr>
          <p:nvPr/>
        </p:nvPicPr>
        <p:blipFill>
          <a:blip r:embed="rId7"/>
          <a:srcRect l="0" r="0" t="0" b="0"/>
          <a:stretch/>
        </p:blipFill>
        <p:spPr>
          <a:xfrm>
            <a:off x="9784080" y="2468880"/>
            <a:ext cx="1188720" cy="658368"/>
          </a:xfrm>
          <a:prstGeom prst="rect">
            <a:avLst/>
          </a:prstGeom>
        </p:spPr>
      </p:pic>
      <p:sp>
        <p:nvSpPr>
          <p:cNvPr id="23" name="Shape 14"/>
          <p:cNvSpPr/>
          <p:nvPr/>
        </p:nvSpPr>
        <p:spPr>
          <a:xfrm>
            <a:off x="4983480" y="3300984"/>
            <a:ext cx="6675120" cy="10973"/>
          </a:xfrm>
          <a:prstGeom prst="rect">
            <a:avLst/>
          </a:prstGeom>
          <a:solidFill>
            <a:srgbClr val="3A2B1A"/>
          </a:solidFill>
          <a:ln/>
        </p:spPr>
      </p:sp>
      <p:sp>
        <p:nvSpPr>
          <p:cNvPr id="24" name="Text 15"/>
          <p:cNvSpPr/>
          <p:nvPr/>
        </p:nvSpPr>
        <p:spPr>
          <a:xfrm>
            <a:off x="4983480" y="3364992"/>
            <a:ext cx="1234440" cy="420624"/>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What it replaces</a:t>
            </a:r>
            <a:endParaRPr lang="en-US" sz="1100" dirty="0"/>
          </a:p>
        </p:txBody>
      </p:sp>
      <p:sp>
        <p:nvSpPr>
          <p:cNvPr id="25" name="Text 16"/>
          <p:cNvSpPr/>
          <p:nvPr/>
        </p:nvSpPr>
        <p:spPr>
          <a:xfrm>
            <a:off x="6309360" y="3364992"/>
            <a:ext cx="2103120" cy="420624"/>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Concrete floor slabs and decks; some columns and beams</a:t>
            </a:r>
            <a:endParaRPr lang="en-US" sz="950" dirty="0"/>
          </a:p>
        </p:txBody>
      </p:sp>
      <p:sp>
        <p:nvSpPr>
          <p:cNvPr id="26" name="Text 17"/>
          <p:cNvSpPr/>
          <p:nvPr/>
        </p:nvSpPr>
        <p:spPr>
          <a:xfrm>
            <a:off x="8503920" y="3364992"/>
            <a:ext cx="3154680" cy="420624"/>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Adds the steel: members, skins, screens and fences; later, enclosures and foundations</a:t>
            </a:r>
            <a:endParaRPr lang="en-US" sz="950" dirty="0"/>
          </a:p>
        </p:txBody>
      </p:sp>
      <p:sp>
        <p:nvSpPr>
          <p:cNvPr id="27" name="Shape 18"/>
          <p:cNvSpPr/>
          <p:nvPr/>
        </p:nvSpPr>
        <p:spPr>
          <a:xfrm>
            <a:off x="4983480" y="3776472"/>
            <a:ext cx="6675120" cy="10973"/>
          </a:xfrm>
          <a:prstGeom prst="rect">
            <a:avLst/>
          </a:prstGeom>
          <a:solidFill>
            <a:srgbClr val="3A2B1A"/>
          </a:solidFill>
          <a:ln/>
        </p:spPr>
      </p:sp>
      <p:sp>
        <p:nvSpPr>
          <p:cNvPr id="28" name="Text 19"/>
          <p:cNvSpPr/>
          <p:nvPr/>
        </p:nvSpPr>
        <p:spPr>
          <a:xfrm>
            <a:off x="4983480" y="3840480"/>
            <a:ext cx="1234440" cy="420624"/>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Strength</a:t>
            </a:r>
            <a:endParaRPr lang="en-US" sz="1100" dirty="0"/>
          </a:p>
        </p:txBody>
      </p:sp>
      <p:sp>
        <p:nvSpPr>
          <p:cNvPr id="29" name="Text 20"/>
          <p:cNvSpPr/>
          <p:nvPr/>
        </p:nvSpPr>
        <p:spPr>
          <a:xfrm>
            <a:off x="6309360" y="3840480"/>
            <a:ext cx="2103120" cy="420624"/>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Lumber-grade; large sections carry the load</a:t>
            </a:r>
            <a:endParaRPr lang="en-US" sz="950" dirty="0"/>
          </a:p>
        </p:txBody>
      </p:sp>
      <p:sp>
        <p:nvSpPr>
          <p:cNvPr id="30" name="Text 21"/>
          <p:cNvSpPr/>
          <p:nvPr/>
        </p:nvSpPr>
        <p:spPr>
          <a:xfrm>
            <a:off x="8503920" y="3840480"/>
            <a:ext cx="3154680" cy="420624"/>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Tensile strength above ASTM A36 steel in samples, at one-sixth the weight; thin, dense members</a:t>
            </a:r>
            <a:endParaRPr lang="en-US" sz="950" dirty="0"/>
          </a:p>
        </p:txBody>
      </p:sp>
      <p:sp>
        <p:nvSpPr>
          <p:cNvPr id="31" name="Shape 22"/>
          <p:cNvSpPr/>
          <p:nvPr/>
        </p:nvSpPr>
        <p:spPr>
          <a:xfrm>
            <a:off x="4983480" y="4251960"/>
            <a:ext cx="6675120" cy="10973"/>
          </a:xfrm>
          <a:prstGeom prst="rect">
            <a:avLst/>
          </a:prstGeom>
          <a:solidFill>
            <a:srgbClr val="3A2B1A"/>
          </a:solidFill>
          <a:ln/>
        </p:spPr>
      </p:sp>
      <p:sp>
        <p:nvSpPr>
          <p:cNvPr id="32" name="Text 23"/>
          <p:cNvSpPr/>
          <p:nvPr/>
        </p:nvSpPr>
        <p:spPr>
          <a:xfrm>
            <a:off x="4983480" y="4315968"/>
            <a:ext cx="1234440" cy="420624"/>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Enhancing mass timber</a:t>
            </a:r>
            <a:endParaRPr lang="en-US" sz="1100" dirty="0"/>
          </a:p>
        </p:txBody>
      </p:sp>
      <p:sp>
        <p:nvSpPr>
          <p:cNvPr id="33" name="Text 24"/>
          <p:cNvSpPr/>
          <p:nvPr/>
        </p:nvSpPr>
        <p:spPr>
          <a:xfrm>
            <a:off x="6309360" y="4315968"/>
            <a:ext cx="2103120" cy="420624"/>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Glulam and CLT at lumber stiffness</a:t>
            </a:r>
            <a:endParaRPr lang="en-US" sz="950" dirty="0"/>
          </a:p>
        </p:txBody>
      </p:sp>
      <p:sp>
        <p:nvSpPr>
          <p:cNvPr id="34" name="Text 25"/>
          <p:cNvSpPr/>
          <p:nvPr/>
        </p:nvSpPr>
        <p:spPr>
          <a:xfrm>
            <a:off x="8503920" y="4315968"/>
            <a:ext cx="3154680" cy="420624"/>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Mass-timber enhancement: SUPERWOOD outer laminations (~10% of section) raise a glulam beam's stiffness ~75% and strength ~100%</a:t>
            </a:r>
            <a:endParaRPr lang="en-US" sz="950" dirty="0"/>
          </a:p>
        </p:txBody>
      </p:sp>
      <p:sp>
        <p:nvSpPr>
          <p:cNvPr id="35" name="Shape 26"/>
          <p:cNvSpPr/>
          <p:nvPr/>
        </p:nvSpPr>
        <p:spPr>
          <a:xfrm>
            <a:off x="4983480" y="4727448"/>
            <a:ext cx="6675120" cy="10973"/>
          </a:xfrm>
          <a:prstGeom prst="rect">
            <a:avLst/>
          </a:prstGeom>
          <a:solidFill>
            <a:srgbClr val="3A2B1A"/>
          </a:solidFill>
          <a:ln/>
        </p:spPr>
      </p:sp>
      <p:sp>
        <p:nvSpPr>
          <p:cNvPr id="36" name="Text 27"/>
          <p:cNvSpPr/>
          <p:nvPr/>
        </p:nvSpPr>
        <p:spPr>
          <a:xfrm>
            <a:off x="4983480" y="4791456"/>
            <a:ext cx="1234440" cy="420624"/>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Exterior use</a:t>
            </a:r>
            <a:endParaRPr lang="en-US" sz="1100" dirty="0"/>
          </a:p>
        </p:txBody>
      </p:sp>
      <p:sp>
        <p:nvSpPr>
          <p:cNvPr id="37" name="Text 28"/>
          <p:cNvSpPr/>
          <p:nvPr/>
        </p:nvSpPr>
        <p:spPr>
          <a:xfrm>
            <a:off x="6309360" y="4791456"/>
            <a:ext cx="2103120" cy="420624"/>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Needs protection from weather</a:t>
            </a:r>
            <a:endParaRPr lang="en-US" sz="950" dirty="0"/>
          </a:p>
        </p:txBody>
      </p:sp>
      <p:sp>
        <p:nvSpPr>
          <p:cNvPr id="38" name="Text 29"/>
          <p:cNvSpPr/>
          <p:nvPr/>
        </p:nvSpPr>
        <p:spPr>
          <a:xfrm>
            <a:off x="8503920" y="4791456"/>
            <a:ext cx="3154680" cy="420624"/>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Exterior grade; resists moisture, pests and rot</a:t>
            </a:r>
            <a:endParaRPr lang="en-US" sz="950" dirty="0"/>
          </a:p>
        </p:txBody>
      </p:sp>
      <p:sp>
        <p:nvSpPr>
          <p:cNvPr id="39" name="Shape 30"/>
          <p:cNvSpPr/>
          <p:nvPr/>
        </p:nvSpPr>
        <p:spPr>
          <a:xfrm>
            <a:off x="4983480" y="5202936"/>
            <a:ext cx="6675120" cy="10973"/>
          </a:xfrm>
          <a:prstGeom prst="rect">
            <a:avLst/>
          </a:prstGeom>
          <a:solidFill>
            <a:srgbClr val="3A2B1A"/>
          </a:solidFill>
          <a:ln/>
        </p:spPr>
      </p:sp>
      <p:sp>
        <p:nvSpPr>
          <p:cNvPr id="40" name="Text 31"/>
          <p:cNvSpPr/>
          <p:nvPr/>
        </p:nvSpPr>
        <p:spPr>
          <a:xfrm>
            <a:off x="4983480" y="5266944"/>
            <a:ext cx="1234440" cy="420624"/>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Fire</a:t>
            </a:r>
            <a:endParaRPr lang="en-US" sz="1100" dirty="0"/>
          </a:p>
        </p:txBody>
      </p:sp>
      <p:sp>
        <p:nvSpPr>
          <p:cNvPr id="41" name="Text 32"/>
          <p:cNvSpPr/>
          <p:nvPr/>
        </p:nvSpPr>
        <p:spPr>
          <a:xfrm>
            <a:off x="6309360" y="5266944"/>
            <a:ext cx="2103120" cy="420624"/>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Chars; established assemblies</a:t>
            </a:r>
            <a:endParaRPr lang="en-US" sz="950" dirty="0"/>
          </a:p>
        </p:txBody>
      </p:sp>
      <p:sp>
        <p:nvSpPr>
          <p:cNvPr id="42" name="Text 33"/>
          <p:cNvSpPr/>
          <p:nvPr/>
        </p:nvSpPr>
        <p:spPr>
          <a:xfrm>
            <a:off x="8503920" y="5266944"/>
            <a:ext cx="3154680" cy="420624"/>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Chars; far better than ordinary wood — Class A demonstrated in testing</a:t>
            </a:r>
            <a:endParaRPr lang="en-US" sz="950" dirty="0"/>
          </a:p>
        </p:txBody>
      </p:sp>
      <p:sp>
        <p:nvSpPr>
          <p:cNvPr id="43" name="Shape 34"/>
          <p:cNvSpPr/>
          <p:nvPr/>
        </p:nvSpPr>
        <p:spPr>
          <a:xfrm>
            <a:off x="4983480" y="5678424"/>
            <a:ext cx="6675120" cy="10973"/>
          </a:xfrm>
          <a:prstGeom prst="rect">
            <a:avLst/>
          </a:prstGeom>
          <a:solidFill>
            <a:srgbClr val="3A2B1A"/>
          </a:solidFill>
          <a:ln/>
        </p:spPr>
      </p:sp>
      <p:sp>
        <p:nvSpPr>
          <p:cNvPr id="44" name="Text 35"/>
          <p:cNvSpPr/>
          <p:nvPr/>
        </p:nvSpPr>
        <p:spPr>
          <a:xfrm>
            <a:off x="4983480" y="5742432"/>
            <a:ext cx="1234440" cy="420624"/>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Code path</a:t>
            </a:r>
            <a:endParaRPr lang="en-US" sz="1100" dirty="0"/>
          </a:p>
        </p:txBody>
      </p:sp>
      <p:sp>
        <p:nvSpPr>
          <p:cNvPr id="45" name="Text 36"/>
          <p:cNvSpPr/>
          <p:nvPr/>
        </p:nvSpPr>
        <p:spPr>
          <a:xfrm>
            <a:off x="6309360" y="5742432"/>
            <a:ext cx="2103120" cy="420624"/>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Established in the building codes</a:t>
            </a:r>
            <a:endParaRPr lang="en-US" sz="950" dirty="0"/>
          </a:p>
        </p:txBody>
      </p:sp>
      <p:sp>
        <p:nvSpPr>
          <p:cNvPr id="46" name="Text 37"/>
          <p:cNvSpPr/>
          <p:nvPr/>
        </p:nvSpPr>
        <p:spPr>
          <a:xfrm>
            <a:off x="8503920" y="5742432"/>
            <a:ext cx="3154680" cy="420624"/>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Certifiable under wood standards today; SUPERWOOD-specific standards are the goal</a:t>
            </a:r>
            <a:endParaRPr lang="en-US" sz="950" dirty="0"/>
          </a:p>
        </p:txBody>
      </p:sp>
      <p:sp>
        <p:nvSpPr>
          <p:cNvPr id="47" name="Text 38"/>
          <p:cNvSpPr/>
          <p:nvPr/>
        </p:nvSpPr>
        <p:spPr>
          <a:xfrm>
            <a:off x="502920" y="6254496"/>
            <a:ext cx="11155680" cy="22860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Sources: news.microsoft.com, Nov 2024; Thornton Tomasetti project page; sustainability.atmeta.com, 31 Jul 2025. Logos and photographs are the companies' own, from the cited publications, used to identify the published projects. SUPERWOOD strength: company test data, parallel-to-grain tension. Hybrid-beam gains: derived from beam theory with SUPERWOOD modulus and strength, engineering write-up pending. Beams: concept renderings.</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size</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SIZE</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2700" dirty="0">
                <a:solidFill>
                  <a:srgbClr val="F4ECDF"/>
                </a:solidFill>
                <a:latin typeface="Georgia" pitchFamily="34" charset="0"/>
                <a:ea typeface="Georgia" pitchFamily="34" charset="-122"/>
                <a:cs typeface="Georgia" pitchFamily="34" charset="-120"/>
              </a:rPr>
              <a:t>What a 1 GW data center is made of</a:t>
            </a:r>
            <a:endParaRPr lang="en-US" sz="2700" dirty="0"/>
          </a:p>
        </p:txBody>
      </p:sp>
      <p:sp>
        <p:nvSpPr>
          <p:cNvPr id="6" name="Text 4"/>
          <p:cNvSpPr/>
          <p:nvPr/>
        </p:nvSpPr>
        <p:spPr>
          <a:xfrm>
            <a:off x="502920" y="1645920"/>
            <a:ext cx="36576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BY MASS</a:t>
            </a:r>
            <a:endParaRPr lang="en-US" sz="900" dirty="0"/>
          </a:p>
        </p:txBody>
      </p:sp>
      <p:sp>
        <p:nvSpPr>
          <p:cNvPr id="7" name="Text 5"/>
          <p:cNvSpPr/>
          <p:nvPr/>
        </p:nvSpPr>
        <p:spPr>
          <a:xfrm>
            <a:off x="6126480" y="1645920"/>
            <a:ext cx="36576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BY EMBODIED CARBON</a:t>
            </a:r>
            <a:endParaRPr lang="en-US" sz="900" dirty="0"/>
          </a:p>
        </p:txBody>
      </p:sp>
      <p:pic>
        <p:nvPicPr>
          <p:cNvPr id="8" name="Image 0" descr="prep/charts/campus_mass_narrow.png">    </p:cNvPr>
          <p:cNvPicPr>
            <a:picLocks noChangeAspect="1"/>
          </p:cNvPicPr>
          <p:nvPr/>
        </p:nvPicPr>
        <p:blipFill>
          <a:blip r:embed="rId1"/>
          <a:stretch>
            <a:fillRect/>
          </a:stretch>
        </p:blipFill>
        <p:spPr>
          <a:xfrm>
            <a:off x="502920" y="1901952"/>
            <a:ext cx="4937760" cy="3385893"/>
          </a:xfrm>
          <a:prstGeom prst="rect">
            <a:avLst/>
          </a:prstGeom>
        </p:spPr>
      </p:pic>
      <p:pic>
        <p:nvPicPr>
          <p:cNvPr id="9" name="Image 1" descr="prep/charts/campus_carbon_narrow.png">    </p:cNvPr>
          <p:cNvPicPr>
            <a:picLocks noChangeAspect="1"/>
          </p:cNvPicPr>
          <p:nvPr/>
        </p:nvPicPr>
        <p:blipFill>
          <a:blip r:embed="rId2"/>
          <a:stretch>
            <a:fillRect/>
          </a:stretch>
        </p:blipFill>
        <p:spPr>
          <a:xfrm>
            <a:off x="6126480" y="1901952"/>
            <a:ext cx="4937760" cy="3385893"/>
          </a:xfrm>
          <a:prstGeom prst="rect">
            <a:avLst/>
          </a:prstGeom>
        </p:spPr>
      </p:pic>
      <p:sp>
        <p:nvSpPr>
          <p:cNvPr id="10" name="Text 6"/>
          <p:cNvSpPr/>
          <p:nvPr/>
        </p:nvSpPr>
        <p:spPr>
          <a:xfrm>
            <a:off x="502920" y="5671893"/>
            <a:ext cx="53949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50–80% of the above-ground portion of a data center is steel</a:t>
            </a:r>
            <a:endParaRPr lang="en-US" sz="1300" dirty="0"/>
          </a:p>
        </p:txBody>
      </p:sp>
      <p:sp>
        <p:nvSpPr>
          <p:cNvPr id="11" name="Text 7"/>
          <p:cNvSpPr/>
          <p:nvPr/>
        </p:nvSpPr>
        <p:spPr>
          <a:xfrm>
            <a:off x="502920" y="5982789"/>
            <a:ext cx="5394960" cy="566928"/>
          </a:xfrm>
          <a:prstGeom prst="rect">
            <a:avLst/>
          </a:prstGeom>
          <a:noFill/>
          <a:ln/>
        </p:spPr>
        <p:txBody>
          <a:bodyPr wrap="square" lIns="0" tIns="0" rIns="0" bIns="0" rtlCol="0" anchor="t"/>
          <a:lstStyle/>
          <a:p>
            <a:pPr indent="0" marL="0">
              <a:buNone/>
            </a:pPr>
            <a:r>
              <a:rPr lang="en-US" sz="1000" dirty="0">
                <a:solidFill>
                  <a:srgbClr val="CDBFA9"/>
                </a:solidFill>
                <a:latin typeface="Calibri" pitchFamily="34" charset="0"/>
                <a:ea typeface="Calibri" pitchFamily="34" charset="-122"/>
                <a:cs typeface="Calibri" pitchFamily="34" charset="-120"/>
              </a:rPr>
              <a:t>Structure, envelope and contents — frame, roof, skins, platforms, racks, enclosures, equipment. Skins, screens and fences now; racks, platforms and barriers next (racks are a few months of development away); frame and roofs as structure; server enclosures eventually; never the electronics.</a:t>
            </a:r>
            <a:endParaRPr lang="en-US" sz="1000" dirty="0"/>
          </a:p>
        </p:txBody>
      </p:sp>
      <p:sp>
        <p:nvSpPr>
          <p:cNvPr id="12" name="Text 8"/>
          <p:cNvSpPr/>
          <p:nvPr/>
        </p:nvSpPr>
        <p:spPr>
          <a:xfrm>
            <a:off x="6126480" y="5671893"/>
            <a:ext cx="5394960" cy="292608"/>
          </a:xfrm>
          <a:prstGeom prst="rect">
            <a:avLst/>
          </a:prstGeom>
          <a:noFill/>
          <a:ln/>
        </p:spPr>
        <p:txBody>
          <a:bodyPr wrap="square" lIns="0" tIns="0" rIns="0" bIns="0" rtlCol="0" anchor="ctr"/>
          <a:lstStyle/>
          <a:p>
            <a:pPr indent="0" marL="0">
              <a:buNone/>
            </a:pPr>
            <a:r>
              <a:rPr lang="en-US" sz="1300" b="1" dirty="0">
                <a:solidFill>
                  <a:srgbClr val="F4ECDF"/>
                </a:solidFill>
                <a:latin typeface="Calibri" pitchFamily="34" charset="0"/>
                <a:ea typeface="Calibri" pitchFamily="34" charset="-122"/>
                <a:cs typeface="Calibri" pitchFamily="34" charset="-120"/>
              </a:rPr>
              <a:t>By embodied carbon, steel is about two-thirds of everything estimated, including the steel inside the equipment</a:t>
            </a:r>
            <a:endParaRPr lang="en-US" sz="1300" dirty="0"/>
          </a:p>
        </p:txBody>
      </p:sp>
      <p:sp>
        <p:nvSpPr>
          <p:cNvPr id="13" name="Text 9"/>
          <p:cNvSpPr/>
          <p:nvPr/>
        </p:nvSpPr>
        <p:spPr>
          <a:xfrm>
            <a:off x="6126480" y="5982789"/>
            <a:ext cx="5394960" cy="566928"/>
          </a:xfrm>
          <a:prstGeom prst="rect">
            <a:avLst/>
          </a:prstGeom>
          <a:noFill/>
          <a:ln/>
        </p:spPr>
        <p:txBody>
          <a:bodyPr wrap="square" lIns="0" tIns="0" rIns="0" bIns="0" rtlCol="0" anchor="t"/>
          <a:lstStyle/>
          <a:p>
            <a:pPr indent="0" marL="0">
              <a:buNone/>
            </a:pPr>
            <a:r>
              <a:rPr lang="en-US" sz="1000" dirty="0">
                <a:solidFill>
                  <a:srgbClr val="CDBFA9"/>
                </a:solidFill>
                <a:latin typeface="Calibri" pitchFamily="34" charset="0"/>
                <a:ea typeface="Calibri" pitchFamily="34" charset="-122"/>
                <a:cs typeface="Calibri" pitchFamily="34" charset="-120"/>
              </a:rPr>
              <a:t>Building materials alone are about 60% steel at the global-average factor, about a third with recycled steel. The steel and plastics in electrical, mechanical and IT equipment add roughly 250,000 tons CO₂e.</a:t>
            </a:r>
            <a:endParaRPr lang="en-US" sz="1000" dirty="0"/>
          </a:p>
        </p:txBody>
      </p:sp>
      <p:sp>
        <p:nvSpPr>
          <p:cNvPr id="14" name="Text 10"/>
          <p:cNvSpPr/>
          <p:nvPr/>
        </p:nvSpPr>
        <p:spPr>
          <a:xfrm>
            <a:off x="502920" y="6199632"/>
            <a:ext cx="11155680" cy="27432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Company estimate for a 1 GW IT-load data center, high case. Only the concrete and structural-steel intensities are published (arXiv 2509.21312, a secondary source); other rows are estimates from unit masses. Carbon factors: steel 1.8 kg CO₂e/kg (global average; recycled 0.4–0.7), concrete 0.12; carbon is valued on each row's steel, concrete and plastic content (material split per component: estimates, analyses/material_split.json; polymers at an average 3.0 kg CO₂e/kg); copper, aluminum, electronics, water, gypsum and wood not valued. Steel share: company estimate; the 50–80% band covers metal-panel and tilt-up concrete wall designs. Horizons: immediate = shipping; soon = 1–3 years, straightforward applications engineering; medium term = complex applications engineering, new form factors or materials engineering; long term = 5+ years, technical potential with no design or code pathway yet.</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size</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SIZE</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2700" dirty="0">
                <a:solidFill>
                  <a:srgbClr val="F4ECDF"/>
                </a:solidFill>
                <a:latin typeface="Georgia" pitchFamily="34" charset="0"/>
                <a:ea typeface="Georgia" pitchFamily="34" charset="-122"/>
                <a:cs typeface="Georgia" pitchFamily="34" charset="-120"/>
              </a:rPr>
              <a:t>Just one data center can consume the </a:t>
            </a:r>
            <a:pPr indent="0" marL="0">
              <a:buNone/>
            </a:pPr>
            <a:r>
              <a:rPr lang="en-US" sz="2700" i="1" dirty="0">
                <a:solidFill>
                  <a:srgbClr val="E2B877"/>
                </a:solidFill>
                <a:latin typeface="Georgia" pitchFamily="34" charset="0"/>
                <a:ea typeface="Georgia" pitchFamily="34" charset="-122"/>
                <a:cs typeface="Georgia" pitchFamily="34" charset="-120"/>
              </a:rPr>
              <a:t>entire output</a:t>
            </a:r>
            <a:pPr indent="0" marL="0">
              <a:buNone/>
            </a:pPr>
            <a:r>
              <a:rPr lang="en-US" sz="2700" dirty="0">
                <a:solidFill>
                  <a:srgbClr val="F4ECDF"/>
                </a:solidFill>
                <a:latin typeface="Georgia" pitchFamily="34" charset="0"/>
                <a:ea typeface="Georgia" pitchFamily="34" charset="-122"/>
                <a:cs typeface="Georgia" pitchFamily="34" charset="-120"/>
              </a:rPr>
              <a:t> of a SUPERMILL</a:t>
            </a:r>
            <a:endParaRPr lang="en-US" sz="2700" dirty="0"/>
          </a:p>
        </p:txBody>
      </p:sp>
      <p:sp>
        <p:nvSpPr>
          <p:cNvPr id="6" name="Text 4"/>
          <p:cNvSpPr/>
          <p:nvPr/>
        </p:nvSpPr>
        <p:spPr>
          <a:xfrm>
            <a:off x="502920" y="1600200"/>
            <a:ext cx="10058400" cy="320040"/>
          </a:xfrm>
          <a:prstGeom prst="rect">
            <a:avLst/>
          </a:prstGeom>
          <a:noFill/>
          <a:ln/>
        </p:spPr>
        <p:txBody>
          <a:bodyPr wrap="square" lIns="0" tIns="0" rIns="0" bIns="0" rtlCol="0" anchor="t"/>
          <a:lstStyle/>
          <a:p>
            <a:pPr indent="0" marL="0">
              <a:buNone/>
            </a:pPr>
            <a:r>
              <a:rPr lang="en-US" sz="1200" dirty="0">
                <a:solidFill>
                  <a:srgbClr val="CDBFA9"/>
                </a:solidFill>
                <a:latin typeface="Calibri" pitchFamily="34" charset="0"/>
                <a:ea typeface="Calibri" pitchFamily="34" charset="-122"/>
                <a:cs typeface="Calibri" pitchFamily="34" charset="-120"/>
              </a:rPr>
              <a:t>SUPERWOOD a 1 GW data center could require, by horizon, against what each mill makes in a year.</a:t>
            </a:r>
            <a:endParaRPr lang="en-US" sz="1200" dirty="0"/>
          </a:p>
        </p:txBody>
      </p:sp>
      <p:sp>
        <p:nvSpPr>
          <p:cNvPr id="7" name="Text 5"/>
          <p:cNvSpPr/>
          <p:nvPr/>
        </p:nvSpPr>
        <p:spPr>
          <a:xfrm>
            <a:off x="502920" y="2103120"/>
            <a:ext cx="4206240" cy="365760"/>
          </a:xfrm>
          <a:prstGeom prst="rect">
            <a:avLst/>
          </a:prstGeom>
          <a:noFill/>
          <a:ln/>
        </p:spPr>
        <p:txBody>
          <a:bodyPr wrap="square" lIns="0" tIns="0" rIns="0" bIns="0" rtlCol="0" anchor="b"/>
          <a:lstStyle/>
          <a:p>
            <a:pPr indent="0" marL="0">
              <a:buNone/>
            </a:pPr>
            <a:r>
              <a:rPr lang="en-US" sz="1000" b="1" spc="120" kern="0" dirty="0">
                <a:solidFill>
                  <a:srgbClr val="CDA165"/>
                </a:solidFill>
                <a:latin typeface="Calibri" pitchFamily="34" charset="0"/>
                <a:ea typeface="Calibri" pitchFamily="34" charset="-122"/>
                <a:cs typeface="Calibri" pitchFamily="34" charset="-120"/>
              </a:rPr>
              <a:t>HORIZON</a:t>
            </a:r>
            <a:endParaRPr lang="en-US" sz="1000" dirty="0"/>
          </a:p>
        </p:txBody>
      </p:sp>
      <p:sp>
        <p:nvSpPr>
          <p:cNvPr id="8" name="Text 6"/>
          <p:cNvSpPr/>
          <p:nvPr/>
        </p:nvSpPr>
        <p:spPr>
          <a:xfrm>
            <a:off x="4937760" y="2103120"/>
            <a:ext cx="3108960" cy="365760"/>
          </a:xfrm>
          <a:prstGeom prst="rect">
            <a:avLst/>
          </a:prstGeom>
          <a:noFill/>
          <a:ln/>
        </p:spPr>
        <p:txBody>
          <a:bodyPr wrap="square" lIns="0" tIns="0" rIns="0" bIns="0" rtlCol="0" anchor="b"/>
          <a:lstStyle/>
          <a:p>
            <a:pPr indent="0" marL="0">
              <a:buNone/>
            </a:pPr>
            <a:r>
              <a:rPr lang="en-US" sz="1000" b="1" spc="120" kern="0" dirty="0">
                <a:solidFill>
                  <a:srgbClr val="CDA165"/>
                </a:solidFill>
                <a:latin typeface="Calibri" pitchFamily="34" charset="0"/>
                <a:ea typeface="Calibri" pitchFamily="34" charset="-122"/>
                <a:cs typeface="Calibri" pitchFamily="34" charset="-120"/>
              </a:rPr>
              <a:t>SUPERWOOD REQUIRED</a:t>
            </a:r>
            <a:endParaRPr lang="en-US" sz="1000" dirty="0"/>
          </a:p>
        </p:txBody>
      </p:sp>
      <p:sp>
        <p:nvSpPr>
          <p:cNvPr id="9" name="Text 7"/>
          <p:cNvSpPr/>
          <p:nvPr/>
        </p:nvSpPr>
        <p:spPr>
          <a:xfrm>
            <a:off x="8229600" y="2103120"/>
            <a:ext cx="3383280" cy="365760"/>
          </a:xfrm>
          <a:prstGeom prst="rect">
            <a:avLst/>
          </a:prstGeom>
          <a:noFill/>
          <a:ln/>
        </p:spPr>
        <p:txBody>
          <a:bodyPr wrap="square" lIns="0" tIns="0" rIns="0" bIns="0" rtlCol="0" anchor="b"/>
          <a:lstStyle/>
          <a:p>
            <a:pPr indent="0" marL="0">
              <a:buNone/>
            </a:pPr>
            <a:r>
              <a:rPr lang="en-US" sz="1000" b="1" spc="120" kern="0" dirty="0">
                <a:solidFill>
                  <a:srgbClr val="CDA165"/>
                </a:solidFill>
                <a:latin typeface="Calibri" pitchFamily="34" charset="0"/>
                <a:ea typeface="Calibri" pitchFamily="34" charset="-122"/>
                <a:cs typeface="Calibri" pitchFamily="34" charset="-120"/>
              </a:rPr>
              <a:t>YEARS OF MILL OUTPUT</a:t>
            </a:r>
            <a:endParaRPr lang="en-US" sz="1000" dirty="0"/>
          </a:p>
        </p:txBody>
      </p:sp>
      <p:sp>
        <p:nvSpPr>
          <p:cNvPr id="10" name="Text 8"/>
          <p:cNvSpPr/>
          <p:nvPr/>
        </p:nvSpPr>
        <p:spPr>
          <a:xfrm>
            <a:off x="8229600" y="1874520"/>
            <a:ext cx="3383280" cy="228600"/>
          </a:xfrm>
          <a:prstGeom prst="rect">
            <a:avLst/>
          </a:prstGeom>
          <a:noFill/>
          <a:ln/>
        </p:spPr>
        <p:txBody>
          <a:bodyPr wrap="square" lIns="0" tIns="0" rIns="0" bIns="0" rtlCol="0" anchor="b"/>
          <a:lstStyle/>
          <a:p>
            <a:pPr indent="0" marL="0">
              <a:buNone/>
            </a:pPr>
            <a:r>
              <a:rPr lang="en-US" sz="800" i="1" dirty="0">
                <a:solidFill>
                  <a:srgbClr val="9D8D76"/>
                </a:solidFill>
                <a:latin typeface="Calibri" pitchFamily="34" charset="0"/>
                <a:ea typeface="Calibri" pitchFamily="34" charset="-122"/>
                <a:cs typeface="Calibri" pitchFamily="34" charset="-120"/>
              </a:rPr>
              <a:t>bar scale 0–12 years, dashed tick at one year</a:t>
            </a:r>
            <a:endParaRPr lang="en-US" sz="800" dirty="0"/>
          </a:p>
        </p:txBody>
      </p:sp>
      <p:sp>
        <p:nvSpPr>
          <p:cNvPr id="11" name="Shape 9"/>
          <p:cNvSpPr/>
          <p:nvPr/>
        </p:nvSpPr>
        <p:spPr>
          <a:xfrm>
            <a:off x="502920" y="2514600"/>
            <a:ext cx="11155680" cy="10973"/>
          </a:xfrm>
          <a:prstGeom prst="rect">
            <a:avLst/>
          </a:prstGeom>
          <a:solidFill>
            <a:srgbClr val="3A2B1A"/>
          </a:solidFill>
          <a:ln/>
        </p:spPr>
      </p:sp>
      <p:sp>
        <p:nvSpPr>
          <p:cNvPr id="12" name="Text 10"/>
          <p:cNvSpPr/>
          <p:nvPr/>
        </p:nvSpPr>
        <p:spPr>
          <a:xfrm>
            <a:off x="502920" y="2606040"/>
            <a:ext cx="4206240" cy="54864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Immediate — skins, screens, fences</a:t>
            </a:r>
            <a:endParaRPr lang="en-US" sz="1500" dirty="0"/>
          </a:p>
        </p:txBody>
      </p:sp>
      <p:sp>
        <p:nvSpPr>
          <p:cNvPr id="13" name="Text 11"/>
          <p:cNvSpPr/>
          <p:nvPr/>
        </p:nvSpPr>
        <p:spPr>
          <a:xfrm>
            <a:off x="4937760" y="2606040"/>
            <a:ext cx="3108960" cy="548640"/>
          </a:xfrm>
          <a:prstGeom prst="rect">
            <a:avLst/>
          </a:prstGeom>
          <a:noFill/>
          <a:ln/>
        </p:spPr>
        <p:txBody>
          <a:bodyPr wrap="square" lIns="0" tIns="0" rIns="0" bIns="0" rtlCol="0" anchor="ctr"/>
          <a:lstStyle/>
          <a:p>
            <a:pPr indent="0" marL="0">
              <a:buNone/>
            </a:pPr>
            <a:r>
              <a:rPr lang="en-US" sz="1500" dirty="0">
                <a:solidFill>
                  <a:srgbClr val="CDBFA9"/>
                </a:solidFill>
                <a:latin typeface="Calibri" pitchFamily="34" charset="0"/>
                <a:ea typeface="Calibri" pitchFamily="34" charset="-122"/>
                <a:cs typeface="Calibri" pitchFamily="34" charset="-120"/>
              </a:rPr>
              <a:t>1,200–2,700 tons (1.4–3.1M sf)</a:t>
            </a:r>
            <a:endParaRPr lang="en-US" sz="1500" dirty="0"/>
          </a:p>
        </p:txBody>
      </p:sp>
      <p:sp>
        <p:nvSpPr>
          <p:cNvPr id="14" name="Shape 12"/>
          <p:cNvSpPr/>
          <p:nvPr/>
        </p:nvSpPr>
        <p:spPr>
          <a:xfrm>
            <a:off x="8229600" y="2651760"/>
            <a:ext cx="3383280" cy="118872"/>
          </a:xfrm>
          <a:prstGeom prst="rect">
            <a:avLst/>
          </a:prstGeom>
          <a:solidFill>
            <a:srgbClr val="3A2B1A"/>
          </a:solidFill>
          <a:ln/>
        </p:spPr>
      </p:sp>
      <p:sp>
        <p:nvSpPr>
          <p:cNvPr id="15" name="Shape 13"/>
          <p:cNvSpPr/>
          <p:nvPr/>
        </p:nvSpPr>
        <p:spPr>
          <a:xfrm>
            <a:off x="8624316" y="2651760"/>
            <a:ext cx="479298" cy="118872"/>
          </a:xfrm>
          <a:prstGeom prst="rect">
            <a:avLst/>
          </a:prstGeom>
          <a:solidFill>
            <a:srgbClr val="E2B877"/>
          </a:solidFill>
          <a:ln/>
        </p:spPr>
      </p:sp>
      <p:sp>
        <p:nvSpPr>
          <p:cNvPr id="16" name="Shape 14"/>
          <p:cNvSpPr/>
          <p:nvPr/>
        </p:nvSpPr>
        <p:spPr>
          <a:xfrm>
            <a:off x="8511540" y="2606040"/>
            <a:ext cx="0" cy="210312"/>
          </a:xfrm>
          <a:prstGeom prst="line">
            <a:avLst/>
          </a:prstGeom>
          <a:noFill/>
          <a:ln w="9525">
            <a:solidFill>
              <a:srgbClr val="CDA165"/>
            </a:solidFill>
            <a:prstDash val="dash"/>
          </a:ln>
        </p:spPr>
      </p:sp>
      <p:sp>
        <p:nvSpPr>
          <p:cNvPr id="17" name="Text 15"/>
          <p:cNvSpPr/>
          <p:nvPr/>
        </p:nvSpPr>
        <p:spPr>
          <a:xfrm>
            <a:off x="8229600" y="2807208"/>
            <a:ext cx="3383280" cy="329184"/>
          </a:xfrm>
          <a:prstGeom prst="rect">
            <a:avLst/>
          </a:prstGeom>
          <a:noFill/>
          <a:ln/>
        </p:spPr>
        <p:txBody>
          <a:bodyPr wrap="square" lIns="0" tIns="0" rIns="0" bIns="0" rtlCol="0" anchor="ctr"/>
          <a:lstStyle/>
          <a:p>
            <a:pPr indent="0" marL="0">
              <a:buNone/>
            </a:pPr>
            <a:r>
              <a:rPr lang="en-US" sz="1300" b="1" dirty="0">
                <a:solidFill>
                  <a:srgbClr val="E2B877"/>
                </a:solidFill>
                <a:latin typeface="Calibri" pitchFamily="34" charset="0"/>
                <a:ea typeface="Calibri" pitchFamily="34" charset="-122"/>
                <a:cs typeface="Calibri" pitchFamily="34" charset="-120"/>
              </a:rPr>
              <a:t>1.4–3.1 years of SuperMill One</a:t>
            </a:r>
            <a:endParaRPr lang="en-US" sz="1300" dirty="0"/>
          </a:p>
        </p:txBody>
      </p:sp>
      <p:sp>
        <p:nvSpPr>
          <p:cNvPr id="18" name="Shape 16"/>
          <p:cNvSpPr/>
          <p:nvPr/>
        </p:nvSpPr>
        <p:spPr>
          <a:xfrm>
            <a:off x="502920" y="3227832"/>
            <a:ext cx="11155680" cy="10973"/>
          </a:xfrm>
          <a:prstGeom prst="rect">
            <a:avLst/>
          </a:prstGeom>
          <a:solidFill>
            <a:srgbClr val="3A2B1A"/>
          </a:solidFill>
          <a:ln/>
        </p:spPr>
      </p:sp>
      <p:sp>
        <p:nvSpPr>
          <p:cNvPr id="19" name="Text 17"/>
          <p:cNvSpPr/>
          <p:nvPr/>
        </p:nvSpPr>
        <p:spPr>
          <a:xfrm>
            <a:off x="502920" y="3319272"/>
            <a:ext cx="4206240" cy="54864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Soon — racks, platforms, barriers</a:t>
            </a:r>
            <a:endParaRPr lang="en-US" sz="1500" dirty="0"/>
          </a:p>
        </p:txBody>
      </p:sp>
      <p:sp>
        <p:nvSpPr>
          <p:cNvPr id="20" name="Text 18"/>
          <p:cNvSpPr/>
          <p:nvPr/>
        </p:nvSpPr>
        <p:spPr>
          <a:xfrm>
            <a:off x="4937760" y="3319272"/>
            <a:ext cx="3108960" cy="548640"/>
          </a:xfrm>
          <a:prstGeom prst="rect">
            <a:avLst/>
          </a:prstGeom>
          <a:noFill/>
          <a:ln/>
        </p:spPr>
        <p:txBody>
          <a:bodyPr wrap="square" lIns="0" tIns="0" rIns="0" bIns="0" rtlCol="0" anchor="ctr"/>
          <a:lstStyle/>
          <a:p>
            <a:pPr indent="0" marL="0">
              <a:buNone/>
            </a:pPr>
            <a:r>
              <a:rPr lang="en-US" sz="1500" dirty="0">
                <a:solidFill>
                  <a:srgbClr val="CDBFA9"/>
                </a:solidFill>
                <a:latin typeface="Calibri" pitchFamily="34" charset="0"/>
                <a:ea typeface="Calibri" pitchFamily="34" charset="-122"/>
                <a:cs typeface="Calibri" pitchFamily="34" charset="-120"/>
              </a:rPr>
              <a:t>3,500–18,000 tons</a:t>
            </a:r>
            <a:endParaRPr lang="en-US" sz="1500" dirty="0"/>
          </a:p>
        </p:txBody>
      </p:sp>
      <p:sp>
        <p:nvSpPr>
          <p:cNvPr id="21" name="Shape 19"/>
          <p:cNvSpPr/>
          <p:nvPr/>
        </p:nvSpPr>
        <p:spPr>
          <a:xfrm>
            <a:off x="8229600" y="3364992"/>
            <a:ext cx="3383280" cy="118872"/>
          </a:xfrm>
          <a:prstGeom prst="rect">
            <a:avLst/>
          </a:prstGeom>
          <a:solidFill>
            <a:srgbClr val="3A2B1A"/>
          </a:solidFill>
          <a:ln/>
        </p:spPr>
      </p:sp>
      <p:sp>
        <p:nvSpPr>
          <p:cNvPr id="22" name="Shape 20"/>
          <p:cNvSpPr/>
          <p:nvPr/>
        </p:nvSpPr>
        <p:spPr>
          <a:xfrm>
            <a:off x="8257794" y="3364992"/>
            <a:ext cx="140970" cy="118872"/>
          </a:xfrm>
          <a:prstGeom prst="rect">
            <a:avLst/>
          </a:prstGeom>
          <a:solidFill>
            <a:srgbClr val="E2B877"/>
          </a:solidFill>
          <a:ln/>
        </p:spPr>
      </p:sp>
      <p:sp>
        <p:nvSpPr>
          <p:cNvPr id="23" name="Shape 21"/>
          <p:cNvSpPr/>
          <p:nvPr/>
        </p:nvSpPr>
        <p:spPr>
          <a:xfrm>
            <a:off x="8511540" y="3319272"/>
            <a:ext cx="0" cy="210312"/>
          </a:xfrm>
          <a:prstGeom prst="line">
            <a:avLst/>
          </a:prstGeom>
          <a:noFill/>
          <a:ln w="9525">
            <a:solidFill>
              <a:srgbClr val="CDA165"/>
            </a:solidFill>
            <a:prstDash val="dash"/>
          </a:ln>
        </p:spPr>
      </p:sp>
      <p:sp>
        <p:nvSpPr>
          <p:cNvPr id="24" name="Text 22"/>
          <p:cNvSpPr/>
          <p:nvPr/>
        </p:nvSpPr>
        <p:spPr>
          <a:xfrm>
            <a:off x="8229600" y="3520440"/>
            <a:ext cx="3383280" cy="329184"/>
          </a:xfrm>
          <a:prstGeom prst="rect">
            <a:avLst/>
          </a:prstGeom>
          <a:noFill/>
          <a:ln/>
        </p:spPr>
        <p:txBody>
          <a:bodyPr wrap="square" lIns="0" tIns="0" rIns="0" bIns="0" rtlCol="0" anchor="ctr"/>
          <a:lstStyle/>
          <a:p>
            <a:pPr indent="0" marL="0">
              <a:buNone/>
            </a:pPr>
            <a:r>
              <a:rPr lang="en-US" sz="1300" b="1" dirty="0">
                <a:solidFill>
                  <a:srgbClr val="E2B877"/>
                </a:solidFill>
                <a:latin typeface="Calibri" pitchFamily="34" charset="0"/>
                <a:ea typeface="Calibri" pitchFamily="34" charset="-122"/>
                <a:cs typeface="Calibri" pitchFamily="34" charset="-120"/>
              </a:rPr>
              <a:t>0.1–0.6 years of SuperMill Two</a:t>
            </a:r>
            <a:endParaRPr lang="en-US" sz="1300" dirty="0"/>
          </a:p>
        </p:txBody>
      </p:sp>
      <p:sp>
        <p:nvSpPr>
          <p:cNvPr id="25" name="Shape 23"/>
          <p:cNvSpPr/>
          <p:nvPr/>
        </p:nvSpPr>
        <p:spPr>
          <a:xfrm>
            <a:off x="502920" y="3941064"/>
            <a:ext cx="11155680" cy="10973"/>
          </a:xfrm>
          <a:prstGeom prst="rect">
            <a:avLst/>
          </a:prstGeom>
          <a:solidFill>
            <a:srgbClr val="3A2B1A"/>
          </a:solidFill>
          <a:ln/>
        </p:spPr>
      </p:sp>
      <p:sp>
        <p:nvSpPr>
          <p:cNvPr id="26" name="Text 24"/>
          <p:cNvSpPr/>
          <p:nvPr/>
        </p:nvSpPr>
        <p:spPr>
          <a:xfrm>
            <a:off x="502920" y="4032504"/>
            <a:ext cx="4206240" cy="54864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Medium term — frame, roofs, enclosures</a:t>
            </a:r>
            <a:endParaRPr lang="en-US" sz="1500" dirty="0"/>
          </a:p>
        </p:txBody>
      </p:sp>
      <p:sp>
        <p:nvSpPr>
          <p:cNvPr id="27" name="Text 25"/>
          <p:cNvSpPr/>
          <p:nvPr/>
        </p:nvSpPr>
        <p:spPr>
          <a:xfrm>
            <a:off x="4937760" y="4032504"/>
            <a:ext cx="3108960" cy="548640"/>
          </a:xfrm>
          <a:prstGeom prst="rect">
            <a:avLst/>
          </a:prstGeom>
          <a:noFill/>
          <a:ln/>
        </p:spPr>
        <p:txBody>
          <a:bodyPr wrap="square" lIns="0" tIns="0" rIns="0" bIns="0" rtlCol="0" anchor="ctr"/>
          <a:lstStyle/>
          <a:p>
            <a:pPr indent="0" marL="0">
              <a:buNone/>
            </a:pPr>
            <a:r>
              <a:rPr lang="en-US" sz="1500" dirty="0">
                <a:solidFill>
                  <a:srgbClr val="CDBFA9"/>
                </a:solidFill>
                <a:latin typeface="Calibri" pitchFamily="34" charset="0"/>
                <a:ea typeface="Calibri" pitchFamily="34" charset="-122"/>
                <a:cs typeface="Calibri" pitchFamily="34" charset="-120"/>
              </a:rPr>
              <a:t>16,000–65,000 tons</a:t>
            </a:r>
            <a:endParaRPr lang="en-US" sz="1500" dirty="0"/>
          </a:p>
        </p:txBody>
      </p:sp>
      <p:sp>
        <p:nvSpPr>
          <p:cNvPr id="28" name="Shape 26"/>
          <p:cNvSpPr/>
          <p:nvPr/>
        </p:nvSpPr>
        <p:spPr>
          <a:xfrm>
            <a:off x="8229600" y="4078224"/>
            <a:ext cx="3383280" cy="118872"/>
          </a:xfrm>
          <a:prstGeom prst="rect">
            <a:avLst/>
          </a:prstGeom>
          <a:solidFill>
            <a:srgbClr val="3A2B1A"/>
          </a:solidFill>
          <a:ln/>
        </p:spPr>
      </p:sp>
      <p:sp>
        <p:nvSpPr>
          <p:cNvPr id="29" name="Shape 27"/>
          <p:cNvSpPr/>
          <p:nvPr/>
        </p:nvSpPr>
        <p:spPr>
          <a:xfrm>
            <a:off x="8370570" y="4078224"/>
            <a:ext cx="451104" cy="118872"/>
          </a:xfrm>
          <a:prstGeom prst="rect">
            <a:avLst/>
          </a:prstGeom>
          <a:solidFill>
            <a:srgbClr val="E2B877"/>
          </a:solidFill>
          <a:ln/>
        </p:spPr>
      </p:sp>
      <p:sp>
        <p:nvSpPr>
          <p:cNvPr id="30" name="Shape 28"/>
          <p:cNvSpPr/>
          <p:nvPr/>
        </p:nvSpPr>
        <p:spPr>
          <a:xfrm>
            <a:off x="8511540" y="4032504"/>
            <a:ext cx="0" cy="210312"/>
          </a:xfrm>
          <a:prstGeom prst="line">
            <a:avLst/>
          </a:prstGeom>
          <a:noFill/>
          <a:ln w="9525">
            <a:solidFill>
              <a:srgbClr val="CDA165"/>
            </a:solidFill>
            <a:prstDash val="dash"/>
          </a:ln>
        </p:spPr>
      </p:sp>
      <p:sp>
        <p:nvSpPr>
          <p:cNvPr id="31" name="Text 29"/>
          <p:cNvSpPr/>
          <p:nvPr/>
        </p:nvSpPr>
        <p:spPr>
          <a:xfrm>
            <a:off x="8229600" y="4233672"/>
            <a:ext cx="3383280" cy="329184"/>
          </a:xfrm>
          <a:prstGeom prst="rect">
            <a:avLst/>
          </a:prstGeom>
          <a:noFill/>
          <a:ln/>
        </p:spPr>
        <p:txBody>
          <a:bodyPr wrap="square" lIns="0" tIns="0" rIns="0" bIns="0" rtlCol="0" anchor="ctr"/>
          <a:lstStyle/>
          <a:p>
            <a:pPr indent="0" marL="0">
              <a:buNone/>
            </a:pPr>
            <a:r>
              <a:rPr lang="en-US" sz="1300" b="1" dirty="0">
                <a:solidFill>
                  <a:srgbClr val="E2B877"/>
                </a:solidFill>
                <a:latin typeface="Calibri" pitchFamily="34" charset="0"/>
                <a:ea typeface="Calibri" pitchFamily="34" charset="-122"/>
                <a:cs typeface="Calibri" pitchFamily="34" charset="-120"/>
              </a:rPr>
              <a:t>0.5–2.1 years of SuperMill Two</a:t>
            </a:r>
            <a:endParaRPr lang="en-US" sz="1300" dirty="0"/>
          </a:p>
        </p:txBody>
      </p:sp>
      <p:sp>
        <p:nvSpPr>
          <p:cNvPr id="32" name="Shape 30"/>
          <p:cNvSpPr/>
          <p:nvPr/>
        </p:nvSpPr>
        <p:spPr>
          <a:xfrm>
            <a:off x="502920" y="4654296"/>
            <a:ext cx="11155680" cy="10973"/>
          </a:xfrm>
          <a:prstGeom prst="rect">
            <a:avLst/>
          </a:prstGeom>
          <a:solidFill>
            <a:srgbClr val="3A2B1A"/>
          </a:solidFill>
          <a:ln/>
        </p:spPr>
      </p:sp>
      <p:sp>
        <p:nvSpPr>
          <p:cNvPr id="33" name="Text 31"/>
          <p:cNvSpPr/>
          <p:nvPr/>
        </p:nvSpPr>
        <p:spPr>
          <a:xfrm>
            <a:off x="502920" y="4745736"/>
            <a:ext cx="4206240" cy="54864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Long term — slab, foundations</a:t>
            </a:r>
            <a:endParaRPr lang="en-US" sz="1500" dirty="0"/>
          </a:p>
        </p:txBody>
      </p:sp>
      <p:sp>
        <p:nvSpPr>
          <p:cNvPr id="34" name="Text 32"/>
          <p:cNvSpPr/>
          <p:nvPr/>
        </p:nvSpPr>
        <p:spPr>
          <a:xfrm>
            <a:off x="4937760" y="4745736"/>
            <a:ext cx="3108960" cy="548640"/>
          </a:xfrm>
          <a:prstGeom prst="rect">
            <a:avLst/>
          </a:prstGeom>
          <a:noFill/>
          <a:ln/>
        </p:spPr>
        <p:txBody>
          <a:bodyPr wrap="square" lIns="0" tIns="0" rIns="0" bIns="0" rtlCol="0" anchor="ctr"/>
          <a:lstStyle/>
          <a:p>
            <a:pPr indent="0" marL="0">
              <a:buNone/>
            </a:pPr>
            <a:r>
              <a:rPr lang="en-US" sz="1500" dirty="0">
                <a:solidFill>
                  <a:srgbClr val="CDBFA9"/>
                </a:solidFill>
                <a:latin typeface="Calibri" pitchFamily="34" charset="0"/>
                <a:ea typeface="Calibri" pitchFamily="34" charset="-122"/>
                <a:cs typeface="Calibri" pitchFamily="34" charset="-120"/>
              </a:rPr>
              <a:t>58,000–362,000 tons</a:t>
            </a:r>
            <a:endParaRPr lang="en-US" sz="1500" dirty="0"/>
          </a:p>
        </p:txBody>
      </p:sp>
      <p:sp>
        <p:nvSpPr>
          <p:cNvPr id="35" name="Shape 33"/>
          <p:cNvSpPr/>
          <p:nvPr/>
        </p:nvSpPr>
        <p:spPr>
          <a:xfrm>
            <a:off x="8229600" y="4791456"/>
            <a:ext cx="3383280" cy="118872"/>
          </a:xfrm>
          <a:prstGeom prst="rect">
            <a:avLst/>
          </a:prstGeom>
          <a:solidFill>
            <a:srgbClr val="3A2B1A"/>
          </a:solidFill>
          <a:ln/>
        </p:spPr>
      </p:sp>
      <p:sp>
        <p:nvSpPr>
          <p:cNvPr id="36" name="Shape 34"/>
          <p:cNvSpPr/>
          <p:nvPr/>
        </p:nvSpPr>
        <p:spPr>
          <a:xfrm>
            <a:off x="8737092" y="4791456"/>
            <a:ext cx="2875788" cy="118872"/>
          </a:xfrm>
          <a:prstGeom prst="rect">
            <a:avLst/>
          </a:prstGeom>
          <a:solidFill>
            <a:srgbClr val="E2B877"/>
          </a:solidFill>
          <a:ln/>
        </p:spPr>
      </p:sp>
      <p:sp>
        <p:nvSpPr>
          <p:cNvPr id="37" name="Shape 35"/>
          <p:cNvSpPr/>
          <p:nvPr/>
        </p:nvSpPr>
        <p:spPr>
          <a:xfrm>
            <a:off x="8511540" y="4745736"/>
            <a:ext cx="0" cy="210312"/>
          </a:xfrm>
          <a:prstGeom prst="line">
            <a:avLst/>
          </a:prstGeom>
          <a:noFill/>
          <a:ln w="9525">
            <a:solidFill>
              <a:srgbClr val="CDA165"/>
            </a:solidFill>
            <a:prstDash val="dash"/>
          </a:ln>
        </p:spPr>
      </p:sp>
      <p:sp>
        <p:nvSpPr>
          <p:cNvPr id="38" name="Text 36"/>
          <p:cNvSpPr/>
          <p:nvPr/>
        </p:nvSpPr>
        <p:spPr>
          <a:xfrm>
            <a:off x="8229600" y="4946904"/>
            <a:ext cx="3383280" cy="329184"/>
          </a:xfrm>
          <a:prstGeom prst="rect">
            <a:avLst/>
          </a:prstGeom>
          <a:noFill/>
          <a:ln/>
        </p:spPr>
        <p:txBody>
          <a:bodyPr wrap="square" lIns="0" tIns="0" rIns="0" bIns="0" rtlCol="0" anchor="ctr"/>
          <a:lstStyle/>
          <a:p>
            <a:pPr indent="0" marL="0">
              <a:buNone/>
            </a:pPr>
            <a:r>
              <a:rPr lang="en-US" sz="1300" b="1" dirty="0">
                <a:solidFill>
                  <a:srgbClr val="E2B877"/>
                </a:solidFill>
                <a:latin typeface="Calibri" pitchFamily="34" charset="0"/>
                <a:ea typeface="Calibri" pitchFamily="34" charset="-122"/>
                <a:cs typeface="Calibri" pitchFamily="34" charset="-120"/>
              </a:rPr>
              <a:t>1.8–12 years of SuperMill Two</a:t>
            </a:r>
            <a:endParaRPr lang="en-US" sz="1300" dirty="0"/>
          </a:p>
        </p:txBody>
      </p:sp>
      <p:sp>
        <p:nvSpPr>
          <p:cNvPr id="39" name="Shape 37"/>
          <p:cNvSpPr/>
          <p:nvPr/>
        </p:nvSpPr>
        <p:spPr>
          <a:xfrm>
            <a:off x="502920" y="5367528"/>
            <a:ext cx="11155680" cy="10973"/>
          </a:xfrm>
          <a:prstGeom prst="rect">
            <a:avLst/>
          </a:prstGeom>
          <a:solidFill>
            <a:srgbClr val="3A2B1A"/>
          </a:solidFill>
          <a:ln/>
        </p:spPr>
      </p:sp>
      <p:sp>
        <p:nvSpPr>
          <p:cNvPr id="40" name="Text 38"/>
          <p:cNvSpPr/>
          <p:nvPr/>
        </p:nvSpPr>
        <p:spPr>
          <a:xfrm>
            <a:off x="502920" y="5486400"/>
            <a:ext cx="11155680" cy="320040"/>
          </a:xfrm>
          <a:prstGeom prst="rect">
            <a:avLst/>
          </a:prstGeom>
          <a:noFill/>
          <a:ln/>
        </p:spPr>
        <p:txBody>
          <a:bodyPr wrap="square" lIns="0" tIns="0" rIns="0" bIns="0" rtlCol="0" anchor="ctr"/>
          <a:lstStyle/>
          <a:p>
            <a:pPr indent="0" marL="0">
              <a:buNone/>
            </a:pPr>
            <a:r>
              <a:rPr lang="en-US" sz="1150" b="1" dirty="0">
                <a:solidFill>
                  <a:srgbClr val="CDA165"/>
                </a:solidFill>
                <a:latin typeface="Calibri" pitchFamily="34" charset="0"/>
                <a:ea typeface="Calibri" pitchFamily="34" charset="-122"/>
                <a:cs typeface="Calibri" pitchFamily="34" charset="-120"/>
              </a:rPr>
              <a:t>SuperMill One ≈ 900 tons a year (1M sf)</a:t>
            </a:r>
            <a:pPr indent="0" marL="0">
              <a:buNone/>
            </a:pPr>
            <a:r>
              <a:rPr lang="en-US" sz="1150" b="1" dirty="0">
                <a:solidFill>
                  <a:srgbClr val="9D8D76"/>
                </a:solidFill>
                <a:latin typeface="Calibri" pitchFamily="34" charset="0"/>
                <a:ea typeface="Calibri" pitchFamily="34" charset="-122"/>
                <a:cs typeface="Calibri" pitchFamily="34" charset="-120"/>
              </a:rPr>
              <a:t>      ·      </a:t>
            </a:r>
            <a:pPr indent="0" marL="0">
              <a:buNone/>
            </a:pPr>
            <a:r>
              <a:rPr lang="en-US" sz="1150" b="1" dirty="0">
                <a:solidFill>
                  <a:srgbClr val="CDA165"/>
                </a:solidFill>
                <a:latin typeface="Calibri" pitchFamily="34" charset="0"/>
                <a:ea typeface="Calibri" pitchFamily="34" charset="-122"/>
                <a:cs typeface="Calibri" pitchFamily="34" charset="-120"/>
              </a:rPr>
              <a:t>SuperMill Two ≈ 31,000 tons a year (36M sf)</a:t>
            </a:r>
            <a:endParaRPr lang="en-US" sz="1150" dirty="0"/>
          </a:p>
        </p:txBody>
      </p:sp>
      <p:sp>
        <p:nvSpPr>
          <p:cNvPr id="41" name="Text 39"/>
          <p:cNvSpPr/>
          <p:nvPr/>
        </p:nvSpPr>
        <p:spPr>
          <a:xfrm>
            <a:off x="502920" y="6053328"/>
            <a:ext cx="11155680" cy="41148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Company estimate from the slide 6 model, low–high scenarios; 0.3–0.6 substitution factor for steel, to be engineering-stamped per element; long-term row also includes server enclosures at 40% of IT mass (a small share of the total), electronics excluded. Mill output at 0.87 kg/sf, 1.3 t/m³. Pricing is set per application; see the SUPERMILLS Investor Overview.</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fit</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FIT</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000" dirty="0">
                <a:solidFill>
                  <a:srgbClr val="F4ECDF"/>
                </a:solidFill>
                <a:latin typeface="Georgia" pitchFamily="34" charset="0"/>
                <a:ea typeface="Georgia" pitchFamily="34" charset="-122"/>
                <a:cs typeface="Georgia" pitchFamily="34" charset="-120"/>
              </a:rPr>
              <a:t>Properties that matter in a data center</a:t>
            </a:r>
            <a:endParaRPr lang="en-US" sz="3000" dirty="0"/>
          </a:p>
        </p:txBody>
      </p:sp>
      <p:pic>
        <p:nvPicPr>
          <p:cNvPr id="6" name="Image 0" descr="prep/prod-board.jpg">    </p:cNvPr>
          <p:cNvPicPr>
            <a:picLocks noChangeAspect="1"/>
          </p:cNvPicPr>
          <p:nvPr/>
        </p:nvPicPr>
        <p:blipFill>
          <a:blip r:embed="rId1"/>
          <a:stretch>
            <a:fillRect/>
          </a:stretch>
        </p:blipFill>
        <p:spPr>
          <a:xfrm>
            <a:off x="502920" y="1783080"/>
            <a:ext cx="3657600" cy="2440305"/>
          </a:xfrm>
          <a:prstGeom prst="rect">
            <a:avLst/>
          </a:prstGeom>
        </p:spPr>
      </p:pic>
      <p:sp>
        <p:nvSpPr>
          <p:cNvPr id="7" name="Text 4"/>
          <p:cNvSpPr/>
          <p:nvPr/>
        </p:nvSpPr>
        <p:spPr>
          <a:xfrm>
            <a:off x="502920" y="4434840"/>
            <a:ext cx="3657600" cy="1554480"/>
          </a:xfrm>
          <a:prstGeom prst="rect">
            <a:avLst/>
          </a:prstGeom>
          <a:noFill/>
          <a:ln/>
        </p:spPr>
        <p:txBody>
          <a:bodyPr wrap="square" lIns="0" tIns="0" rIns="0" bIns="0" rtlCol="0" anchor="t"/>
          <a:lstStyle/>
          <a:p>
            <a:pPr indent="0" marL="0">
              <a:buNone/>
            </a:pPr>
            <a:r>
              <a:rPr lang="en-US" sz="1900" b="1" dirty="0">
                <a:solidFill>
                  <a:srgbClr val="F4ECDF"/>
                </a:solidFill>
                <a:latin typeface="Georgia" pitchFamily="34" charset="0"/>
                <a:ea typeface="Georgia" pitchFamily="34" charset="-122"/>
                <a:cs typeface="Georgia" pitchFamily="34" charset="-120"/>
              </a:rPr>
              <a:t>Stronger than steel.
</a:t>
            </a:r>
            <a:pPr indent="0" marL="0">
              <a:buNone/>
            </a:pPr>
            <a:r>
              <a:rPr lang="en-US" sz="1900" b="1" dirty="0">
                <a:solidFill>
                  <a:srgbClr val="E2B877"/>
                </a:solidFill>
                <a:latin typeface="Georgia" pitchFamily="34" charset="0"/>
                <a:ea typeface="Georgia" pitchFamily="34" charset="-122"/>
                <a:cs typeface="Georgia" pitchFamily="34" charset="-120"/>
              </a:rPr>
              <a:t>One-sixth the weight.
</a:t>
            </a:r>
            <a:pPr indent="0" marL="0">
              <a:buNone/>
            </a:pPr>
            <a:r>
              <a:rPr lang="en-US" sz="1900" b="1" dirty="0">
                <a:solidFill>
                  <a:srgbClr val="F4ECDF"/>
                </a:solidFill>
                <a:latin typeface="Georgia" pitchFamily="34" charset="0"/>
                <a:ea typeface="Georgia" pitchFamily="34" charset="-122"/>
                <a:cs typeface="Georgia" pitchFamily="34" charset="-120"/>
              </a:rPr>
              <a:t>Made from wood, in America.</a:t>
            </a:r>
            <a:endParaRPr lang="en-US" sz="1900" dirty="0"/>
          </a:p>
        </p:txBody>
      </p:sp>
      <p:pic>
        <p:nvPicPr>
          <p:cNvPr id="8" name="Image 1" descr="prep/icon_strong.png">    </p:cNvPr>
          <p:cNvPicPr>
            <a:picLocks noChangeAspect="1"/>
          </p:cNvPicPr>
          <p:nvPr/>
        </p:nvPicPr>
        <p:blipFill>
          <a:blip r:embed="rId2"/>
          <a:stretch>
            <a:fillRect/>
          </a:stretch>
        </p:blipFill>
        <p:spPr>
          <a:xfrm>
            <a:off x="4617720" y="1810512"/>
            <a:ext cx="310896" cy="310896"/>
          </a:xfrm>
          <a:prstGeom prst="rect">
            <a:avLst/>
          </a:prstGeom>
        </p:spPr>
      </p:pic>
      <p:sp>
        <p:nvSpPr>
          <p:cNvPr id="9" name="Text 5"/>
          <p:cNvSpPr/>
          <p:nvPr/>
        </p:nvSpPr>
        <p:spPr>
          <a:xfrm>
            <a:off x="5120640" y="1783080"/>
            <a:ext cx="6583680" cy="256032"/>
          </a:xfrm>
          <a:prstGeom prst="rect">
            <a:avLst/>
          </a:prstGeom>
          <a:noFill/>
          <a:ln/>
        </p:spPr>
        <p:txBody>
          <a:bodyPr wrap="square" lIns="0" tIns="0" rIns="0" bIns="0" rtlCol="0" anchor="ctr"/>
          <a:lstStyle/>
          <a:p>
            <a:pPr indent="0" marL="0">
              <a:buNone/>
            </a:pPr>
            <a:r>
              <a:rPr lang="en-US" sz="1150" b="1" spc="100" kern="0" dirty="0">
                <a:solidFill>
                  <a:srgbClr val="F4ECDF"/>
                </a:solidFill>
                <a:latin typeface="Calibri" pitchFamily="34" charset="0"/>
                <a:ea typeface="Calibri" pitchFamily="34" charset="-122"/>
                <a:cs typeface="Calibri" pitchFamily="34" charset="-120"/>
              </a:rPr>
              <a:t>STRONG</a:t>
            </a:r>
            <a:endParaRPr lang="en-US" sz="1150" dirty="0"/>
          </a:p>
        </p:txBody>
      </p:sp>
      <p:sp>
        <p:nvSpPr>
          <p:cNvPr id="10" name="Text 6"/>
          <p:cNvSpPr/>
          <p:nvPr/>
        </p:nvSpPr>
        <p:spPr>
          <a:xfrm>
            <a:off x="5120640" y="2048256"/>
            <a:ext cx="6583680" cy="347472"/>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Able to carry the required loads — tensile strength above ASTM A36 steel in production samples</a:t>
            </a:r>
            <a:endParaRPr lang="en-US" sz="950" dirty="0"/>
          </a:p>
        </p:txBody>
      </p:sp>
      <p:pic>
        <p:nvPicPr>
          <p:cNvPr id="11" name="Image 2" descr="prep/icon_light.png">    </p:cNvPr>
          <p:cNvPicPr>
            <a:picLocks noChangeAspect="1"/>
          </p:cNvPicPr>
          <p:nvPr/>
        </p:nvPicPr>
        <p:blipFill>
          <a:blip r:embed="rId3"/>
          <a:stretch>
            <a:fillRect/>
          </a:stretch>
        </p:blipFill>
        <p:spPr>
          <a:xfrm>
            <a:off x="4617720" y="2432304"/>
            <a:ext cx="310896" cy="310896"/>
          </a:xfrm>
          <a:prstGeom prst="rect">
            <a:avLst/>
          </a:prstGeom>
        </p:spPr>
      </p:pic>
      <p:sp>
        <p:nvSpPr>
          <p:cNvPr id="12" name="Text 7"/>
          <p:cNvSpPr/>
          <p:nvPr/>
        </p:nvSpPr>
        <p:spPr>
          <a:xfrm>
            <a:off x="5120640" y="2404872"/>
            <a:ext cx="6583680" cy="256032"/>
          </a:xfrm>
          <a:prstGeom prst="rect">
            <a:avLst/>
          </a:prstGeom>
          <a:noFill/>
          <a:ln/>
        </p:spPr>
        <p:txBody>
          <a:bodyPr wrap="square" lIns="0" tIns="0" rIns="0" bIns="0" rtlCol="0" anchor="ctr"/>
          <a:lstStyle/>
          <a:p>
            <a:pPr indent="0" marL="0">
              <a:buNone/>
            </a:pPr>
            <a:r>
              <a:rPr lang="en-US" sz="1150" b="1" spc="100" kern="0" dirty="0">
                <a:solidFill>
                  <a:srgbClr val="F4ECDF"/>
                </a:solidFill>
                <a:latin typeface="Calibri" pitchFamily="34" charset="0"/>
                <a:ea typeface="Calibri" pitchFamily="34" charset="-122"/>
                <a:cs typeface="Calibri" pitchFamily="34" charset="-120"/>
              </a:rPr>
              <a:t>LIGHT</a:t>
            </a:r>
            <a:endParaRPr lang="en-US" sz="1150" dirty="0"/>
          </a:p>
        </p:txBody>
      </p:sp>
      <p:sp>
        <p:nvSpPr>
          <p:cNvPr id="13" name="Text 8"/>
          <p:cNvSpPr/>
          <p:nvPr/>
        </p:nvSpPr>
        <p:spPr>
          <a:xfrm>
            <a:off x="5120640" y="2670048"/>
            <a:ext cx="6583680" cy="347472"/>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One-sixth the weight of steel: faster and safer to transport and install, and reduced structural requirements</a:t>
            </a:r>
            <a:endParaRPr lang="en-US" sz="950" dirty="0"/>
          </a:p>
        </p:txBody>
      </p:sp>
      <p:pic>
        <p:nvPicPr>
          <p:cNvPr id="14" name="Image 3" descr="prep/icon_leaf.png">    </p:cNvPr>
          <p:cNvPicPr>
            <a:picLocks noChangeAspect="1"/>
          </p:cNvPicPr>
          <p:nvPr/>
        </p:nvPicPr>
        <p:blipFill>
          <a:blip r:embed="rId4"/>
          <a:stretch>
            <a:fillRect/>
          </a:stretch>
        </p:blipFill>
        <p:spPr>
          <a:xfrm>
            <a:off x="4617720" y="3054096"/>
            <a:ext cx="310896" cy="310896"/>
          </a:xfrm>
          <a:prstGeom prst="rect">
            <a:avLst/>
          </a:prstGeom>
        </p:spPr>
      </p:pic>
      <p:sp>
        <p:nvSpPr>
          <p:cNvPr id="15" name="Text 9"/>
          <p:cNvSpPr/>
          <p:nvPr/>
        </p:nvSpPr>
        <p:spPr>
          <a:xfrm>
            <a:off x="5120640" y="3026664"/>
            <a:ext cx="6583680" cy="256032"/>
          </a:xfrm>
          <a:prstGeom prst="rect">
            <a:avLst/>
          </a:prstGeom>
          <a:noFill/>
          <a:ln/>
        </p:spPr>
        <p:txBody>
          <a:bodyPr wrap="square" lIns="0" tIns="0" rIns="0" bIns="0" rtlCol="0" anchor="ctr"/>
          <a:lstStyle/>
          <a:p>
            <a:pPr indent="0" marL="0">
              <a:buNone/>
            </a:pPr>
            <a:r>
              <a:rPr lang="en-US" sz="1150" b="1" spc="100" kern="0" dirty="0">
                <a:solidFill>
                  <a:srgbClr val="F4ECDF"/>
                </a:solidFill>
                <a:latin typeface="Calibri" pitchFamily="34" charset="0"/>
                <a:ea typeface="Calibri" pitchFamily="34" charset="-122"/>
                <a:cs typeface="Calibri" pitchFamily="34" charset="-120"/>
              </a:rPr>
              <a:t>NATURALLY BEAUTIFUL</a:t>
            </a:r>
            <a:endParaRPr lang="en-US" sz="1150" dirty="0"/>
          </a:p>
        </p:txBody>
      </p:sp>
      <p:sp>
        <p:nvSpPr>
          <p:cNvPr id="16" name="Text 10"/>
          <p:cNvSpPr/>
          <p:nvPr/>
        </p:nvSpPr>
        <p:spPr>
          <a:xfrm>
            <a:off x="5120640" y="3291840"/>
            <a:ext cx="6583680" cy="347472"/>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The texture, colors and warmth of wood — the biophilic, community-facing surface</a:t>
            </a:r>
            <a:endParaRPr lang="en-US" sz="950" dirty="0"/>
          </a:p>
        </p:txBody>
      </p:sp>
      <p:pic>
        <p:nvPicPr>
          <p:cNvPr id="17" name="Image 4" descr="prep/icon_shield.png">    </p:cNvPr>
          <p:cNvPicPr>
            <a:picLocks noChangeAspect="1"/>
          </p:cNvPicPr>
          <p:nvPr/>
        </p:nvPicPr>
        <p:blipFill>
          <a:blip r:embed="rId5"/>
          <a:stretch>
            <a:fillRect/>
          </a:stretch>
        </p:blipFill>
        <p:spPr>
          <a:xfrm>
            <a:off x="4617720" y="3675888"/>
            <a:ext cx="310896" cy="310896"/>
          </a:xfrm>
          <a:prstGeom prst="rect">
            <a:avLst/>
          </a:prstGeom>
        </p:spPr>
      </p:pic>
      <p:sp>
        <p:nvSpPr>
          <p:cNvPr id="18" name="Text 11"/>
          <p:cNvSpPr/>
          <p:nvPr/>
        </p:nvSpPr>
        <p:spPr>
          <a:xfrm>
            <a:off x="5120640" y="3648456"/>
            <a:ext cx="6583680" cy="256032"/>
          </a:xfrm>
          <a:prstGeom prst="rect">
            <a:avLst/>
          </a:prstGeom>
          <a:noFill/>
          <a:ln/>
        </p:spPr>
        <p:txBody>
          <a:bodyPr wrap="square" lIns="0" tIns="0" rIns="0" bIns="0" rtlCol="0" anchor="ctr"/>
          <a:lstStyle/>
          <a:p>
            <a:pPr indent="0" marL="0">
              <a:buNone/>
            </a:pPr>
            <a:r>
              <a:rPr lang="en-US" sz="1150" b="1" spc="100" kern="0" dirty="0">
                <a:solidFill>
                  <a:srgbClr val="F4ECDF"/>
                </a:solidFill>
                <a:latin typeface="Calibri" pitchFamily="34" charset="0"/>
                <a:ea typeface="Calibri" pitchFamily="34" charset="-122"/>
                <a:cs typeface="Calibri" pitchFamily="34" charset="-120"/>
              </a:rPr>
              <a:t>DURABLE AND IMPACT RESISTANT</a:t>
            </a:r>
            <a:endParaRPr lang="en-US" sz="1150" dirty="0"/>
          </a:p>
        </p:txBody>
      </p:sp>
      <p:sp>
        <p:nvSpPr>
          <p:cNvPr id="19" name="Text 12"/>
          <p:cNvSpPr/>
          <p:nvPr/>
        </p:nvSpPr>
        <p:spPr>
          <a:xfrm>
            <a:off x="5120640" y="3913632"/>
            <a:ext cx="6583680" cy="347472"/>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Harder and more dent-resistant than oak; impact and storm resistant; exterior grade resists moisture, pests and rot</a:t>
            </a:r>
            <a:endParaRPr lang="en-US" sz="950" dirty="0"/>
          </a:p>
        </p:txBody>
      </p:sp>
      <p:pic>
        <p:nvPicPr>
          <p:cNvPr id="20" name="Image 5" descr="prep/icon_thermo.png">    </p:cNvPr>
          <p:cNvPicPr>
            <a:picLocks noChangeAspect="1"/>
          </p:cNvPicPr>
          <p:nvPr/>
        </p:nvPicPr>
        <p:blipFill>
          <a:blip r:embed="rId6"/>
          <a:stretch>
            <a:fillRect/>
          </a:stretch>
        </p:blipFill>
        <p:spPr>
          <a:xfrm>
            <a:off x="4617720" y="4297680"/>
            <a:ext cx="310896" cy="310896"/>
          </a:xfrm>
          <a:prstGeom prst="rect">
            <a:avLst/>
          </a:prstGeom>
        </p:spPr>
      </p:pic>
      <p:sp>
        <p:nvSpPr>
          <p:cNvPr id="21" name="Text 13"/>
          <p:cNvSpPr/>
          <p:nvPr/>
        </p:nvSpPr>
        <p:spPr>
          <a:xfrm>
            <a:off x="5120640" y="4270248"/>
            <a:ext cx="6583680" cy="256032"/>
          </a:xfrm>
          <a:prstGeom prst="rect">
            <a:avLst/>
          </a:prstGeom>
          <a:noFill/>
          <a:ln/>
        </p:spPr>
        <p:txBody>
          <a:bodyPr wrap="square" lIns="0" tIns="0" rIns="0" bIns="0" rtlCol="0" anchor="ctr"/>
          <a:lstStyle/>
          <a:p>
            <a:pPr indent="0" marL="0">
              <a:buNone/>
            </a:pPr>
            <a:r>
              <a:rPr lang="en-US" sz="1150" b="1" spc="100" kern="0" dirty="0">
                <a:solidFill>
                  <a:srgbClr val="F4ECDF"/>
                </a:solidFill>
                <a:latin typeface="Calibri" pitchFamily="34" charset="0"/>
                <a:ea typeface="Calibri" pitchFamily="34" charset="-122"/>
                <a:cs typeface="Calibri" pitchFamily="34" charset="-120"/>
              </a:rPr>
              <a:t>INSULATING, NOT CONDUCTING</a:t>
            </a:r>
            <a:endParaRPr lang="en-US" sz="1150" dirty="0"/>
          </a:p>
        </p:txBody>
      </p:sp>
      <p:sp>
        <p:nvSpPr>
          <p:cNvPr id="22" name="Text 14"/>
          <p:cNvSpPr/>
          <p:nvPr/>
        </p:nvSpPr>
        <p:spPr>
          <a:xfrm>
            <a:off x="5120640" y="4535424"/>
            <a:ext cx="6583680" cy="347472"/>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Thermal and electrical insulator — no thermal bridging, and non-conductive around electrical infrastructure</a:t>
            </a:r>
            <a:endParaRPr lang="en-US" sz="950" dirty="0"/>
          </a:p>
        </p:txBody>
      </p:sp>
      <p:pic>
        <p:nvPicPr>
          <p:cNvPr id="23" name="Image 6" descr="prep/icon_vibration_cream.png">    </p:cNvPr>
          <p:cNvPicPr>
            <a:picLocks noChangeAspect="1"/>
          </p:cNvPicPr>
          <p:nvPr/>
        </p:nvPicPr>
        <p:blipFill>
          <a:blip r:embed="rId7"/>
          <a:stretch>
            <a:fillRect/>
          </a:stretch>
        </p:blipFill>
        <p:spPr>
          <a:xfrm>
            <a:off x="4617720" y="4919472"/>
            <a:ext cx="310896" cy="310896"/>
          </a:xfrm>
          <a:prstGeom prst="rect">
            <a:avLst/>
          </a:prstGeom>
        </p:spPr>
      </p:pic>
      <p:sp>
        <p:nvSpPr>
          <p:cNvPr id="24" name="Text 15"/>
          <p:cNvSpPr/>
          <p:nvPr/>
        </p:nvSpPr>
        <p:spPr>
          <a:xfrm>
            <a:off x="5120640" y="4892040"/>
            <a:ext cx="6583680" cy="256032"/>
          </a:xfrm>
          <a:prstGeom prst="rect">
            <a:avLst/>
          </a:prstGeom>
          <a:noFill/>
          <a:ln/>
        </p:spPr>
        <p:txBody>
          <a:bodyPr wrap="square" lIns="0" tIns="0" rIns="0" bIns="0" rtlCol="0" anchor="ctr"/>
          <a:lstStyle/>
          <a:p>
            <a:pPr indent="0" marL="0">
              <a:buNone/>
            </a:pPr>
            <a:r>
              <a:rPr lang="en-US" sz="1150" b="1" spc="100" kern="0" dirty="0">
                <a:solidFill>
                  <a:srgbClr val="F4ECDF"/>
                </a:solidFill>
                <a:latin typeface="Calibri" pitchFamily="34" charset="0"/>
                <a:ea typeface="Calibri" pitchFamily="34" charset="-122"/>
                <a:cs typeface="Calibri" pitchFamily="34" charset="-120"/>
              </a:rPr>
              <a:t>SOUND AND VIBRATION DAMPING</a:t>
            </a:r>
            <a:endParaRPr lang="en-US" sz="1150" dirty="0"/>
          </a:p>
        </p:txBody>
      </p:sp>
      <p:sp>
        <p:nvSpPr>
          <p:cNvPr id="25" name="Text 16"/>
          <p:cNvSpPr/>
          <p:nvPr/>
        </p:nvSpPr>
        <p:spPr>
          <a:xfrm>
            <a:off x="5120640" y="5157216"/>
            <a:ext cx="6583680" cy="347472"/>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Particularly for HVAC enclosures, acoustic barriers and equipment screens</a:t>
            </a:r>
            <a:endParaRPr lang="en-US" sz="950" dirty="0"/>
          </a:p>
        </p:txBody>
      </p:sp>
      <p:pic>
        <p:nvPicPr>
          <p:cNvPr id="26" name="Image 7" descr="prep/icon_rf.png">    </p:cNvPr>
          <p:cNvPicPr>
            <a:picLocks noChangeAspect="1"/>
          </p:cNvPicPr>
          <p:nvPr/>
        </p:nvPicPr>
        <p:blipFill>
          <a:blip r:embed="rId8"/>
          <a:stretch>
            <a:fillRect/>
          </a:stretch>
        </p:blipFill>
        <p:spPr>
          <a:xfrm>
            <a:off x="4617720" y="5541264"/>
            <a:ext cx="310896" cy="310896"/>
          </a:xfrm>
          <a:prstGeom prst="rect">
            <a:avLst/>
          </a:prstGeom>
        </p:spPr>
      </p:pic>
      <p:sp>
        <p:nvSpPr>
          <p:cNvPr id="27" name="Text 17"/>
          <p:cNvSpPr/>
          <p:nvPr/>
        </p:nvSpPr>
        <p:spPr>
          <a:xfrm>
            <a:off x="5120640" y="5513832"/>
            <a:ext cx="6583680" cy="256032"/>
          </a:xfrm>
          <a:prstGeom prst="rect">
            <a:avLst/>
          </a:prstGeom>
          <a:noFill/>
          <a:ln/>
        </p:spPr>
        <p:txBody>
          <a:bodyPr wrap="square" lIns="0" tIns="0" rIns="0" bIns="0" rtlCol="0" anchor="ctr"/>
          <a:lstStyle/>
          <a:p>
            <a:pPr indent="0" marL="0">
              <a:buNone/>
            </a:pPr>
            <a:r>
              <a:rPr lang="en-US" sz="1150" b="1" spc="100" kern="0" dirty="0">
                <a:solidFill>
                  <a:srgbClr val="F4ECDF"/>
                </a:solidFill>
                <a:latin typeface="Calibri" pitchFamily="34" charset="0"/>
                <a:ea typeface="Calibri" pitchFamily="34" charset="-122"/>
                <a:cs typeface="Calibri" pitchFamily="34" charset="-120"/>
              </a:rPr>
              <a:t>RF TRANSPARENT</a:t>
            </a:r>
            <a:endParaRPr lang="en-US" sz="1150" dirty="0"/>
          </a:p>
        </p:txBody>
      </p:sp>
      <p:sp>
        <p:nvSpPr>
          <p:cNvPr id="28" name="Text 18"/>
          <p:cNvSpPr/>
          <p:nvPr/>
        </p:nvSpPr>
        <p:spPr>
          <a:xfrm>
            <a:off x="5120640" y="5779008"/>
            <a:ext cx="6583680" cy="347472"/>
          </a:xfrm>
          <a:prstGeom prst="rect">
            <a:avLst/>
          </a:prstGeom>
          <a:noFill/>
          <a:ln/>
        </p:spPr>
        <p:txBody>
          <a:bodyPr wrap="square" lIns="0" tIns="0" rIns="0" bIns="0" rtlCol="0" anchor="t"/>
          <a:lstStyle/>
          <a:p>
            <a:pPr indent="0" marL="0">
              <a:buNone/>
            </a:pPr>
            <a:r>
              <a:rPr lang="en-US" sz="950" dirty="0">
                <a:solidFill>
                  <a:srgbClr val="9D8D76"/>
                </a:solidFill>
                <a:latin typeface="Calibri" pitchFamily="34" charset="0"/>
                <a:ea typeface="Calibri" pitchFamily="34" charset="-122"/>
                <a:cs typeface="Calibri" pitchFamily="34" charset="-120"/>
              </a:rPr>
              <a:t>Useful in niches: antenna screening, timing-antenna enclosures, telecom shelters</a:t>
            </a:r>
            <a:endParaRPr lang="en-US" sz="950" dirty="0"/>
          </a:p>
        </p:txBody>
      </p:sp>
      <p:sp>
        <p:nvSpPr>
          <p:cNvPr id="29" name="Text 19"/>
          <p:cNvSpPr/>
          <p:nvPr/>
        </p:nvSpPr>
        <p:spPr>
          <a:xfrm>
            <a:off x="502920" y="6126480"/>
            <a:ext cx="11155680" cy="32004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Company test data; property data package and test methods available on request. Fire: chars rather than burns, far better than ordinary wood; ASTM E84 Class A demonstrated in testing, specified per order.</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fit</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FIT</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2700" dirty="0">
                <a:solidFill>
                  <a:srgbClr val="F4ECDF"/>
                </a:solidFill>
                <a:latin typeface="Georgia" pitchFamily="34" charset="0"/>
                <a:ea typeface="Georgia" pitchFamily="34" charset="-122"/>
                <a:cs typeface="Georgia" pitchFamily="34" charset="-120"/>
              </a:rPr>
              <a:t>Faster to build: lighter, </a:t>
            </a:r>
            <a:pPr indent="0" marL="0">
              <a:buNone/>
            </a:pPr>
            <a:r>
              <a:rPr lang="en-US" sz="2700" i="1" dirty="0">
                <a:solidFill>
                  <a:srgbClr val="E2B877"/>
                </a:solidFill>
                <a:latin typeface="Georgia" pitchFamily="34" charset="0"/>
                <a:ea typeface="Georgia" pitchFamily="34" charset="-122"/>
                <a:cs typeface="Georgia" pitchFamily="34" charset="-120"/>
              </a:rPr>
              <a:t>prefabricated</a:t>
            </a:r>
            <a:pPr indent="0" marL="0">
              <a:buNone/>
            </a:pPr>
            <a:r>
              <a:rPr lang="en-US" sz="2700" dirty="0">
                <a:solidFill>
                  <a:srgbClr val="F4ECDF"/>
                </a:solidFill>
                <a:latin typeface="Georgia" pitchFamily="34" charset="0"/>
                <a:ea typeface="Georgia" pitchFamily="34" charset="-122"/>
                <a:cs typeface="Georgia" pitchFamily="34" charset="-120"/>
              </a:rPr>
              <a:t>, reconfigurable</a:t>
            </a:r>
            <a:endParaRPr lang="en-US" sz="2700" dirty="0"/>
          </a:p>
        </p:txBody>
      </p:sp>
      <p:sp>
        <p:nvSpPr>
          <p:cNvPr id="6" name="Text 4"/>
          <p:cNvSpPr/>
          <p:nvPr/>
        </p:nvSpPr>
        <p:spPr>
          <a:xfrm>
            <a:off x="502920" y="1828800"/>
            <a:ext cx="731520" cy="548640"/>
          </a:xfrm>
          <a:prstGeom prst="rect">
            <a:avLst/>
          </a:prstGeom>
          <a:noFill/>
          <a:ln/>
        </p:spPr>
        <p:txBody>
          <a:bodyPr wrap="square" lIns="0" tIns="0" rIns="0" bIns="0" rtlCol="0" anchor="ctr"/>
          <a:lstStyle/>
          <a:p>
            <a:pPr indent="0" marL="0">
              <a:buNone/>
            </a:pPr>
            <a:r>
              <a:rPr lang="en-US" sz="2200" dirty="0">
                <a:solidFill>
                  <a:srgbClr val="B87D44"/>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234440" y="1828800"/>
            <a:ext cx="5120640" cy="329184"/>
          </a:xfrm>
          <a:prstGeom prst="rect">
            <a:avLst/>
          </a:prstGeom>
          <a:noFill/>
          <a:ln/>
        </p:spPr>
        <p:txBody>
          <a:bodyPr wrap="square" lIns="0" tIns="0" rIns="0" bIns="0" rtlCol="0" anchor="ctr"/>
          <a:lstStyle/>
          <a:p>
            <a:pPr indent="0" marL="0">
              <a:buNone/>
            </a:pPr>
            <a:r>
              <a:rPr lang="en-US" sz="1400" b="1" dirty="0">
                <a:solidFill>
                  <a:srgbClr val="F4ECDF"/>
                </a:solidFill>
                <a:latin typeface="Calibri" pitchFamily="34" charset="0"/>
                <a:ea typeface="Calibri" pitchFamily="34" charset="-122"/>
                <a:cs typeface="Calibri" pitchFamily="34" charset="-120"/>
              </a:rPr>
              <a:t>One-sixth the weight of steel</a:t>
            </a:r>
            <a:endParaRPr lang="en-US" sz="1400" dirty="0"/>
          </a:p>
        </p:txBody>
      </p:sp>
      <p:sp>
        <p:nvSpPr>
          <p:cNvPr id="8" name="Text 6"/>
          <p:cNvSpPr/>
          <p:nvPr/>
        </p:nvSpPr>
        <p:spPr>
          <a:xfrm>
            <a:off x="1234440" y="2176272"/>
            <a:ext cx="5120640" cy="640080"/>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Smaller cranes and crews, easier transport, lighter foundations. Time to power is what hyperscalers optimize.</a:t>
            </a:r>
            <a:endParaRPr lang="en-US" sz="1050" dirty="0"/>
          </a:p>
        </p:txBody>
      </p:sp>
      <p:sp>
        <p:nvSpPr>
          <p:cNvPr id="9" name="Text 7"/>
          <p:cNvSpPr/>
          <p:nvPr/>
        </p:nvSpPr>
        <p:spPr>
          <a:xfrm>
            <a:off x="502920" y="2834640"/>
            <a:ext cx="731520" cy="548640"/>
          </a:xfrm>
          <a:prstGeom prst="rect">
            <a:avLst/>
          </a:prstGeom>
          <a:noFill/>
          <a:ln/>
        </p:spPr>
        <p:txBody>
          <a:bodyPr wrap="square" lIns="0" tIns="0" rIns="0" bIns="0" rtlCol="0" anchor="ctr"/>
          <a:lstStyle/>
          <a:p>
            <a:pPr indent="0" marL="0">
              <a:buNone/>
            </a:pPr>
            <a:r>
              <a:rPr lang="en-US" sz="2200" dirty="0">
                <a:solidFill>
                  <a:srgbClr val="B87D44"/>
                </a:solidFill>
                <a:latin typeface="Georgia" pitchFamily="34" charset="0"/>
                <a:ea typeface="Georgia" pitchFamily="34" charset="-122"/>
                <a:cs typeface="Georgia" pitchFamily="34" charset="-120"/>
              </a:rPr>
              <a:t>02</a:t>
            </a:r>
            <a:endParaRPr lang="en-US" sz="2200" dirty="0"/>
          </a:p>
        </p:txBody>
      </p:sp>
      <p:sp>
        <p:nvSpPr>
          <p:cNvPr id="10" name="Text 8"/>
          <p:cNvSpPr/>
          <p:nvPr/>
        </p:nvSpPr>
        <p:spPr>
          <a:xfrm>
            <a:off x="1234440" y="2834640"/>
            <a:ext cx="5120640" cy="329184"/>
          </a:xfrm>
          <a:prstGeom prst="rect">
            <a:avLst/>
          </a:prstGeom>
          <a:noFill/>
          <a:ln/>
        </p:spPr>
        <p:txBody>
          <a:bodyPr wrap="square" lIns="0" tIns="0" rIns="0" bIns="0" rtlCol="0" anchor="ctr"/>
          <a:lstStyle/>
          <a:p>
            <a:pPr indent="0" marL="0">
              <a:buNone/>
            </a:pPr>
            <a:r>
              <a:rPr lang="en-US" sz="1400" b="1" dirty="0">
                <a:solidFill>
                  <a:srgbClr val="F4ECDF"/>
                </a:solidFill>
                <a:latin typeface="Calibri" pitchFamily="34" charset="0"/>
                <a:ea typeface="Calibri" pitchFamily="34" charset="-122"/>
                <a:cs typeface="Calibri" pitchFamily="34" charset="-120"/>
              </a:rPr>
              <a:t>Prefabricated to precision</a:t>
            </a:r>
            <a:endParaRPr lang="en-US" sz="1400" dirty="0"/>
          </a:p>
        </p:txBody>
      </p:sp>
      <p:sp>
        <p:nvSpPr>
          <p:cNvPr id="11" name="Text 9"/>
          <p:cNvSpPr/>
          <p:nvPr/>
        </p:nvSpPr>
        <p:spPr>
          <a:xfrm>
            <a:off x="1234440" y="3182112"/>
            <a:ext cx="5120640" cy="640080"/>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Panels and modules built off site and set like mass timber — standardized designs, plug-and-play systems.</a:t>
            </a:r>
            <a:endParaRPr lang="en-US" sz="1050" dirty="0"/>
          </a:p>
        </p:txBody>
      </p:sp>
      <p:sp>
        <p:nvSpPr>
          <p:cNvPr id="12" name="Text 10"/>
          <p:cNvSpPr/>
          <p:nvPr/>
        </p:nvSpPr>
        <p:spPr>
          <a:xfrm>
            <a:off x="502920" y="3840480"/>
            <a:ext cx="731520" cy="548640"/>
          </a:xfrm>
          <a:prstGeom prst="rect">
            <a:avLst/>
          </a:prstGeom>
          <a:noFill/>
          <a:ln/>
        </p:spPr>
        <p:txBody>
          <a:bodyPr wrap="square" lIns="0" tIns="0" rIns="0" bIns="0" rtlCol="0" anchor="ctr"/>
          <a:lstStyle/>
          <a:p>
            <a:pPr indent="0" marL="0">
              <a:buNone/>
            </a:pPr>
            <a:r>
              <a:rPr lang="en-US" sz="2200" dirty="0">
                <a:solidFill>
                  <a:srgbClr val="B87D44"/>
                </a:solidFill>
                <a:latin typeface="Georgia" pitchFamily="34" charset="0"/>
                <a:ea typeface="Georgia" pitchFamily="34" charset="-122"/>
                <a:cs typeface="Georgia" pitchFamily="34" charset="-120"/>
              </a:rPr>
              <a:t>03</a:t>
            </a:r>
            <a:endParaRPr lang="en-US" sz="2200" dirty="0"/>
          </a:p>
        </p:txBody>
      </p:sp>
      <p:sp>
        <p:nvSpPr>
          <p:cNvPr id="13" name="Text 11"/>
          <p:cNvSpPr/>
          <p:nvPr/>
        </p:nvSpPr>
        <p:spPr>
          <a:xfrm>
            <a:off x="1234440" y="3840480"/>
            <a:ext cx="5120640" cy="329184"/>
          </a:xfrm>
          <a:prstGeom prst="rect">
            <a:avLst/>
          </a:prstGeom>
          <a:noFill/>
          <a:ln/>
        </p:spPr>
        <p:txBody>
          <a:bodyPr wrap="square" lIns="0" tIns="0" rIns="0" bIns="0" rtlCol="0" anchor="ctr"/>
          <a:lstStyle/>
          <a:p>
            <a:pPr indent="0" marL="0">
              <a:buNone/>
            </a:pPr>
            <a:r>
              <a:rPr lang="en-US" sz="1400" b="1" dirty="0">
                <a:solidFill>
                  <a:srgbClr val="F4ECDF"/>
                </a:solidFill>
                <a:latin typeface="Calibri" pitchFamily="34" charset="0"/>
                <a:ea typeface="Calibri" pitchFamily="34" charset="-122"/>
                <a:cs typeface="Calibri" pitchFamily="34" charset="-120"/>
              </a:rPr>
              <a:t>Designed for assembly and disassembly</a:t>
            </a:r>
            <a:endParaRPr lang="en-US" sz="1400" dirty="0"/>
          </a:p>
        </p:txBody>
      </p:sp>
      <p:sp>
        <p:nvSpPr>
          <p:cNvPr id="14" name="Text 12"/>
          <p:cNvSpPr/>
          <p:nvPr/>
        </p:nvSpPr>
        <p:spPr>
          <a:xfrm>
            <a:off x="1234440" y="4187952"/>
            <a:ext cx="5120640" cy="640080"/>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Reusable, reconfigurable components for infrastructure that changes with every hardware generation.</a:t>
            </a:r>
            <a:endParaRPr lang="en-US" sz="1050" dirty="0"/>
          </a:p>
        </p:txBody>
      </p:sp>
      <p:sp>
        <p:nvSpPr>
          <p:cNvPr id="15" name="Text 13"/>
          <p:cNvSpPr/>
          <p:nvPr/>
        </p:nvSpPr>
        <p:spPr>
          <a:xfrm>
            <a:off x="502920" y="4846320"/>
            <a:ext cx="731520" cy="548640"/>
          </a:xfrm>
          <a:prstGeom prst="rect">
            <a:avLst/>
          </a:prstGeom>
          <a:noFill/>
          <a:ln/>
        </p:spPr>
        <p:txBody>
          <a:bodyPr wrap="square" lIns="0" tIns="0" rIns="0" bIns="0" rtlCol="0" anchor="ctr"/>
          <a:lstStyle/>
          <a:p>
            <a:pPr indent="0" marL="0">
              <a:buNone/>
            </a:pPr>
            <a:r>
              <a:rPr lang="en-US" sz="2200" dirty="0">
                <a:solidFill>
                  <a:srgbClr val="B87D44"/>
                </a:solidFill>
                <a:latin typeface="Georgia" pitchFamily="34" charset="0"/>
                <a:ea typeface="Georgia" pitchFamily="34" charset="-122"/>
                <a:cs typeface="Georgia" pitchFamily="34" charset="-120"/>
              </a:rPr>
              <a:t>04</a:t>
            </a:r>
            <a:endParaRPr lang="en-US" sz="2200" dirty="0"/>
          </a:p>
        </p:txBody>
      </p:sp>
      <p:sp>
        <p:nvSpPr>
          <p:cNvPr id="16" name="Text 14"/>
          <p:cNvSpPr/>
          <p:nvPr/>
        </p:nvSpPr>
        <p:spPr>
          <a:xfrm>
            <a:off x="1234440" y="4846320"/>
            <a:ext cx="5120640" cy="329184"/>
          </a:xfrm>
          <a:prstGeom prst="rect">
            <a:avLst/>
          </a:prstGeom>
          <a:noFill/>
          <a:ln/>
        </p:spPr>
        <p:txBody>
          <a:bodyPr wrap="square" lIns="0" tIns="0" rIns="0" bIns="0" rtlCol="0" anchor="ctr"/>
          <a:lstStyle/>
          <a:p>
            <a:pPr indent="0" marL="0">
              <a:buNone/>
            </a:pPr>
            <a:r>
              <a:rPr lang="en-US" sz="1400" b="1" dirty="0">
                <a:solidFill>
                  <a:srgbClr val="F4ECDF"/>
                </a:solidFill>
                <a:latin typeface="Calibri" pitchFamily="34" charset="0"/>
                <a:ea typeface="Calibri" pitchFamily="34" charset="-122"/>
                <a:cs typeface="Calibri" pitchFamily="34" charset="-120"/>
              </a:rPr>
              <a:t>Mass timber's schedule record</a:t>
            </a:r>
            <a:endParaRPr lang="en-US" sz="1400" dirty="0"/>
          </a:p>
        </p:txBody>
      </p:sp>
      <p:sp>
        <p:nvSpPr>
          <p:cNvPr id="17" name="Text 15"/>
          <p:cNvSpPr/>
          <p:nvPr/>
        </p:nvSpPr>
        <p:spPr>
          <a:xfrm>
            <a:off x="1234440" y="5193792"/>
            <a:ext cx="5120640" cy="640080"/>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About 20% average schedule savings across seven case studies, up to 25–30% in others. SUPERWOOD builds the same way.</a:t>
            </a:r>
            <a:endParaRPr lang="en-US" sz="1050" dirty="0"/>
          </a:p>
        </p:txBody>
      </p:sp>
      <p:pic>
        <p:nvPicPr>
          <p:cNvPr id="18" name="Image 0" descr="prep/dc_prefab_lift.jpg">    </p:cNvPr>
          <p:cNvPicPr>
            <a:picLocks noChangeAspect="1"/>
          </p:cNvPicPr>
          <p:nvPr/>
        </p:nvPicPr>
        <p:blipFill>
          <a:blip r:embed="rId1"/>
          <a:stretch>
            <a:fillRect/>
          </a:stretch>
        </p:blipFill>
        <p:spPr>
          <a:xfrm>
            <a:off x="6675120" y="1828800"/>
            <a:ext cx="4983480" cy="2781477"/>
          </a:xfrm>
          <a:prstGeom prst="rect">
            <a:avLst/>
          </a:prstGeom>
        </p:spPr>
      </p:pic>
      <p:sp>
        <p:nvSpPr>
          <p:cNvPr id="19" name="Text 16"/>
          <p:cNvSpPr/>
          <p:nvPr/>
        </p:nvSpPr>
        <p:spPr>
          <a:xfrm>
            <a:off x="9281160" y="4645152"/>
            <a:ext cx="2377440" cy="256032"/>
          </a:xfrm>
          <a:prstGeom prst="rect">
            <a:avLst/>
          </a:prstGeom>
          <a:noFill/>
          <a:ln/>
        </p:spPr>
        <p:txBody>
          <a:bodyPr wrap="square" lIns="0" tIns="0" rIns="0" bIns="0" rtlCol="0" anchor="ctr"/>
          <a:lstStyle/>
          <a:p>
            <a:pPr algn="r" indent="0" marL="0">
              <a:buNone/>
            </a:pPr>
            <a:r>
              <a:rPr lang="en-US" sz="900" i="1" dirty="0">
                <a:solidFill>
                  <a:srgbClr val="9D8D76"/>
                </a:solidFill>
                <a:latin typeface="Calibri" pitchFamily="34" charset="0"/>
                <a:ea typeface="Calibri" pitchFamily="34" charset="-122"/>
                <a:cs typeface="Calibri" pitchFamily="34" charset="-120"/>
              </a:rPr>
              <a:t>Concept rendering</a:t>
            </a:r>
            <a:endParaRPr lang="en-US" sz="900" dirty="0"/>
          </a:p>
        </p:txBody>
      </p:sp>
      <p:sp>
        <p:nvSpPr>
          <p:cNvPr id="20" name="Text 17"/>
          <p:cNvSpPr/>
          <p:nvPr/>
        </p:nvSpPr>
        <p:spPr>
          <a:xfrm>
            <a:off x="502920" y="5989320"/>
            <a:ext cx="11155680" cy="45720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Schedule figures are mass-timber case studies (ULI Urban Land: ~20% average across seven case studies, 12.7 vs 15.4 months; other studies 25–30%), used as an analogy for a material that builds the same way. No SUPERWOOD schedule data yet.</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path</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PATH · IMMEDIATE</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000" dirty="0">
                <a:solidFill>
                  <a:srgbClr val="F4ECDF"/>
                </a:solidFill>
                <a:latin typeface="Georgia" pitchFamily="34" charset="0"/>
                <a:ea typeface="Georgia" pitchFamily="34" charset="-122"/>
                <a:cs typeface="Georgia" pitchFamily="34" charset="-120"/>
              </a:rPr>
              <a:t>Immediate: skins, screens and fences from SuperMill One</a:t>
            </a:r>
            <a:endParaRPr lang="en-US" sz="3000" dirty="0"/>
          </a:p>
        </p:txBody>
      </p:sp>
      <p:sp>
        <p:nvSpPr>
          <p:cNvPr id="6" name="Text 4"/>
          <p:cNvSpPr/>
          <p:nvPr/>
        </p:nvSpPr>
        <p:spPr>
          <a:xfrm>
            <a:off x="502920" y="1691640"/>
            <a:ext cx="11155680" cy="411480"/>
          </a:xfrm>
          <a:prstGeom prst="rect">
            <a:avLst/>
          </a:prstGeom>
          <a:noFill/>
          <a:ln/>
        </p:spPr>
        <p:txBody>
          <a:bodyPr wrap="square" lIns="0" tIns="0" rIns="0" bIns="0" rtlCol="0" anchor="ctr"/>
          <a:lstStyle/>
          <a:p>
            <a:pPr indent="0" marL="0">
              <a:buNone/>
            </a:pPr>
            <a:r>
              <a:rPr lang="en-US" sz="1200" dirty="0">
                <a:solidFill>
                  <a:srgbClr val="CDBFA9"/>
                </a:solidFill>
                <a:latin typeface="Calibri" pitchFamily="34" charset="0"/>
                <a:ea typeface="Calibri" pitchFamily="34" charset="-122"/>
                <a:cs typeface="Calibri" pitchFamily="34" charset="-120"/>
              </a:rPr>
              <a:t>Every item below ships today as boards up to 8" × 16' × 3/8", exterior or interior grade. SuperMill One makes about one million square feet a year across all markets.</a:t>
            </a:r>
            <a:endParaRPr lang="en-US" sz="1200" dirty="0"/>
          </a:p>
        </p:txBody>
      </p:sp>
      <p:sp>
        <p:nvSpPr>
          <p:cNvPr id="7" name="Text 5"/>
          <p:cNvSpPr/>
          <p:nvPr/>
        </p:nvSpPr>
        <p:spPr>
          <a:xfrm>
            <a:off x="502920" y="2057400"/>
            <a:ext cx="11155680" cy="274320"/>
          </a:xfrm>
          <a:prstGeom prst="rect">
            <a:avLst/>
          </a:prstGeom>
          <a:noFill/>
          <a:ln/>
        </p:spPr>
        <p:txBody>
          <a:bodyPr wrap="square" lIns="0" tIns="0" rIns="0" bIns="0" rtlCol="0" anchor="ctr"/>
          <a:lstStyle/>
          <a:p>
            <a:pPr indent="0" marL="0">
              <a:buNone/>
            </a:pPr>
            <a:r>
              <a:rPr lang="en-US" sz="950" b="1" dirty="0">
                <a:solidFill>
                  <a:srgbClr val="CDA165"/>
                </a:solidFill>
                <a:latin typeface="Calibri" pitchFamily="34" charset="0"/>
                <a:ea typeface="Calibri" pitchFamily="34" charset="-122"/>
                <a:cs typeface="Calibri" pitchFamily="34" charset="-120"/>
              </a:rPr>
              <a:t>IMMEDIATE </a:t>
            </a:r>
            <a:pPr indent="0" marL="0">
              <a:buNone/>
            </a:pPr>
            <a:r>
              <a:rPr lang="en-US" sz="950" dirty="0">
                <a:solidFill>
                  <a:srgbClr val="CDBFA9"/>
                </a:solidFill>
                <a:latin typeface="Calibri" pitchFamily="34" charset="0"/>
                <a:ea typeface="Calibri" pitchFamily="34" charset="-122"/>
                <a:cs typeface="Calibri" pitchFamily="34" charset="-120"/>
              </a:rPr>
              <a:t>shipping from SuperMill One   ·   </a:t>
            </a:r>
            <a:pPr indent="0" marL="0">
              <a:buNone/>
            </a:pPr>
            <a:r>
              <a:rPr lang="en-US" sz="950" b="1" dirty="0">
                <a:solidFill>
                  <a:srgbClr val="CDA165"/>
                </a:solidFill>
                <a:latin typeface="Calibri" pitchFamily="34" charset="0"/>
                <a:ea typeface="Calibri" pitchFamily="34" charset="-122"/>
                <a:cs typeface="Calibri" pitchFamily="34" charset="-120"/>
              </a:rPr>
              <a:t>SOON </a:t>
            </a:r>
            <a:pPr indent="0" marL="0">
              <a:buNone/>
            </a:pPr>
            <a:r>
              <a:rPr lang="en-US" sz="950" dirty="0">
                <a:solidFill>
                  <a:srgbClr val="CDBFA9"/>
                </a:solidFill>
                <a:latin typeface="Calibri" pitchFamily="34" charset="0"/>
                <a:ea typeface="Calibri" pitchFamily="34" charset="-122"/>
                <a:cs typeface="Calibri" pitchFamily="34" charset="-120"/>
              </a:rPr>
              <a:t>1–3 years; straightforward applications engineering   ·   </a:t>
            </a:r>
            <a:pPr indent="0" marL="0">
              <a:buNone/>
            </a:pPr>
            <a:r>
              <a:rPr lang="en-US" sz="950" b="1" dirty="0">
                <a:solidFill>
                  <a:srgbClr val="CDA165"/>
                </a:solidFill>
                <a:latin typeface="Calibri" pitchFamily="34" charset="0"/>
                <a:ea typeface="Calibri" pitchFamily="34" charset="-122"/>
                <a:cs typeface="Calibri" pitchFamily="34" charset="-120"/>
              </a:rPr>
              <a:t>MEDIUM TERM </a:t>
            </a:r>
            <a:pPr indent="0" marL="0">
              <a:buNone/>
            </a:pPr>
            <a:r>
              <a:rPr lang="en-US" sz="950" dirty="0">
                <a:solidFill>
                  <a:srgbClr val="CDBFA9"/>
                </a:solidFill>
                <a:latin typeface="Calibri" pitchFamily="34" charset="0"/>
                <a:ea typeface="Calibri" pitchFamily="34" charset="-122"/>
                <a:cs typeface="Calibri" pitchFamily="34" charset="-120"/>
              </a:rPr>
              <a:t>complex applications engineering such as full building systems, new form factors, or materials engineering   ·   </a:t>
            </a:r>
            <a:pPr indent="0" marL="0">
              <a:buNone/>
            </a:pPr>
            <a:r>
              <a:rPr lang="en-US" sz="950" b="1" dirty="0">
                <a:solidFill>
                  <a:srgbClr val="CDA165"/>
                </a:solidFill>
                <a:latin typeface="Calibri" pitchFamily="34" charset="0"/>
                <a:ea typeface="Calibri" pitchFamily="34" charset="-122"/>
                <a:cs typeface="Calibri" pitchFamily="34" charset="-120"/>
              </a:rPr>
              <a:t>LONG TERM </a:t>
            </a:r>
            <a:pPr indent="0" marL="0">
              <a:buNone/>
            </a:pPr>
            <a:r>
              <a:rPr lang="en-US" sz="950" dirty="0">
                <a:solidFill>
                  <a:srgbClr val="CDBFA9"/>
                </a:solidFill>
                <a:latin typeface="Calibri" pitchFamily="34" charset="0"/>
                <a:ea typeface="Calibri" pitchFamily="34" charset="-122"/>
                <a:cs typeface="Calibri" pitchFamily="34" charset="-120"/>
              </a:rPr>
              <a:t>5+ years; technical potential with no design or code pathway yet</a:t>
            </a:r>
            <a:endParaRPr lang="en-US" sz="950" dirty="0"/>
          </a:p>
        </p:txBody>
      </p:sp>
      <p:pic>
        <p:nvPicPr>
          <p:cNvPr id="8" name="Image 0" descr="prep/tiles/tile_cladding.jpg">    </p:cNvPr>
          <p:cNvPicPr>
            <a:picLocks noChangeAspect="1"/>
          </p:cNvPicPr>
          <p:nvPr/>
        </p:nvPicPr>
        <p:blipFill>
          <a:blip r:embed="rId1"/>
          <a:stretch>
            <a:fillRect/>
          </a:stretch>
        </p:blipFill>
        <p:spPr>
          <a:xfrm>
            <a:off x="701040" y="2331720"/>
            <a:ext cx="1463040" cy="1463040"/>
          </a:xfrm>
          <a:prstGeom prst="rect">
            <a:avLst/>
          </a:prstGeom>
        </p:spPr>
      </p:pic>
      <p:sp>
        <p:nvSpPr>
          <p:cNvPr id="9" name="Text 6"/>
          <p:cNvSpPr/>
          <p:nvPr/>
        </p:nvSpPr>
        <p:spPr>
          <a:xfrm>
            <a:off x="548640" y="3886200"/>
            <a:ext cx="1767840" cy="73152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Facades, cladding &amp; rain screens</a:t>
            </a:r>
            <a:endParaRPr lang="en-US" sz="1050" dirty="0"/>
          </a:p>
        </p:txBody>
      </p:sp>
      <p:pic>
        <p:nvPicPr>
          <p:cNvPr id="10" name="Image 1" descr="prep/tiles/tile_biophilic.jpg">    </p:cNvPr>
          <p:cNvPicPr>
            <a:picLocks noChangeAspect="1"/>
          </p:cNvPicPr>
          <p:nvPr/>
        </p:nvPicPr>
        <p:blipFill>
          <a:blip r:embed="rId2"/>
          <a:stretch>
            <a:fillRect/>
          </a:stretch>
        </p:blipFill>
        <p:spPr>
          <a:xfrm>
            <a:off x="2560320" y="2331720"/>
            <a:ext cx="1463040" cy="1463040"/>
          </a:xfrm>
          <a:prstGeom prst="rect">
            <a:avLst/>
          </a:prstGeom>
        </p:spPr>
      </p:pic>
      <p:sp>
        <p:nvSpPr>
          <p:cNvPr id="11" name="Text 7"/>
          <p:cNvSpPr/>
          <p:nvPr/>
        </p:nvSpPr>
        <p:spPr>
          <a:xfrm>
            <a:off x="2407920" y="3886200"/>
            <a:ext cx="1767840" cy="73152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Biophilic interiors</a:t>
            </a:r>
            <a:endParaRPr lang="en-US" sz="1050" dirty="0"/>
          </a:p>
        </p:txBody>
      </p:sp>
      <p:pic>
        <p:nvPicPr>
          <p:cNvPr id="12" name="Image 2" descr="prep/tiles/tile_louvers2.jpg">    </p:cNvPr>
          <p:cNvPicPr>
            <a:picLocks noChangeAspect="1"/>
          </p:cNvPicPr>
          <p:nvPr/>
        </p:nvPicPr>
        <p:blipFill>
          <a:blip r:embed="rId3"/>
          <a:stretch>
            <a:fillRect/>
          </a:stretch>
        </p:blipFill>
        <p:spPr>
          <a:xfrm>
            <a:off x="4419600" y="2331720"/>
            <a:ext cx="1463040" cy="1463040"/>
          </a:xfrm>
          <a:prstGeom prst="rect">
            <a:avLst/>
          </a:prstGeom>
        </p:spPr>
      </p:pic>
      <p:sp>
        <p:nvSpPr>
          <p:cNvPr id="13" name="Text 8"/>
          <p:cNvSpPr/>
          <p:nvPr/>
        </p:nvSpPr>
        <p:spPr>
          <a:xfrm>
            <a:off x="4267200" y="3886200"/>
            <a:ext cx="1767840" cy="73152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Louvers &amp; equipment screening</a:t>
            </a:r>
            <a:endParaRPr lang="en-US" sz="1050" dirty="0"/>
          </a:p>
        </p:txBody>
      </p:sp>
      <p:pic>
        <p:nvPicPr>
          <p:cNvPr id="14" name="Image 3" descr="prep/tiles/tile_fence_staff.jpg">    </p:cNvPr>
          <p:cNvPicPr>
            <a:picLocks noChangeAspect="1"/>
          </p:cNvPicPr>
          <p:nvPr/>
        </p:nvPicPr>
        <p:blipFill>
          <a:blip r:embed="rId4"/>
          <a:stretch>
            <a:fillRect/>
          </a:stretch>
        </p:blipFill>
        <p:spPr>
          <a:xfrm>
            <a:off x="6278880" y="2331720"/>
            <a:ext cx="1463040" cy="1463040"/>
          </a:xfrm>
          <a:prstGeom prst="rect">
            <a:avLst/>
          </a:prstGeom>
        </p:spPr>
      </p:pic>
      <p:sp>
        <p:nvSpPr>
          <p:cNvPr id="15" name="Text 9"/>
          <p:cNvSpPr/>
          <p:nvPr/>
        </p:nvSpPr>
        <p:spPr>
          <a:xfrm>
            <a:off x="6126480" y="3886200"/>
            <a:ext cx="1767840" cy="73152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Fencing for staff outdoor spaces</a:t>
            </a:r>
            <a:endParaRPr lang="en-US" sz="1050" dirty="0"/>
          </a:p>
        </p:txBody>
      </p:sp>
      <p:pic>
        <p:nvPicPr>
          <p:cNvPr id="16" name="Image 4" descr="prep/tiles/tile_fence_security.jpg">    </p:cNvPr>
          <p:cNvPicPr>
            <a:picLocks noChangeAspect="1"/>
          </p:cNvPicPr>
          <p:nvPr/>
        </p:nvPicPr>
        <p:blipFill>
          <a:blip r:embed="rId5"/>
          <a:stretch>
            <a:fillRect/>
          </a:stretch>
        </p:blipFill>
        <p:spPr>
          <a:xfrm>
            <a:off x="8138160" y="2331720"/>
            <a:ext cx="1463040" cy="1463040"/>
          </a:xfrm>
          <a:prstGeom prst="rect">
            <a:avLst/>
          </a:prstGeom>
        </p:spPr>
      </p:pic>
      <p:sp>
        <p:nvSpPr>
          <p:cNvPr id="17" name="Text 10"/>
          <p:cNvSpPr/>
          <p:nvPr/>
        </p:nvSpPr>
        <p:spPr>
          <a:xfrm>
            <a:off x="7985760" y="3886200"/>
            <a:ext cx="1767840" cy="73152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Security fencing around transformers &amp; outdoor infrastructure</a:t>
            </a:r>
            <a:endParaRPr lang="en-US" sz="1050" dirty="0"/>
          </a:p>
        </p:txBody>
      </p:sp>
      <p:pic>
        <p:nvPicPr>
          <p:cNvPr id="18" name="Image 5" descr="prep/tiles/tile_doorkick.jpg">    </p:cNvPr>
          <p:cNvPicPr>
            <a:picLocks noChangeAspect="1"/>
          </p:cNvPicPr>
          <p:nvPr/>
        </p:nvPicPr>
        <p:blipFill>
          <a:blip r:embed="rId6"/>
          <a:stretch>
            <a:fillRect/>
          </a:stretch>
        </p:blipFill>
        <p:spPr>
          <a:xfrm>
            <a:off x="9997440" y="2331720"/>
            <a:ext cx="1463040" cy="1463040"/>
          </a:xfrm>
          <a:prstGeom prst="rect">
            <a:avLst/>
          </a:prstGeom>
        </p:spPr>
      </p:pic>
      <p:sp>
        <p:nvSpPr>
          <p:cNvPr id="19" name="Text 11"/>
          <p:cNvSpPr/>
          <p:nvPr/>
        </p:nvSpPr>
        <p:spPr>
          <a:xfrm>
            <a:off x="9845040" y="3886200"/>
            <a:ext cx="1767840" cy="731520"/>
          </a:xfrm>
          <a:prstGeom prst="rect">
            <a:avLst/>
          </a:prstGeom>
          <a:noFill/>
          <a:ln/>
        </p:spPr>
        <p:txBody>
          <a:bodyPr wrap="square" lIns="0" tIns="0" rIns="0" bIns="0" rtlCol="0" anchor="t"/>
          <a:lstStyle/>
          <a:p>
            <a:pPr algn="ctr" indent="0" marL="0">
              <a:buNone/>
            </a:pPr>
            <a:r>
              <a:rPr lang="en-US" sz="1050" dirty="0">
                <a:solidFill>
                  <a:srgbClr val="CDBFA9"/>
                </a:solidFill>
                <a:latin typeface="Calibri" pitchFamily="34" charset="0"/>
                <a:ea typeface="Calibri" pitchFamily="34" charset="-122"/>
                <a:cs typeface="Calibri" pitchFamily="34" charset="-120"/>
              </a:rPr>
              <a:t>Trim, door kicks &amp; sub-framing</a:t>
            </a:r>
            <a:endParaRPr lang="en-US" sz="1050" dirty="0"/>
          </a:p>
        </p:txBody>
      </p:sp>
      <p:sp>
        <p:nvSpPr>
          <p:cNvPr id="20" name="Shape 12"/>
          <p:cNvSpPr/>
          <p:nvPr/>
        </p:nvSpPr>
        <p:spPr>
          <a:xfrm>
            <a:off x="502920" y="4846320"/>
            <a:ext cx="11155680" cy="1051560"/>
          </a:xfrm>
          <a:prstGeom prst="roundRect">
            <a:avLst>
              <a:gd name="adj" fmla="val 7826"/>
            </a:avLst>
          </a:prstGeom>
          <a:solidFill>
            <a:srgbClr val="261A0F"/>
          </a:solidFill>
          <a:ln/>
        </p:spPr>
      </p:sp>
      <p:sp>
        <p:nvSpPr>
          <p:cNvPr id="21" name="Text 13"/>
          <p:cNvSpPr/>
          <p:nvPr/>
        </p:nvSpPr>
        <p:spPr>
          <a:xfrm>
            <a:off x="777240" y="4937760"/>
            <a:ext cx="10607040" cy="868680"/>
          </a:xfrm>
          <a:prstGeom prst="rect">
            <a:avLst/>
          </a:prstGeom>
          <a:noFill/>
          <a:ln/>
        </p:spPr>
        <p:txBody>
          <a:bodyPr wrap="square" lIns="0" tIns="0" rIns="0" bIns="0" rtlCol="0" anchor="ctr"/>
          <a:lstStyle/>
          <a:p>
            <a:pPr indent="0" marL="0">
              <a:buNone/>
            </a:pPr>
            <a:r>
              <a:rPr lang="en-US" sz="1100" b="1" dirty="0">
                <a:solidFill>
                  <a:srgbClr val="E2B877"/>
                </a:solidFill>
                <a:latin typeface="Calibri" pitchFamily="34" charset="0"/>
                <a:ea typeface="Calibri" pitchFamily="34" charset="-122"/>
                <a:cs typeface="Calibri" pitchFamily="34" charset="-120"/>
              </a:rPr>
              <a:t>Why these first.  </a:t>
            </a:r>
            <a:pPr indent="0" marL="0">
              <a:buNone/>
            </a:pPr>
            <a:r>
              <a:rPr lang="en-US" sz="1100" dirty="0">
                <a:solidFill>
                  <a:srgbClr val="CDBFA9"/>
                </a:solidFill>
                <a:latin typeface="Calibri" pitchFamily="34" charset="0"/>
                <a:ea typeface="Calibri" pitchFamily="34" charset="-122"/>
                <a:cs typeface="Calibri" pitchFamily="34" charset="-120"/>
              </a:rPr>
              <a:t>They need no assembly fire rating — where a finish rating applies, Class A has been demonstrated and is specified per order. They sit where the community and the workforce see the data center. And they are the near-term projects our hyperscaler customers asked for: facades, biophilic office interiors, staff-area fencing, security fencing around critical outdoor infrastructure.</a:t>
            </a:r>
            <a:endParaRPr lang="en-US" sz="1100" dirty="0"/>
          </a:p>
        </p:txBody>
      </p:sp>
      <p:sp>
        <p:nvSpPr>
          <p:cNvPr id="22" name="Text 14"/>
          <p:cNvSpPr/>
          <p:nvPr/>
        </p:nvSpPr>
        <p:spPr>
          <a:xfrm>
            <a:off x="8897112" y="4590288"/>
            <a:ext cx="2743200" cy="256032"/>
          </a:xfrm>
          <a:prstGeom prst="rect">
            <a:avLst/>
          </a:prstGeom>
          <a:noFill/>
          <a:ln/>
        </p:spPr>
        <p:txBody>
          <a:bodyPr wrap="square" lIns="0" tIns="0" rIns="0" bIns="0" rtlCol="0" anchor="ctr"/>
          <a:lstStyle/>
          <a:p>
            <a:pPr algn="r" indent="0" marL="0">
              <a:buNone/>
            </a:pPr>
            <a:r>
              <a:rPr lang="en-US" sz="900" i="1" dirty="0">
                <a:solidFill>
                  <a:srgbClr val="9D8D76"/>
                </a:solidFill>
                <a:latin typeface="Calibri" pitchFamily="34" charset="0"/>
                <a:ea typeface="Calibri" pitchFamily="34" charset="-122"/>
                <a:cs typeface="Calibri" pitchFamily="34" charset="-120"/>
              </a:rPr>
              <a:t>Concept renderings</a:t>
            </a:r>
            <a:endParaRPr lang="en-US" sz="9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path</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PATH · SOON (1–3 YEARS)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2700" dirty="0">
                <a:solidFill>
                  <a:srgbClr val="F4ECDF"/>
                </a:solidFill>
                <a:latin typeface="Georgia" pitchFamily="34" charset="0"/>
                <a:ea typeface="Georgia" pitchFamily="34" charset="-122"/>
                <a:cs typeface="Georgia" pitchFamily="34" charset="-120"/>
              </a:rPr>
              <a:t>Soon (1–3 years): applications needing straightforward applications engineering</a:t>
            </a:r>
            <a:endParaRPr lang="en-US" sz="2700" dirty="0"/>
          </a:p>
        </p:txBody>
      </p:sp>
      <p:pic>
        <p:nvPicPr>
          <p:cNvPr id="6" name="Image 0" descr="prep/tiles/tile_fanbox.jpg">    </p:cNvPr>
          <p:cNvPicPr>
            <a:picLocks noChangeAspect="1"/>
          </p:cNvPicPr>
          <p:nvPr/>
        </p:nvPicPr>
        <p:blipFill>
          <a:blip r:embed="rId1"/>
          <a:stretch>
            <a:fillRect/>
          </a:stretch>
        </p:blipFill>
        <p:spPr>
          <a:xfrm>
            <a:off x="613954" y="1920240"/>
            <a:ext cx="1371600" cy="1371600"/>
          </a:xfrm>
          <a:prstGeom prst="rect">
            <a:avLst/>
          </a:prstGeom>
        </p:spPr>
      </p:pic>
      <p:sp>
        <p:nvSpPr>
          <p:cNvPr id="7" name="Text 4"/>
          <p:cNvSpPr/>
          <p:nvPr/>
        </p:nvSpPr>
        <p:spPr>
          <a:xfrm>
            <a:off x="548640" y="3383280"/>
            <a:ext cx="1502229" cy="566928"/>
          </a:xfrm>
          <a:prstGeom prst="rect">
            <a:avLst/>
          </a:prstGeom>
          <a:noFill/>
          <a:ln/>
        </p:spPr>
        <p:txBody>
          <a:bodyPr wrap="square" lIns="0" tIns="0" rIns="0" bIns="0" rtlCol="0" anchor="t"/>
          <a:lstStyle/>
          <a:p>
            <a:pPr algn="ctr" indent="0" marL="0">
              <a:buNone/>
            </a:pPr>
            <a:r>
              <a:rPr lang="en-US" sz="1050" b="1" dirty="0">
                <a:solidFill>
                  <a:srgbClr val="F4ECDF"/>
                </a:solidFill>
                <a:latin typeface="Calibri" pitchFamily="34" charset="0"/>
                <a:ea typeface="Calibri" pitchFamily="34" charset="-122"/>
                <a:cs typeface="Calibri" pitchFamily="34" charset="-120"/>
              </a:rPr>
              <a:t>Fan enclosures &amp; ducting</a:t>
            </a:r>
            <a:endParaRPr lang="en-US" sz="1050" dirty="0"/>
          </a:p>
        </p:txBody>
      </p:sp>
      <p:pic>
        <p:nvPicPr>
          <p:cNvPr id="8" name="Image 1" descr="prep/tiles/tile_walkway.jpg">    </p:cNvPr>
          <p:cNvPicPr>
            <a:picLocks noChangeAspect="1"/>
          </p:cNvPicPr>
          <p:nvPr/>
        </p:nvPicPr>
        <p:blipFill>
          <a:blip r:embed="rId2"/>
          <a:stretch>
            <a:fillRect/>
          </a:stretch>
        </p:blipFill>
        <p:spPr>
          <a:xfrm>
            <a:off x="2207623" y="1920240"/>
            <a:ext cx="1371600" cy="1371600"/>
          </a:xfrm>
          <a:prstGeom prst="rect">
            <a:avLst/>
          </a:prstGeom>
        </p:spPr>
      </p:pic>
      <p:sp>
        <p:nvSpPr>
          <p:cNvPr id="9" name="Text 5"/>
          <p:cNvSpPr/>
          <p:nvPr/>
        </p:nvSpPr>
        <p:spPr>
          <a:xfrm>
            <a:off x="2142309" y="3383280"/>
            <a:ext cx="1502229" cy="566928"/>
          </a:xfrm>
          <a:prstGeom prst="rect">
            <a:avLst/>
          </a:prstGeom>
          <a:noFill/>
          <a:ln/>
        </p:spPr>
        <p:txBody>
          <a:bodyPr wrap="square" lIns="0" tIns="0" rIns="0" bIns="0" rtlCol="0" anchor="t"/>
          <a:lstStyle/>
          <a:p>
            <a:pPr algn="ctr" indent="0" marL="0">
              <a:buNone/>
            </a:pPr>
            <a:r>
              <a:rPr lang="en-US" sz="1050" b="1" dirty="0">
                <a:solidFill>
                  <a:srgbClr val="F4ECDF"/>
                </a:solidFill>
                <a:latin typeface="Calibri" pitchFamily="34" charset="0"/>
                <a:ea typeface="Calibri" pitchFamily="34" charset="-122"/>
                <a:cs typeface="Calibri" pitchFamily="34" charset="-120"/>
              </a:rPr>
              <a:t>Walkways &amp; platforms</a:t>
            </a:r>
            <a:endParaRPr lang="en-US" sz="1050" dirty="0"/>
          </a:p>
        </p:txBody>
      </p:sp>
      <p:pic>
        <p:nvPicPr>
          <p:cNvPr id="10" name="Image 2" descr="prep/tiles/tile_railing2.jpg">    </p:cNvPr>
          <p:cNvPicPr>
            <a:picLocks noChangeAspect="1"/>
          </p:cNvPicPr>
          <p:nvPr/>
        </p:nvPicPr>
        <p:blipFill>
          <a:blip r:embed="rId3"/>
          <a:stretch>
            <a:fillRect/>
          </a:stretch>
        </p:blipFill>
        <p:spPr>
          <a:xfrm>
            <a:off x="3801291" y="1920240"/>
            <a:ext cx="1371600" cy="1371600"/>
          </a:xfrm>
          <a:prstGeom prst="rect">
            <a:avLst/>
          </a:prstGeom>
        </p:spPr>
      </p:pic>
      <p:sp>
        <p:nvSpPr>
          <p:cNvPr id="11" name="Text 6"/>
          <p:cNvSpPr/>
          <p:nvPr/>
        </p:nvSpPr>
        <p:spPr>
          <a:xfrm>
            <a:off x="3735977" y="3383280"/>
            <a:ext cx="1502229" cy="566928"/>
          </a:xfrm>
          <a:prstGeom prst="rect">
            <a:avLst/>
          </a:prstGeom>
          <a:noFill/>
          <a:ln/>
        </p:spPr>
        <p:txBody>
          <a:bodyPr wrap="square" lIns="0" tIns="0" rIns="0" bIns="0" rtlCol="0" anchor="t"/>
          <a:lstStyle/>
          <a:p>
            <a:pPr algn="ctr" indent="0" marL="0">
              <a:buNone/>
            </a:pPr>
            <a:r>
              <a:rPr lang="en-US" sz="1050" b="1" dirty="0">
                <a:solidFill>
                  <a:srgbClr val="F4ECDF"/>
                </a:solidFill>
                <a:latin typeface="Calibri" pitchFamily="34" charset="0"/>
                <a:ea typeface="Calibri" pitchFamily="34" charset="-122"/>
                <a:cs typeface="Calibri" pitchFamily="34" charset="-120"/>
              </a:rPr>
              <a:t>Railings</a:t>
            </a:r>
            <a:endParaRPr lang="en-US" sz="1050" dirty="0"/>
          </a:p>
        </p:txBody>
      </p:sp>
      <p:pic>
        <p:nvPicPr>
          <p:cNvPr id="12" name="Image 3" descr="prep/tiles/tile_mullion2.jpg">    </p:cNvPr>
          <p:cNvPicPr>
            <a:picLocks noChangeAspect="1"/>
          </p:cNvPicPr>
          <p:nvPr/>
        </p:nvPicPr>
        <p:blipFill>
          <a:blip r:embed="rId4"/>
          <a:stretch>
            <a:fillRect/>
          </a:stretch>
        </p:blipFill>
        <p:spPr>
          <a:xfrm>
            <a:off x="5394960" y="1920240"/>
            <a:ext cx="1371600" cy="1371600"/>
          </a:xfrm>
          <a:prstGeom prst="rect">
            <a:avLst/>
          </a:prstGeom>
        </p:spPr>
      </p:pic>
      <p:sp>
        <p:nvSpPr>
          <p:cNvPr id="13" name="Text 7"/>
          <p:cNvSpPr/>
          <p:nvPr/>
        </p:nvSpPr>
        <p:spPr>
          <a:xfrm>
            <a:off x="5329646" y="3383280"/>
            <a:ext cx="1502229" cy="566928"/>
          </a:xfrm>
          <a:prstGeom prst="rect">
            <a:avLst/>
          </a:prstGeom>
          <a:noFill/>
          <a:ln/>
        </p:spPr>
        <p:txBody>
          <a:bodyPr wrap="square" lIns="0" tIns="0" rIns="0" bIns="0" rtlCol="0" anchor="t"/>
          <a:lstStyle/>
          <a:p>
            <a:pPr algn="ctr" indent="0" marL="0">
              <a:buNone/>
            </a:pPr>
            <a:r>
              <a:rPr lang="en-US" sz="1050" b="1" dirty="0">
                <a:solidFill>
                  <a:srgbClr val="F4ECDF"/>
                </a:solidFill>
                <a:latin typeface="Calibri" pitchFamily="34" charset="0"/>
                <a:ea typeface="Calibri" pitchFamily="34" charset="-122"/>
                <a:cs typeface="Calibri" pitchFamily="34" charset="-120"/>
              </a:rPr>
              <a:t>Window mullions</a:t>
            </a:r>
            <a:endParaRPr lang="en-US" sz="1050" dirty="0"/>
          </a:p>
        </p:txBody>
      </p:sp>
      <p:pic>
        <p:nvPicPr>
          <p:cNvPr id="14" name="Image 4" descr="prep/tiles/tile_door.jpg">    </p:cNvPr>
          <p:cNvPicPr>
            <a:picLocks noChangeAspect="1"/>
          </p:cNvPicPr>
          <p:nvPr/>
        </p:nvPicPr>
        <p:blipFill>
          <a:blip r:embed="rId5"/>
          <a:stretch>
            <a:fillRect/>
          </a:stretch>
        </p:blipFill>
        <p:spPr>
          <a:xfrm>
            <a:off x="6988629" y="1920240"/>
            <a:ext cx="1371600" cy="1371600"/>
          </a:xfrm>
          <a:prstGeom prst="rect">
            <a:avLst/>
          </a:prstGeom>
        </p:spPr>
      </p:pic>
      <p:sp>
        <p:nvSpPr>
          <p:cNvPr id="15" name="Text 8"/>
          <p:cNvSpPr/>
          <p:nvPr/>
        </p:nvSpPr>
        <p:spPr>
          <a:xfrm>
            <a:off x="6923314" y="3383280"/>
            <a:ext cx="1502229" cy="566928"/>
          </a:xfrm>
          <a:prstGeom prst="rect">
            <a:avLst/>
          </a:prstGeom>
          <a:noFill/>
          <a:ln/>
        </p:spPr>
        <p:txBody>
          <a:bodyPr wrap="square" lIns="0" tIns="0" rIns="0" bIns="0" rtlCol="0" anchor="t"/>
          <a:lstStyle/>
          <a:p>
            <a:pPr algn="ctr" indent="0" marL="0">
              <a:buNone/>
            </a:pPr>
            <a:r>
              <a:rPr lang="en-US" sz="1050" b="1" dirty="0">
                <a:solidFill>
                  <a:srgbClr val="F4ECDF"/>
                </a:solidFill>
                <a:latin typeface="Calibri" pitchFamily="34" charset="0"/>
                <a:ea typeface="Calibri" pitchFamily="34" charset="-122"/>
                <a:cs typeface="Calibri" pitchFamily="34" charset="-120"/>
              </a:rPr>
              <a:t>Interior doors &amp; door protection</a:t>
            </a:r>
            <a:endParaRPr lang="en-US" sz="1050" dirty="0"/>
          </a:p>
        </p:txBody>
      </p:sp>
      <p:pic>
        <p:nvPicPr>
          <p:cNvPr id="16" name="Image 5" descr="prep/tiles/tile_backplane.jpg">    </p:cNvPr>
          <p:cNvPicPr>
            <a:picLocks noChangeAspect="1"/>
          </p:cNvPicPr>
          <p:nvPr/>
        </p:nvPicPr>
        <p:blipFill>
          <a:blip r:embed="rId6"/>
          <a:stretch>
            <a:fillRect/>
          </a:stretch>
        </p:blipFill>
        <p:spPr>
          <a:xfrm>
            <a:off x="8582297" y="1920240"/>
            <a:ext cx="1371600" cy="1371600"/>
          </a:xfrm>
          <a:prstGeom prst="rect">
            <a:avLst/>
          </a:prstGeom>
        </p:spPr>
      </p:pic>
      <p:sp>
        <p:nvSpPr>
          <p:cNvPr id="17" name="Text 9"/>
          <p:cNvSpPr/>
          <p:nvPr/>
        </p:nvSpPr>
        <p:spPr>
          <a:xfrm>
            <a:off x="8516983" y="3383280"/>
            <a:ext cx="1502229" cy="566928"/>
          </a:xfrm>
          <a:prstGeom prst="rect">
            <a:avLst/>
          </a:prstGeom>
          <a:noFill/>
          <a:ln/>
        </p:spPr>
        <p:txBody>
          <a:bodyPr wrap="square" lIns="0" tIns="0" rIns="0" bIns="0" rtlCol="0" anchor="t"/>
          <a:lstStyle/>
          <a:p>
            <a:pPr algn="ctr" indent="0" marL="0">
              <a:buNone/>
            </a:pPr>
            <a:r>
              <a:rPr lang="en-US" sz="1050" b="1" dirty="0">
                <a:solidFill>
                  <a:srgbClr val="F4ECDF"/>
                </a:solidFill>
                <a:latin typeface="Calibri" pitchFamily="34" charset="0"/>
                <a:ea typeface="Calibri" pitchFamily="34" charset="-122"/>
                <a:cs typeface="Calibri" pitchFamily="34" charset="-120"/>
              </a:rPr>
              <a:t>Equipment backplanes</a:t>
            </a:r>
            <a:endParaRPr lang="en-US" sz="1050" dirty="0"/>
          </a:p>
        </p:txBody>
      </p:sp>
      <p:pic>
        <p:nvPicPr>
          <p:cNvPr id="18" name="Image 6" descr="prep/tiles/tile_rackocp.jpg">    </p:cNvPr>
          <p:cNvPicPr>
            <a:picLocks noChangeAspect="1"/>
          </p:cNvPicPr>
          <p:nvPr/>
        </p:nvPicPr>
        <p:blipFill>
          <a:blip r:embed="rId7"/>
          <a:stretch>
            <a:fillRect/>
          </a:stretch>
        </p:blipFill>
        <p:spPr>
          <a:xfrm>
            <a:off x="10175966" y="1920240"/>
            <a:ext cx="1371600" cy="1371600"/>
          </a:xfrm>
          <a:prstGeom prst="rect">
            <a:avLst/>
          </a:prstGeom>
        </p:spPr>
      </p:pic>
      <p:sp>
        <p:nvSpPr>
          <p:cNvPr id="19" name="Text 10"/>
          <p:cNvSpPr/>
          <p:nvPr/>
        </p:nvSpPr>
        <p:spPr>
          <a:xfrm>
            <a:off x="10110651" y="3383280"/>
            <a:ext cx="1502229" cy="566928"/>
          </a:xfrm>
          <a:prstGeom prst="rect">
            <a:avLst/>
          </a:prstGeom>
          <a:noFill/>
          <a:ln/>
        </p:spPr>
        <p:txBody>
          <a:bodyPr wrap="square" lIns="0" tIns="0" rIns="0" bIns="0" rtlCol="0" anchor="t"/>
          <a:lstStyle/>
          <a:p>
            <a:pPr algn="ctr" indent="0" marL="0">
              <a:buNone/>
            </a:pPr>
            <a:r>
              <a:rPr lang="en-US" sz="1050" b="1" dirty="0">
                <a:solidFill>
                  <a:srgbClr val="F4ECDF"/>
                </a:solidFill>
                <a:latin typeface="Calibri" pitchFamily="34" charset="0"/>
                <a:ea typeface="Calibri" pitchFamily="34" charset="-122"/>
                <a:cs typeface="Calibri" pitchFamily="34" charset="-120"/>
              </a:rPr>
              <a:t>Racks &amp; equipment supports</a:t>
            </a:r>
            <a:endParaRPr lang="en-US" sz="1050" dirty="0"/>
          </a:p>
        </p:txBody>
      </p:sp>
      <p:sp>
        <p:nvSpPr>
          <p:cNvPr id="20" name="Shape 11"/>
          <p:cNvSpPr/>
          <p:nvPr/>
        </p:nvSpPr>
        <p:spPr>
          <a:xfrm>
            <a:off x="502920" y="5029200"/>
            <a:ext cx="11155680" cy="777240"/>
          </a:xfrm>
          <a:prstGeom prst="roundRect">
            <a:avLst>
              <a:gd name="adj" fmla="val 10588"/>
            </a:avLst>
          </a:prstGeom>
          <a:solidFill>
            <a:srgbClr val="261A0F"/>
          </a:solidFill>
          <a:ln/>
        </p:spPr>
      </p:sp>
      <p:sp>
        <p:nvSpPr>
          <p:cNvPr id="21" name="Text 12"/>
          <p:cNvSpPr/>
          <p:nvPr/>
        </p:nvSpPr>
        <p:spPr>
          <a:xfrm>
            <a:off x="777240" y="5074920"/>
            <a:ext cx="10607040" cy="685800"/>
          </a:xfrm>
          <a:prstGeom prst="rect">
            <a:avLst/>
          </a:prstGeom>
          <a:noFill/>
          <a:ln/>
        </p:spPr>
        <p:txBody>
          <a:bodyPr wrap="square" lIns="0" tIns="0" rIns="0" bIns="0" rtlCol="0" anchor="ctr"/>
          <a:lstStyle/>
          <a:p>
            <a:pPr indent="0" marL="0">
              <a:buNone/>
            </a:pPr>
            <a:r>
              <a:rPr lang="en-US" sz="1150" i="1" dirty="0">
                <a:solidFill>
                  <a:srgbClr val="CDBFA9"/>
                </a:solidFill>
                <a:latin typeface="Calibri" pitchFamily="34" charset="0"/>
                <a:ea typeface="Calibri" pitchFamily="34" charset="-122"/>
                <a:cs typeface="Calibri" pitchFamily="34" charset="-120"/>
              </a:rPr>
              <a:t>Each needs one scoped test program, which can be co-funded with a customer. Order depends on which a customer picks up first.</a:t>
            </a:r>
            <a:endParaRPr lang="en-US" sz="1150" dirty="0"/>
          </a:p>
        </p:txBody>
      </p:sp>
      <p:sp>
        <p:nvSpPr>
          <p:cNvPr id="22" name="Text 13"/>
          <p:cNvSpPr/>
          <p:nvPr/>
        </p:nvSpPr>
        <p:spPr>
          <a:xfrm>
            <a:off x="8897112" y="4754880"/>
            <a:ext cx="2743200" cy="256032"/>
          </a:xfrm>
          <a:prstGeom prst="rect">
            <a:avLst/>
          </a:prstGeom>
          <a:noFill/>
          <a:ln/>
        </p:spPr>
        <p:txBody>
          <a:bodyPr wrap="square" lIns="0" tIns="0" rIns="0" bIns="0" rtlCol="0" anchor="ctr"/>
          <a:lstStyle/>
          <a:p>
            <a:pPr algn="r" indent="0" marL="0">
              <a:buNone/>
            </a:pPr>
            <a:r>
              <a:rPr lang="en-US" sz="900" i="1" dirty="0">
                <a:solidFill>
                  <a:srgbClr val="9D8D76"/>
                </a:solidFill>
                <a:latin typeface="Calibri" pitchFamily="34" charset="0"/>
                <a:ea typeface="Calibri" pitchFamily="34" charset="-122"/>
                <a:cs typeface="Calibri" pitchFamily="34" charset="-120"/>
              </a:rPr>
              <a:t>Concept renderings</a:t>
            </a:r>
            <a:endParaRPr lang="en-US" sz="9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path</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PATH · MEDIUM TERM</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000" dirty="0">
                <a:solidFill>
                  <a:srgbClr val="F4ECDF"/>
                </a:solidFill>
                <a:latin typeface="Georgia" pitchFamily="34" charset="0"/>
                <a:ea typeface="Georgia" pitchFamily="34" charset="-122"/>
                <a:cs typeface="Georgia" pitchFamily="34" charset="-120"/>
              </a:rPr>
              <a:t>Structural: starting </a:t>
            </a:r>
            <a:pPr indent="0" marL="0">
              <a:buNone/>
            </a:pPr>
            <a:r>
              <a:rPr lang="en-US" sz="3000" i="1" dirty="0">
                <a:solidFill>
                  <a:srgbClr val="E2B877"/>
                </a:solidFill>
                <a:latin typeface="Georgia" pitchFamily="34" charset="0"/>
                <a:ea typeface="Georgia" pitchFamily="34" charset="-122"/>
                <a:cs typeface="Georgia" pitchFamily="34" charset="-120"/>
              </a:rPr>
              <a:t>now</a:t>
            </a:r>
            <a:pPr indent="0" marL="0">
              <a:buNone/>
            </a:pPr>
            <a:r>
              <a:rPr lang="en-US" sz="3000" dirty="0">
                <a:solidFill>
                  <a:srgbClr val="F4ECDF"/>
                </a:solidFill>
                <a:latin typeface="Georgia" pitchFamily="34" charset="0"/>
                <a:ea typeface="Georgia" pitchFamily="34" charset="-122"/>
                <a:cs typeface="Georgia" pitchFamily="34" charset="-120"/>
              </a:rPr>
              <a:t>, scaling with SuperMill Two</a:t>
            </a:r>
            <a:endParaRPr lang="en-US" sz="3000" dirty="0"/>
          </a:p>
        </p:txBody>
      </p:sp>
      <p:sp>
        <p:nvSpPr>
          <p:cNvPr id="6" name="Shape 4"/>
          <p:cNvSpPr/>
          <p:nvPr/>
        </p:nvSpPr>
        <p:spPr>
          <a:xfrm>
            <a:off x="502920" y="1783080"/>
            <a:ext cx="4206240" cy="3246120"/>
          </a:xfrm>
          <a:prstGeom prst="roundRect">
            <a:avLst>
              <a:gd name="adj" fmla="val 2535"/>
            </a:avLst>
          </a:prstGeom>
          <a:solidFill>
            <a:srgbClr val="2E2113"/>
          </a:solidFill>
          <a:ln/>
        </p:spPr>
      </p:sp>
      <p:sp>
        <p:nvSpPr>
          <p:cNvPr id="7" name="Text 5"/>
          <p:cNvSpPr/>
          <p:nvPr/>
        </p:nvSpPr>
        <p:spPr>
          <a:xfrm>
            <a:off x="777240" y="1920240"/>
            <a:ext cx="3657600" cy="237744"/>
          </a:xfrm>
          <a:prstGeom prst="rect">
            <a:avLst/>
          </a:prstGeom>
          <a:noFill/>
          <a:ln/>
        </p:spPr>
        <p:txBody>
          <a:bodyPr wrap="square" lIns="0" tIns="0" rIns="0" bIns="0" rtlCol="0" anchor="ctr"/>
          <a:lstStyle/>
          <a:p>
            <a:pPr indent="0" marL="0">
              <a:buNone/>
            </a:pPr>
            <a:r>
              <a:rPr lang="en-US" sz="900" b="1" spc="180" kern="0" dirty="0">
                <a:solidFill>
                  <a:srgbClr val="E2B877"/>
                </a:solidFill>
                <a:latin typeface="Calibri" pitchFamily="34" charset="0"/>
                <a:ea typeface="Calibri" pitchFamily="34" charset="-122"/>
                <a:cs typeface="Calibri" pitchFamily="34" charset="-120"/>
              </a:rPr>
              <a:t>UNDER DEVELOPMENT WITH SUPERMILL ONE OUTPUT</a:t>
            </a:r>
            <a:endParaRPr lang="en-US" sz="900" dirty="0"/>
          </a:p>
        </p:txBody>
      </p:sp>
      <p:sp>
        <p:nvSpPr>
          <p:cNvPr id="8" name="Text 6"/>
          <p:cNvSpPr/>
          <p:nvPr/>
        </p:nvSpPr>
        <p:spPr>
          <a:xfrm>
            <a:off x="777240" y="2286000"/>
            <a:ext cx="3657600" cy="2651760"/>
          </a:xfrm>
          <a:prstGeom prst="rect">
            <a:avLst/>
          </a:prstGeom>
          <a:noFill/>
          <a:ln/>
        </p:spPr>
        <p:txBody>
          <a:bodyPr wrap="square" lIns="0" tIns="0" rIns="0" bIns="0" rtlCol="0" anchor="t"/>
          <a:lstStyle/>
          <a:p>
            <a:pPr indent="0" marL="0">
              <a:buNone/>
            </a:pPr>
            <a:r>
              <a:rPr lang="en-US" sz="1100" dirty="0">
                <a:solidFill>
                  <a:srgbClr val="CDBFA9"/>
                </a:solidFill>
                <a:latin typeface="Calibri" pitchFamily="34" charset="0"/>
                <a:ea typeface="Calibri" pitchFamily="34" charset="-122"/>
                <a:cs typeface="Calibri" pitchFamily="34" charset="-120"/>
              </a:rPr>
              <a:t>Truss design is starting. Mass-timber enhancement — SUPERWOOD laminations that stiffen and strengthen glulam and CLT-type members — is under way. Light structural components (non-life-safety): strut-type supports, window mullions, deck boards.</a:t>
            </a:r>
            <a:endParaRPr lang="en-US" sz="1100" dirty="0"/>
          </a:p>
          <a:p>
            <a:pPr indent="0" marL="0">
              <a:buNone/>
            </a:pPr>
            <a:endParaRPr lang="en-US" sz="1100" dirty="0"/>
          </a:p>
          <a:p>
            <a:pPr indent="0" marL="0">
              <a:buNone/>
            </a:pPr>
            <a:r>
              <a:rPr lang="en-US" sz="1100" dirty="0">
                <a:solidFill>
                  <a:srgbClr val="CDBFA9"/>
                </a:solidFill>
                <a:latin typeface="Calibri" pitchFamily="34" charset="0"/>
                <a:ea typeface="Calibri" pitchFamily="34" charset="-122"/>
                <a:cs typeface="Calibri" pitchFamily="34" charset="-120"/>
              </a:rPr>
              <a:t>We expect structural sales on the way to SuperMill Two. Replacing structural steel is the first thing new data-center customers ask about.</a:t>
            </a:r>
            <a:endParaRPr lang="en-US" sz="1100" dirty="0"/>
          </a:p>
        </p:txBody>
      </p:sp>
      <p:sp>
        <p:nvSpPr>
          <p:cNvPr id="9" name="Text 7"/>
          <p:cNvSpPr/>
          <p:nvPr/>
        </p:nvSpPr>
        <p:spPr>
          <a:xfrm>
            <a:off x="5029200" y="1920240"/>
            <a:ext cx="54864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AT SUPERMILL TWO SCALE</a:t>
            </a:r>
            <a:endParaRPr lang="en-US" sz="900" dirty="0"/>
          </a:p>
        </p:txBody>
      </p:sp>
      <p:pic>
        <p:nvPicPr>
          <p:cNvPr id="10" name="Image 0" descr="prep/tiles/tile_mullion2.jpg">    </p:cNvPr>
          <p:cNvPicPr>
            <a:picLocks noChangeAspect="1"/>
          </p:cNvPicPr>
          <p:nvPr/>
        </p:nvPicPr>
        <p:blipFill>
          <a:blip r:embed="rId1"/>
          <a:stretch>
            <a:fillRect/>
          </a:stretch>
        </p:blipFill>
        <p:spPr>
          <a:xfrm>
            <a:off x="5029200" y="2240280"/>
            <a:ext cx="1143000" cy="1143000"/>
          </a:xfrm>
          <a:prstGeom prst="rect">
            <a:avLst/>
          </a:prstGeom>
        </p:spPr>
      </p:pic>
      <p:sp>
        <p:nvSpPr>
          <p:cNvPr id="11" name="Text 8"/>
          <p:cNvSpPr/>
          <p:nvPr/>
        </p:nvSpPr>
        <p:spPr>
          <a:xfrm>
            <a:off x="6309360" y="2240280"/>
            <a:ext cx="1965960" cy="502920"/>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Window mullions</a:t>
            </a:r>
            <a:endParaRPr lang="en-US" sz="1100" dirty="0"/>
          </a:p>
        </p:txBody>
      </p:sp>
      <p:sp>
        <p:nvSpPr>
          <p:cNvPr id="12" name="Text 9"/>
          <p:cNvSpPr/>
          <p:nvPr/>
        </p:nvSpPr>
        <p:spPr>
          <a:xfrm>
            <a:off x="6309360" y="2788920"/>
            <a:ext cx="1965960" cy="594360"/>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Slender, stiff curtain-wall and storefront mullions in place of aluminum and steel — light structural, non-life-safety</a:t>
            </a:r>
            <a:endParaRPr lang="en-US" sz="900" dirty="0"/>
          </a:p>
        </p:txBody>
      </p:sp>
      <p:pic>
        <p:nvPicPr>
          <p:cNvPr id="13" name="Image 1" descr="prep/tiles/tile_truss2.jpg">    </p:cNvPr>
          <p:cNvPicPr>
            <a:picLocks noChangeAspect="1"/>
          </p:cNvPicPr>
          <p:nvPr/>
        </p:nvPicPr>
        <p:blipFill>
          <a:blip r:embed="rId2"/>
          <a:stretch>
            <a:fillRect/>
          </a:stretch>
        </p:blipFill>
        <p:spPr>
          <a:xfrm>
            <a:off x="8412480" y="2240280"/>
            <a:ext cx="1143000" cy="1143000"/>
          </a:xfrm>
          <a:prstGeom prst="rect">
            <a:avLst/>
          </a:prstGeom>
        </p:spPr>
      </p:pic>
      <p:sp>
        <p:nvSpPr>
          <p:cNvPr id="14" name="Text 10"/>
          <p:cNvSpPr/>
          <p:nvPr/>
        </p:nvSpPr>
        <p:spPr>
          <a:xfrm>
            <a:off x="9692640" y="2240280"/>
            <a:ext cx="1965960" cy="502920"/>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Trusses, roofs &amp; long-span members</a:t>
            </a:r>
            <a:endParaRPr lang="en-US" sz="1100" dirty="0"/>
          </a:p>
        </p:txBody>
      </p:sp>
      <p:sp>
        <p:nvSpPr>
          <p:cNvPr id="15" name="Text 11"/>
          <p:cNvSpPr/>
          <p:nvPr/>
        </p:nvSpPr>
        <p:spPr>
          <a:xfrm>
            <a:off x="9692640" y="2788920"/>
            <a:ext cx="1965960" cy="594360"/>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Roof structure first; long-span floors and canopies follow</a:t>
            </a:r>
            <a:endParaRPr lang="en-US" sz="900" dirty="0"/>
          </a:p>
        </p:txBody>
      </p:sp>
      <p:pic>
        <p:nvPicPr>
          <p:cNvPr id="16" name="Image 2" descr="prep/tiles/tile_hybrid_glulam.jpg">    </p:cNvPr>
          <p:cNvPicPr>
            <a:picLocks noChangeAspect="1"/>
          </p:cNvPicPr>
          <p:nvPr/>
        </p:nvPicPr>
        <p:blipFill>
          <a:blip r:embed="rId3"/>
          <a:stretch>
            <a:fillRect/>
          </a:stretch>
        </p:blipFill>
        <p:spPr>
          <a:xfrm>
            <a:off x="5029200" y="3657600"/>
            <a:ext cx="1143000" cy="1143000"/>
          </a:xfrm>
          <a:prstGeom prst="rect">
            <a:avLst/>
          </a:prstGeom>
        </p:spPr>
      </p:pic>
      <p:sp>
        <p:nvSpPr>
          <p:cNvPr id="17" name="Text 12"/>
          <p:cNvSpPr/>
          <p:nvPr/>
        </p:nvSpPr>
        <p:spPr>
          <a:xfrm>
            <a:off x="6309360" y="3657600"/>
            <a:ext cx="1965960" cy="502920"/>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CLT-type floor, roof &amp; wall assemblies</a:t>
            </a:r>
            <a:endParaRPr lang="en-US" sz="1100" dirty="0"/>
          </a:p>
        </p:txBody>
      </p:sp>
      <p:sp>
        <p:nvSpPr>
          <p:cNvPr id="18" name="Text 13"/>
          <p:cNvSpPr/>
          <p:nvPr/>
        </p:nvSpPr>
        <p:spPr>
          <a:xfrm>
            <a:off x="6309360" y="4206240"/>
            <a:ext cx="1965960" cy="594360"/>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Starting with SUPERWOOD hybrid glulam: SUPERWOOD outer laminations on a glulam core. Thin, far stronger panels follow through the mass-timber product route</a:t>
            </a:r>
            <a:endParaRPr lang="en-US" sz="900" dirty="0"/>
          </a:p>
        </p:txBody>
      </p:sp>
      <p:pic>
        <p:nvPicPr>
          <p:cNvPr id="19" name="Image 3" descr="prep/tiles/tile_rackocp.jpg">    </p:cNvPr>
          <p:cNvPicPr>
            <a:picLocks noChangeAspect="1"/>
          </p:cNvPicPr>
          <p:nvPr/>
        </p:nvPicPr>
        <p:blipFill>
          <a:blip r:embed="rId4"/>
          <a:stretch>
            <a:fillRect/>
          </a:stretch>
        </p:blipFill>
        <p:spPr>
          <a:xfrm>
            <a:off x="8412480" y="3657600"/>
            <a:ext cx="1143000" cy="1143000"/>
          </a:xfrm>
          <a:prstGeom prst="rect">
            <a:avLst/>
          </a:prstGeom>
        </p:spPr>
      </p:pic>
      <p:sp>
        <p:nvSpPr>
          <p:cNvPr id="20" name="Text 14"/>
          <p:cNvSpPr/>
          <p:nvPr/>
        </p:nvSpPr>
        <p:spPr>
          <a:xfrm>
            <a:off x="9692640" y="3657600"/>
            <a:ext cx="1965960" cy="502920"/>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Heavy equipment supports &amp; server enclosures</a:t>
            </a:r>
            <a:endParaRPr lang="en-US" sz="1100" dirty="0"/>
          </a:p>
        </p:txBody>
      </p:sp>
      <p:sp>
        <p:nvSpPr>
          <p:cNvPr id="21" name="Text 15"/>
          <p:cNvSpPr/>
          <p:nvPr/>
        </p:nvSpPr>
        <p:spPr>
          <a:xfrm>
            <a:off x="9692640" y="4206240"/>
            <a:ext cx="1965960" cy="594360"/>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Racks come soon, a few months of development; enclosures for servers and equipment follow; the electronics are never replaced</a:t>
            </a:r>
            <a:endParaRPr lang="en-US" sz="900" dirty="0"/>
          </a:p>
        </p:txBody>
      </p:sp>
      <p:sp>
        <p:nvSpPr>
          <p:cNvPr id="22" name="Shape 16"/>
          <p:cNvSpPr/>
          <p:nvPr/>
        </p:nvSpPr>
        <p:spPr>
          <a:xfrm>
            <a:off x="502920" y="5212080"/>
            <a:ext cx="11155680" cy="822960"/>
          </a:xfrm>
          <a:prstGeom prst="roundRect">
            <a:avLst>
              <a:gd name="adj" fmla="val 10000"/>
            </a:avLst>
          </a:prstGeom>
          <a:solidFill>
            <a:srgbClr val="261A0F"/>
          </a:solidFill>
          <a:ln/>
        </p:spPr>
      </p:sp>
      <p:sp>
        <p:nvSpPr>
          <p:cNvPr id="23" name="Text 17"/>
          <p:cNvSpPr/>
          <p:nvPr/>
        </p:nvSpPr>
        <p:spPr>
          <a:xfrm>
            <a:off x="777240" y="5257800"/>
            <a:ext cx="10607040" cy="731520"/>
          </a:xfrm>
          <a:prstGeom prst="rect">
            <a:avLst/>
          </a:prstGeom>
          <a:noFill/>
          <a:ln/>
        </p:spPr>
        <p:txBody>
          <a:bodyPr wrap="square" lIns="0" tIns="0" rIns="0" bIns="0" rtlCol="0" anchor="ctr"/>
          <a:lstStyle/>
          <a:p>
            <a:pPr indent="0" marL="0">
              <a:buNone/>
            </a:pPr>
            <a:r>
              <a:rPr lang="en-US" sz="1050" b="1" dirty="0">
                <a:solidFill>
                  <a:srgbClr val="E2B877"/>
                </a:solidFill>
                <a:latin typeface="Calibri" pitchFamily="34" charset="0"/>
                <a:ea typeface="Calibri" pitchFamily="34" charset="-122"/>
                <a:cs typeface="Calibri" pitchFamily="34" charset="-120"/>
              </a:rPr>
              <a:t>How qualification works.  </a:t>
            </a:r>
            <a:pPr indent="0" marL="0">
              <a:buNone/>
            </a:pPr>
            <a:r>
              <a:rPr lang="en-US" sz="1050" dirty="0">
                <a:solidFill>
                  <a:srgbClr val="CDBFA9"/>
                </a:solidFill>
                <a:latin typeface="Calibri" pitchFamily="34" charset="0"/>
                <a:ea typeface="Calibri" pitchFamily="34" charset="-122"/>
                <a:cs typeface="Calibri" pitchFamily="34" charset="-120"/>
              </a:rPr>
              <a:t>Every structural application is qualified through a scoped test program with the customer who picks it up first, on the pathway mass timber has already opened in the building codes, with insurer acceptance for structural use. Test methods and property data are available on request.</a:t>
            </a:r>
            <a:endParaRPr lang="en-US" sz="1050" dirty="0"/>
          </a:p>
        </p:txBody>
      </p:sp>
      <p:sp>
        <p:nvSpPr>
          <p:cNvPr id="24" name="Text 18"/>
          <p:cNvSpPr/>
          <p:nvPr/>
        </p:nvSpPr>
        <p:spPr>
          <a:xfrm>
            <a:off x="8897112" y="4956048"/>
            <a:ext cx="2743200" cy="256032"/>
          </a:xfrm>
          <a:prstGeom prst="rect">
            <a:avLst/>
          </a:prstGeom>
          <a:noFill/>
          <a:ln/>
        </p:spPr>
        <p:txBody>
          <a:bodyPr wrap="square" lIns="0" tIns="0" rIns="0" bIns="0" rtlCol="0" anchor="ctr"/>
          <a:lstStyle/>
          <a:p>
            <a:pPr algn="r" indent="0" marL="0">
              <a:buNone/>
            </a:pPr>
            <a:r>
              <a:rPr lang="en-US" sz="900" i="1" dirty="0">
                <a:solidFill>
                  <a:srgbClr val="9D8D76"/>
                </a:solidFill>
                <a:latin typeface="Calibri" pitchFamily="34" charset="0"/>
                <a:ea typeface="Calibri" pitchFamily="34" charset="-122"/>
                <a:cs typeface="Calibri" pitchFamily="34" charset="-120"/>
              </a:rPr>
              <a:t>Concept renderings</a:t>
            </a:r>
            <a:endParaRPr lang="en-US" sz="90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path</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PATH · LONG TERM (5+ YEARS)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000" dirty="0">
                <a:solidFill>
                  <a:srgbClr val="F4ECDF"/>
                </a:solidFill>
                <a:latin typeface="Georgia" pitchFamily="34" charset="0"/>
                <a:ea typeface="Georgia" pitchFamily="34" charset="-122"/>
                <a:cs typeface="Georgia" pitchFamily="34" charset="-120"/>
              </a:rPr>
              <a:t>Long term (5+ years): prefabricated </a:t>
            </a:r>
            <a:pPr indent="0" marL="0">
              <a:buNone/>
            </a:pPr>
            <a:r>
              <a:rPr lang="en-US" sz="3000" i="1" dirty="0">
                <a:solidFill>
                  <a:srgbClr val="E2B877"/>
                </a:solidFill>
                <a:latin typeface="Georgia" pitchFamily="34" charset="0"/>
                <a:ea typeface="Georgia" pitchFamily="34" charset="-122"/>
                <a:cs typeface="Georgia" pitchFamily="34" charset="-120"/>
              </a:rPr>
              <a:t>envelopes</a:t>
            </a:r>
            <a:pPr indent="0" marL="0">
              <a:buNone/>
            </a:pPr>
            <a:r>
              <a:rPr lang="en-US" sz="3000" dirty="0">
                <a:solidFill>
                  <a:srgbClr val="F4ECDF"/>
                </a:solidFill>
                <a:latin typeface="Georgia" pitchFamily="34" charset="0"/>
                <a:ea typeface="Georgia" pitchFamily="34" charset="-122"/>
                <a:cs typeface="Georgia" pitchFamily="34" charset="-120"/>
              </a:rPr>
              <a:t>, then foundations</a:t>
            </a:r>
            <a:endParaRPr lang="en-US" sz="3000" dirty="0"/>
          </a:p>
        </p:txBody>
      </p:sp>
      <p:sp>
        <p:nvSpPr>
          <p:cNvPr id="6" name="Shape 4"/>
          <p:cNvSpPr/>
          <p:nvPr/>
        </p:nvSpPr>
        <p:spPr>
          <a:xfrm>
            <a:off x="502920" y="1920240"/>
            <a:ext cx="5486400" cy="3383280"/>
          </a:xfrm>
          <a:prstGeom prst="roundRect">
            <a:avLst>
              <a:gd name="adj" fmla="val 2432"/>
            </a:avLst>
          </a:prstGeom>
          <a:solidFill>
            <a:srgbClr val="2E2113"/>
          </a:solidFill>
          <a:ln/>
        </p:spPr>
      </p:sp>
      <p:sp>
        <p:nvSpPr>
          <p:cNvPr id="7" name="Text 5"/>
          <p:cNvSpPr/>
          <p:nvPr/>
        </p:nvSpPr>
        <p:spPr>
          <a:xfrm>
            <a:off x="777240" y="2148840"/>
            <a:ext cx="4937760" cy="36576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Prefabricated building envelopes</a:t>
            </a:r>
            <a:endParaRPr lang="en-US" sz="1500" dirty="0"/>
          </a:p>
        </p:txBody>
      </p:sp>
      <p:sp>
        <p:nvSpPr>
          <p:cNvPr id="8" name="Text 6"/>
          <p:cNvSpPr/>
          <p:nvPr/>
        </p:nvSpPr>
        <p:spPr>
          <a:xfrm>
            <a:off x="777240" y="2606040"/>
            <a:ext cx="4937760" cy="1371600"/>
          </a:xfrm>
          <a:prstGeom prst="rect">
            <a:avLst/>
          </a:prstGeom>
          <a:noFill/>
          <a:ln/>
        </p:spPr>
        <p:txBody>
          <a:bodyPr wrap="square" lIns="0" tIns="0" rIns="0" bIns="0" rtlCol="0" anchor="t"/>
          <a:lstStyle/>
          <a:p>
            <a:pPr indent="0" marL="0">
              <a:buNone/>
            </a:pPr>
            <a:r>
              <a:rPr lang="en-US" sz="1150" dirty="0">
                <a:solidFill>
                  <a:srgbClr val="9D8D76"/>
                </a:solidFill>
                <a:latin typeface="Calibri" pitchFamily="34" charset="0"/>
                <a:ea typeface="Calibri" pitchFamily="34" charset="-122"/>
                <a:cs typeface="Calibri" pitchFamily="34" charset="-120"/>
              </a:rPr>
              <a:t>Structure and skin shipped as panels and modules — the co-development target with our hyperscaler customers' architects and engineers. Shells that carry their own loads, weigh far less than steel and precast, and can be disassembled and moved.</a:t>
            </a:r>
            <a:endParaRPr lang="en-US" sz="1150" dirty="0"/>
          </a:p>
        </p:txBody>
      </p:sp>
      <p:sp>
        <p:nvSpPr>
          <p:cNvPr id="9" name="Text 7"/>
          <p:cNvSpPr/>
          <p:nvPr/>
        </p:nvSpPr>
        <p:spPr>
          <a:xfrm>
            <a:off x="777240" y="4114800"/>
            <a:ext cx="4937760" cy="1005840"/>
          </a:xfrm>
          <a:prstGeom prst="rect">
            <a:avLst/>
          </a:prstGeom>
          <a:noFill/>
          <a:ln/>
        </p:spPr>
        <p:txBody>
          <a:bodyPr wrap="square" lIns="0" tIns="0" rIns="0" bIns="0" rtlCol="0" anchor="t"/>
          <a:lstStyle/>
          <a:p>
            <a:pPr indent="0" marL="0">
              <a:buNone/>
            </a:pPr>
            <a:r>
              <a:rPr lang="en-US" sz="1150" b="1" dirty="0">
                <a:solidFill>
                  <a:srgbClr val="F4ECDF"/>
                </a:solidFill>
                <a:latin typeface="Calibri" pitchFamily="34" charset="0"/>
                <a:ea typeface="Calibri" pitchFamily="34" charset="-122"/>
                <a:cs typeface="Calibri" pitchFamily="34" charset="-120"/>
              </a:rPr>
              <a:t>Hyperscalers are asking for this now, to simplify design and delivery and accelerate schedules.</a:t>
            </a:r>
            <a:endParaRPr lang="en-US" sz="1150" dirty="0"/>
          </a:p>
        </p:txBody>
      </p:sp>
      <p:sp>
        <p:nvSpPr>
          <p:cNvPr id="10" name="Shape 8"/>
          <p:cNvSpPr/>
          <p:nvPr/>
        </p:nvSpPr>
        <p:spPr>
          <a:xfrm>
            <a:off x="6172200" y="1920240"/>
            <a:ext cx="5486400" cy="3383280"/>
          </a:xfrm>
          <a:prstGeom prst="roundRect">
            <a:avLst>
              <a:gd name="adj" fmla="val 2432"/>
            </a:avLst>
          </a:prstGeom>
          <a:solidFill>
            <a:srgbClr val="2E2113"/>
          </a:solidFill>
          <a:ln/>
        </p:spPr>
      </p:sp>
      <p:sp>
        <p:nvSpPr>
          <p:cNvPr id="11" name="Text 9"/>
          <p:cNvSpPr/>
          <p:nvPr/>
        </p:nvSpPr>
        <p:spPr>
          <a:xfrm>
            <a:off x="6446520" y="2148840"/>
            <a:ext cx="4937760" cy="36576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Foundations, slabs and paving</a:t>
            </a:r>
            <a:endParaRPr lang="en-US" sz="1500" dirty="0"/>
          </a:p>
        </p:txBody>
      </p:sp>
      <p:sp>
        <p:nvSpPr>
          <p:cNvPr id="12" name="Text 10"/>
          <p:cNvSpPr/>
          <p:nvPr/>
        </p:nvSpPr>
        <p:spPr>
          <a:xfrm>
            <a:off x="6446520" y="2606040"/>
            <a:ext cx="4937760" cy="1371600"/>
          </a:xfrm>
          <a:prstGeom prst="rect">
            <a:avLst/>
          </a:prstGeom>
          <a:noFill/>
          <a:ln/>
        </p:spPr>
        <p:txBody>
          <a:bodyPr wrap="square" lIns="0" tIns="0" rIns="0" bIns="0" rtlCol="0" anchor="t"/>
          <a:lstStyle/>
          <a:p>
            <a:pPr indent="0" marL="0">
              <a:buNone/>
            </a:pPr>
            <a:r>
              <a:rPr lang="en-US" sz="1150" dirty="0">
                <a:solidFill>
                  <a:srgbClr val="9D8D76"/>
                </a:solidFill>
                <a:latin typeface="Calibri" pitchFamily="34" charset="0"/>
                <a:ea typeface="Calibri" pitchFamily="34" charset="-122"/>
                <a:cs typeface="Calibri" pitchFamily="34" charset="-120"/>
              </a:rPr>
              <a:t>Lightweight, insulated SUPERWOOD foundations and slabs in place of concrete — installed faster, with lower geotechnical demands, and potentially movable.</a:t>
            </a:r>
            <a:endParaRPr lang="en-US" sz="1150" dirty="0"/>
          </a:p>
        </p:txBody>
      </p:sp>
      <p:sp>
        <p:nvSpPr>
          <p:cNvPr id="13" name="Text 11"/>
          <p:cNvSpPr/>
          <p:nvPr/>
        </p:nvSpPr>
        <p:spPr>
          <a:xfrm>
            <a:off x="6446520" y="4114800"/>
            <a:ext cx="4937760" cy="1005840"/>
          </a:xfrm>
          <a:prstGeom prst="rect">
            <a:avLst/>
          </a:prstGeom>
          <a:noFill/>
          <a:ln/>
        </p:spPr>
        <p:txBody>
          <a:bodyPr wrap="square" lIns="0" tIns="0" rIns="0" bIns="0" rtlCol="0" anchor="t"/>
          <a:lstStyle/>
          <a:p>
            <a:pPr indent="0" marL="0">
              <a:buNone/>
            </a:pPr>
            <a:r>
              <a:rPr lang="en-US" sz="1150" b="1" dirty="0">
                <a:solidFill>
                  <a:srgbClr val="F4ECDF"/>
                </a:solidFill>
                <a:latin typeface="Calibri" pitchFamily="34" charset="0"/>
                <a:ea typeface="Calibri" pitchFamily="34" charset="-122"/>
                <a:cs typeface="Calibri" pitchFamily="34" charset="-120"/>
              </a:rPr>
              <a:t>Biggest unaddressed impact both to speed of development and construction, and with huge carbon impact. Geotechnical requirements greatly impact schedule and site selection.</a:t>
            </a:r>
            <a:endParaRPr lang="en-US" sz="1150" dirty="0"/>
          </a:p>
        </p:txBody>
      </p:sp>
      <p:sp>
        <p:nvSpPr>
          <p:cNvPr id="14" name="Shape 12"/>
          <p:cNvSpPr/>
          <p:nvPr/>
        </p:nvSpPr>
        <p:spPr>
          <a:xfrm>
            <a:off x="502920" y="5623560"/>
            <a:ext cx="11155680" cy="548640"/>
          </a:xfrm>
          <a:prstGeom prst="roundRect">
            <a:avLst>
              <a:gd name="adj" fmla="val 15000"/>
            </a:avLst>
          </a:prstGeom>
          <a:solidFill>
            <a:srgbClr val="2E2113"/>
          </a:solidFill>
          <a:ln/>
        </p:spPr>
      </p:sp>
      <p:sp>
        <p:nvSpPr>
          <p:cNvPr id="15" name="Text 13"/>
          <p:cNvSpPr/>
          <p:nvPr/>
        </p:nvSpPr>
        <p:spPr>
          <a:xfrm>
            <a:off x="777240" y="5623560"/>
            <a:ext cx="10607040" cy="548640"/>
          </a:xfrm>
          <a:prstGeom prst="rect">
            <a:avLst/>
          </a:prstGeom>
          <a:noFill/>
          <a:ln/>
        </p:spPr>
        <p:txBody>
          <a:bodyPr wrap="square" lIns="0" tIns="0" rIns="0" bIns="0" rtlCol="0" anchor="ctr"/>
          <a:lstStyle/>
          <a:p>
            <a:pPr indent="0" marL="0">
              <a:buNone/>
            </a:pPr>
            <a:r>
              <a:rPr lang="en-US" sz="950" i="1" dirty="0">
                <a:solidFill>
                  <a:srgbClr val="CDBFA9"/>
                </a:solidFill>
                <a:latin typeface="Calibri" pitchFamily="34" charset="0"/>
                <a:ea typeface="Calibri" pitchFamily="34" charset="-122"/>
                <a:cs typeface="Calibri" pitchFamily="34" charset="-120"/>
              </a:rPr>
              <a:t>Stated technical potential, not an engineered plan: slab, paving and foundations are on the order of 1–2 million tons of concrete and rebar per gigawatt. No design or code pathway exists yet.</a:t>
            </a:r>
            <a:endParaRPr lang="en-US" sz="9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evidence</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EVIDENCE</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000" dirty="0">
                <a:solidFill>
                  <a:srgbClr val="F4ECDF"/>
                </a:solidFill>
                <a:latin typeface="Georgia" pitchFamily="34" charset="0"/>
                <a:ea typeface="Georgia" pitchFamily="34" charset="-122"/>
                <a:cs typeface="Georgia" pitchFamily="34" charset="-120"/>
              </a:rPr>
              <a:t>Customer engagement</a:t>
            </a:r>
            <a:endParaRPr lang="en-US" sz="3000" dirty="0"/>
          </a:p>
        </p:txBody>
      </p:sp>
      <p:sp>
        <p:nvSpPr>
          <p:cNvPr id="6" name="Text 4"/>
          <p:cNvSpPr/>
          <p:nvPr/>
        </p:nvSpPr>
        <p:spPr>
          <a:xfrm>
            <a:off x="3291840" y="1691640"/>
            <a:ext cx="822960" cy="502920"/>
          </a:xfrm>
          <a:prstGeom prst="rect">
            <a:avLst/>
          </a:prstGeom>
          <a:noFill/>
          <a:ln/>
        </p:spPr>
        <p:txBody>
          <a:bodyPr wrap="square" lIns="0" tIns="0" rIns="0" bIns="0" rtlCol="0" anchor="b"/>
          <a:lstStyle/>
          <a:p>
            <a:pPr algn="ctr" indent="0" marL="0">
              <a:buNone/>
            </a:pPr>
            <a:r>
              <a:rPr lang="en-US" sz="650" b="1" spc="50" kern="0" dirty="0">
                <a:solidFill>
                  <a:srgbClr val="CDA165"/>
                </a:solidFill>
                <a:latin typeface="Calibri" pitchFamily="34" charset="0"/>
                <a:ea typeface="Calibri" pitchFamily="34" charset="-122"/>
                <a:cs typeface="Calibri" pitchFamily="34" charset="-120"/>
              </a:rPr>
              <a:t>CONVERSATIONS</a:t>
            </a:r>
            <a:endParaRPr lang="en-US" sz="650" dirty="0"/>
          </a:p>
        </p:txBody>
      </p:sp>
      <p:sp>
        <p:nvSpPr>
          <p:cNvPr id="7" name="Text 5"/>
          <p:cNvSpPr/>
          <p:nvPr/>
        </p:nvSpPr>
        <p:spPr>
          <a:xfrm>
            <a:off x="4114800" y="1691640"/>
            <a:ext cx="822960" cy="502920"/>
          </a:xfrm>
          <a:prstGeom prst="rect">
            <a:avLst/>
          </a:prstGeom>
          <a:noFill/>
          <a:ln/>
        </p:spPr>
        <p:txBody>
          <a:bodyPr wrap="square" lIns="0" tIns="0" rIns="0" bIns="0" rtlCol="0" anchor="b"/>
          <a:lstStyle/>
          <a:p>
            <a:pPr algn="ctr" indent="0" marL="0">
              <a:buNone/>
            </a:pPr>
            <a:r>
              <a:rPr lang="en-US" sz="650" b="1" spc="50" kern="0" dirty="0">
                <a:solidFill>
                  <a:srgbClr val="CDA165"/>
                </a:solidFill>
                <a:latin typeface="Calibri" pitchFamily="34" charset="0"/>
                <a:ea typeface="Calibri" pitchFamily="34" charset="-122"/>
                <a:cs typeface="Calibri" pitchFamily="34" charset="-120"/>
              </a:rPr>
              <a:t>APPLICATIONS IDENTIFIED</a:t>
            </a:r>
            <a:endParaRPr lang="en-US" sz="650" dirty="0"/>
          </a:p>
        </p:txBody>
      </p:sp>
      <p:sp>
        <p:nvSpPr>
          <p:cNvPr id="8" name="Text 6"/>
          <p:cNvSpPr/>
          <p:nvPr/>
        </p:nvSpPr>
        <p:spPr>
          <a:xfrm>
            <a:off x="4937760" y="1691640"/>
            <a:ext cx="822960" cy="502920"/>
          </a:xfrm>
          <a:prstGeom prst="rect">
            <a:avLst/>
          </a:prstGeom>
          <a:noFill/>
          <a:ln/>
        </p:spPr>
        <p:txBody>
          <a:bodyPr wrap="square" lIns="0" tIns="0" rIns="0" bIns="0" rtlCol="0" anchor="b"/>
          <a:lstStyle/>
          <a:p>
            <a:pPr algn="ctr" indent="0" marL="0">
              <a:buNone/>
            </a:pPr>
            <a:r>
              <a:rPr lang="en-US" sz="650" b="1" spc="50" kern="0" dirty="0">
                <a:solidFill>
                  <a:srgbClr val="CDA165"/>
                </a:solidFill>
                <a:latin typeface="Calibri" pitchFamily="34" charset="0"/>
                <a:ea typeface="Calibri" pitchFamily="34" charset="-122"/>
                <a:cs typeface="Calibri" pitchFamily="34" charset="-120"/>
              </a:rPr>
              <a:t>PROJECTS SCOPED</a:t>
            </a:r>
            <a:endParaRPr lang="en-US" sz="650" dirty="0"/>
          </a:p>
        </p:txBody>
      </p:sp>
      <p:sp>
        <p:nvSpPr>
          <p:cNvPr id="9" name="Text 7"/>
          <p:cNvSpPr/>
          <p:nvPr/>
        </p:nvSpPr>
        <p:spPr>
          <a:xfrm>
            <a:off x="5760720" y="1691640"/>
            <a:ext cx="822960" cy="502920"/>
          </a:xfrm>
          <a:prstGeom prst="rect">
            <a:avLst/>
          </a:prstGeom>
          <a:noFill/>
          <a:ln/>
        </p:spPr>
        <p:txBody>
          <a:bodyPr wrap="square" lIns="0" tIns="0" rIns="0" bIns="0" rtlCol="0" anchor="b"/>
          <a:lstStyle/>
          <a:p>
            <a:pPr algn="ctr" indent="0" marL="0">
              <a:buNone/>
            </a:pPr>
            <a:r>
              <a:rPr lang="en-US" sz="650" b="1" spc="50" kern="0" dirty="0">
                <a:solidFill>
                  <a:srgbClr val="CDA165"/>
                </a:solidFill>
                <a:latin typeface="Calibri" pitchFamily="34" charset="0"/>
                <a:ea typeface="Calibri" pitchFamily="34" charset="-122"/>
                <a:cs typeface="Calibri" pitchFamily="34" charset="-120"/>
              </a:rPr>
              <a:t>TESTING &amp; MOCKUPS</a:t>
            </a:r>
            <a:endParaRPr lang="en-US" sz="650" dirty="0"/>
          </a:p>
        </p:txBody>
      </p:sp>
      <p:sp>
        <p:nvSpPr>
          <p:cNvPr id="10" name="Text 8"/>
          <p:cNvSpPr/>
          <p:nvPr/>
        </p:nvSpPr>
        <p:spPr>
          <a:xfrm>
            <a:off x="6583680" y="1691640"/>
            <a:ext cx="822960" cy="502920"/>
          </a:xfrm>
          <a:prstGeom prst="rect">
            <a:avLst/>
          </a:prstGeom>
          <a:noFill/>
          <a:ln/>
        </p:spPr>
        <p:txBody>
          <a:bodyPr wrap="square" lIns="0" tIns="0" rIns="0" bIns="0" rtlCol="0" anchor="b"/>
          <a:lstStyle/>
          <a:p>
            <a:pPr algn="ctr" indent="0" marL="0">
              <a:buNone/>
            </a:pPr>
            <a:r>
              <a:rPr lang="en-US" sz="650" b="1" spc="50" kern="0" dirty="0">
                <a:solidFill>
                  <a:srgbClr val="CDA165"/>
                </a:solidFill>
                <a:latin typeface="Calibri" pitchFamily="34" charset="0"/>
                <a:ea typeface="Calibri" pitchFamily="34" charset="-122"/>
                <a:cs typeface="Calibri" pitchFamily="34" charset="-120"/>
              </a:rPr>
              <a:t>FIRST PURCHASE</a:t>
            </a:r>
            <a:endParaRPr lang="en-US" sz="650" dirty="0"/>
          </a:p>
        </p:txBody>
      </p:sp>
      <p:sp>
        <p:nvSpPr>
          <p:cNvPr id="11" name="Text 9"/>
          <p:cNvSpPr/>
          <p:nvPr/>
        </p:nvSpPr>
        <p:spPr>
          <a:xfrm>
            <a:off x="7406640" y="1691640"/>
            <a:ext cx="822960" cy="502920"/>
          </a:xfrm>
          <a:prstGeom prst="rect">
            <a:avLst/>
          </a:prstGeom>
          <a:noFill/>
          <a:ln/>
        </p:spPr>
        <p:txBody>
          <a:bodyPr wrap="square" lIns="0" tIns="0" rIns="0" bIns="0" rtlCol="0" anchor="b"/>
          <a:lstStyle/>
          <a:p>
            <a:pPr algn="ctr" indent="0" marL="0">
              <a:buNone/>
            </a:pPr>
            <a:r>
              <a:rPr lang="en-US" sz="650" b="1" spc="50" kern="0" dirty="0">
                <a:solidFill>
                  <a:srgbClr val="CDA165"/>
                </a:solidFill>
                <a:latin typeface="Calibri" pitchFamily="34" charset="0"/>
                <a:ea typeface="Calibri" pitchFamily="34" charset="-122"/>
                <a:cs typeface="Calibri" pitchFamily="34" charset="-120"/>
              </a:rPr>
              <a:t>BASIS OF DESIGN</a:t>
            </a:r>
            <a:endParaRPr lang="en-US" sz="650" dirty="0"/>
          </a:p>
        </p:txBody>
      </p:sp>
      <p:sp>
        <p:nvSpPr>
          <p:cNvPr id="12" name="Shape 10"/>
          <p:cNvSpPr/>
          <p:nvPr/>
        </p:nvSpPr>
        <p:spPr>
          <a:xfrm>
            <a:off x="502920" y="2167128"/>
            <a:ext cx="11155680" cy="10973"/>
          </a:xfrm>
          <a:prstGeom prst="rect">
            <a:avLst/>
          </a:prstGeom>
          <a:solidFill>
            <a:srgbClr val="3A2B1A"/>
          </a:solidFill>
          <a:ln/>
        </p:spPr>
      </p:sp>
      <p:sp>
        <p:nvSpPr>
          <p:cNvPr id="13" name="Text 11"/>
          <p:cNvSpPr/>
          <p:nvPr/>
        </p:nvSpPr>
        <p:spPr>
          <a:xfrm>
            <a:off x="502920" y="2240280"/>
            <a:ext cx="2651760" cy="548640"/>
          </a:xfrm>
          <a:prstGeom prst="rect">
            <a:avLst/>
          </a:prstGeom>
          <a:noFill/>
          <a:ln/>
        </p:spPr>
        <p:txBody>
          <a:bodyPr wrap="square" lIns="0" tIns="0" rIns="0" bIns="0" rtlCol="0" anchor="t"/>
          <a:lstStyle/>
          <a:p>
            <a:pPr indent="0" marL="0">
              <a:buNone/>
            </a:pPr>
            <a:r>
              <a:rPr lang="en-US" sz="1200" b="1" dirty="0">
                <a:solidFill>
                  <a:srgbClr val="F4ECDF"/>
                </a:solidFill>
                <a:latin typeface="Calibri" pitchFamily="34" charset="0"/>
                <a:ea typeface="Calibri" pitchFamily="34" charset="-122"/>
                <a:cs typeface="Calibri" pitchFamily="34" charset="-120"/>
              </a:rPr>
              <a:t>Microsoft</a:t>
            </a:r>
            <a:endParaRPr lang="en-US" sz="1200" dirty="0"/>
          </a:p>
        </p:txBody>
      </p:sp>
      <p:sp>
        <p:nvSpPr>
          <p:cNvPr id="14" name="Shape 12"/>
          <p:cNvSpPr/>
          <p:nvPr/>
        </p:nvSpPr>
        <p:spPr>
          <a:xfrm>
            <a:off x="3291840" y="2459736"/>
            <a:ext cx="4937760" cy="36576"/>
          </a:xfrm>
          <a:prstGeom prst="rect">
            <a:avLst/>
          </a:prstGeom>
          <a:solidFill>
            <a:srgbClr val="3A2B1A"/>
          </a:solidFill>
          <a:ln/>
        </p:spPr>
      </p:sp>
      <p:sp>
        <p:nvSpPr>
          <p:cNvPr id="15" name="Shape 13"/>
          <p:cNvSpPr/>
          <p:nvPr/>
        </p:nvSpPr>
        <p:spPr>
          <a:xfrm>
            <a:off x="3291840" y="2459736"/>
            <a:ext cx="2057400" cy="36576"/>
          </a:xfrm>
          <a:prstGeom prst="rect">
            <a:avLst/>
          </a:prstGeom>
          <a:solidFill>
            <a:srgbClr val="B87D44"/>
          </a:solidFill>
          <a:ln/>
        </p:spPr>
      </p:sp>
      <p:sp>
        <p:nvSpPr>
          <p:cNvPr id="16" name="Shape 14"/>
          <p:cNvSpPr/>
          <p:nvPr/>
        </p:nvSpPr>
        <p:spPr>
          <a:xfrm>
            <a:off x="5248656" y="2377440"/>
            <a:ext cx="201168" cy="201168"/>
          </a:xfrm>
          <a:prstGeom prst="ellipse">
            <a:avLst/>
          </a:prstGeom>
          <a:solidFill>
            <a:srgbClr val="E2B877"/>
          </a:solidFill>
          <a:ln/>
        </p:spPr>
      </p:sp>
      <p:sp>
        <p:nvSpPr>
          <p:cNvPr id="17" name="Text 15"/>
          <p:cNvSpPr/>
          <p:nvPr/>
        </p:nvSpPr>
        <p:spPr>
          <a:xfrm>
            <a:off x="8503920" y="2221992"/>
            <a:ext cx="3063240" cy="658368"/>
          </a:xfrm>
          <a:prstGeom prst="rect">
            <a:avLst/>
          </a:prstGeom>
          <a:noFill/>
          <a:ln/>
        </p:spPr>
        <p:txBody>
          <a:bodyPr wrap="square" lIns="0" tIns="0" rIns="0" bIns="0" rtlCol="0" anchor="t"/>
          <a:lstStyle/>
          <a:p>
            <a:pPr indent="0" marL="0">
              <a:buNone/>
            </a:pPr>
            <a:r>
              <a:rPr lang="en-US" sz="800" dirty="0">
                <a:solidFill>
                  <a:srgbClr val="CDBFA9"/>
                </a:solidFill>
                <a:latin typeface="Calibri" pitchFamily="34" charset="0"/>
                <a:ea typeface="Calibri" pitchFamily="34" charset="-122"/>
                <a:cs typeface="Calibri" pitchFamily="34" charset="-120"/>
              </a:rPr>
              <a:t>Facades, biophilic interiors, staff and security fencing under discussion; roof-truss and enclosure work with their architecture and engineering firms; interest in SUPERWOOD in the basis of design</a:t>
            </a:r>
            <a:endParaRPr lang="en-US" sz="800" dirty="0"/>
          </a:p>
        </p:txBody>
      </p:sp>
      <p:sp>
        <p:nvSpPr>
          <p:cNvPr id="18" name="Text 16"/>
          <p:cNvSpPr/>
          <p:nvPr/>
        </p:nvSpPr>
        <p:spPr>
          <a:xfrm>
            <a:off x="3246120" y="2587752"/>
            <a:ext cx="5029200" cy="274320"/>
          </a:xfrm>
          <a:prstGeom prst="rect">
            <a:avLst/>
          </a:prstGeom>
          <a:noFill/>
          <a:ln/>
        </p:spPr>
        <p:txBody>
          <a:bodyPr wrap="square" lIns="0" tIns="0" rIns="0" bIns="0" rtlCol="0" anchor="ctr"/>
          <a:lstStyle/>
          <a:p>
            <a:pPr algn="l" indent="0" marL="0">
              <a:buNone/>
            </a:pPr>
            <a:r>
              <a:rPr lang="en-US" sz="800" i="1" dirty="0">
                <a:solidFill>
                  <a:srgbClr val="9D8D76"/>
                </a:solidFill>
                <a:latin typeface="Calibri" pitchFamily="34" charset="0"/>
                <a:ea typeface="Calibri" pitchFamily="34" charset="-122"/>
                <a:cs typeface="Calibri" pitchFamily="34" charset="-120"/>
              </a:rPr>
              <a:t>Next: First skin project on one building or yard</a:t>
            </a:r>
            <a:endParaRPr lang="en-US" sz="800" dirty="0"/>
          </a:p>
        </p:txBody>
      </p:sp>
      <p:sp>
        <p:nvSpPr>
          <p:cNvPr id="19" name="Shape 17"/>
          <p:cNvSpPr/>
          <p:nvPr/>
        </p:nvSpPr>
        <p:spPr>
          <a:xfrm>
            <a:off x="502920" y="2880360"/>
            <a:ext cx="11155680" cy="10973"/>
          </a:xfrm>
          <a:prstGeom prst="rect">
            <a:avLst/>
          </a:prstGeom>
          <a:solidFill>
            <a:srgbClr val="3A2B1A"/>
          </a:solidFill>
          <a:ln/>
        </p:spPr>
      </p:sp>
      <p:sp>
        <p:nvSpPr>
          <p:cNvPr id="20" name="Text 18"/>
          <p:cNvSpPr/>
          <p:nvPr/>
        </p:nvSpPr>
        <p:spPr>
          <a:xfrm>
            <a:off x="502920" y="2953512"/>
            <a:ext cx="2651760" cy="548640"/>
          </a:xfrm>
          <a:prstGeom prst="rect">
            <a:avLst/>
          </a:prstGeom>
          <a:noFill/>
          <a:ln/>
        </p:spPr>
        <p:txBody>
          <a:bodyPr wrap="square" lIns="0" tIns="0" rIns="0" bIns="0" rtlCol="0" anchor="t"/>
          <a:lstStyle/>
          <a:p>
            <a:pPr indent="0" marL="0">
              <a:buNone/>
            </a:pPr>
            <a:r>
              <a:rPr lang="en-US" sz="1200" b="1" dirty="0">
                <a:solidFill>
                  <a:srgbClr val="F4ECDF"/>
                </a:solidFill>
                <a:latin typeface="Calibri" pitchFamily="34" charset="0"/>
                <a:ea typeface="Calibri" pitchFamily="34" charset="-122"/>
                <a:cs typeface="Calibri" pitchFamily="34" charset="-120"/>
              </a:rPr>
              <a:t>Meta</a:t>
            </a:r>
            <a:endParaRPr lang="en-US" sz="1200" dirty="0"/>
          </a:p>
        </p:txBody>
      </p:sp>
      <p:sp>
        <p:nvSpPr>
          <p:cNvPr id="21" name="Shape 19"/>
          <p:cNvSpPr/>
          <p:nvPr/>
        </p:nvSpPr>
        <p:spPr>
          <a:xfrm>
            <a:off x="3291840" y="3172968"/>
            <a:ext cx="4937760" cy="36576"/>
          </a:xfrm>
          <a:prstGeom prst="rect">
            <a:avLst/>
          </a:prstGeom>
          <a:solidFill>
            <a:srgbClr val="3A2B1A"/>
          </a:solidFill>
          <a:ln/>
        </p:spPr>
      </p:sp>
      <p:sp>
        <p:nvSpPr>
          <p:cNvPr id="22" name="Shape 20"/>
          <p:cNvSpPr/>
          <p:nvPr/>
        </p:nvSpPr>
        <p:spPr>
          <a:xfrm>
            <a:off x="3291840" y="3172968"/>
            <a:ext cx="2057400" cy="36576"/>
          </a:xfrm>
          <a:prstGeom prst="rect">
            <a:avLst/>
          </a:prstGeom>
          <a:solidFill>
            <a:srgbClr val="B87D44"/>
          </a:solidFill>
          <a:ln/>
        </p:spPr>
      </p:sp>
      <p:sp>
        <p:nvSpPr>
          <p:cNvPr id="23" name="Shape 21"/>
          <p:cNvSpPr/>
          <p:nvPr/>
        </p:nvSpPr>
        <p:spPr>
          <a:xfrm>
            <a:off x="5248656" y="3090672"/>
            <a:ext cx="201168" cy="201168"/>
          </a:xfrm>
          <a:prstGeom prst="ellipse">
            <a:avLst/>
          </a:prstGeom>
          <a:solidFill>
            <a:srgbClr val="E2B877"/>
          </a:solidFill>
          <a:ln/>
        </p:spPr>
      </p:sp>
      <p:sp>
        <p:nvSpPr>
          <p:cNvPr id="24" name="Text 22"/>
          <p:cNvSpPr/>
          <p:nvPr/>
        </p:nvSpPr>
        <p:spPr>
          <a:xfrm>
            <a:off x="8503920" y="2935224"/>
            <a:ext cx="3063240" cy="658368"/>
          </a:xfrm>
          <a:prstGeom prst="rect">
            <a:avLst/>
          </a:prstGeom>
          <a:noFill/>
          <a:ln/>
        </p:spPr>
        <p:txBody>
          <a:bodyPr wrap="square" lIns="0" tIns="0" rIns="0" bIns="0" rtlCol="0" anchor="t"/>
          <a:lstStyle/>
          <a:p>
            <a:pPr indent="0" marL="0">
              <a:buNone/>
            </a:pPr>
            <a:r>
              <a:rPr lang="en-US" sz="800" dirty="0">
                <a:solidFill>
                  <a:srgbClr val="CDBFA9"/>
                </a:solidFill>
                <a:latin typeface="Calibri" pitchFamily="34" charset="0"/>
                <a:ea typeface="Calibri" pitchFamily="34" charset="-122"/>
                <a:cs typeface="Calibri" pitchFamily="34" charset="-120"/>
              </a:rPr>
              <a:t>Engaged for over a year across the data-center ecosystem; facade applications and backplanes under way; structural applications and racking to follow</a:t>
            </a:r>
            <a:endParaRPr lang="en-US" sz="800" dirty="0"/>
          </a:p>
        </p:txBody>
      </p:sp>
      <p:sp>
        <p:nvSpPr>
          <p:cNvPr id="25" name="Text 23"/>
          <p:cNvSpPr/>
          <p:nvPr/>
        </p:nvSpPr>
        <p:spPr>
          <a:xfrm>
            <a:off x="3246120" y="3300984"/>
            <a:ext cx="5029200" cy="274320"/>
          </a:xfrm>
          <a:prstGeom prst="rect">
            <a:avLst/>
          </a:prstGeom>
          <a:noFill/>
          <a:ln/>
        </p:spPr>
        <p:txBody>
          <a:bodyPr wrap="square" lIns="0" tIns="0" rIns="0" bIns="0" rtlCol="0" anchor="ctr"/>
          <a:lstStyle/>
          <a:p>
            <a:pPr algn="l" indent="0" marL="0">
              <a:buNone/>
            </a:pPr>
            <a:r>
              <a:rPr lang="en-US" sz="800" i="1" dirty="0">
                <a:solidFill>
                  <a:srgbClr val="9D8D76"/>
                </a:solidFill>
                <a:latin typeface="Calibri" pitchFamily="34" charset="0"/>
                <a:ea typeface="Calibri" pitchFamily="34" charset="-122"/>
                <a:cs typeface="Calibri" pitchFamily="34" charset="-120"/>
              </a:rPr>
              <a:t>Next: Backplane listing; first facade project</a:t>
            </a:r>
            <a:endParaRPr lang="en-US" sz="800" dirty="0"/>
          </a:p>
        </p:txBody>
      </p:sp>
      <p:sp>
        <p:nvSpPr>
          <p:cNvPr id="26" name="Shape 24"/>
          <p:cNvSpPr/>
          <p:nvPr/>
        </p:nvSpPr>
        <p:spPr>
          <a:xfrm>
            <a:off x="502920" y="3593592"/>
            <a:ext cx="11155680" cy="10973"/>
          </a:xfrm>
          <a:prstGeom prst="rect">
            <a:avLst/>
          </a:prstGeom>
          <a:solidFill>
            <a:srgbClr val="3A2B1A"/>
          </a:solidFill>
          <a:ln/>
        </p:spPr>
      </p:sp>
      <p:sp>
        <p:nvSpPr>
          <p:cNvPr id="27" name="Text 25"/>
          <p:cNvSpPr/>
          <p:nvPr/>
        </p:nvSpPr>
        <p:spPr>
          <a:xfrm>
            <a:off x="502920" y="3666744"/>
            <a:ext cx="2651760" cy="548640"/>
          </a:xfrm>
          <a:prstGeom prst="rect">
            <a:avLst/>
          </a:prstGeom>
          <a:noFill/>
          <a:ln/>
        </p:spPr>
        <p:txBody>
          <a:bodyPr wrap="square" lIns="0" tIns="0" rIns="0" bIns="0" rtlCol="0" anchor="t"/>
          <a:lstStyle/>
          <a:p>
            <a:pPr indent="0" marL="0">
              <a:buNone/>
            </a:pPr>
            <a:r>
              <a:rPr lang="en-US" sz="1200" b="1" dirty="0">
                <a:solidFill>
                  <a:srgbClr val="F4ECDF"/>
                </a:solidFill>
                <a:latin typeface="Calibri" pitchFamily="34" charset="0"/>
                <a:ea typeface="Calibri" pitchFamily="34" charset="-122"/>
                <a:cs typeface="Calibri" pitchFamily="34" charset="-120"/>
              </a:rPr>
              <a:t>Google</a:t>
            </a:r>
            <a:endParaRPr lang="en-US" sz="1200" dirty="0"/>
          </a:p>
        </p:txBody>
      </p:sp>
      <p:sp>
        <p:nvSpPr>
          <p:cNvPr id="28" name="Shape 26"/>
          <p:cNvSpPr/>
          <p:nvPr/>
        </p:nvSpPr>
        <p:spPr>
          <a:xfrm>
            <a:off x="3291840" y="3886200"/>
            <a:ext cx="4937760" cy="36576"/>
          </a:xfrm>
          <a:prstGeom prst="rect">
            <a:avLst/>
          </a:prstGeom>
          <a:solidFill>
            <a:srgbClr val="3A2B1A"/>
          </a:solidFill>
          <a:ln/>
        </p:spPr>
      </p:sp>
      <p:sp>
        <p:nvSpPr>
          <p:cNvPr id="29" name="Shape 27"/>
          <p:cNvSpPr/>
          <p:nvPr/>
        </p:nvSpPr>
        <p:spPr>
          <a:xfrm>
            <a:off x="3291840" y="3886200"/>
            <a:ext cx="1234440" cy="36576"/>
          </a:xfrm>
          <a:prstGeom prst="rect">
            <a:avLst/>
          </a:prstGeom>
          <a:solidFill>
            <a:srgbClr val="B87D44"/>
          </a:solidFill>
          <a:ln/>
        </p:spPr>
      </p:sp>
      <p:sp>
        <p:nvSpPr>
          <p:cNvPr id="30" name="Shape 28"/>
          <p:cNvSpPr/>
          <p:nvPr/>
        </p:nvSpPr>
        <p:spPr>
          <a:xfrm>
            <a:off x="4425696" y="3803904"/>
            <a:ext cx="201168" cy="201168"/>
          </a:xfrm>
          <a:prstGeom prst="ellipse">
            <a:avLst/>
          </a:prstGeom>
          <a:solidFill>
            <a:srgbClr val="E2B877"/>
          </a:solidFill>
          <a:ln/>
        </p:spPr>
      </p:sp>
      <p:sp>
        <p:nvSpPr>
          <p:cNvPr id="31" name="Text 29"/>
          <p:cNvSpPr/>
          <p:nvPr/>
        </p:nvSpPr>
        <p:spPr>
          <a:xfrm>
            <a:off x="8503920" y="3648456"/>
            <a:ext cx="3063240" cy="658368"/>
          </a:xfrm>
          <a:prstGeom prst="rect">
            <a:avLst/>
          </a:prstGeom>
          <a:noFill/>
          <a:ln/>
        </p:spPr>
        <p:txBody>
          <a:bodyPr wrap="square" lIns="0" tIns="0" rIns="0" bIns="0" rtlCol="0" anchor="t"/>
          <a:lstStyle/>
          <a:p>
            <a:pPr indent="0" marL="0">
              <a:buNone/>
            </a:pPr>
            <a:r>
              <a:rPr lang="en-US" sz="800" dirty="0">
                <a:solidFill>
                  <a:srgbClr val="CDBFA9"/>
                </a:solidFill>
                <a:latin typeface="Calibri" pitchFamily="34" charset="0"/>
                <a:ea typeface="Calibri" pitchFamily="34" charset="-122"/>
                <a:cs typeface="Calibri" pitchFamily="34" charset="-120"/>
              </a:rPr>
              <a:t>Engagement just begun; initial focus on replacement of structural steel</a:t>
            </a:r>
            <a:endParaRPr lang="en-US" sz="800" dirty="0"/>
          </a:p>
        </p:txBody>
      </p:sp>
      <p:sp>
        <p:nvSpPr>
          <p:cNvPr id="32" name="Text 30"/>
          <p:cNvSpPr/>
          <p:nvPr/>
        </p:nvSpPr>
        <p:spPr>
          <a:xfrm>
            <a:off x="3246120" y="4014216"/>
            <a:ext cx="5029200" cy="274320"/>
          </a:xfrm>
          <a:prstGeom prst="rect">
            <a:avLst/>
          </a:prstGeom>
          <a:noFill/>
          <a:ln/>
        </p:spPr>
        <p:txBody>
          <a:bodyPr wrap="square" lIns="0" tIns="0" rIns="0" bIns="0" rtlCol="0" anchor="ctr"/>
          <a:lstStyle/>
          <a:p>
            <a:pPr algn="l" indent="0" marL="0">
              <a:buNone/>
            </a:pPr>
            <a:r>
              <a:rPr lang="en-US" sz="800" i="1" dirty="0">
                <a:solidFill>
                  <a:srgbClr val="9D8D76"/>
                </a:solidFill>
                <a:latin typeface="Calibri" pitchFamily="34" charset="0"/>
                <a:ea typeface="Calibri" pitchFamily="34" charset="-122"/>
                <a:cs typeface="Calibri" pitchFamily="34" charset="-120"/>
              </a:rPr>
              <a:t>Next: Scope with their design teams</a:t>
            </a:r>
            <a:endParaRPr lang="en-US" sz="800" dirty="0"/>
          </a:p>
        </p:txBody>
      </p:sp>
      <p:sp>
        <p:nvSpPr>
          <p:cNvPr id="33" name="Shape 31"/>
          <p:cNvSpPr/>
          <p:nvPr/>
        </p:nvSpPr>
        <p:spPr>
          <a:xfrm>
            <a:off x="502920" y="4306824"/>
            <a:ext cx="11155680" cy="10973"/>
          </a:xfrm>
          <a:prstGeom prst="rect">
            <a:avLst/>
          </a:prstGeom>
          <a:solidFill>
            <a:srgbClr val="3A2B1A"/>
          </a:solidFill>
          <a:ln/>
        </p:spPr>
      </p:sp>
      <p:sp>
        <p:nvSpPr>
          <p:cNvPr id="34" name="Text 32"/>
          <p:cNvSpPr/>
          <p:nvPr/>
        </p:nvSpPr>
        <p:spPr>
          <a:xfrm>
            <a:off x="502920" y="4379976"/>
            <a:ext cx="2651760" cy="548640"/>
          </a:xfrm>
          <a:prstGeom prst="rect">
            <a:avLst/>
          </a:prstGeom>
          <a:noFill/>
          <a:ln/>
        </p:spPr>
        <p:txBody>
          <a:bodyPr wrap="square" lIns="0" tIns="0" rIns="0" bIns="0" rtlCol="0" anchor="t"/>
          <a:lstStyle/>
          <a:p>
            <a:pPr indent="0" marL="0">
              <a:buNone/>
            </a:pPr>
            <a:r>
              <a:rPr lang="en-US" sz="1200" b="1" dirty="0">
                <a:solidFill>
                  <a:srgbClr val="F4ECDF"/>
                </a:solidFill>
                <a:latin typeface="Calibri" pitchFamily="34" charset="0"/>
                <a:ea typeface="Calibri" pitchFamily="34" charset="-122"/>
                <a:cs typeface="Calibri" pitchFamily="34" charset="-120"/>
              </a:rPr>
              <a:t>Vertiv</a:t>
            </a:r>
            <a:endParaRPr lang="en-US" sz="1200" dirty="0"/>
          </a:p>
        </p:txBody>
      </p:sp>
      <p:sp>
        <p:nvSpPr>
          <p:cNvPr id="35" name="Shape 33"/>
          <p:cNvSpPr/>
          <p:nvPr/>
        </p:nvSpPr>
        <p:spPr>
          <a:xfrm>
            <a:off x="3291840" y="4599432"/>
            <a:ext cx="4937760" cy="36576"/>
          </a:xfrm>
          <a:prstGeom prst="rect">
            <a:avLst/>
          </a:prstGeom>
          <a:solidFill>
            <a:srgbClr val="3A2B1A"/>
          </a:solidFill>
          <a:ln/>
        </p:spPr>
      </p:sp>
      <p:sp>
        <p:nvSpPr>
          <p:cNvPr id="36" name="Shape 34"/>
          <p:cNvSpPr/>
          <p:nvPr/>
        </p:nvSpPr>
        <p:spPr>
          <a:xfrm>
            <a:off x="3291840" y="4599432"/>
            <a:ext cx="411480" cy="36576"/>
          </a:xfrm>
          <a:prstGeom prst="rect">
            <a:avLst/>
          </a:prstGeom>
          <a:solidFill>
            <a:srgbClr val="B87D44"/>
          </a:solidFill>
          <a:ln/>
        </p:spPr>
      </p:sp>
      <p:sp>
        <p:nvSpPr>
          <p:cNvPr id="37" name="Shape 35"/>
          <p:cNvSpPr/>
          <p:nvPr/>
        </p:nvSpPr>
        <p:spPr>
          <a:xfrm>
            <a:off x="3602736" y="4517136"/>
            <a:ext cx="201168" cy="201168"/>
          </a:xfrm>
          <a:prstGeom prst="ellipse">
            <a:avLst/>
          </a:prstGeom>
          <a:solidFill>
            <a:srgbClr val="E2B877"/>
          </a:solidFill>
          <a:ln/>
        </p:spPr>
      </p:sp>
      <p:sp>
        <p:nvSpPr>
          <p:cNvPr id="38" name="Text 36"/>
          <p:cNvSpPr/>
          <p:nvPr/>
        </p:nvSpPr>
        <p:spPr>
          <a:xfrm>
            <a:off x="8503920" y="4361688"/>
            <a:ext cx="3063240" cy="658368"/>
          </a:xfrm>
          <a:prstGeom prst="rect">
            <a:avLst/>
          </a:prstGeom>
          <a:noFill/>
          <a:ln/>
        </p:spPr>
        <p:txBody>
          <a:bodyPr wrap="square" lIns="0" tIns="0" rIns="0" bIns="0" rtlCol="0" anchor="t"/>
          <a:lstStyle/>
          <a:p>
            <a:pPr indent="0" marL="0">
              <a:buNone/>
            </a:pPr>
            <a:r>
              <a:rPr lang="en-US" sz="800" dirty="0">
                <a:solidFill>
                  <a:srgbClr val="CDBFA9"/>
                </a:solidFill>
                <a:latin typeface="Calibri" pitchFamily="34" charset="0"/>
                <a:ea typeface="Calibri" pitchFamily="34" charset="-122"/>
                <a:cs typeface="Calibri" pitchFamily="34" charset="-120"/>
              </a:rPr>
              <a:t>Data center equipment builder exploring SUPERWOOD components</a:t>
            </a:r>
            <a:endParaRPr lang="en-US" sz="800" dirty="0"/>
          </a:p>
        </p:txBody>
      </p:sp>
      <p:sp>
        <p:nvSpPr>
          <p:cNvPr id="39" name="Text 37"/>
          <p:cNvSpPr/>
          <p:nvPr/>
        </p:nvSpPr>
        <p:spPr>
          <a:xfrm>
            <a:off x="3246120" y="4727448"/>
            <a:ext cx="5029200" cy="274320"/>
          </a:xfrm>
          <a:prstGeom prst="rect">
            <a:avLst/>
          </a:prstGeom>
          <a:noFill/>
          <a:ln/>
        </p:spPr>
        <p:txBody>
          <a:bodyPr wrap="square" lIns="0" tIns="0" rIns="0" bIns="0" rtlCol="0" anchor="ctr"/>
          <a:lstStyle/>
          <a:p>
            <a:pPr algn="l" indent="0" marL="0">
              <a:buNone/>
            </a:pPr>
            <a:r>
              <a:rPr lang="en-US" sz="800" i="1" dirty="0">
                <a:solidFill>
                  <a:srgbClr val="9D8D76"/>
                </a:solidFill>
                <a:latin typeface="Calibri" pitchFamily="34" charset="0"/>
                <a:ea typeface="Calibri" pitchFamily="34" charset="-122"/>
                <a:cs typeface="Calibri" pitchFamily="34" charset="-120"/>
              </a:rPr>
              <a:t>Next: Identify first applications</a:t>
            </a:r>
            <a:endParaRPr lang="en-US" sz="800" dirty="0"/>
          </a:p>
        </p:txBody>
      </p:sp>
      <p:sp>
        <p:nvSpPr>
          <p:cNvPr id="40" name="Shape 38"/>
          <p:cNvSpPr/>
          <p:nvPr/>
        </p:nvSpPr>
        <p:spPr>
          <a:xfrm>
            <a:off x="502920" y="5020056"/>
            <a:ext cx="11155680" cy="10973"/>
          </a:xfrm>
          <a:prstGeom prst="rect">
            <a:avLst/>
          </a:prstGeom>
          <a:solidFill>
            <a:srgbClr val="3A2B1A"/>
          </a:solidFill>
          <a:ln/>
        </p:spPr>
      </p:sp>
      <p:sp>
        <p:nvSpPr>
          <p:cNvPr id="41" name="Text 39"/>
          <p:cNvSpPr/>
          <p:nvPr/>
        </p:nvSpPr>
        <p:spPr>
          <a:xfrm>
            <a:off x="502920" y="5093208"/>
            <a:ext cx="2651760" cy="548640"/>
          </a:xfrm>
          <a:prstGeom prst="rect">
            <a:avLst/>
          </a:prstGeom>
          <a:noFill/>
          <a:ln/>
        </p:spPr>
        <p:txBody>
          <a:bodyPr wrap="square" lIns="0" tIns="0" rIns="0" bIns="0" rtlCol="0" anchor="t"/>
          <a:lstStyle/>
          <a:p>
            <a:pPr indent="0" marL="0">
              <a:buNone/>
            </a:pPr>
            <a:r>
              <a:rPr lang="en-US" sz="1200" b="1" dirty="0">
                <a:solidFill>
                  <a:srgbClr val="F4ECDF"/>
                </a:solidFill>
                <a:latin typeface="Calibri" pitchFamily="34" charset="0"/>
                <a:ea typeface="Calibri" pitchFamily="34" charset="-122"/>
                <a:cs typeface="Calibri" pitchFamily="34" charset="-120"/>
              </a:rPr>
              <a:t>Data center operators</a:t>
            </a:r>
            <a:endParaRPr lang="en-US" sz="1200" dirty="0"/>
          </a:p>
        </p:txBody>
      </p:sp>
      <p:sp>
        <p:nvSpPr>
          <p:cNvPr id="42" name="Shape 40"/>
          <p:cNvSpPr/>
          <p:nvPr/>
        </p:nvSpPr>
        <p:spPr>
          <a:xfrm>
            <a:off x="3291840" y="5312664"/>
            <a:ext cx="4937760" cy="36576"/>
          </a:xfrm>
          <a:prstGeom prst="rect">
            <a:avLst/>
          </a:prstGeom>
          <a:solidFill>
            <a:srgbClr val="3A2B1A"/>
          </a:solidFill>
          <a:ln/>
        </p:spPr>
      </p:sp>
      <p:sp>
        <p:nvSpPr>
          <p:cNvPr id="43" name="Shape 41"/>
          <p:cNvSpPr/>
          <p:nvPr/>
        </p:nvSpPr>
        <p:spPr>
          <a:xfrm>
            <a:off x="3291840" y="5312664"/>
            <a:ext cx="411480" cy="36576"/>
          </a:xfrm>
          <a:prstGeom prst="rect">
            <a:avLst/>
          </a:prstGeom>
          <a:solidFill>
            <a:srgbClr val="B87D44"/>
          </a:solidFill>
          <a:ln/>
        </p:spPr>
      </p:sp>
      <p:sp>
        <p:nvSpPr>
          <p:cNvPr id="44" name="Shape 42"/>
          <p:cNvSpPr/>
          <p:nvPr/>
        </p:nvSpPr>
        <p:spPr>
          <a:xfrm>
            <a:off x="3602736" y="5230368"/>
            <a:ext cx="201168" cy="201168"/>
          </a:xfrm>
          <a:prstGeom prst="ellipse">
            <a:avLst/>
          </a:prstGeom>
          <a:solidFill>
            <a:srgbClr val="E2B877"/>
          </a:solidFill>
          <a:ln/>
        </p:spPr>
      </p:sp>
      <p:sp>
        <p:nvSpPr>
          <p:cNvPr id="45" name="Text 43"/>
          <p:cNvSpPr/>
          <p:nvPr/>
        </p:nvSpPr>
        <p:spPr>
          <a:xfrm>
            <a:off x="8503920" y="5074920"/>
            <a:ext cx="3063240" cy="658368"/>
          </a:xfrm>
          <a:prstGeom prst="rect">
            <a:avLst/>
          </a:prstGeom>
          <a:noFill/>
          <a:ln/>
        </p:spPr>
        <p:txBody>
          <a:bodyPr wrap="square" lIns="0" tIns="0" rIns="0" bIns="0" rtlCol="0" anchor="t"/>
          <a:lstStyle/>
          <a:p>
            <a:pPr indent="0" marL="0">
              <a:buNone/>
            </a:pPr>
            <a:r>
              <a:rPr lang="en-US" sz="800" dirty="0">
                <a:solidFill>
                  <a:srgbClr val="CDBFA9"/>
                </a:solidFill>
                <a:latin typeface="Calibri" pitchFamily="34" charset="0"/>
                <a:ea typeface="Calibri" pitchFamily="34" charset="-122"/>
                <a:cs typeface="Calibri" pitchFamily="34" charset="-120"/>
              </a:rPr>
              <a:t>Operators focused on security fencing around outdoor infrastructure</a:t>
            </a:r>
            <a:endParaRPr lang="en-US" sz="800" dirty="0"/>
          </a:p>
        </p:txBody>
      </p:sp>
      <p:sp>
        <p:nvSpPr>
          <p:cNvPr id="46" name="Text 44"/>
          <p:cNvSpPr/>
          <p:nvPr/>
        </p:nvSpPr>
        <p:spPr>
          <a:xfrm>
            <a:off x="3246120" y="5440680"/>
            <a:ext cx="5029200" cy="274320"/>
          </a:xfrm>
          <a:prstGeom prst="rect">
            <a:avLst/>
          </a:prstGeom>
          <a:noFill/>
          <a:ln/>
        </p:spPr>
        <p:txBody>
          <a:bodyPr wrap="square" lIns="0" tIns="0" rIns="0" bIns="0" rtlCol="0" anchor="ctr"/>
          <a:lstStyle/>
          <a:p>
            <a:pPr algn="l" indent="0" marL="0">
              <a:buNone/>
            </a:pPr>
            <a:r>
              <a:rPr lang="en-US" sz="800" i="1" dirty="0">
                <a:solidFill>
                  <a:srgbClr val="9D8D76"/>
                </a:solidFill>
                <a:latin typeface="Calibri" pitchFamily="34" charset="0"/>
                <a:ea typeface="Calibri" pitchFamily="34" charset="-122"/>
                <a:cs typeface="Calibri" pitchFamily="34" charset="-120"/>
              </a:rPr>
              <a:t>Next: Fence specification and quote</a:t>
            </a:r>
            <a:endParaRPr lang="en-US" sz="800" dirty="0"/>
          </a:p>
        </p:txBody>
      </p:sp>
      <p:sp>
        <p:nvSpPr>
          <p:cNvPr id="47" name="Text 45"/>
          <p:cNvSpPr/>
          <p:nvPr/>
        </p:nvSpPr>
        <p:spPr>
          <a:xfrm>
            <a:off x="8503920" y="1691640"/>
            <a:ext cx="3063240" cy="502920"/>
          </a:xfrm>
          <a:prstGeom prst="rect">
            <a:avLst/>
          </a:prstGeom>
          <a:noFill/>
          <a:ln/>
        </p:spPr>
        <p:txBody>
          <a:bodyPr wrap="square" lIns="0" tIns="0" rIns="0" bIns="0" rtlCol="0" anchor="b"/>
          <a:lstStyle/>
          <a:p>
            <a:pPr indent="0" marL="0">
              <a:buNone/>
            </a:pPr>
            <a:r>
              <a:rPr lang="en-US" sz="650" b="1" spc="50" kern="0" dirty="0">
                <a:solidFill>
                  <a:srgbClr val="CDA165"/>
                </a:solidFill>
                <a:latin typeface="Calibri" pitchFamily="34" charset="0"/>
                <a:ea typeface="Calibri" pitchFamily="34" charset="-122"/>
                <a:cs typeface="Calibri" pitchFamily="34" charset="-120"/>
              </a:rPr>
              <a:t>WHAT THEY ARE DOING WITH US</a:t>
            </a:r>
            <a:endParaRPr lang="en-US" sz="650" dirty="0"/>
          </a:p>
        </p:txBody>
      </p:sp>
      <p:sp>
        <p:nvSpPr>
          <p:cNvPr id="48" name="Shape 46"/>
          <p:cNvSpPr/>
          <p:nvPr/>
        </p:nvSpPr>
        <p:spPr>
          <a:xfrm>
            <a:off x="502920" y="5806440"/>
            <a:ext cx="11155680" cy="530352"/>
          </a:xfrm>
          <a:prstGeom prst="roundRect">
            <a:avLst>
              <a:gd name="adj" fmla="val 15517"/>
            </a:avLst>
          </a:prstGeom>
          <a:solidFill>
            <a:srgbClr val="2E2113"/>
          </a:solidFill>
          <a:ln/>
        </p:spPr>
      </p:sp>
      <p:sp>
        <p:nvSpPr>
          <p:cNvPr id="49" name="Text 47"/>
          <p:cNvSpPr/>
          <p:nvPr/>
        </p:nvSpPr>
        <p:spPr>
          <a:xfrm>
            <a:off x="777240" y="5806440"/>
            <a:ext cx="2377440" cy="530352"/>
          </a:xfrm>
          <a:prstGeom prst="rect">
            <a:avLst/>
          </a:prstGeom>
          <a:noFill/>
          <a:ln/>
        </p:spPr>
        <p:txBody>
          <a:bodyPr wrap="square" lIns="0" tIns="0" rIns="0" bIns="0" rtlCol="0" anchor="ctr"/>
          <a:lstStyle/>
          <a:p>
            <a:pPr indent="0" marL="0">
              <a:buNone/>
            </a:pPr>
            <a:r>
              <a:rPr lang="en-US" sz="800" b="1" spc="150" kern="0" dirty="0">
                <a:solidFill>
                  <a:srgbClr val="CDA165"/>
                </a:solidFill>
                <a:latin typeface="Calibri" pitchFamily="34" charset="0"/>
                <a:ea typeface="Calibri" pitchFamily="34" charset="-122"/>
                <a:cs typeface="Calibri" pitchFamily="34" charset="-120"/>
              </a:rPr>
              <a:t>ENGINEERING AND CONSTRUCTION COLLABORATORS</a:t>
            </a:r>
            <a:endParaRPr lang="en-US" sz="800" dirty="0"/>
          </a:p>
        </p:txBody>
      </p:sp>
      <p:pic>
        <p:nvPicPr>
          <p:cNvPr id="50" name="Image 0" descr="prep/logo_fastepp.png">    </p:cNvPr>
          <p:cNvPicPr>
            <a:picLocks noChangeAspect="1"/>
          </p:cNvPicPr>
          <p:nvPr/>
        </p:nvPicPr>
        <p:blipFill>
          <a:blip r:embed="rId1"/>
          <a:stretch>
            <a:fillRect/>
          </a:stretch>
        </p:blipFill>
        <p:spPr>
          <a:xfrm>
            <a:off x="3108960" y="5888736"/>
            <a:ext cx="847493" cy="173736"/>
          </a:xfrm>
          <a:prstGeom prst="rect">
            <a:avLst/>
          </a:prstGeom>
        </p:spPr>
      </p:pic>
      <p:sp>
        <p:nvSpPr>
          <p:cNvPr id="51" name="Text 48"/>
          <p:cNvSpPr/>
          <p:nvPr/>
        </p:nvSpPr>
        <p:spPr>
          <a:xfrm>
            <a:off x="3108960" y="6099048"/>
            <a:ext cx="2011680" cy="201168"/>
          </a:xfrm>
          <a:prstGeom prst="rect">
            <a:avLst/>
          </a:prstGeom>
          <a:noFill/>
          <a:ln/>
        </p:spPr>
        <p:txBody>
          <a:bodyPr wrap="square" lIns="0" tIns="0" rIns="0" bIns="0" rtlCol="0" anchor="t"/>
          <a:lstStyle/>
          <a:p>
            <a:pPr indent="0" marL="0">
              <a:buNone/>
            </a:pPr>
            <a:r>
              <a:rPr lang="en-US" sz="750" dirty="0">
                <a:solidFill>
                  <a:srgbClr val="9D8D76"/>
                </a:solidFill>
                <a:latin typeface="Calibri" pitchFamily="34" charset="0"/>
                <a:ea typeface="Calibri" pitchFamily="34" charset="-122"/>
                <a:cs typeface="Calibri" pitchFamily="34" charset="-120"/>
              </a:rPr>
              <a:t>Structural engineers, Vancouver</a:t>
            </a:r>
            <a:endParaRPr lang="en-US" sz="750" dirty="0"/>
          </a:p>
        </p:txBody>
      </p:sp>
      <p:sp>
        <p:nvSpPr>
          <p:cNvPr id="52" name="Text 49"/>
          <p:cNvSpPr/>
          <p:nvPr/>
        </p:nvSpPr>
        <p:spPr>
          <a:xfrm>
            <a:off x="5257800" y="5852160"/>
            <a:ext cx="2011680" cy="246888"/>
          </a:xfrm>
          <a:prstGeom prst="rect">
            <a:avLst/>
          </a:prstGeom>
          <a:noFill/>
          <a:ln/>
        </p:spPr>
        <p:txBody>
          <a:bodyPr wrap="square" lIns="0" tIns="0" rIns="0" bIns="0" rtlCol="0" anchor="ctr"/>
          <a:lstStyle/>
          <a:p>
            <a:pPr indent="0" marL="0">
              <a:buNone/>
            </a:pPr>
            <a:r>
              <a:rPr lang="en-US" sz="1000" b="1" dirty="0">
                <a:solidFill>
                  <a:srgbClr val="F4ECDF"/>
                </a:solidFill>
                <a:latin typeface="Calibri" pitchFamily="34" charset="0"/>
                <a:ea typeface="Calibri" pitchFamily="34" charset="-122"/>
                <a:cs typeface="Calibri" pitchFamily="34" charset="-120"/>
              </a:rPr>
              <a:t>Timber Engineering</a:t>
            </a:r>
            <a:endParaRPr lang="en-US" sz="1000" dirty="0"/>
          </a:p>
        </p:txBody>
      </p:sp>
      <p:sp>
        <p:nvSpPr>
          <p:cNvPr id="53" name="Text 50"/>
          <p:cNvSpPr/>
          <p:nvPr/>
        </p:nvSpPr>
        <p:spPr>
          <a:xfrm>
            <a:off x="5257800" y="6099048"/>
            <a:ext cx="2011680" cy="201168"/>
          </a:xfrm>
          <a:prstGeom prst="rect">
            <a:avLst/>
          </a:prstGeom>
          <a:noFill/>
          <a:ln/>
        </p:spPr>
        <p:txBody>
          <a:bodyPr wrap="square" lIns="0" tIns="0" rIns="0" bIns="0" rtlCol="0" anchor="t"/>
          <a:lstStyle/>
          <a:p>
            <a:pPr indent="0" marL="0">
              <a:buNone/>
            </a:pPr>
            <a:r>
              <a:rPr lang="en-US" sz="750" dirty="0">
                <a:solidFill>
                  <a:srgbClr val="9D8D76"/>
                </a:solidFill>
                <a:latin typeface="Calibri" pitchFamily="34" charset="0"/>
                <a:ea typeface="Calibri" pitchFamily="34" charset="-122"/>
                <a:cs typeface="Calibri" pitchFamily="34" charset="-120"/>
              </a:rPr>
              <a:t>Structural engineering</a:t>
            </a:r>
            <a:endParaRPr lang="en-US" sz="750" dirty="0"/>
          </a:p>
        </p:txBody>
      </p:sp>
      <p:pic>
        <p:nvPicPr>
          <p:cNvPr id="54" name="Image 1" descr="prep/logo_hitt.png">    </p:cNvPr>
          <p:cNvPicPr>
            <a:picLocks noChangeAspect="1"/>
          </p:cNvPicPr>
          <p:nvPr/>
        </p:nvPicPr>
        <p:blipFill>
          <a:blip r:embed="rId2"/>
          <a:stretch>
            <a:fillRect/>
          </a:stretch>
        </p:blipFill>
        <p:spPr>
          <a:xfrm>
            <a:off x="7406640" y="5888736"/>
            <a:ext cx="683362" cy="173736"/>
          </a:xfrm>
          <a:prstGeom prst="rect">
            <a:avLst/>
          </a:prstGeom>
        </p:spPr>
      </p:pic>
      <p:sp>
        <p:nvSpPr>
          <p:cNvPr id="55" name="Text 51"/>
          <p:cNvSpPr/>
          <p:nvPr/>
        </p:nvSpPr>
        <p:spPr>
          <a:xfrm>
            <a:off x="7406640" y="6099048"/>
            <a:ext cx="2011680" cy="201168"/>
          </a:xfrm>
          <a:prstGeom prst="rect">
            <a:avLst/>
          </a:prstGeom>
          <a:noFill/>
          <a:ln/>
        </p:spPr>
        <p:txBody>
          <a:bodyPr wrap="square" lIns="0" tIns="0" rIns="0" bIns="0" rtlCol="0" anchor="t"/>
          <a:lstStyle/>
          <a:p>
            <a:pPr indent="0" marL="0">
              <a:buNone/>
            </a:pPr>
            <a:r>
              <a:rPr lang="en-US" sz="750" dirty="0">
                <a:solidFill>
                  <a:srgbClr val="9D8D76"/>
                </a:solidFill>
                <a:latin typeface="Calibri" pitchFamily="34" charset="0"/>
                <a:ea typeface="Calibri" pitchFamily="34" charset="-122"/>
                <a:cs typeface="Calibri" pitchFamily="34" charset="-120"/>
              </a:rPr>
              <a:t>General contractor</a:t>
            </a:r>
            <a:endParaRPr lang="en-US" sz="750" dirty="0"/>
          </a:p>
        </p:txBody>
      </p:sp>
      <p:pic>
        <p:nvPicPr>
          <p:cNvPr id="56" name="Image 2" descr="prep/logo_turner.png">    </p:cNvPr>
          <p:cNvPicPr>
            <a:picLocks noChangeAspect="1"/>
          </p:cNvPicPr>
          <p:nvPr/>
        </p:nvPicPr>
        <p:blipFill>
          <a:blip r:embed="rId3"/>
          <a:stretch>
            <a:fillRect/>
          </a:stretch>
        </p:blipFill>
        <p:spPr>
          <a:xfrm>
            <a:off x="9555480" y="5888736"/>
            <a:ext cx="592703" cy="173736"/>
          </a:xfrm>
          <a:prstGeom prst="rect">
            <a:avLst/>
          </a:prstGeom>
        </p:spPr>
      </p:pic>
      <p:sp>
        <p:nvSpPr>
          <p:cNvPr id="57" name="Text 52"/>
          <p:cNvSpPr/>
          <p:nvPr/>
        </p:nvSpPr>
        <p:spPr>
          <a:xfrm>
            <a:off x="9555480" y="6099048"/>
            <a:ext cx="2011680" cy="201168"/>
          </a:xfrm>
          <a:prstGeom prst="rect">
            <a:avLst/>
          </a:prstGeom>
          <a:noFill/>
          <a:ln/>
        </p:spPr>
        <p:txBody>
          <a:bodyPr wrap="square" lIns="0" tIns="0" rIns="0" bIns="0" rtlCol="0" anchor="t"/>
          <a:lstStyle/>
          <a:p>
            <a:pPr indent="0" marL="0">
              <a:buNone/>
            </a:pPr>
            <a:r>
              <a:rPr lang="en-US" sz="750" dirty="0">
                <a:solidFill>
                  <a:srgbClr val="9D8D76"/>
                </a:solidFill>
                <a:latin typeface="Calibri" pitchFamily="34" charset="0"/>
                <a:ea typeface="Calibri" pitchFamily="34" charset="-122"/>
                <a:cs typeface="Calibri" pitchFamily="34" charset="-120"/>
              </a:rPr>
              <a:t>General contractor</a:t>
            </a:r>
            <a:endParaRPr lang="en-US" sz="750" dirty="0"/>
          </a:p>
        </p:txBody>
      </p:sp>
      <p:sp>
        <p:nvSpPr>
          <p:cNvPr id="58" name="Text 53"/>
          <p:cNvSpPr/>
          <p:nvPr/>
        </p:nvSpPr>
        <p:spPr>
          <a:xfrm>
            <a:off x="502920" y="6373368"/>
            <a:ext cx="11155680" cy="27432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Next steps undated. Published backup for Microsoft and Meta on the next slide.</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evidence</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EVIDENCE</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000" dirty="0">
                <a:solidFill>
                  <a:srgbClr val="F4ECDF"/>
                </a:solidFill>
                <a:latin typeface="Georgia" pitchFamily="34" charset="0"/>
                <a:ea typeface="Georgia" pitchFamily="34" charset="-122"/>
                <a:cs typeface="Georgia" pitchFamily="34" charset="-120"/>
              </a:rPr>
              <a:t>Microsoft and Meta</a:t>
            </a:r>
            <a:endParaRPr lang="en-US" sz="3000" dirty="0"/>
          </a:p>
        </p:txBody>
      </p:sp>
      <p:sp>
        <p:nvSpPr>
          <p:cNvPr id="6" name="Text 4"/>
          <p:cNvSpPr/>
          <p:nvPr/>
        </p:nvSpPr>
        <p:spPr>
          <a:xfrm>
            <a:off x="502920" y="1737360"/>
            <a:ext cx="5486400" cy="457200"/>
          </a:xfrm>
          <a:prstGeom prst="rect">
            <a:avLst/>
          </a:prstGeom>
          <a:noFill/>
          <a:ln/>
        </p:spPr>
        <p:txBody>
          <a:bodyPr wrap="square" lIns="0" tIns="0" rIns="0" bIns="0" rtlCol="0" anchor="ctr"/>
          <a:lstStyle/>
          <a:p>
            <a:pPr indent="0" marL="0">
              <a:buNone/>
            </a:pPr>
            <a:r>
              <a:rPr lang="en-US" sz="2200" dirty="0">
                <a:solidFill>
                  <a:srgbClr val="F4ECDF"/>
                </a:solidFill>
                <a:latin typeface="Georgia" pitchFamily="34" charset="0"/>
                <a:ea typeface="Georgia" pitchFamily="34" charset="-122"/>
                <a:cs typeface="Georgia" pitchFamily="34" charset="-120"/>
              </a:rPr>
              <a:t>Microsoft</a:t>
            </a:r>
            <a:pPr indent="0" marL="0">
              <a:buNone/>
            </a:pPr>
            <a:r>
              <a:rPr lang="en-US" sz="1400" i="1" dirty="0">
                <a:solidFill>
                  <a:srgbClr val="E2B877"/>
                </a:solidFill>
                <a:latin typeface="Georgia" pitchFamily="34" charset="0"/>
                <a:ea typeface="Georgia" pitchFamily="34" charset="-122"/>
                <a:cs typeface="Georgia" pitchFamily="34" charset="-120"/>
              </a:rPr>
              <a:t>  broad engagement</a:t>
            </a:r>
            <a:endParaRPr lang="en-US" sz="2200" dirty="0"/>
          </a:p>
        </p:txBody>
      </p:sp>
      <p:sp>
        <p:nvSpPr>
          <p:cNvPr id="7" name="Shape 5"/>
          <p:cNvSpPr/>
          <p:nvPr/>
        </p:nvSpPr>
        <p:spPr>
          <a:xfrm>
            <a:off x="502920" y="2286000"/>
            <a:ext cx="5486400" cy="1325880"/>
          </a:xfrm>
          <a:prstGeom prst="roundRect">
            <a:avLst>
              <a:gd name="adj" fmla="val 6207"/>
            </a:avLst>
          </a:prstGeom>
          <a:solidFill>
            <a:srgbClr val="2E2113"/>
          </a:solidFill>
          <a:ln/>
        </p:spPr>
      </p:sp>
      <p:sp>
        <p:nvSpPr>
          <p:cNvPr id="8" name="Text 6"/>
          <p:cNvSpPr/>
          <p:nvPr/>
        </p:nvSpPr>
        <p:spPr>
          <a:xfrm>
            <a:off x="731520" y="2359152"/>
            <a:ext cx="36576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PUBLISHED</a:t>
            </a:r>
            <a:endParaRPr lang="en-US" sz="900" dirty="0"/>
          </a:p>
        </p:txBody>
      </p:sp>
      <p:sp>
        <p:nvSpPr>
          <p:cNvPr id="9" name="Text 7"/>
          <p:cNvSpPr/>
          <p:nvPr/>
        </p:nvSpPr>
        <p:spPr>
          <a:xfrm>
            <a:off x="731520" y="2606040"/>
            <a:ext cx="5029200" cy="777240"/>
          </a:xfrm>
          <a:prstGeom prst="rect">
            <a:avLst/>
          </a:prstGeom>
          <a:noFill/>
          <a:ln/>
        </p:spPr>
        <p:txBody>
          <a:bodyPr wrap="square" lIns="0" tIns="0" rIns="0" bIns="0" rtlCol="0" anchor="t"/>
          <a:lstStyle/>
          <a:p>
            <a:pPr indent="0" marL="0">
              <a:buNone/>
            </a:pPr>
            <a:r>
              <a:rPr lang="en-US" sz="900" dirty="0">
                <a:solidFill>
                  <a:srgbClr val="F4ECDF"/>
                </a:solidFill>
                <a:latin typeface="Calibri" pitchFamily="34" charset="0"/>
                <a:ea typeface="Calibri" pitchFamily="34" charset="-122"/>
                <a:cs typeface="Calibri" pitchFamily="34" charset="-120"/>
              </a:rPr>
              <a:t>Two Northern Virginia datacenters built with cross-laminated timber floor panels on a steel frame — an estimated 35% embodied-carbon reduction vs. conventional steel construction and 65% vs. precast concrete. Design by Gensler; structural engineering by Thornton Tomasetti.</a:t>
            </a:r>
            <a:endParaRPr lang="en-US" sz="900" dirty="0"/>
          </a:p>
        </p:txBody>
      </p:sp>
      <p:sp>
        <p:nvSpPr>
          <p:cNvPr id="10" name="Text 8"/>
          <p:cNvSpPr/>
          <p:nvPr/>
        </p:nvSpPr>
        <p:spPr>
          <a:xfrm>
            <a:off x="731520" y="3364992"/>
            <a:ext cx="5029200" cy="201168"/>
          </a:xfrm>
          <a:prstGeom prst="rect">
            <a:avLst/>
          </a:prstGeom>
          <a:noFill/>
          <a:ln/>
        </p:spPr>
        <p:txBody>
          <a:bodyPr wrap="square" lIns="0" tIns="0" rIns="0" bIns="0" rtlCol="0" anchor="ctr"/>
          <a:lstStyle/>
          <a:p>
            <a:pPr indent="0" marL="0">
              <a:buNone/>
            </a:pPr>
            <a:r>
              <a:rPr lang="en-US" sz="750" i="1" dirty="0">
                <a:solidFill>
                  <a:srgbClr val="9D8D76"/>
                </a:solidFill>
                <a:latin typeface="Calibri" pitchFamily="34" charset="0"/>
                <a:ea typeface="Calibri" pitchFamily="34" charset="-122"/>
                <a:cs typeface="Calibri" pitchFamily="34" charset="-120"/>
              </a:rPr>
              <a:t>Microsoft Source, Nov 2024; Thornton Tomasetti project page</a:t>
            </a:r>
            <a:endParaRPr lang="en-US" sz="750" dirty="0"/>
          </a:p>
        </p:txBody>
      </p:sp>
      <p:sp>
        <p:nvSpPr>
          <p:cNvPr id="11" name="Text 9"/>
          <p:cNvSpPr/>
          <p:nvPr/>
        </p:nvSpPr>
        <p:spPr>
          <a:xfrm>
            <a:off x="502920" y="3749040"/>
            <a:ext cx="36576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WORKING WITH INVENTWOOD</a:t>
            </a:r>
            <a:endParaRPr lang="en-US" sz="900" dirty="0"/>
          </a:p>
        </p:txBody>
      </p:sp>
      <p:sp>
        <p:nvSpPr>
          <p:cNvPr id="12" name="Shape 10"/>
          <p:cNvSpPr/>
          <p:nvPr/>
        </p:nvSpPr>
        <p:spPr>
          <a:xfrm>
            <a:off x="502920" y="4105656"/>
            <a:ext cx="109728" cy="109728"/>
          </a:xfrm>
          <a:prstGeom prst="ellipse">
            <a:avLst/>
          </a:prstGeom>
          <a:solidFill>
            <a:srgbClr val="E2B877"/>
          </a:solidFill>
          <a:ln/>
        </p:spPr>
      </p:sp>
      <p:sp>
        <p:nvSpPr>
          <p:cNvPr id="13" name="Text 11"/>
          <p:cNvSpPr/>
          <p:nvPr/>
        </p:nvSpPr>
        <p:spPr>
          <a:xfrm>
            <a:off x="777240" y="4041648"/>
            <a:ext cx="3749040" cy="237744"/>
          </a:xfrm>
          <a:prstGeom prst="rect">
            <a:avLst/>
          </a:prstGeom>
          <a:noFill/>
          <a:ln/>
        </p:spPr>
        <p:txBody>
          <a:bodyPr wrap="square" lIns="0" tIns="0" rIns="0" bIns="0" rtlCol="0" anchor="ctr"/>
          <a:lstStyle/>
          <a:p>
            <a:pPr indent="0" marL="0">
              <a:buNone/>
            </a:pPr>
            <a:r>
              <a:rPr lang="en-US" sz="1100" b="1" dirty="0">
                <a:solidFill>
                  <a:srgbClr val="F4ECDF"/>
                </a:solidFill>
                <a:latin typeface="Calibri" pitchFamily="34" charset="0"/>
                <a:ea typeface="Calibri" pitchFamily="34" charset="-122"/>
                <a:cs typeface="Calibri" pitchFamily="34" charset="-120"/>
              </a:rPr>
              <a:t>Strategic interest</a:t>
            </a:r>
            <a:endParaRPr lang="en-US" sz="1100" dirty="0"/>
          </a:p>
        </p:txBody>
      </p:sp>
      <p:sp>
        <p:nvSpPr>
          <p:cNvPr id="14" name="Text 12"/>
          <p:cNvSpPr/>
          <p:nvPr/>
        </p:nvSpPr>
        <p:spPr>
          <a:xfrm>
            <a:off x="777240" y="4288536"/>
            <a:ext cx="3749040" cy="347472"/>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Incorporating SUPERWOOD into the basis of design for future data centers</a:t>
            </a:r>
            <a:endParaRPr lang="en-US" sz="900" dirty="0"/>
          </a:p>
        </p:txBody>
      </p:sp>
      <p:sp>
        <p:nvSpPr>
          <p:cNvPr id="15" name="Shape 13"/>
          <p:cNvSpPr/>
          <p:nvPr/>
        </p:nvSpPr>
        <p:spPr>
          <a:xfrm>
            <a:off x="502920" y="4672584"/>
            <a:ext cx="109728" cy="109728"/>
          </a:xfrm>
          <a:prstGeom prst="ellipse">
            <a:avLst/>
          </a:prstGeom>
          <a:solidFill>
            <a:srgbClr val="E2B877"/>
          </a:solidFill>
          <a:ln/>
        </p:spPr>
      </p:sp>
      <p:sp>
        <p:nvSpPr>
          <p:cNvPr id="16" name="Text 14"/>
          <p:cNvSpPr/>
          <p:nvPr/>
        </p:nvSpPr>
        <p:spPr>
          <a:xfrm>
            <a:off x="777240" y="4608576"/>
            <a:ext cx="3749040" cy="237744"/>
          </a:xfrm>
          <a:prstGeom prst="rect">
            <a:avLst/>
          </a:prstGeom>
          <a:noFill/>
          <a:ln/>
        </p:spPr>
        <p:txBody>
          <a:bodyPr wrap="square" lIns="0" tIns="0" rIns="0" bIns="0" rtlCol="0" anchor="ctr"/>
          <a:lstStyle/>
          <a:p>
            <a:pPr indent="0" marL="0">
              <a:buNone/>
            </a:pPr>
            <a:r>
              <a:rPr lang="en-US" sz="1100" b="1" dirty="0">
                <a:solidFill>
                  <a:srgbClr val="F4ECDF"/>
                </a:solidFill>
                <a:latin typeface="Calibri" pitchFamily="34" charset="0"/>
                <a:ea typeface="Calibri" pitchFamily="34" charset="-122"/>
                <a:cs typeface="Calibri" pitchFamily="34" charset="-120"/>
              </a:rPr>
              <a:t>Application areas</a:t>
            </a:r>
            <a:endParaRPr lang="en-US" sz="1100" dirty="0"/>
          </a:p>
        </p:txBody>
      </p:sp>
      <p:sp>
        <p:nvSpPr>
          <p:cNvPr id="17" name="Text 15"/>
          <p:cNvSpPr/>
          <p:nvPr/>
        </p:nvSpPr>
        <p:spPr>
          <a:xfrm>
            <a:off x="777240" y="4855464"/>
            <a:ext cx="3749040" cy="347472"/>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Roof trusses, leading to roofs and fast-to-build enclosures — with their principal architecture and engineering firms</a:t>
            </a:r>
            <a:endParaRPr lang="en-US" sz="900" dirty="0"/>
          </a:p>
        </p:txBody>
      </p:sp>
      <p:sp>
        <p:nvSpPr>
          <p:cNvPr id="18" name="Shape 16"/>
          <p:cNvSpPr/>
          <p:nvPr/>
        </p:nvSpPr>
        <p:spPr>
          <a:xfrm>
            <a:off x="502920" y="5239512"/>
            <a:ext cx="109728" cy="109728"/>
          </a:xfrm>
          <a:prstGeom prst="ellipse">
            <a:avLst/>
          </a:prstGeom>
          <a:solidFill>
            <a:srgbClr val="E2B877"/>
          </a:solidFill>
          <a:ln/>
        </p:spPr>
      </p:sp>
      <p:sp>
        <p:nvSpPr>
          <p:cNvPr id="19" name="Text 17"/>
          <p:cNvSpPr/>
          <p:nvPr/>
        </p:nvSpPr>
        <p:spPr>
          <a:xfrm>
            <a:off x="777240" y="5175504"/>
            <a:ext cx="3749040" cy="237744"/>
          </a:xfrm>
          <a:prstGeom prst="rect">
            <a:avLst/>
          </a:prstGeom>
          <a:noFill/>
          <a:ln/>
        </p:spPr>
        <p:txBody>
          <a:bodyPr wrap="square" lIns="0" tIns="0" rIns="0" bIns="0" rtlCol="0" anchor="ctr"/>
          <a:lstStyle/>
          <a:p>
            <a:pPr indent="0" marL="0">
              <a:buNone/>
            </a:pPr>
            <a:r>
              <a:rPr lang="en-US" sz="1100" b="1" dirty="0">
                <a:solidFill>
                  <a:srgbClr val="F4ECDF"/>
                </a:solidFill>
                <a:latin typeface="Calibri" pitchFamily="34" charset="0"/>
                <a:ea typeface="Calibri" pitchFamily="34" charset="-122"/>
                <a:cs typeface="Calibri" pitchFamily="34" charset="-120"/>
              </a:rPr>
              <a:t>Immediate opportunities</a:t>
            </a:r>
            <a:endParaRPr lang="en-US" sz="1100" dirty="0"/>
          </a:p>
        </p:txBody>
      </p:sp>
      <p:sp>
        <p:nvSpPr>
          <p:cNvPr id="20" name="Text 18"/>
          <p:cNvSpPr/>
          <p:nvPr/>
        </p:nvSpPr>
        <p:spPr>
          <a:xfrm>
            <a:off x="777240" y="5422392"/>
            <a:ext cx="3749040" cy="347472"/>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Building facades · biophilic interiors · staff-area fencing · security fencing around transformers</a:t>
            </a:r>
            <a:endParaRPr lang="en-US" sz="900" dirty="0"/>
          </a:p>
        </p:txBody>
      </p:sp>
      <p:pic>
        <p:nvPicPr>
          <p:cNvPr id="21" name="Image 0" descr="prep/tiles/tile_fence_security.jpg">    </p:cNvPr>
          <p:cNvPicPr>
            <a:picLocks noChangeAspect="1"/>
          </p:cNvPicPr>
          <p:nvPr/>
        </p:nvPicPr>
        <p:blipFill>
          <a:blip r:embed="rId1"/>
          <a:stretch>
            <a:fillRect/>
          </a:stretch>
        </p:blipFill>
        <p:spPr>
          <a:xfrm>
            <a:off x="4617720" y="4041648"/>
            <a:ext cx="1371600" cy="1371600"/>
          </a:xfrm>
          <a:prstGeom prst="rect">
            <a:avLst/>
          </a:prstGeom>
        </p:spPr>
      </p:pic>
      <p:sp>
        <p:nvSpPr>
          <p:cNvPr id="22" name="Text 19"/>
          <p:cNvSpPr/>
          <p:nvPr/>
        </p:nvSpPr>
        <p:spPr>
          <a:xfrm>
            <a:off x="3611880" y="5458968"/>
            <a:ext cx="2377440" cy="365760"/>
          </a:xfrm>
          <a:prstGeom prst="rect">
            <a:avLst/>
          </a:prstGeom>
          <a:noFill/>
          <a:ln/>
        </p:spPr>
        <p:txBody>
          <a:bodyPr wrap="square" lIns="0" tIns="0" rIns="0" bIns="0" rtlCol="0" anchor="ctr"/>
          <a:lstStyle/>
          <a:p>
            <a:pPr algn="r" indent="0" marL="0">
              <a:buNone/>
            </a:pPr>
            <a:r>
              <a:rPr lang="en-US" sz="750" i="1" dirty="0">
                <a:solidFill>
                  <a:srgbClr val="9D8D76"/>
                </a:solidFill>
                <a:latin typeface="Calibri" pitchFamily="34" charset="0"/>
                <a:ea typeface="Calibri" pitchFamily="34" charset="-122"/>
                <a:cs typeface="Calibri" pitchFamily="34" charset="-120"/>
              </a:rPr>
              <a:t>Concept rendering — security fencing around a transformer yard</a:t>
            </a:r>
            <a:endParaRPr lang="en-US" sz="750" dirty="0"/>
          </a:p>
        </p:txBody>
      </p:sp>
      <p:sp>
        <p:nvSpPr>
          <p:cNvPr id="23" name="Text 20"/>
          <p:cNvSpPr/>
          <p:nvPr/>
        </p:nvSpPr>
        <p:spPr>
          <a:xfrm>
            <a:off x="6172200" y="1737360"/>
            <a:ext cx="5486400" cy="457200"/>
          </a:xfrm>
          <a:prstGeom prst="rect">
            <a:avLst/>
          </a:prstGeom>
          <a:noFill/>
          <a:ln/>
        </p:spPr>
        <p:txBody>
          <a:bodyPr wrap="square" lIns="0" tIns="0" rIns="0" bIns="0" rtlCol="0" anchor="ctr"/>
          <a:lstStyle/>
          <a:p>
            <a:pPr indent="0" marL="0">
              <a:buNone/>
            </a:pPr>
            <a:r>
              <a:rPr lang="en-US" sz="2200" dirty="0">
                <a:solidFill>
                  <a:srgbClr val="F4ECDF"/>
                </a:solidFill>
                <a:latin typeface="Georgia" pitchFamily="34" charset="0"/>
                <a:ea typeface="Georgia" pitchFamily="34" charset="-122"/>
                <a:cs typeface="Georgia" pitchFamily="34" charset="-120"/>
              </a:rPr>
              <a:t>Meta</a:t>
            </a:r>
            <a:pPr indent="0" marL="0">
              <a:buNone/>
            </a:pPr>
            <a:r>
              <a:rPr lang="en-US" sz="1400" i="1" dirty="0">
                <a:solidFill>
                  <a:srgbClr val="E2B877"/>
                </a:solidFill>
                <a:latin typeface="Georgia" pitchFamily="34" charset="0"/>
                <a:ea typeface="Georgia" pitchFamily="34" charset="-122"/>
                <a:cs typeface="Georgia" pitchFamily="34" charset="-120"/>
              </a:rPr>
              <a:t>  engaged for over a year</a:t>
            </a:r>
            <a:endParaRPr lang="en-US" sz="2200" dirty="0"/>
          </a:p>
        </p:txBody>
      </p:sp>
      <p:sp>
        <p:nvSpPr>
          <p:cNvPr id="24" name="Shape 21"/>
          <p:cNvSpPr/>
          <p:nvPr/>
        </p:nvSpPr>
        <p:spPr>
          <a:xfrm>
            <a:off x="6172200" y="2286000"/>
            <a:ext cx="5486400" cy="1325880"/>
          </a:xfrm>
          <a:prstGeom prst="roundRect">
            <a:avLst>
              <a:gd name="adj" fmla="val 6207"/>
            </a:avLst>
          </a:prstGeom>
          <a:solidFill>
            <a:srgbClr val="2E2113"/>
          </a:solidFill>
          <a:ln/>
        </p:spPr>
      </p:sp>
      <p:sp>
        <p:nvSpPr>
          <p:cNvPr id="25" name="Text 22"/>
          <p:cNvSpPr/>
          <p:nvPr/>
        </p:nvSpPr>
        <p:spPr>
          <a:xfrm>
            <a:off x="6400800" y="2359152"/>
            <a:ext cx="36576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PUBLISHED</a:t>
            </a:r>
            <a:endParaRPr lang="en-US" sz="900" dirty="0"/>
          </a:p>
        </p:txBody>
      </p:sp>
      <p:sp>
        <p:nvSpPr>
          <p:cNvPr id="26" name="Text 23"/>
          <p:cNvSpPr/>
          <p:nvPr/>
        </p:nvSpPr>
        <p:spPr>
          <a:xfrm>
            <a:off x="6400800" y="2606040"/>
            <a:ext cx="5029200" cy="777240"/>
          </a:xfrm>
          <a:prstGeom prst="rect">
            <a:avLst/>
          </a:prstGeom>
          <a:noFill/>
          <a:ln/>
        </p:spPr>
        <p:txBody>
          <a:bodyPr wrap="square" lIns="0" tIns="0" rIns="0" bIns="0" rtlCol="0" anchor="t"/>
          <a:lstStyle/>
          <a:p>
            <a:pPr indent="0" marL="0">
              <a:buNone/>
            </a:pPr>
            <a:r>
              <a:rPr lang="en-US" sz="900" dirty="0">
                <a:solidFill>
                  <a:srgbClr val="F4ECDF"/>
                </a:solidFill>
                <a:latin typeface="Calibri" pitchFamily="34" charset="0"/>
                <a:ea typeface="Calibri" pitchFamily="34" charset="-122"/>
                <a:cs typeface="Calibri" pitchFamily="34" charset="-120"/>
              </a:rPr>
              <a:t>Piloting mass timber for data center administrative buildings: first completed in 2025 at Aiken, South Carolina (DPR, SmartLam); projects under way in Cheyenne, Wyoming and Montgomery, Alabama — about a 41% reduction in the embodied carbon of the materials substituted.</a:t>
            </a:r>
            <a:endParaRPr lang="en-US" sz="900" dirty="0"/>
          </a:p>
        </p:txBody>
      </p:sp>
      <p:sp>
        <p:nvSpPr>
          <p:cNvPr id="27" name="Text 24"/>
          <p:cNvSpPr/>
          <p:nvPr/>
        </p:nvSpPr>
        <p:spPr>
          <a:xfrm>
            <a:off x="6400800" y="3364992"/>
            <a:ext cx="5029200" cy="201168"/>
          </a:xfrm>
          <a:prstGeom prst="rect">
            <a:avLst/>
          </a:prstGeom>
          <a:noFill/>
          <a:ln/>
        </p:spPr>
        <p:txBody>
          <a:bodyPr wrap="square" lIns="0" tIns="0" rIns="0" bIns="0" rtlCol="0" anchor="ctr"/>
          <a:lstStyle/>
          <a:p>
            <a:pPr indent="0" marL="0">
              <a:buNone/>
            </a:pPr>
            <a:r>
              <a:rPr lang="en-US" sz="750" i="1" dirty="0">
                <a:solidFill>
                  <a:srgbClr val="9D8D76"/>
                </a:solidFill>
                <a:latin typeface="Calibri" pitchFamily="34" charset="0"/>
                <a:ea typeface="Calibri" pitchFamily="34" charset="-122"/>
                <a:cs typeface="Calibri" pitchFamily="34" charset="-120"/>
              </a:rPr>
              <a:t>Meta Sustainability, 31 Jul 2025</a:t>
            </a:r>
            <a:endParaRPr lang="en-US" sz="750" dirty="0"/>
          </a:p>
        </p:txBody>
      </p:sp>
      <p:sp>
        <p:nvSpPr>
          <p:cNvPr id="28" name="Text 25"/>
          <p:cNvSpPr/>
          <p:nvPr/>
        </p:nvSpPr>
        <p:spPr>
          <a:xfrm>
            <a:off x="6172200" y="3749040"/>
            <a:ext cx="36576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WORKING WITH INVENTWOOD</a:t>
            </a:r>
            <a:endParaRPr lang="en-US" sz="900" dirty="0"/>
          </a:p>
        </p:txBody>
      </p:sp>
      <p:sp>
        <p:nvSpPr>
          <p:cNvPr id="29" name="Shape 26"/>
          <p:cNvSpPr/>
          <p:nvPr/>
        </p:nvSpPr>
        <p:spPr>
          <a:xfrm>
            <a:off x="6172200" y="4105656"/>
            <a:ext cx="109728" cy="109728"/>
          </a:xfrm>
          <a:prstGeom prst="ellipse">
            <a:avLst/>
          </a:prstGeom>
          <a:solidFill>
            <a:srgbClr val="E2B877"/>
          </a:solidFill>
          <a:ln/>
        </p:spPr>
      </p:sp>
      <p:sp>
        <p:nvSpPr>
          <p:cNvPr id="30" name="Text 27"/>
          <p:cNvSpPr/>
          <p:nvPr/>
        </p:nvSpPr>
        <p:spPr>
          <a:xfrm>
            <a:off x="6446520" y="4041648"/>
            <a:ext cx="3749040" cy="237744"/>
          </a:xfrm>
          <a:prstGeom prst="rect">
            <a:avLst/>
          </a:prstGeom>
          <a:noFill/>
          <a:ln/>
        </p:spPr>
        <p:txBody>
          <a:bodyPr wrap="square" lIns="0" tIns="0" rIns="0" bIns="0" rtlCol="0" anchor="ctr"/>
          <a:lstStyle/>
          <a:p>
            <a:pPr indent="0" marL="0">
              <a:buNone/>
            </a:pPr>
            <a:r>
              <a:rPr lang="en-US" sz="1100" b="1" dirty="0">
                <a:solidFill>
                  <a:srgbClr val="F4ECDF"/>
                </a:solidFill>
                <a:latin typeface="Calibri" pitchFamily="34" charset="0"/>
                <a:ea typeface="Calibri" pitchFamily="34" charset="-122"/>
                <a:cs typeface="Calibri" pitchFamily="34" charset="-120"/>
              </a:rPr>
              <a:t>Broad engagement</a:t>
            </a:r>
            <a:endParaRPr lang="en-US" sz="1100" dirty="0"/>
          </a:p>
        </p:txBody>
      </p:sp>
      <p:sp>
        <p:nvSpPr>
          <p:cNvPr id="31" name="Text 28"/>
          <p:cNvSpPr/>
          <p:nvPr/>
        </p:nvSpPr>
        <p:spPr>
          <a:xfrm>
            <a:off x="6446520" y="4288536"/>
            <a:ext cx="3749040" cy="347472"/>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Across every part of the data-center ecosystem, for more than a year</a:t>
            </a:r>
            <a:endParaRPr lang="en-US" sz="900" dirty="0"/>
          </a:p>
        </p:txBody>
      </p:sp>
      <p:sp>
        <p:nvSpPr>
          <p:cNvPr id="32" name="Shape 29"/>
          <p:cNvSpPr/>
          <p:nvPr/>
        </p:nvSpPr>
        <p:spPr>
          <a:xfrm>
            <a:off x="6172200" y="4672584"/>
            <a:ext cx="109728" cy="109728"/>
          </a:xfrm>
          <a:prstGeom prst="ellipse">
            <a:avLst/>
          </a:prstGeom>
          <a:solidFill>
            <a:srgbClr val="E2B877"/>
          </a:solidFill>
          <a:ln/>
        </p:spPr>
      </p:sp>
      <p:sp>
        <p:nvSpPr>
          <p:cNvPr id="33" name="Text 30"/>
          <p:cNvSpPr/>
          <p:nvPr/>
        </p:nvSpPr>
        <p:spPr>
          <a:xfrm>
            <a:off x="6446520" y="4608576"/>
            <a:ext cx="3749040" cy="237744"/>
          </a:xfrm>
          <a:prstGeom prst="rect">
            <a:avLst/>
          </a:prstGeom>
          <a:noFill/>
          <a:ln/>
        </p:spPr>
        <p:txBody>
          <a:bodyPr wrap="square" lIns="0" tIns="0" rIns="0" bIns="0" rtlCol="0" anchor="ctr"/>
          <a:lstStyle/>
          <a:p>
            <a:pPr indent="0" marL="0">
              <a:buNone/>
            </a:pPr>
            <a:r>
              <a:rPr lang="en-US" sz="1100" b="1" dirty="0">
                <a:solidFill>
                  <a:srgbClr val="F4ECDF"/>
                </a:solidFill>
                <a:latin typeface="Calibri" pitchFamily="34" charset="0"/>
                <a:ea typeface="Calibri" pitchFamily="34" charset="-122"/>
                <a:cs typeface="Calibri" pitchFamily="34" charset="-120"/>
              </a:rPr>
              <a:t>Under way</a:t>
            </a:r>
            <a:endParaRPr lang="en-US" sz="1100" dirty="0"/>
          </a:p>
        </p:txBody>
      </p:sp>
      <p:sp>
        <p:nvSpPr>
          <p:cNvPr id="34" name="Text 31"/>
          <p:cNvSpPr/>
          <p:nvPr/>
        </p:nvSpPr>
        <p:spPr>
          <a:xfrm>
            <a:off x="6446520" y="4855464"/>
            <a:ext cx="3749040" cy="347472"/>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Facade applications and equipment backplanes</a:t>
            </a:r>
            <a:endParaRPr lang="en-US" sz="900" dirty="0"/>
          </a:p>
        </p:txBody>
      </p:sp>
      <p:sp>
        <p:nvSpPr>
          <p:cNvPr id="35" name="Shape 32"/>
          <p:cNvSpPr/>
          <p:nvPr/>
        </p:nvSpPr>
        <p:spPr>
          <a:xfrm>
            <a:off x="6172200" y="5239512"/>
            <a:ext cx="109728" cy="109728"/>
          </a:xfrm>
          <a:prstGeom prst="ellipse">
            <a:avLst/>
          </a:prstGeom>
          <a:solidFill>
            <a:srgbClr val="E2B877"/>
          </a:solidFill>
          <a:ln/>
        </p:spPr>
      </p:sp>
      <p:sp>
        <p:nvSpPr>
          <p:cNvPr id="36" name="Text 33"/>
          <p:cNvSpPr/>
          <p:nvPr/>
        </p:nvSpPr>
        <p:spPr>
          <a:xfrm>
            <a:off x="6446520" y="5175504"/>
            <a:ext cx="3749040" cy="237744"/>
          </a:xfrm>
          <a:prstGeom prst="rect">
            <a:avLst/>
          </a:prstGeom>
          <a:noFill/>
          <a:ln/>
        </p:spPr>
        <p:txBody>
          <a:bodyPr wrap="square" lIns="0" tIns="0" rIns="0" bIns="0" rtlCol="0" anchor="ctr"/>
          <a:lstStyle/>
          <a:p>
            <a:pPr indent="0" marL="0">
              <a:buNone/>
            </a:pPr>
            <a:r>
              <a:rPr lang="en-US" sz="1100" b="1" dirty="0">
                <a:solidFill>
                  <a:srgbClr val="F4ECDF"/>
                </a:solidFill>
                <a:latin typeface="Calibri" pitchFamily="34" charset="0"/>
                <a:ea typeface="Calibri" pitchFamily="34" charset="-122"/>
                <a:cs typeface="Calibri" pitchFamily="34" charset="-120"/>
              </a:rPr>
              <a:t>Next</a:t>
            </a:r>
            <a:endParaRPr lang="en-US" sz="1100" dirty="0"/>
          </a:p>
        </p:txBody>
      </p:sp>
      <p:sp>
        <p:nvSpPr>
          <p:cNvPr id="37" name="Text 34"/>
          <p:cNvSpPr/>
          <p:nvPr/>
        </p:nvSpPr>
        <p:spPr>
          <a:xfrm>
            <a:off x="6446520" y="5422392"/>
            <a:ext cx="3749040" cy="347472"/>
          </a:xfrm>
          <a:prstGeom prst="rect">
            <a:avLst/>
          </a:prstGeom>
          <a:noFill/>
          <a:ln/>
        </p:spPr>
        <p:txBody>
          <a:bodyPr wrap="square" lIns="0" tIns="0" rIns="0" bIns="0" rtlCol="0" anchor="t"/>
          <a:lstStyle/>
          <a:p>
            <a:pPr indent="0" marL="0">
              <a:buNone/>
            </a:pPr>
            <a:r>
              <a:rPr lang="en-US" sz="900" dirty="0">
                <a:solidFill>
                  <a:srgbClr val="9D8D76"/>
                </a:solidFill>
                <a:latin typeface="Calibri" pitchFamily="34" charset="0"/>
                <a:ea typeface="Calibri" pitchFamily="34" charset="-122"/>
                <a:cs typeface="Calibri" pitchFamily="34" charset="-120"/>
              </a:rPr>
              <a:t>Structural applications and racking over time</a:t>
            </a:r>
            <a:endParaRPr lang="en-US" sz="900" dirty="0"/>
          </a:p>
        </p:txBody>
      </p:sp>
      <p:pic>
        <p:nvPicPr>
          <p:cNvPr id="38" name="Image 1" descr="prep/tiles/tile_backplane.jpg">    </p:cNvPr>
          <p:cNvPicPr>
            <a:picLocks noChangeAspect="1"/>
          </p:cNvPicPr>
          <p:nvPr/>
        </p:nvPicPr>
        <p:blipFill>
          <a:blip r:embed="rId2"/>
          <a:stretch>
            <a:fillRect/>
          </a:stretch>
        </p:blipFill>
        <p:spPr>
          <a:xfrm>
            <a:off x="10287000" y="4041648"/>
            <a:ext cx="1371600" cy="1371600"/>
          </a:xfrm>
          <a:prstGeom prst="rect">
            <a:avLst/>
          </a:prstGeom>
        </p:spPr>
      </p:pic>
      <p:sp>
        <p:nvSpPr>
          <p:cNvPr id="39" name="Text 35"/>
          <p:cNvSpPr/>
          <p:nvPr/>
        </p:nvSpPr>
        <p:spPr>
          <a:xfrm>
            <a:off x="9281160" y="5458968"/>
            <a:ext cx="2377440" cy="365760"/>
          </a:xfrm>
          <a:prstGeom prst="rect">
            <a:avLst/>
          </a:prstGeom>
          <a:noFill/>
          <a:ln/>
        </p:spPr>
        <p:txBody>
          <a:bodyPr wrap="square" lIns="0" tIns="0" rIns="0" bIns="0" rtlCol="0" anchor="ctr"/>
          <a:lstStyle/>
          <a:p>
            <a:pPr algn="r" indent="0" marL="0">
              <a:buNone/>
            </a:pPr>
            <a:r>
              <a:rPr lang="en-US" sz="750" i="1" dirty="0">
                <a:solidFill>
                  <a:srgbClr val="9D8D76"/>
                </a:solidFill>
                <a:latin typeface="Calibri" pitchFamily="34" charset="0"/>
                <a:ea typeface="Calibri" pitchFamily="34" charset="-122"/>
                <a:cs typeface="Calibri" pitchFamily="34" charset="-120"/>
              </a:rPr>
              <a:t>Concept rendering — equipment backplane in an electrical room</a:t>
            </a:r>
            <a:endParaRPr lang="en-US" sz="750" dirty="0"/>
          </a:p>
        </p:txBody>
      </p:sp>
      <p:sp>
        <p:nvSpPr>
          <p:cNvPr id="40" name="Text 36"/>
          <p:cNvSpPr/>
          <p:nvPr/>
        </p:nvSpPr>
        <p:spPr>
          <a:xfrm>
            <a:off x="502920" y="6035040"/>
            <a:ext cx="11155680" cy="36576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Sources: news.microsoft.com, Nov 2024; thorntontomasetti.com; sustainability.atmeta.com, 31 Jul 2025.</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Carbon</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CARBON</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2700" dirty="0">
                <a:solidFill>
                  <a:srgbClr val="F4ECDF"/>
                </a:solidFill>
                <a:latin typeface="Georgia" pitchFamily="34" charset="0"/>
                <a:ea typeface="Georgia" pitchFamily="34" charset="-122"/>
                <a:cs typeface="Georgia" pitchFamily="34" charset="-120"/>
              </a:rPr>
              <a:t>Embodied carbon: LCA based on SUPERMILL TWO projections</a:t>
            </a:r>
            <a:endParaRPr lang="en-US" sz="2700" dirty="0"/>
          </a:p>
        </p:txBody>
      </p:sp>
      <p:sp>
        <p:nvSpPr>
          <p:cNvPr id="6" name="Text 4"/>
          <p:cNvSpPr/>
          <p:nvPr/>
        </p:nvSpPr>
        <p:spPr>
          <a:xfrm>
            <a:off x="502920" y="1783080"/>
            <a:ext cx="585216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KG CO₂E, CRADLE TO GATE · EMISSIONS RIGHT OF ZERO, STORAGE LEFT</a:t>
            </a:r>
            <a:endParaRPr lang="en-US" sz="900" dirty="0"/>
          </a:p>
        </p:txBody>
      </p:sp>
      <p:sp>
        <p:nvSpPr>
          <p:cNvPr id="7" name="Text 5"/>
          <p:cNvSpPr/>
          <p:nvPr/>
        </p:nvSpPr>
        <p:spPr>
          <a:xfrm>
            <a:off x="502920" y="2148840"/>
            <a:ext cx="5852160" cy="274320"/>
          </a:xfrm>
          <a:prstGeom prst="rect">
            <a:avLst/>
          </a:prstGeom>
          <a:noFill/>
          <a:ln/>
        </p:spPr>
        <p:txBody>
          <a:bodyPr wrap="square" lIns="0" tIns="0" rIns="0" bIns="0" rtlCol="0" anchor="ctr"/>
          <a:lstStyle/>
          <a:p>
            <a:pPr indent="0" marL="0">
              <a:buNone/>
            </a:pPr>
            <a:r>
              <a:rPr lang="en-US" sz="1000" dirty="0">
                <a:solidFill>
                  <a:srgbClr val="F4ECDF"/>
                </a:solidFill>
                <a:latin typeface="Calibri" pitchFamily="34" charset="0"/>
                <a:ea typeface="Calibri" pitchFamily="34" charset="-122"/>
                <a:cs typeface="Calibri" pitchFamily="34" charset="-120"/>
              </a:rPr>
              <a:t>Steel — global average (BF-BOF), per kg of steel</a:t>
            </a:r>
            <a:endParaRPr lang="en-US" sz="1000" dirty="0"/>
          </a:p>
        </p:txBody>
      </p:sp>
      <p:sp>
        <p:nvSpPr>
          <p:cNvPr id="8" name="Shape 6"/>
          <p:cNvSpPr/>
          <p:nvPr/>
        </p:nvSpPr>
        <p:spPr>
          <a:xfrm>
            <a:off x="502920" y="2459736"/>
            <a:ext cx="4480560" cy="256032"/>
          </a:xfrm>
          <a:prstGeom prst="rect">
            <a:avLst/>
          </a:prstGeom>
          <a:solidFill>
            <a:srgbClr val="3A2B1A"/>
          </a:solidFill>
          <a:ln/>
        </p:spPr>
      </p:sp>
      <p:sp>
        <p:nvSpPr>
          <p:cNvPr id="9" name="Shape 7"/>
          <p:cNvSpPr/>
          <p:nvPr/>
        </p:nvSpPr>
        <p:spPr>
          <a:xfrm>
            <a:off x="1623060" y="2459736"/>
            <a:ext cx="3360420" cy="256032"/>
          </a:xfrm>
          <a:prstGeom prst="rect">
            <a:avLst/>
          </a:prstGeom>
          <a:solidFill>
            <a:srgbClr val="C9706B"/>
          </a:solidFill>
          <a:ln/>
        </p:spPr>
      </p:sp>
      <p:sp>
        <p:nvSpPr>
          <p:cNvPr id="10" name="Shape 8"/>
          <p:cNvSpPr/>
          <p:nvPr/>
        </p:nvSpPr>
        <p:spPr>
          <a:xfrm>
            <a:off x="1623060" y="2423160"/>
            <a:ext cx="0" cy="329184"/>
          </a:xfrm>
          <a:prstGeom prst="line">
            <a:avLst/>
          </a:prstGeom>
          <a:noFill/>
          <a:ln w="9525">
            <a:solidFill>
              <a:srgbClr val="CDBFA9"/>
            </a:solidFill>
            <a:prstDash val="solid"/>
          </a:ln>
        </p:spPr>
      </p:sp>
      <p:sp>
        <p:nvSpPr>
          <p:cNvPr id="11" name="Text 9"/>
          <p:cNvSpPr/>
          <p:nvPr/>
        </p:nvSpPr>
        <p:spPr>
          <a:xfrm>
            <a:off x="5093208" y="2423160"/>
            <a:ext cx="1463040" cy="329184"/>
          </a:xfrm>
          <a:prstGeom prst="rect">
            <a:avLst/>
          </a:prstGeom>
          <a:noFill/>
          <a:ln/>
        </p:spPr>
        <p:txBody>
          <a:bodyPr wrap="square" lIns="0" tIns="0" rIns="0" bIns="0" rtlCol="0" anchor="ctr"/>
          <a:lstStyle/>
          <a:p>
            <a:pPr indent="0" marL="0">
              <a:buNone/>
            </a:pPr>
            <a:r>
              <a:rPr lang="en-US" sz="1150" b="1" dirty="0">
                <a:solidFill>
                  <a:srgbClr val="F4ECDF"/>
                </a:solidFill>
                <a:latin typeface="Georgia" pitchFamily="34" charset="0"/>
                <a:ea typeface="Georgia" pitchFamily="34" charset="-122"/>
                <a:cs typeface="Georgia" pitchFamily="34" charset="-120"/>
              </a:rPr>
              <a:t>1.8 kg</a:t>
            </a:r>
            <a:endParaRPr lang="en-US" sz="1150" dirty="0"/>
          </a:p>
        </p:txBody>
      </p:sp>
      <p:sp>
        <p:nvSpPr>
          <p:cNvPr id="12" name="Text 10"/>
          <p:cNvSpPr/>
          <p:nvPr/>
        </p:nvSpPr>
        <p:spPr>
          <a:xfrm>
            <a:off x="502920" y="3017520"/>
            <a:ext cx="5852160" cy="274320"/>
          </a:xfrm>
          <a:prstGeom prst="rect">
            <a:avLst/>
          </a:prstGeom>
          <a:noFill/>
          <a:ln/>
        </p:spPr>
        <p:txBody>
          <a:bodyPr wrap="square" lIns="0" tIns="0" rIns="0" bIns="0" rtlCol="0" anchor="ctr"/>
          <a:lstStyle/>
          <a:p>
            <a:pPr indent="0" marL="0">
              <a:buNone/>
            </a:pPr>
            <a:r>
              <a:rPr lang="en-US" sz="1000" dirty="0">
                <a:solidFill>
                  <a:srgbClr val="F4ECDF"/>
                </a:solidFill>
                <a:latin typeface="Calibri" pitchFamily="34" charset="0"/>
                <a:ea typeface="Calibri" pitchFamily="34" charset="-122"/>
                <a:cs typeface="Calibri" pitchFamily="34" charset="-120"/>
              </a:rPr>
              <a:t>Steel — recycled (EAF), per kg of steel</a:t>
            </a:r>
            <a:endParaRPr lang="en-US" sz="1000" dirty="0"/>
          </a:p>
        </p:txBody>
      </p:sp>
      <p:sp>
        <p:nvSpPr>
          <p:cNvPr id="13" name="Shape 11"/>
          <p:cNvSpPr/>
          <p:nvPr/>
        </p:nvSpPr>
        <p:spPr>
          <a:xfrm>
            <a:off x="502920" y="3328416"/>
            <a:ext cx="4480560" cy="256032"/>
          </a:xfrm>
          <a:prstGeom prst="rect">
            <a:avLst/>
          </a:prstGeom>
          <a:solidFill>
            <a:srgbClr val="3A2B1A"/>
          </a:solidFill>
          <a:ln/>
        </p:spPr>
      </p:sp>
      <p:sp>
        <p:nvSpPr>
          <p:cNvPr id="14" name="Shape 12"/>
          <p:cNvSpPr/>
          <p:nvPr/>
        </p:nvSpPr>
        <p:spPr>
          <a:xfrm>
            <a:off x="1623060" y="3328416"/>
            <a:ext cx="746760" cy="256032"/>
          </a:xfrm>
          <a:prstGeom prst="rect">
            <a:avLst/>
          </a:prstGeom>
          <a:solidFill>
            <a:srgbClr val="A0714E"/>
          </a:solidFill>
          <a:ln/>
        </p:spPr>
      </p:sp>
      <p:sp>
        <p:nvSpPr>
          <p:cNvPr id="15" name="Shape 13"/>
          <p:cNvSpPr/>
          <p:nvPr/>
        </p:nvSpPr>
        <p:spPr>
          <a:xfrm>
            <a:off x="2369820" y="3328416"/>
            <a:ext cx="560070" cy="256032"/>
          </a:xfrm>
          <a:prstGeom prst="rect">
            <a:avLst/>
          </a:prstGeom>
          <a:solidFill>
            <a:srgbClr val="A0714E">
              <a:alpha val="45000"/>
            </a:srgbClr>
          </a:solidFill>
          <a:ln/>
        </p:spPr>
      </p:sp>
      <p:sp>
        <p:nvSpPr>
          <p:cNvPr id="16" name="Shape 14"/>
          <p:cNvSpPr/>
          <p:nvPr/>
        </p:nvSpPr>
        <p:spPr>
          <a:xfrm>
            <a:off x="1623060" y="3291840"/>
            <a:ext cx="0" cy="329184"/>
          </a:xfrm>
          <a:prstGeom prst="line">
            <a:avLst/>
          </a:prstGeom>
          <a:noFill/>
          <a:ln w="9525">
            <a:solidFill>
              <a:srgbClr val="CDBFA9"/>
            </a:solidFill>
            <a:prstDash val="solid"/>
          </a:ln>
        </p:spPr>
      </p:sp>
      <p:sp>
        <p:nvSpPr>
          <p:cNvPr id="17" name="Text 15"/>
          <p:cNvSpPr/>
          <p:nvPr/>
        </p:nvSpPr>
        <p:spPr>
          <a:xfrm>
            <a:off x="5093208" y="3291840"/>
            <a:ext cx="1463040" cy="329184"/>
          </a:xfrm>
          <a:prstGeom prst="rect">
            <a:avLst/>
          </a:prstGeom>
          <a:noFill/>
          <a:ln/>
        </p:spPr>
        <p:txBody>
          <a:bodyPr wrap="square" lIns="0" tIns="0" rIns="0" bIns="0" rtlCol="0" anchor="ctr"/>
          <a:lstStyle/>
          <a:p>
            <a:pPr indent="0" marL="0">
              <a:buNone/>
            </a:pPr>
            <a:r>
              <a:rPr lang="en-US" sz="1150" b="1" dirty="0">
                <a:solidFill>
                  <a:srgbClr val="F4ECDF"/>
                </a:solidFill>
                <a:latin typeface="Georgia" pitchFamily="34" charset="0"/>
                <a:ea typeface="Georgia" pitchFamily="34" charset="-122"/>
                <a:cs typeface="Georgia" pitchFamily="34" charset="-120"/>
              </a:rPr>
              <a:t>0.4–0.7 kg</a:t>
            </a:r>
            <a:endParaRPr lang="en-US" sz="1150" dirty="0"/>
          </a:p>
        </p:txBody>
      </p:sp>
      <p:sp>
        <p:nvSpPr>
          <p:cNvPr id="18" name="Text 16"/>
          <p:cNvSpPr/>
          <p:nvPr/>
        </p:nvSpPr>
        <p:spPr>
          <a:xfrm>
            <a:off x="502920" y="3886200"/>
            <a:ext cx="5852160" cy="274320"/>
          </a:xfrm>
          <a:prstGeom prst="rect">
            <a:avLst/>
          </a:prstGeom>
          <a:noFill/>
          <a:ln/>
        </p:spPr>
        <p:txBody>
          <a:bodyPr wrap="square" lIns="0" tIns="0" rIns="0" bIns="0" rtlCol="0" anchor="ctr"/>
          <a:lstStyle/>
          <a:p>
            <a:pPr indent="0" marL="0">
              <a:buNone/>
            </a:pPr>
            <a:r>
              <a:rPr lang="en-US" sz="1000" dirty="0">
                <a:solidFill>
                  <a:srgbClr val="F4ECDF"/>
                </a:solidFill>
                <a:latin typeface="Calibri" pitchFamily="34" charset="0"/>
                <a:ea typeface="Calibri" pitchFamily="34" charset="-122"/>
                <a:cs typeface="Calibri" pitchFamily="34" charset="-120"/>
              </a:rPr>
              <a:t>SUPERWOOD — per kg of steel substituted at 3:1 to 4:1 replacement by weight, projected: emissions right, carbon storage left</a:t>
            </a:r>
            <a:endParaRPr lang="en-US" sz="1000" dirty="0"/>
          </a:p>
        </p:txBody>
      </p:sp>
      <p:sp>
        <p:nvSpPr>
          <p:cNvPr id="19" name="Shape 17"/>
          <p:cNvSpPr/>
          <p:nvPr/>
        </p:nvSpPr>
        <p:spPr>
          <a:xfrm>
            <a:off x="502920" y="4197096"/>
            <a:ext cx="4480560" cy="256032"/>
          </a:xfrm>
          <a:prstGeom prst="rect">
            <a:avLst/>
          </a:prstGeom>
          <a:solidFill>
            <a:srgbClr val="3A2B1A"/>
          </a:solidFill>
          <a:ln/>
        </p:spPr>
      </p:sp>
      <p:sp>
        <p:nvSpPr>
          <p:cNvPr id="20" name="Shape 18"/>
          <p:cNvSpPr/>
          <p:nvPr/>
        </p:nvSpPr>
        <p:spPr>
          <a:xfrm>
            <a:off x="1623060" y="4197096"/>
            <a:ext cx="186690" cy="256032"/>
          </a:xfrm>
          <a:prstGeom prst="rect">
            <a:avLst/>
          </a:prstGeom>
          <a:solidFill>
            <a:srgbClr val="8FB356"/>
          </a:solidFill>
          <a:ln/>
        </p:spPr>
      </p:sp>
      <p:sp>
        <p:nvSpPr>
          <p:cNvPr id="21" name="Shape 19"/>
          <p:cNvSpPr/>
          <p:nvPr/>
        </p:nvSpPr>
        <p:spPr>
          <a:xfrm>
            <a:off x="1809750" y="4197096"/>
            <a:ext cx="186690" cy="256032"/>
          </a:xfrm>
          <a:prstGeom prst="rect">
            <a:avLst/>
          </a:prstGeom>
          <a:solidFill>
            <a:srgbClr val="8FB356">
              <a:alpha val="45000"/>
            </a:srgbClr>
          </a:solidFill>
          <a:ln/>
        </p:spPr>
      </p:sp>
      <p:sp>
        <p:nvSpPr>
          <p:cNvPr id="22" name="Shape 20"/>
          <p:cNvSpPr/>
          <p:nvPr/>
        </p:nvSpPr>
        <p:spPr>
          <a:xfrm>
            <a:off x="1436370" y="4197096"/>
            <a:ext cx="186690" cy="256032"/>
          </a:xfrm>
          <a:prstGeom prst="rect">
            <a:avLst/>
          </a:prstGeom>
          <a:solidFill>
            <a:srgbClr val="5EA9A2"/>
          </a:solidFill>
          <a:ln/>
        </p:spPr>
      </p:sp>
      <p:sp>
        <p:nvSpPr>
          <p:cNvPr id="23" name="Shape 21"/>
          <p:cNvSpPr/>
          <p:nvPr/>
        </p:nvSpPr>
        <p:spPr>
          <a:xfrm>
            <a:off x="689610" y="4197096"/>
            <a:ext cx="746760" cy="256032"/>
          </a:xfrm>
          <a:prstGeom prst="rect">
            <a:avLst/>
          </a:prstGeom>
          <a:solidFill>
            <a:srgbClr val="5EA9A2">
              <a:alpha val="45000"/>
            </a:srgbClr>
          </a:solidFill>
          <a:ln/>
        </p:spPr>
      </p:sp>
      <p:sp>
        <p:nvSpPr>
          <p:cNvPr id="24" name="Shape 22"/>
          <p:cNvSpPr/>
          <p:nvPr/>
        </p:nvSpPr>
        <p:spPr>
          <a:xfrm>
            <a:off x="1623060" y="4160520"/>
            <a:ext cx="0" cy="329184"/>
          </a:xfrm>
          <a:prstGeom prst="line">
            <a:avLst/>
          </a:prstGeom>
          <a:noFill/>
          <a:ln w="9525">
            <a:solidFill>
              <a:srgbClr val="CDBFA9"/>
            </a:solidFill>
            <a:prstDash val="solid"/>
          </a:ln>
        </p:spPr>
      </p:sp>
      <p:sp>
        <p:nvSpPr>
          <p:cNvPr id="25" name="Text 23"/>
          <p:cNvSpPr/>
          <p:nvPr/>
        </p:nvSpPr>
        <p:spPr>
          <a:xfrm>
            <a:off x="5093208" y="4160520"/>
            <a:ext cx="1463040" cy="329184"/>
          </a:xfrm>
          <a:prstGeom prst="rect">
            <a:avLst/>
          </a:prstGeom>
          <a:noFill/>
          <a:ln/>
        </p:spPr>
        <p:txBody>
          <a:bodyPr wrap="square" lIns="0" tIns="0" rIns="0" bIns="0" rtlCol="0" anchor="ctr"/>
          <a:lstStyle/>
          <a:p>
            <a:pPr indent="0" marL="0">
              <a:buNone/>
            </a:pPr>
            <a:r>
              <a:rPr lang="en-US" sz="1150" b="1" dirty="0">
                <a:solidFill>
                  <a:srgbClr val="F4ECDF"/>
                </a:solidFill>
                <a:latin typeface="Georgia" pitchFamily="34" charset="0"/>
                <a:ea typeface="Georgia" pitchFamily="34" charset="-122"/>
                <a:cs typeface="Georgia" pitchFamily="34" charset="-120"/>
              </a:rPr>
              <a:t>+0.1–0.2 · −0.1 to −0.5 kg</a:t>
            </a:r>
            <a:endParaRPr lang="en-US" sz="1150" dirty="0"/>
          </a:p>
        </p:txBody>
      </p:sp>
      <p:sp>
        <p:nvSpPr>
          <p:cNvPr id="26" name="Shape 24"/>
          <p:cNvSpPr/>
          <p:nvPr/>
        </p:nvSpPr>
        <p:spPr>
          <a:xfrm>
            <a:off x="502920" y="4800600"/>
            <a:ext cx="5852160" cy="1097280"/>
          </a:xfrm>
          <a:prstGeom prst="roundRect">
            <a:avLst>
              <a:gd name="adj" fmla="val 7500"/>
            </a:avLst>
          </a:prstGeom>
          <a:solidFill>
            <a:srgbClr val="2E2113"/>
          </a:solidFill>
          <a:ln/>
        </p:spPr>
      </p:sp>
      <p:sp>
        <p:nvSpPr>
          <p:cNvPr id="27" name="Text 25"/>
          <p:cNvSpPr/>
          <p:nvPr/>
        </p:nvSpPr>
        <p:spPr>
          <a:xfrm>
            <a:off x="731520" y="4846320"/>
            <a:ext cx="5394960" cy="1005840"/>
          </a:xfrm>
          <a:prstGeom prst="rect">
            <a:avLst/>
          </a:prstGeom>
          <a:noFill/>
          <a:ln/>
        </p:spPr>
        <p:txBody>
          <a:bodyPr wrap="square" lIns="0" tIns="0" rIns="0" bIns="0" rtlCol="0" anchor="ctr"/>
          <a:lstStyle/>
          <a:p>
            <a:pPr indent="0" marL="0">
              <a:buNone/>
            </a:pPr>
            <a:r>
              <a:rPr lang="en-US" sz="1000" b="1" dirty="0">
                <a:solidFill>
                  <a:srgbClr val="E2B877"/>
                </a:solidFill>
                <a:latin typeface="Calibri" pitchFamily="34" charset="0"/>
                <a:ea typeface="Calibri" pitchFamily="34" charset="-122"/>
                <a:cs typeface="Calibri" pitchFamily="34" charset="-120"/>
              </a:rPr>
              <a:t>Biogenic carbon, reported separately.  </a:t>
            </a:r>
            <a:pPr indent="0" marL="0">
              <a:buNone/>
            </a:pPr>
            <a:r>
              <a:rPr lang="en-US" sz="1000" dirty="0">
                <a:solidFill>
                  <a:srgbClr val="CDBFA9"/>
                </a:solidFill>
                <a:latin typeface="Calibri" pitchFamily="34" charset="0"/>
                <a:ea typeface="Calibri" pitchFamily="34" charset="-122"/>
                <a:cs typeface="Calibri" pitchFamily="34" charset="-120"/>
              </a:rPr>
              <a:t>SUPERWOOD stores 0.5–1.5 kg CO₂e per kg of SUPERWOOD as biogenic carbon, 0.1–0.5 kg per kg of steel it substitutes. Under EN 15804 it is released again in the end-of-life module, so it nets to zero over the life cycle; the lasting advantage is lower manufacturing emissions.</a:t>
            </a:r>
            <a:endParaRPr lang="en-US" sz="1000" dirty="0"/>
          </a:p>
        </p:txBody>
      </p:sp>
      <p:sp>
        <p:nvSpPr>
          <p:cNvPr id="28" name="Shape 26"/>
          <p:cNvSpPr/>
          <p:nvPr/>
        </p:nvSpPr>
        <p:spPr>
          <a:xfrm>
            <a:off x="6675120" y="1783080"/>
            <a:ext cx="4983480" cy="4114800"/>
          </a:xfrm>
          <a:prstGeom prst="roundRect">
            <a:avLst>
              <a:gd name="adj" fmla="val 2000"/>
            </a:avLst>
          </a:prstGeom>
          <a:solidFill>
            <a:srgbClr val="261A0F"/>
          </a:solidFill>
          <a:ln/>
        </p:spPr>
      </p:sp>
      <p:sp>
        <p:nvSpPr>
          <p:cNvPr id="29" name="Text 27"/>
          <p:cNvSpPr/>
          <p:nvPr/>
        </p:nvSpPr>
        <p:spPr>
          <a:xfrm>
            <a:off x="6903720" y="1920240"/>
            <a:ext cx="45720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PER FUNCTIONAL UNIT — REPLACING ONE TON OF STEEL</a:t>
            </a:r>
            <a:endParaRPr lang="en-US" sz="900" dirty="0"/>
          </a:p>
        </p:txBody>
      </p:sp>
      <p:sp>
        <p:nvSpPr>
          <p:cNvPr id="30" name="Text 28"/>
          <p:cNvSpPr/>
          <p:nvPr/>
        </p:nvSpPr>
        <p:spPr>
          <a:xfrm>
            <a:off x="6903720" y="2240280"/>
            <a:ext cx="4572000" cy="2834640"/>
          </a:xfrm>
          <a:prstGeom prst="rect">
            <a:avLst/>
          </a:prstGeom>
          <a:noFill/>
          <a:ln/>
        </p:spPr>
        <p:txBody>
          <a:bodyPr wrap="square" lIns="0" tIns="0" rIns="0" bIns="0" rtlCol="0" anchor="t"/>
          <a:lstStyle/>
          <a:p>
            <a:pPr indent="0" marL="0">
              <a:buNone/>
            </a:pPr>
            <a:r>
              <a:rPr lang="en-US" sz="950" dirty="0">
                <a:solidFill>
                  <a:srgbClr val="CDBFA9"/>
                </a:solidFill>
                <a:latin typeface="Calibri" pitchFamily="34" charset="0"/>
                <a:ea typeface="Calibri" pitchFamily="34" charset="-122"/>
                <a:cs typeface="Calibri" pitchFamily="34" charset="-120"/>
              </a:rPr>
              <a:t>SUPERWOOD needed: 0.25–0.33 tons per ton of steel replaced — a 3:1 to 4:1 average replacement by weight, to be engineering-stamped per element.</a:t>
            </a:r>
            <a:endParaRPr lang="en-US" sz="950" dirty="0"/>
          </a:p>
          <a:p>
            <a:pPr indent="0" marL="0">
              <a:buNone/>
            </a:pPr>
            <a:endParaRPr lang="en-US" sz="950" dirty="0"/>
          </a:p>
          <a:p>
            <a:pPr indent="0" marL="0">
              <a:buNone/>
            </a:pPr>
            <a:r>
              <a:rPr lang="en-US" sz="950" dirty="0">
                <a:solidFill>
                  <a:srgbClr val="CDBFA9"/>
                </a:solidFill>
                <a:latin typeface="Calibri" pitchFamily="34" charset="0"/>
                <a:ea typeface="Calibri" pitchFamily="34" charset="-122"/>
                <a:cs typeface="Calibri" pitchFamily="34" charset="-120"/>
              </a:rPr>
              <a:t>SUPERWOOD manufacturing emissions: 0.25–0.33 tons × 0.5 = about 0.1–0.2 tons CO₂e per ton of steel substituted.</a:t>
            </a:r>
            <a:endParaRPr lang="en-US" sz="950" dirty="0"/>
          </a:p>
          <a:p>
            <a:pPr indent="0" marL="0">
              <a:buNone/>
            </a:pPr>
            <a:endParaRPr lang="en-US" sz="950" dirty="0"/>
          </a:p>
          <a:p>
            <a:pPr indent="0" marL="0">
              <a:buNone/>
            </a:pPr>
            <a:r>
              <a:rPr lang="en-US" sz="950" dirty="0">
                <a:solidFill>
                  <a:srgbClr val="CDBFA9"/>
                </a:solidFill>
                <a:latin typeface="Calibri" pitchFamily="34" charset="0"/>
                <a:ea typeface="Calibri" pitchFamily="34" charset="-122"/>
                <a:cs typeface="Calibri" pitchFamily="34" charset="-120"/>
              </a:rPr>
              <a:t>Against average steel (1.8 tons CO₂e): a reduction of 89–94%.</a:t>
            </a:r>
            <a:endParaRPr lang="en-US" sz="950" dirty="0"/>
          </a:p>
          <a:p>
            <a:pPr indent="0" marL="0">
              <a:buNone/>
            </a:pPr>
            <a:endParaRPr lang="en-US" sz="950" dirty="0"/>
          </a:p>
          <a:p>
            <a:pPr indent="0" marL="0">
              <a:buNone/>
            </a:pPr>
            <a:r>
              <a:rPr lang="en-US" sz="950" dirty="0">
                <a:solidFill>
                  <a:srgbClr val="CDBFA9"/>
                </a:solidFill>
                <a:latin typeface="Calibri" pitchFamily="34" charset="0"/>
                <a:ea typeface="Calibri" pitchFamily="34" charset="-122"/>
                <a:cs typeface="Calibri" pitchFamily="34" charset="-120"/>
              </a:rPr>
              <a:t>Against recycled steel (0.4–0.7 tons CO₂e): a reduction of 50–86%.</a:t>
            </a:r>
            <a:endParaRPr lang="en-US" sz="950" dirty="0"/>
          </a:p>
          <a:p>
            <a:pPr indent="0" marL="0">
              <a:buNone/>
            </a:pPr>
            <a:endParaRPr lang="en-US" sz="950" dirty="0"/>
          </a:p>
          <a:p>
            <a:pPr indent="0" marL="0">
              <a:buNone/>
            </a:pPr>
            <a:r>
              <a:rPr lang="en-US" sz="950" dirty="0">
                <a:solidFill>
                  <a:srgbClr val="CDBFA9"/>
                </a:solidFill>
                <a:latin typeface="Calibri" pitchFamily="34" charset="0"/>
                <a:ea typeface="Calibri" pitchFamily="34" charset="-122"/>
                <a:cs typeface="Calibri" pitchFamily="34" charset="-120"/>
              </a:rPr>
              <a:t>Carbon stored in the SUPERWOOD: 0.25–0.33 tons × 0.5–1.5 = 0.1–0.5 tons CO₂e per ton of steel replaced, biogenic, reported separately.</a:t>
            </a:r>
            <a:endParaRPr lang="en-US" sz="950" dirty="0"/>
          </a:p>
          <a:p>
            <a:pPr indent="0" marL="0">
              <a:buNone/>
            </a:pPr>
            <a:endParaRPr lang="en-US" sz="950" dirty="0"/>
          </a:p>
          <a:p>
            <a:pPr indent="0" marL="0">
              <a:buNone/>
            </a:pPr>
            <a:r>
              <a:rPr lang="en-US" sz="950" dirty="0">
                <a:solidFill>
                  <a:srgbClr val="CDBFA9"/>
                </a:solidFill>
                <a:latin typeface="Calibri" pitchFamily="34" charset="0"/>
                <a:ea typeface="Calibri" pitchFamily="34" charset="-122"/>
                <a:cs typeface="Calibri" pitchFamily="34" charset="-120"/>
              </a:rPr>
              <a:t>Any stated reduction must name its steel baseline and its substitution factor. Both are shown here; neither is yet verified.</a:t>
            </a:r>
            <a:endParaRPr lang="en-US" sz="950" dirty="0"/>
          </a:p>
        </p:txBody>
      </p:sp>
      <p:sp>
        <p:nvSpPr>
          <p:cNvPr id="31" name="Text 29"/>
          <p:cNvSpPr/>
          <p:nvPr/>
        </p:nvSpPr>
        <p:spPr>
          <a:xfrm>
            <a:off x="6903720" y="5120640"/>
            <a:ext cx="4572000" cy="685800"/>
          </a:xfrm>
          <a:prstGeom prst="rect">
            <a:avLst/>
          </a:prstGeom>
          <a:noFill/>
          <a:ln/>
        </p:spPr>
        <p:txBody>
          <a:bodyPr wrap="square" lIns="0" tIns="0" rIns="0" bIns="0" rtlCol="0" anchor="t"/>
          <a:lstStyle/>
          <a:p>
            <a:pPr indent="0" marL="0">
              <a:buNone/>
            </a:pPr>
            <a:r>
              <a:rPr lang="en-US" sz="1050" b="1" dirty="0">
                <a:solidFill>
                  <a:srgbClr val="F4ECDF"/>
                </a:solidFill>
                <a:latin typeface="Calibri" pitchFamily="34" charset="0"/>
                <a:ea typeface="Calibri" pitchFamily="34" charset="-122"/>
                <a:cs typeface="Calibri" pitchFamily="34" charset="-120"/>
              </a:rPr>
              <a:t>Pre-LCA projection for a full-scale plant. LCA under way with Prof. Ming Hu, University of Notre Dame.</a:t>
            </a:r>
            <a:endParaRPr lang="en-US" sz="1050" dirty="0"/>
          </a:p>
        </p:txBody>
      </p:sp>
      <p:sp>
        <p:nvSpPr>
          <p:cNvPr id="32" name="Text 30"/>
          <p:cNvSpPr/>
          <p:nvPr/>
        </p:nvSpPr>
        <p:spPr>
          <a:xfrm>
            <a:off x="502920" y="6035040"/>
            <a:ext cx="11155680" cy="41148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SUPERWOOD 0.5 kg CO₂e/kg manufactured and 0.5–1.5 kg/kg biogenic storage: company projections, pre-LCA. Steel 1.8 kg/kg: global BF-BOF average. EAF 0.4–0.7 kg/kg: typical published range for recycled-scrap steel. Replacement 3:1 to 4:1 by weight (0.25–0.33 kg SUPERWOOD per kg steel): company assumption. Reductions are arithmetic on these inputs.</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Risks</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RISKS</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000" dirty="0">
                <a:solidFill>
                  <a:srgbClr val="F4ECDF"/>
                </a:solidFill>
                <a:latin typeface="Georgia" pitchFamily="34" charset="0"/>
                <a:ea typeface="Georgia" pitchFamily="34" charset="-122"/>
                <a:cs typeface="Georgia" pitchFamily="34" charset="-120"/>
              </a:rPr>
              <a:t>Risks and how we handle them</a:t>
            </a:r>
            <a:endParaRPr lang="en-US" sz="3000" dirty="0"/>
          </a:p>
        </p:txBody>
      </p:sp>
      <p:sp>
        <p:nvSpPr>
          <p:cNvPr id="6" name="Text 4"/>
          <p:cNvSpPr/>
          <p:nvPr/>
        </p:nvSpPr>
        <p:spPr>
          <a:xfrm>
            <a:off x="502920" y="1783080"/>
            <a:ext cx="36576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RISK</a:t>
            </a:r>
            <a:endParaRPr lang="en-US" sz="900" dirty="0"/>
          </a:p>
        </p:txBody>
      </p:sp>
      <p:sp>
        <p:nvSpPr>
          <p:cNvPr id="7" name="Text 5"/>
          <p:cNvSpPr/>
          <p:nvPr/>
        </p:nvSpPr>
        <p:spPr>
          <a:xfrm>
            <a:off x="5715000" y="1783080"/>
            <a:ext cx="4572000" cy="237744"/>
          </a:xfrm>
          <a:prstGeom prst="rect">
            <a:avLst/>
          </a:prstGeom>
          <a:noFill/>
          <a:ln/>
        </p:spPr>
        <p:txBody>
          <a:bodyPr wrap="square" lIns="0" tIns="0" rIns="0" bIns="0" rtlCol="0" anchor="ctr"/>
          <a:lstStyle/>
          <a:p>
            <a:pPr indent="0" marL="0">
              <a:buNone/>
            </a:pPr>
            <a:r>
              <a:rPr lang="en-US" sz="900" b="1" spc="180" kern="0" dirty="0">
                <a:solidFill>
                  <a:srgbClr val="CDA165"/>
                </a:solidFill>
                <a:latin typeface="Calibri" pitchFamily="34" charset="0"/>
                <a:ea typeface="Calibri" pitchFamily="34" charset="-122"/>
                <a:cs typeface="Calibri" pitchFamily="34" charset="-120"/>
              </a:rPr>
              <a:t>HOW WE HANDLE IT</a:t>
            </a:r>
            <a:endParaRPr lang="en-US" sz="900" dirty="0"/>
          </a:p>
        </p:txBody>
      </p:sp>
      <p:sp>
        <p:nvSpPr>
          <p:cNvPr id="8" name="Shape 6"/>
          <p:cNvSpPr/>
          <p:nvPr/>
        </p:nvSpPr>
        <p:spPr>
          <a:xfrm>
            <a:off x="502920" y="2039112"/>
            <a:ext cx="11155680" cy="10973"/>
          </a:xfrm>
          <a:prstGeom prst="rect">
            <a:avLst/>
          </a:prstGeom>
          <a:solidFill>
            <a:srgbClr val="3A2B1A"/>
          </a:solidFill>
          <a:ln/>
        </p:spPr>
      </p:sp>
      <p:sp>
        <p:nvSpPr>
          <p:cNvPr id="9" name="Text 7"/>
          <p:cNvSpPr/>
          <p:nvPr/>
        </p:nvSpPr>
        <p:spPr>
          <a:xfrm>
            <a:off x="502920" y="2103120"/>
            <a:ext cx="4937760" cy="566928"/>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Insurers and code officials must accept SUPERWOOD for structural use</a:t>
            </a:r>
            <a:endParaRPr lang="en-US" sz="1100" dirty="0"/>
          </a:p>
        </p:txBody>
      </p:sp>
      <p:sp>
        <p:nvSpPr>
          <p:cNvPr id="10" name="Text 8"/>
          <p:cNvSpPr/>
          <p:nvPr/>
        </p:nvSpPr>
        <p:spPr>
          <a:xfrm>
            <a:off x="5715000" y="2103120"/>
            <a:ext cx="5943600" cy="566928"/>
          </a:xfrm>
          <a:prstGeom prst="rect">
            <a:avLst/>
          </a:prstGeom>
          <a:noFill/>
          <a:ln/>
        </p:spPr>
        <p:txBody>
          <a:bodyPr wrap="square" lIns="0" tIns="0" rIns="0" bIns="0" rtlCol="0" anchor="t"/>
          <a:lstStyle/>
          <a:p>
            <a:pPr indent="0" marL="0">
              <a:buNone/>
            </a:pPr>
            <a:r>
              <a:rPr lang="en-US" sz="1000" dirty="0">
                <a:solidFill>
                  <a:srgbClr val="CDBFA9"/>
                </a:solidFill>
                <a:latin typeface="Calibri" pitchFamily="34" charset="0"/>
                <a:ea typeface="Calibri" pitchFamily="34" charset="-122"/>
                <a:cs typeface="Calibri" pitchFamily="34" charset="-120"/>
              </a:rPr>
              <a:t>Start with skins and non-structural items that need no assembly rating. Qualify structural applications with the first customer, on the pathway mass timber opened.</a:t>
            </a:r>
            <a:endParaRPr lang="en-US" sz="1000" dirty="0"/>
          </a:p>
        </p:txBody>
      </p:sp>
      <p:sp>
        <p:nvSpPr>
          <p:cNvPr id="11" name="Shape 9"/>
          <p:cNvSpPr/>
          <p:nvPr/>
        </p:nvSpPr>
        <p:spPr>
          <a:xfrm>
            <a:off x="502920" y="2697480"/>
            <a:ext cx="11155680" cy="10973"/>
          </a:xfrm>
          <a:prstGeom prst="rect">
            <a:avLst/>
          </a:prstGeom>
          <a:solidFill>
            <a:srgbClr val="3A2B1A"/>
          </a:solidFill>
          <a:ln/>
        </p:spPr>
      </p:sp>
      <p:sp>
        <p:nvSpPr>
          <p:cNvPr id="12" name="Text 10"/>
          <p:cNvSpPr/>
          <p:nvPr/>
        </p:nvSpPr>
        <p:spPr>
          <a:xfrm>
            <a:off x="502920" y="2761488"/>
            <a:ext cx="4937760" cy="566928"/>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Qualification could run longer than customer design cycles</a:t>
            </a:r>
            <a:endParaRPr lang="en-US" sz="1100" dirty="0"/>
          </a:p>
        </p:txBody>
      </p:sp>
      <p:sp>
        <p:nvSpPr>
          <p:cNvPr id="13" name="Text 11"/>
          <p:cNvSpPr/>
          <p:nvPr/>
        </p:nvSpPr>
        <p:spPr>
          <a:xfrm>
            <a:off x="5715000" y="2761488"/>
            <a:ext cx="5943600" cy="566928"/>
          </a:xfrm>
          <a:prstGeom prst="rect">
            <a:avLst/>
          </a:prstGeom>
          <a:noFill/>
          <a:ln/>
        </p:spPr>
        <p:txBody>
          <a:bodyPr wrap="square" lIns="0" tIns="0" rIns="0" bIns="0" rtlCol="0" anchor="t"/>
          <a:lstStyle/>
          <a:p>
            <a:pPr indent="0" marL="0">
              <a:buNone/>
            </a:pPr>
            <a:r>
              <a:rPr lang="en-US" sz="1000" dirty="0">
                <a:solidFill>
                  <a:srgbClr val="CDBFA9"/>
                </a:solidFill>
                <a:latin typeface="Calibri" pitchFamily="34" charset="0"/>
                <a:ea typeface="Calibri" pitchFamily="34" charset="-122"/>
                <a:cs typeface="Calibri" pitchFamily="34" charset="-120"/>
              </a:rPr>
              <a:t>Sell what needs no qualification now. Hyperscalers design data centers years ahead, so basis-of-design work starts before qualification ends.</a:t>
            </a:r>
            <a:endParaRPr lang="en-US" sz="1000" dirty="0"/>
          </a:p>
        </p:txBody>
      </p:sp>
      <p:sp>
        <p:nvSpPr>
          <p:cNvPr id="14" name="Shape 12"/>
          <p:cNvSpPr/>
          <p:nvPr/>
        </p:nvSpPr>
        <p:spPr>
          <a:xfrm>
            <a:off x="502920" y="3355848"/>
            <a:ext cx="11155680" cy="10973"/>
          </a:xfrm>
          <a:prstGeom prst="rect">
            <a:avLst/>
          </a:prstGeom>
          <a:solidFill>
            <a:srgbClr val="3A2B1A"/>
          </a:solidFill>
          <a:ln/>
        </p:spPr>
      </p:sp>
      <p:sp>
        <p:nvSpPr>
          <p:cNvPr id="15" name="Text 13"/>
          <p:cNvSpPr/>
          <p:nvPr/>
        </p:nvSpPr>
        <p:spPr>
          <a:xfrm>
            <a:off x="502920" y="3419856"/>
            <a:ext cx="4937760" cy="566928"/>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One plant, shared across every market</a:t>
            </a:r>
            <a:endParaRPr lang="en-US" sz="1100" dirty="0"/>
          </a:p>
        </p:txBody>
      </p:sp>
      <p:sp>
        <p:nvSpPr>
          <p:cNvPr id="16" name="Text 14"/>
          <p:cNvSpPr/>
          <p:nvPr/>
        </p:nvSpPr>
        <p:spPr>
          <a:xfrm>
            <a:off x="5715000" y="3419856"/>
            <a:ext cx="5943600" cy="566928"/>
          </a:xfrm>
          <a:prstGeom prst="rect">
            <a:avLst/>
          </a:prstGeom>
          <a:noFill/>
          <a:ln/>
        </p:spPr>
        <p:txBody>
          <a:bodyPr wrap="square" lIns="0" tIns="0" rIns="0" bIns="0" rtlCol="0" anchor="t"/>
          <a:lstStyle/>
          <a:p>
            <a:pPr indent="0" marL="0">
              <a:buNone/>
            </a:pPr>
            <a:r>
              <a:rPr lang="en-US" sz="1000" dirty="0">
                <a:solidFill>
                  <a:srgbClr val="CDBFA9"/>
                </a:solidFill>
                <a:latin typeface="Calibri" pitchFamily="34" charset="0"/>
                <a:ea typeface="Calibri" pitchFamily="34" charset="-122"/>
                <a:cs typeface="Calibri" pitchFamily="34" charset="-120"/>
              </a:rPr>
              <a:t>SuperMill One's output is allocated across every market; a gigawatt's skins alone are one to three plant-years. SuperMill Two resolves it; that is what the raise funds.</a:t>
            </a:r>
            <a:endParaRPr lang="en-US" sz="1000" dirty="0"/>
          </a:p>
        </p:txBody>
      </p:sp>
      <p:sp>
        <p:nvSpPr>
          <p:cNvPr id="17" name="Shape 15"/>
          <p:cNvSpPr/>
          <p:nvPr/>
        </p:nvSpPr>
        <p:spPr>
          <a:xfrm>
            <a:off x="502920" y="4014216"/>
            <a:ext cx="11155680" cy="10973"/>
          </a:xfrm>
          <a:prstGeom prst="rect">
            <a:avLst/>
          </a:prstGeom>
          <a:solidFill>
            <a:srgbClr val="3A2B1A"/>
          </a:solidFill>
          <a:ln/>
        </p:spPr>
      </p:sp>
      <p:sp>
        <p:nvSpPr>
          <p:cNvPr id="18" name="Text 16"/>
          <p:cNvSpPr/>
          <p:nvPr/>
        </p:nvSpPr>
        <p:spPr>
          <a:xfrm>
            <a:off x="502920" y="4078224"/>
            <a:ext cx="4937760" cy="566928"/>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Price against metal panel, fiber cement, CLT and recycled steel</a:t>
            </a:r>
            <a:endParaRPr lang="en-US" sz="1100" dirty="0"/>
          </a:p>
        </p:txBody>
      </p:sp>
      <p:sp>
        <p:nvSpPr>
          <p:cNvPr id="19" name="Text 17"/>
          <p:cNvSpPr/>
          <p:nvPr/>
        </p:nvSpPr>
        <p:spPr>
          <a:xfrm>
            <a:off x="5715000" y="4078224"/>
            <a:ext cx="5943600" cy="566928"/>
          </a:xfrm>
          <a:prstGeom prst="rect">
            <a:avLst/>
          </a:prstGeom>
          <a:noFill/>
          <a:ln/>
        </p:spPr>
        <p:txBody>
          <a:bodyPr wrap="square" lIns="0" tIns="0" rIns="0" bIns="0" rtlCol="0" anchor="t"/>
          <a:lstStyle/>
          <a:p>
            <a:pPr indent="0" marL="0">
              <a:buNone/>
            </a:pPr>
            <a:r>
              <a:rPr lang="en-US" sz="1000" dirty="0">
                <a:solidFill>
                  <a:srgbClr val="CDBFA9"/>
                </a:solidFill>
                <a:latin typeface="Calibri" pitchFamily="34" charset="0"/>
                <a:ea typeface="Calibri" pitchFamily="34" charset="-122"/>
                <a:cs typeface="Calibri" pitchFamily="34" charset="-120"/>
              </a:rPr>
              <a:t>Premium skins where appearance and community acceptance carry value. Structural competitiveness arrives with SuperMill Two cost (roadmap basis, not yet realized).</a:t>
            </a:r>
            <a:endParaRPr lang="en-US" sz="1000" dirty="0"/>
          </a:p>
        </p:txBody>
      </p:sp>
      <p:sp>
        <p:nvSpPr>
          <p:cNvPr id="20" name="Shape 18"/>
          <p:cNvSpPr/>
          <p:nvPr/>
        </p:nvSpPr>
        <p:spPr>
          <a:xfrm>
            <a:off x="502920" y="4672584"/>
            <a:ext cx="11155680" cy="10973"/>
          </a:xfrm>
          <a:prstGeom prst="rect">
            <a:avLst/>
          </a:prstGeom>
          <a:solidFill>
            <a:srgbClr val="3A2B1A"/>
          </a:solidFill>
          <a:ln/>
        </p:spPr>
      </p:sp>
      <p:sp>
        <p:nvSpPr>
          <p:cNvPr id="21" name="Text 19"/>
          <p:cNvSpPr/>
          <p:nvPr/>
        </p:nvSpPr>
        <p:spPr>
          <a:xfrm>
            <a:off x="502920" y="4736592"/>
            <a:ext cx="4937760" cy="566928"/>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Carbon figures are projections until the LCA is complete</a:t>
            </a:r>
            <a:endParaRPr lang="en-US" sz="1100" dirty="0"/>
          </a:p>
        </p:txBody>
      </p:sp>
      <p:sp>
        <p:nvSpPr>
          <p:cNvPr id="22" name="Text 20"/>
          <p:cNvSpPr/>
          <p:nvPr/>
        </p:nvSpPr>
        <p:spPr>
          <a:xfrm>
            <a:off x="5715000" y="4736592"/>
            <a:ext cx="5943600" cy="566928"/>
          </a:xfrm>
          <a:prstGeom prst="rect">
            <a:avLst/>
          </a:prstGeom>
          <a:noFill/>
          <a:ln/>
        </p:spPr>
        <p:txBody>
          <a:bodyPr wrap="square" lIns="0" tIns="0" rIns="0" bIns="0" rtlCol="0" anchor="t"/>
          <a:lstStyle/>
          <a:p>
            <a:pPr indent="0" marL="0">
              <a:buNone/>
            </a:pPr>
            <a:r>
              <a:rPr lang="en-US" sz="1000" dirty="0">
                <a:solidFill>
                  <a:srgbClr val="CDBFA9"/>
                </a:solidFill>
                <a:latin typeface="Calibri" pitchFamily="34" charset="0"/>
                <a:ea typeface="Calibri" pitchFamily="34" charset="-122"/>
                <a:cs typeface="Calibri" pitchFamily="34" charset="-120"/>
              </a:rPr>
              <a:t>Labeled pre-LCA everywhere; LCA under way with Prof. Ming Hu, University of Notre Dame. No carbon claim without its baseline and substitution factor.</a:t>
            </a:r>
            <a:endParaRPr lang="en-US" sz="1000" dirty="0"/>
          </a:p>
        </p:txBody>
      </p:sp>
      <p:sp>
        <p:nvSpPr>
          <p:cNvPr id="23" name="Shape 21"/>
          <p:cNvSpPr/>
          <p:nvPr/>
        </p:nvSpPr>
        <p:spPr>
          <a:xfrm>
            <a:off x="502920" y="5330952"/>
            <a:ext cx="11155680" cy="10973"/>
          </a:xfrm>
          <a:prstGeom prst="rect">
            <a:avLst/>
          </a:prstGeom>
          <a:solidFill>
            <a:srgbClr val="3A2B1A"/>
          </a:solidFill>
          <a:ln/>
        </p:spPr>
      </p:sp>
      <p:sp>
        <p:nvSpPr>
          <p:cNvPr id="24" name="Text 22"/>
          <p:cNvSpPr/>
          <p:nvPr/>
        </p:nvSpPr>
        <p:spPr>
          <a:xfrm>
            <a:off x="502920" y="5394960"/>
            <a:ext cx="4937760" cy="566928"/>
          </a:xfrm>
          <a:prstGeom prst="rect">
            <a:avLst/>
          </a:prstGeom>
          <a:noFill/>
          <a:ln/>
        </p:spPr>
        <p:txBody>
          <a:bodyPr wrap="square" lIns="0" tIns="0" rIns="0" bIns="0" rtlCol="0" anchor="t"/>
          <a:lstStyle/>
          <a:p>
            <a:pPr indent="0" marL="0">
              <a:buNone/>
            </a:pPr>
            <a:r>
              <a:rPr lang="en-US" sz="1100" b="1" dirty="0">
                <a:solidFill>
                  <a:srgbClr val="F4ECDF"/>
                </a:solidFill>
                <a:latin typeface="Calibri" pitchFamily="34" charset="0"/>
                <a:ea typeface="Calibri" pitchFamily="34" charset="-122"/>
                <a:cs typeface="Calibri" pitchFamily="34" charset="-120"/>
              </a:rPr>
              <a:t>Customer concentration</a:t>
            </a:r>
            <a:endParaRPr lang="en-US" sz="1100" dirty="0"/>
          </a:p>
        </p:txBody>
      </p:sp>
      <p:sp>
        <p:nvSpPr>
          <p:cNvPr id="25" name="Text 23"/>
          <p:cNvSpPr/>
          <p:nvPr/>
        </p:nvSpPr>
        <p:spPr>
          <a:xfrm>
            <a:off x="5715000" y="5394960"/>
            <a:ext cx="5943600" cy="566928"/>
          </a:xfrm>
          <a:prstGeom prst="rect">
            <a:avLst/>
          </a:prstGeom>
          <a:noFill/>
          <a:ln/>
        </p:spPr>
        <p:txBody>
          <a:bodyPr wrap="square" lIns="0" tIns="0" rIns="0" bIns="0" rtlCol="0" anchor="t"/>
          <a:lstStyle/>
          <a:p>
            <a:pPr indent="0" marL="0">
              <a:buNone/>
            </a:pPr>
            <a:r>
              <a:rPr lang="en-US" sz="1000" dirty="0">
                <a:solidFill>
                  <a:srgbClr val="CDBFA9"/>
                </a:solidFill>
                <a:latin typeface="Calibri" pitchFamily="34" charset="0"/>
                <a:ea typeface="Calibri" pitchFamily="34" charset="-122"/>
                <a:cs typeface="Calibri" pitchFamily="34" charset="-120"/>
              </a:rPr>
              <a:t>Three hyperscalers plus Vertiv, Wooden Data Center and operators — and what is qualified for a data center is qualified for the wider structural market.</a:t>
            </a:r>
            <a:endParaRPr lang="en-US" sz="1000" dirty="0"/>
          </a:p>
        </p:txBody>
      </p:sp>
      <p:sp>
        <p:nvSpPr>
          <p:cNvPr id="26" name="Text 24"/>
          <p:cNvSpPr/>
          <p:nvPr/>
        </p:nvSpPr>
        <p:spPr>
          <a:xfrm>
            <a:off x="502920" y="6172200"/>
            <a:ext cx="11155680" cy="27432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No probabilities are assigned. These are the conditions the data-center case depends on.</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150C"/>
        </a:solidFill>
      </p:bgPr>
    </p:bg>
    <p:spTree>
      <p:nvGrpSpPr>
        <p:cNvPr id="1" name=""/>
        <p:cNvGrpSpPr/>
        <p:nvPr/>
      </p:nvGrpSpPr>
      <p:grpSpPr>
        <a:xfrm>
          <a:off x="0" y="0"/>
          <a:ext cx="0" cy="0"/>
          <a:chOff x="0" y="0"/>
          <a:chExt cx="0" cy="0"/>
        </a:xfrm>
      </p:grpSpPr>
      <p:sp>
        <p:nvSpPr>
          <p:cNvPr id="2" name="Text 0"/>
          <p:cNvSpPr/>
          <p:nvPr/>
        </p:nvSpPr>
        <p:spPr>
          <a:xfrm>
            <a:off x="502920" y="6473952"/>
            <a:ext cx="5486400" cy="274320"/>
          </a:xfrm>
          <a:prstGeom prst="rect">
            <a:avLst/>
          </a:prstGeom>
          <a:noFill/>
          <a:ln/>
        </p:spPr>
        <p:txBody>
          <a:bodyPr wrap="square" lIns="0" tIns="0" rIns="0" bIns="0" rtlCol="0" anchor="ctr"/>
          <a:lstStyle/>
          <a:p>
            <a:pPr indent="0" marL="0">
              <a:buNone/>
            </a:pPr>
            <a:r>
              <a:rPr lang="en-US" sz="900" dirty="0">
                <a:solidFill>
                  <a:srgbClr val="9D8D76"/>
                </a:solidFill>
                <a:latin typeface="Calibri" pitchFamily="34" charset="0"/>
                <a:ea typeface="Calibri" pitchFamily="34" charset="-122"/>
                <a:cs typeface="Calibri" pitchFamily="34" charset="-120"/>
              </a:rPr>
              <a:t>InventWood · The path</a:t>
            </a:r>
            <a:endParaRPr lang="en-US" sz="900" dirty="0"/>
          </a:p>
        </p:txBody>
      </p:sp>
      <p:sp>
        <p:nvSpPr>
          <p:cNvPr id="3" name="Text 1"/>
          <p:cNvSpPr/>
          <p:nvPr/>
        </p:nvSpPr>
        <p:spPr>
          <a:xfrm>
            <a:off x="9948672" y="6473952"/>
            <a:ext cx="1371600" cy="274320"/>
          </a:xfrm>
          <a:prstGeom prst="rect">
            <a:avLst/>
          </a:prstGeom>
          <a:noFill/>
          <a:ln/>
        </p:spPr>
        <p:txBody>
          <a:bodyPr wrap="square" lIns="0" tIns="0" rIns="0" bIns="0" rtlCol="0" anchor="ctr"/>
          <a:lstStyle/>
          <a:p>
            <a:pPr algn="r" indent="0" marL="0">
              <a:buNone/>
            </a:pPr>
            <a:r>
              <a:rPr lang="en-US" sz="900" dirty="0">
                <a:solidFill>
                  <a:srgbClr val="9D8D76"/>
                </a:solidFill>
                <a:latin typeface="Calibri" pitchFamily="34" charset="0"/>
                <a:ea typeface="Calibri" pitchFamily="34" charset="-122"/>
                <a:cs typeface="Calibri" pitchFamily="34" charset="-120"/>
              </a:rPr>
              <a:t>Confidential</a:t>
            </a:r>
            <a:endParaRPr lang="en-US" sz="900" dirty="0"/>
          </a:p>
        </p:txBody>
      </p:sp>
      <p:sp>
        <p:nvSpPr>
          <p:cNvPr id="4" name="Text 2"/>
          <p:cNvSpPr/>
          <p:nvPr/>
        </p:nvSpPr>
        <p:spPr>
          <a:xfrm>
            <a:off x="502920" y="457200"/>
            <a:ext cx="7315200" cy="292608"/>
          </a:xfrm>
          <a:prstGeom prst="rect">
            <a:avLst/>
          </a:prstGeom>
          <a:noFill/>
          <a:ln/>
        </p:spPr>
        <p:txBody>
          <a:bodyPr wrap="square" lIns="0" tIns="0" rIns="0" bIns="0" rtlCol="0" anchor="ctr"/>
          <a:lstStyle/>
          <a:p>
            <a:pPr indent="0" marL="0">
              <a:buNone/>
            </a:pPr>
            <a:r>
              <a:rPr lang="en-US" sz="1200" b="1" spc="400" kern="0" dirty="0">
                <a:solidFill>
                  <a:srgbClr val="CDA165"/>
                </a:solidFill>
                <a:latin typeface="Calibri" pitchFamily="34" charset="0"/>
                <a:ea typeface="Calibri" pitchFamily="34" charset="-122"/>
                <a:cs typeface="Calibri" pitchFamily="34" charset="-120"/>
              </a:rPr>
              <a:t>THE PATH</a:t>
            </a:r>
            <a:endParaRPr lang="en-US" sz="1200" dirty="0"/>
          </a:p>
        </p:txBody>
      </p:sp>
      <p:sp>
        <p:nvSpPr>
          <p:cNvPr id="5" name="Text 3"/>
          <p:cNvSpPr/>
          <p:nvPr/>
        </p:nvSpPr>
        <p:spPr>
          <a:xfrm>
            <a:off x="502920" y="804672"/>
            <a:ext cx="10881360" cy="868680"/>
          </a:xfrm>
          <a:prstGeom prst="rect">
            <a:avLst/>
          </a:prstGeom>
          <a:noFill/>
          <a:ln/>
        </p:spPr>
        <p:txBody>
          <a:bodyPr wrap="square" lIns="0" tIns="0" rIns="0" bIns="0" rtlCol="0" anchor="ctr"/>
          <a:lstStyle/>
          <a:p>
            <a:pPr indent="0" marL="0">
              <a:buNone/>
            </a:pPr>
            <a:r>
              <a:rPr lang="en-US" sz="3000" dirty="0">
                <a:solidFill>
                  <a:srgbClr val="F4ECDF"/>
                </a:solidFill>
                <a:latin typeface="Georgia" pitchFamily="34" charset="0"/>
                <a:ea typeface="Georgia" pitchFamily="34" charset="-122"/>
                <a:cs typeface="Georgia" pitchFamily="34" charset="-120"/>
              </a:rPr>
              <a:t>Path to first projects</a:t>
            </a:r>
            <a:endParaRPr lang="en-US" sz="3000" dirty="0"/>
          </a:p>
        </p:txBody>
      </p:sp>
      <p:sp>
        <p:nvSpPr>
          <p:cNvPr id="6" name="Text 4"/>
          <p:cNvSpPr/>
          <p:nvPr/>
        </p:nvSpPr>
        <p:spPr>
          <a:xfrm>
            <a:off x="502920" y="1828800"/>
            <a:ext cx="548640" cy="50292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1</a:t>
            </a:r>
            <a:endParaRPr lang="en-US" sz="2600" dirty="0"/>
          </a:p>
        </p:txBody>
      </p:sp>
      <p:sp>
        <p:nvSpPr>
          <p:cNvPr id="7" name="Text 5"/>
          <p:cNvSpPr/>
          <p:nvPr/>
        </p:nvSpPr>
        <p:spPr>
          <a:xfrm>
            <a:off x="1280160" y="1828800"/>
            <a:ext cx="6675120" cy="36576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Skins on one building or yard</a:t>
            </a:r>
            <a:endParaRPr lang="en-US" sz="1500" dirty="0"/>
          </a:p>
        </p:txBody>
      </p:sp>
      <p:sp>
        <p:nvSpPr>
          <p:cNvPr id="8" name="Text 6"/>
          <p:cNvSpPr/>
          <p:nvPr/>
        </p:nvSpPr>
        <p:spPr>
          <a:xfrm>
            <a:off x="1280160" y="2212848"/>
            <a:ext cx="6675120" cy="594360"/>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Facades, interiors, louvers, staff-area or security fencing — installed from SuperMill One output with a willing customer. Produces an installed reference and installed-cost data.</a:t>
            </a:r>
            <a:endParaRPr lang="en-US" sz="1050" dirty="0"/>
          </a:p>
        </p:txBody>
      </p:sp>
      <p:sp>
        <p:nvSpPr>
          <p:cNvPr id="9" name="Text 7"/>
          <p:cNvSpPr/>
          <p:nvPr/>
        </p:nvSpPr>
        <p:spPr>
          <a:xfrm>
            <a:off x="502920" y="2834640"/>
            <a:ext cx="548640" cy="50292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2</a:t>
            </a:r>
            <a:endParaRPr lang="en-US" sz="2600" dirty="0"/>
          </a:p>
        </p:txBody>
      </p:sp>
      <p:sp>
        <p:nvSpPr>
          <p:cNvPr id="10" name="Text 8"/>
          <p:cNvSpPr/>
          <p:nvPr/>
        </p:nvSpPr>
        <p:spPr>
          <a:xfrm>
            <a:off x="1280160" y="2834640"/>
            <a:ext cx="6675120" cy="36576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A scoped test program with that customer</a:t>
            </a:r>
            <a:endParaRPr lang="en-US" sz="1500" dirty="0"/>
          </a:p>
        </p:txBody>
      </p:sp>
      <p:sp>
        <p:nvSpPr>
          <p:cNvPr id="11" name="Text 9"/>
          <p:cNvSpPr/>
          <p:nvPr/>
        </p:nvSpPr>
        <p:spPr>
          <a:xfrm>
            <a:off x="1280160" y="3218688"/>
            <a:ext cx="6675120" cy="594360"/>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Toward whatever the chosen application needs, co-funded. Produces the data package the next application inherits.</a:t>
            </a:r>
            <a:endParaRPr lang="en-US" sz="1050" dirty="0"/>
          </a:p>
        </p:txBody>
      </p:sp>
      <p:sp>
        <p:nvSpPr>
          <p:cNvPr id="12" name="Text 10"/>
          <p:cNvSpPr/>
          <p:nvPr/>
        </p:nvSpPr>
        <p:spPr>
          <a:xfrm>
            <a:off x="502920" y="3840480"/>
            <a:ext cx="548640" cy="50292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3</a:t>
            </a:r>
            <a:endParaRPr lang="en-US" sz="2600" dirty="0"/>
          </a:p>
        </p:txBody>
      </p:sp>
      <p:sp>
        <p:nvSpPr>
          <p:cNvPr id="13" name="Text 11"/>
          <p:cNvSpPr/>
          <p:nvPr/>
        </p:nvSpPr>
        <p:spPr>
          <a:xfrm>
            <a:off x="1280160" y="3840480"/>
            <a:ext cx="6675120" cy="36576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Basis-of-design work with the customer's architect and engineer</a:t>
            </a:r>
            <a:endParaRPr lang="en-US" sz="1500" dirty="0"/>
          </a:p>
        </p:txBody>
      </p:sp>
      <p:sp>
        <p:nvSpPr>
          <p:cNvPr id="14" name="Text 12"/>
          <p:cNvSpPr/>
          <p:nvPr/>
        </p:nvSpPr>
        <p:spPr>
          <a:xfrm>
            <a:off x="1280160" y="4224528"/>
            <a:ext cx="6675120" cy="594360"/>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Structural enclosure and truss solutions that can be written into the standard data center design. Produces a specification that repeats.</a:t>
            </a:r>
            <a:endParaRPr lang="en-US" sz="1050" dirty="0"/>
          </a:p>
        </p:txBody>
      </p:sp>
      <p:sp>
        <p:nvSpPr>
          <p:cNvPr id="15" name="Text 13"/>
          <p:cNvSpPr/>
          <p:nvPr/>
        </p:nvSpPr>
        <p:spPr>
          <a:xfrm>
            <a:off x="502920" y="4846320"/>
            <a:ext cx="548640" cy="502920"/>
          </a:xfrm>
          <a:prstGeom prst="rect">
            <a:avLst/>
          </a:prstGeom>
          <a:noFill/>
          <a:ln/>
        </p:spPr>
        <p:txBody>
          <a:bodyPr wrap="square" lIns="0" tIns="0" rIns="0" bIns="0" rtlCol="0" anchor="ctr"/>
          <a:lstStyle/>
          <a:p>
            <a:pPr indent="0" marL="0">
              <a:buNone/>
            </a:pPr>
            <a:r>
              <a:rPr lang="en-US" sz="2600" dirty="0">
                <a:solidFill>
                  <a:srgbClr val="B87D44"/>
                </a:solidFill>
                <a:latin typeface="Georgia" pitchFamily="34" charset="0"/>
                <a:ea typeface="Georgia" pitchFamily="34" charset="-122"/>
                <a:cs typeface="Georgia" pitchFamily="34" charset="-120"/>
              </a:rPr>
              <a:t>4</a:t>
            </a:r>
            <a:endParaRPr lang="en-US" sz="2600" dirty="0"/>
          </a:p>
        </p:txBody>
      </p:sp>
      <p:sp>
        <p:nvSpPr>
          <p:cNvPr id="16" name="Text 14"/>
          <p:cNvSpPr/>
          <p:nvPr/>
        </p:nvSpPr>
        <p:spPr>
          <a:xfrm>
            <a:off x="1280160" y="4846320"/>
            <a:ext cx="6675120" cy="365760"/>
          </a:xfrm>
          <a:prstGeom prst="rect">
            <a:avLst/>
          </a:prstGeom>
          <a:noFill/>
          <a:ln/>
        </p:spPr>
        <p:txBody>
          <a:bodyPr wrap="square" lIns="0" tIns="0" rIns="0" bIns="0" rtlCol="0" anchor="ctr"/>
          <a:lstStyle/>
          <a:p>
            <a:pPr indent="0" marL="0">
              <a:buNone/>
            </a:pPr>
            <a:r>
              <a:rPr lang="en-US" sz="1500" b="1" dirty="0">
                <a:solidFill>
                  <a:srgbClr val="F4ECDF"/>
                </a:solidFill>
                <a:latin typeface="Calibri" pitchFamily="34" charset="0"/>
                <a:ea typeface="Calibri" pitchFamily="34" charset="-122"/>
                <a:cs typeface="Calibri" pitchFamily="34" charset="-120"/>
              </a:rPr>
              <a:t>Measure the carbon delta</a:t>
            </a:r>
            <a:endParaRPr lang="en-US" sz="1500" dirty="0"/>
          </a:p>
        </p:txBody>
      </p:sp>
      <p:sp>
        <p:nvSpPr>
          <p:cNvPr id="17" name="Text 15"/>
          <p:cNvSpPr/>
          <p:nvPr/>
        </p:nvSpPr>
        <p:spPr>
          <a:xfrm>
            <a:off x="1280160" y="5230368"/>
            <a:ext cx="6675120" cy="594360"/>
          </a:xfrm>
          <a:prstGeom prst="rect">
            <a:avLst/>
          </a:prstGeom>
          <a:noFill/>
          <a:ln/>
        </p:spPr>
        <p:txBody>
          <a:bodyPr wrap="square" lIns="0" tIns="0" rIns="0" bIns="0" rtlCol="0" anchor="t"/>
          <a:lstStyle/>
          <a:p>
            <a:pPr indent="0" marL="0">
              <a:buNone/>
            </a:pPr>
            <a:r>
              <a:rPr lang="en-US" sz="1050" dirty="0">
                <a:solidFill>
                  <a:srgbClr val="9D8D76"/>
                </a:solidFill>
                <a:latin typeface="Calibri" pitchFamily="34" charset="0"/>
                <a:ea typeface="Calibri" pitchFamily="34" charset="-122"/>
                <a:cs typeface="Calibri" pitchFamily="34" charset="-120"/>
              </a:rPr>
              <a:t>A baseline bill-of-materials comparison and verification plan. Produces defensible numbers as the LCA completes.</a:t>
            </a:r>
            <a:endParaRPr lang="en-US" sz="1050" dirty="0"/>
          </a:p>
        </p:txBody>
      </p:sp>
      <p:pic>
        <p:nvPicPr>
          <p:cNvPr id="18" name="Image 0" descr="prep/factory.jpg">    </p:cNvPr>
          <p:cNvPicPr>
            <a:picLocks noChangeAspect="1"/>
          </p:cNvPicPr>
          <p:nvPr/>
        </p:nvPicPr>
        <p:blipFill>
          <a:blip r:embed="rId1"/>
          <a:stretch>
            <a:fillRect/>
          </a:stretch>
        </p:blipFill>
        <p:spPr>
          <a:xfrm>
            <a:off x="8503920" y="1828800"/>
            <a:ext cx="3200400" cy="1800225"/>
          </a:xfrm>
          <a:prstGeom prst="rect">
            <a:avLst/>
          </a:prstGeom>
        </p:spPr>
      </p:pic>
      <p:sp>
        <p:nvSpPr>
          <p:cNvPr id="19" name="Text 16"/>
          <p:cNvSpPr/>
          <p:nvPr/>
        </p:nvSpPr>
        <p:spPr>
          <a:xfrm>
            <a:off x="8503920" y="3657600"/>
            <a:ext cx="3200400" cy="274320"/>
          </a:xfrm>
          <a:prstGeom prst="rect">
            <a:avLst/>
          </a:prstGeom>
          <a:noFill/>
          <a:ln/>
        </p:spPr>
        <p:txBody>
          <a:bodyPr wrap="square" lIns="0" tIns="0" rIns="0" bIns="0" rtlCol="0" anchor="ctr"/>
          <a:lstStyle/>
          <a:p>
            <a:pPr algn="ctr" indent="0" marL="0">
              <a:buNone/>
            </a:pPr>
            <a:r>
              <a:rPr lang="en-US" sz="1050" i="1" dirty="0">
                <a:solidFill>
                  <a:srgbClr val="9D8D76"/>
                </a:solidFill>
                <a:latin typeface="Calibri" pitchFamily="34" charset="0"/>
                <a:ea typeface="Calibri" pitchFamily="34" charset="-122"/>
                <a:cs typeface="Calibri" pitchFamily="34" charset="-120"/>
              </a:rPr>
              <a:t>SuperMill One, Frederick, MD</a:t>
            </a:r>
            <a:endParaRPr lang="en-US" sz="1050" dirty="0"/>
          </a:p>
        </p:txBody>
      </p:sp>
      <p:pic>
        <p:nvPicPr>
          <p:cNvPr id="20" name="Image 1" descr="media/image111.png">    </p:cNvPr>
          <p:cNvPicPr>
            <a:picLocks noChangeAspect="1"/>
          </p:cNvPicPr>
          <p:nvPr/>
        </p:nvPicPr>
        <p:blipFill>
          <a:blip r:embed="rId2"/>
          <a:srcRect l="0" r="0" t="0" b="0"/>
          <a:stretch/>
        </p:blipFill>
        <p:spPr>
          <a:xfrm>
            <a:off x="8503920" y="4023360"/>
            <a:ext cx="3200400" cy="1682496"/>
          </a:xfrm>
          <a:prstGeom prst="rect">
            <a:avLst/>
          </a:prstGeom>
        </p:spPr>
      </p:pic>
      <p:sp>
        <p:nvSpPr>
          <p:cNvPr id="21" name="Text 17"/>
          <p:cNvSpPr/>
          <p:nvPr/>
        </p:nvSpPr>
        <p:spPr>
          <a:xfrm>
            <a:off x="8503920" y="5760720"/>
            <a:ext cx="3200400" cy="274320"/>
          </a:xfrm>
          <a:prstGeom prst="rect">
            <a:avLst/>
          </a:prstGeom>
          <a:noFill/>
          <a:ln/>
        </p:spPr>
        <p:txBody>
          <a:bodyPr wrap="square" lIns="0" tIns="0" rIns="0" bIns="0" rtlCol="0" anchor="ctr"/>
          <a:lstStyle/>
          <a:p>
            <a:pPr algn="ctr" indent="0" marL="0">
              <a:buNone/>
            </a:pPr>
            <a:r>
              <a:rPr lang="en-US" sz="1050" i="1" dirty="0">
                <a:solidFill>
                  <a:srgbClr val="9D8D76"/>
                </a:solidFill>
                <a:latin typeface="Calibri" pitchFamily="34" charset="0"/>
                <a:ea typeface="Calibri" pitchFamily="34" charset="-122"/>
                <a:cs typeface="Calibri" pitchFamily="34" charset="-120"/>
              </a:rPr>
              <a:t>Concept for SuperMill Two</a:t>
            </a:r>
            <a:endParaRPr lang="en-US" sz="1050" dirty="0"/>
          </a:p>
        </p:txBody>
      </p:sp>
      <p:sp>
        <p:nvSpPr>
          <p:cNvPr id="22" name="Text 18"/>
          <p:cNvSpPr/>
          <p:nvPr/>
        </p:nvSpPr>
        <p:spPr>
          <a:xfrm>
            <a:off x="502920" y="6172200"/>
            <a:ext cx="11155680" cy="274320"/>
          </a:xfrm>
          <a:prstGeom prst="rect">
            <a:avLst/>
          </a:prstGeom>
          <a:noFill/>
          <a:ln/>
        </p:spPr>
        <p:txBody>
          <a:bodyPr wrap="square" lIns="0" tIns="0" rIns="0" bIns="0" rtlCol="0" anchor="t"/>
          <a:lstStyle/>
          <a:p>
            <a:pPr indent="0" marL="0">
              <a:buNone/>
            </a:pPr>
            <a:r>
              <a:rPr lang="en-US" sz="650" i="1" dirty="0">
                <a:solidFill>
                  <a:srgbClr val="9D8D76"/>
                </a:solidFill>
                <a:latin typeface="Calibri" pitchFamily="34" charset="0"/>
                <a:ea typeface="Calibri" pitchFamily="34" charset="-122"/>
                <a:cs typeface="Calibri" pitchFamily="34" charset="-120"/>
              </a:rPr>
              <a:t>Steps are sequenced, not dated. Each names what it produces.</a:t>
            </a:r>
            <a:endParaRPr lang="en-US" sz="650" dirty="0"/>
          </a:p>
        </p:txBody>
      </p:sp>
      <p:sp>
        <p:nvSpPr>
          <p:cNvPr id="25" name="Slide Number Placeholder 0"/>
          <p:cNvSpPr>
            <a:spLocks noGrp="1"/>
          </p:cNvSpPr>
          <p:nvPr>
            <p:ph type="sldNum" sz="quarter" idx="4294967295"/>
          </p:nvPr>
        </p:nvSpPr>
        <p:spPr>
          <a:xfrm>
            <a:off x="11503152" y="6473952"/>
            <a:ext cx="457200" cy="300000"/>
          </a:xfrm>
          <a:prstGeom prst="rect">
            <a:avLst/>
          </a:prstGeom>
          <a:extLst>
            <a:ext uri="{C572A759-6A51-4108-AA02-DFA0A04FC94B}">
              <ma14:wrappingTextBoxFlag xmlns:ma14="http://schemas.microsoft.com/office/mac/drawingml/2011/main" val="0"/>
            </a:ext>
          </a:extLst>
        </p:spPr>
        <p:txBody>
          <a:bodyPr/>
          <a:lstStyle>
            <a:lvl1pPr>
              <a:defRPr sz="900">
                <a:solidFill>
                  <a:srgbClr val="9D8D76"/>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2377440"/>
            <a:ext cx="9144000" cy="914400"/>
          </a:xfrm>
          <a:prstGeom prst="rect">
            <a:avLst/>
          </a:prstGeom>
          <a:noFill/>
          <a:ln/>
        </p:spPr>
        <p:txBody>
          <a:bodyPr wrap="square" lIns="0" tIns="0" rIns="0" bIns="0" rtlCol="0" anchor="ctr"/>
          <a:lstStyle/>
          <a:p>
            <a:pPr indent="0" marL="0">
              <a:buNone/>
            </a:pPr>
            <a:r>
              <a:rPr lang="en-US" sz="4400" dirty="0">
                <a:solidFill>
                  <a:srgbClr val="F4ECDF"/>
                </a:solidFill>
                <a:latin typeface="Georgia" pitchFamily="34" charset="0"/>
                <a:ea typeface="Georgia" pitchFamily="34" charset="-122"/>
                <a:cs typeface="Georgia" pitchFamily="34" charset="-120"/>
              </a:rPr>
              <a:t>Let's build what's </a:t>
            </a:r>
            <a:pPr indent="0" marL="0">
              <a:buNone/>
            </a:pPr>
            <a:r>
              <a:rPr lang="en-US" sz="4400" i="1" dirty="0">
                <a:solidFill>
                  <a:srgbClr val="E2B877"/>
                </a:solidFill>
                <a:latin typeface="Georgia" pitchFamily="34" charset="0"/>
                <a:ea typeface="Georgia" pitchFamily="34" charset="-122"/>
                <a:cs typeface="Georgia" pitchFamily="34" charset="-120"/>
              </a:rPr>
              <a:t>next</a:t>
            </a:r>
            <a:pPr indent="0" marL="0">
              <a:buNone/>
            </a:pPr>
            <a:r>
              <a:rPr lang="en-US" sz="4400" dirty="0">
                <a:solidFill>
                  <a:srgbClr val="F4ECDF"/>
                </a:solidFill>
                <a:latin typeface="Georgia" pitchFamily="34" charset="0"/>
                <a:ea typeface="Georgia" pitchFamily="34" charset="-122"/>
                <a:cs typeface="Georgia" pitchFamily="34" charset="-120"/>
              </a:rPr>
              <a:t>.</a:t>
            </a:r>
            <a:endParaRPr lang="en-US" sz="4400" dirty="0"/>
          </a:p>
        </p:txBody>
      </p:sp>
      <p:sp>
        <p:nvSpPr>
          <p:cNvPr id="3" name="Text 1"/>
          <p:cNvSpPr/>
          <p:nvPr/>
        </p:nvSpPr>
        <p:spPr>
          <a:xfrm>
            <a:off x="914400" y="3246120"/>
            <a:ext cx="6858000" cy="1097280"/>
          </a:xfrm>
          <a:prstGeom prst="rect">
            <a:avLst/>
          </a:prstGeom>
          <a:noFill/>
          <a:ln/>
        </p:spPr>
        <p:txBody>
          <a:bodyPr wrap="square" lIns="0" tIns="0" rIns="0" bIns="0" rtlCol="0" anchor="t"/>
          <a:lstStyle/>
          <a:p>
            <a:pPr marL="152400" indent="-152400">
              <a:spcAft>
                <a:spcPts val="600"/>
              </a:spcAft>
              <a:buSzPct val="100000"/>
              <a:buChar char="•"/>
            </a:pPr>
            <a:r>
              <a:rPr lang="en-US" sz="1250" dirty="0">
                <a:solidFill>
                  <a:srgbClr val="F4ECDF"/>
                </a:solidFill>
                <a:latin typeface="Calibri" pitchFamily="34" charset="0"/>
                <a:ea typeface="Calibri" pitchFamily="34" charset="-122"/>
                <a:cs typeface="Calibri" pitchFamily="34" charset="-120"/>
              </a:rPr>
              <a:t>Data centers are short of steel and already build with wood.</a:t>
            </a:r>
            <a:endParaRPr lang="en-US" sz="1250" dirty="0"/>
          </a:p>
          <a:p>
            <a:pPr marL="152400" indent="-152400">
              <a:spcAft>
                <a:spcPts val="600"/>
              </a:spcAft>
              <a:buSzPct val="100000"/>
              <a:buChar char="•"/>
            </a:pPr>
            <a:r>
              <a:rPr lang="en-US" sz="1250" dirty="0">
                <a:solidFill>
                  <a:srgbClr val="F4ECDF"/>
                </a:solidFill>
                <a:latin typeface="Calibri" pitchFamily="34" charset="0"/>
                <a:ea typeface="Calibri" pitchFamily="34" charset="-122"/>
                <a:cs typeface="Calibri" pitchFamily="34" charset="-120"/>
              </a:rPr>
              <a:t>SUPERWOOD turbocharges that wood: skins and fences now, structure in the medium term.</a:t>
            </a:r>
            <a:endParaRPr lang="en-US" sz="1250" dirty="0"/>
          </a:p>
          <a:p>
            <a:pPr marL="152400" indent="-152400">
              <a:spcAft>
                <a:spcPts val="600"/>
              </a:spcAft>
              <a:buSzPct val="100000"/>
              <a:buChar char="•"/>
            </a:pPr>
            <a:r>
              <a:rPr lang="en-US" sz="1250" dirty="0">
                <a:solidFill>
                  <a:srgbClr val="F4ECDF"/>
                </a:solidFill>
                <a:latin typeface="Calibri" pitchFamily="34" charset="0"/>
                <a:ea typeface="Calibri" pitchFamily="34" charset="-122"/>
                <a:cs typeface="Calibri" pitchFamily="34" charset="-120"/>
              </a:rPr>
              <a:t>One basis-of-design win with a hyperscaler is the demand case for SuperMill Two.</a:t>
            </a:r>
            <a:endParaRPr lang="en-US" sz="1250" dirty="0"/>
          </a:p>
        </p:txBody>
      </p:sp>
      <p:sp>
        <p:nvSpPr>
          <p:cNvPr id="4" name="Text 2"/>
          <p:cNvSpPr/>
          <p:nvPr/>
        </p:nvSpPr>
        <p:spPr>
          <a:xfrm>
            <a:off x="914400" y="4389120"/>
            <a:ext cx="8229600" cy="274320"/>
          </a:xfrm>
          <a:prstGeom prst="rect">
            <a:avLst/>
          </a:prstGeom>
          <a:noFill/>
          <a:ln/>
        </p:spPr>
        <p:txBody>
          <a:bodyPr wrap="square" lIns="0" tIns="0" rIns="0" bIns="0" rtlCol="0" anchor="ctr"/>
          <a:lstStyle/>
          <a:p>
            <a:pPr indent="0" marL="0">
              <a:buNone/>
            </a:pPr>
            <a:r>
              <a:rPr lang="en-US" sz="1100" dirty="0">
                <a:solidFill>
                  <a:srgbClr val="CDA165"/>
                </a:solidFill>
                <a:latin typeface="Calibri" pitchFamily="34" charset="0"/>
                <a:ea typeface="Calibri" pitchFamily="34" charset="-122"/>
                <a:cs typeface="Calibri" pitchFamily="34" charset="-120"/>
              </a:rPr>
              <a:t>Company, mills, cost roadmap and the raise: SUPERMILLS Investor Overview</a:t>
            </a:r>
            <a:endParaRPr lang="en-US" sz="1100" dirty="0"/>
          </a:p>
        </p:txBody>
      </p:sp>
      <p:pic>
        <p:nvPicPr>
          <p:cNvPr id="5" name="Image 0" descr="prep/inventwood_logo.png">    </p:cNvPr>
          <p:cNvPicPr>
            <a:picLocks noChangeAspect="1"/>
          </p:cNvPicPr>
          <p:nvPr/>
        </p:nvPicPr>
        <p:blipFill>
          <a:blip r:embed="rId2"/>
          <a:stretch>
            <a:fillRect/>
          </a:stretch>
        </p:blipFill>
        <p:spPr>
          <a:xfrm>
            <a:off x="914400" y="4800600"/>
            <a:ext cx="3291840" cy="482714"/>
          </a:xfrm>
          <a:prstGeom prst="rect">
            <a:avLst/>
          </a:prstGeom>
        </p:spPr>
      </p:pic>
      <p:sp>
        <p:nvSpPr>
          <p:cNvPr id="6" name="Text 3"/>
          <p:cNvSpPr/>
          <p:nvPr/>
        </p:nvSpPr>
        <p:spPr>
          <a:xfrm>
            <a:off x="914400" y="5440680"/>
            <a:ext cx="8229600" cy="365760"/>
          </a:xfrm>
          <a:prstGeom prst="rect">
            <a:avLst/>
          </a:prstGeom>
          <a:noFill/>
          <a:ln/>
        </p:spPr>
        <p:txBody>
          <a:bodyPr wrap="square" lIns="0" tIns="0" rIns="0" bIns="0" rtlCol="0" anchor="ctr"/>
          <a:lstStyle/>
          <a:p>
            <a:pPr indent="0" marL="0">
              <a:buNone/>
            </a:pPr>
            <a:r>
              <a:rPr lang="en-US" sz="1400" dirty="0">
                <a:solidFill>
                  <a:srgbClr val="CDBFA9"/>
                </a:solidFill>
                <a:latin typeface="Calibri" pitchFamily="34" charset="0"/>
                <a:ea typeface="Calibri" pitchFamily="34" charset="-122"/>
                <a:cs typeface="Calibri" pitchFamily="34" charset="-120"/>
              </a:rPr>
              <a:t>Alex Lau · CEO / Co-Founder · alex@inventwood.com</a:t>
            </a:r>
            <a:endParaRPr lang="en-US" sz="1400" dirty="0"/>
          </a:p>
        </p:txBody>
      </p:sp>
      <p:sp>
        <p:nvSpPr>
          <p:cNvPr id="7" name="Text 4"/>
          <p:cNvSpPr/>
          <p:nvPr/>
        </p:nvSpPr>
        <p:spPr>
          <a:xfrm>
            <a:off x="914400" y="5806440"/>
            <a:ext cx="8229600" cy="365760"/>
          </a:xfrm>
          <a:prstGeom prst="rect">
            <a:avLst/>
          </a:prstGeom>
          <a:noFill/>
          <a:ln/>
        </p:spPr>
        <p:txBody>
          <a:bodyPr wrap="square" lIns="0" tIns="0" rIns="0" bIns="0" rtlCol="0" anchor="ctr"/>
          <a:lstStyle/>
          <a:p>
            <a:pPr indent="0" marL="0">
              <a:buNone/>
            </a:pPr>
            <a:r>
              <a:rPr lang="en-US" sz="1400" dirty="0">
                <a:solidFill>
                  <a:srgbClr val="CDBFA9"/>
                </a:solidFill>
                <a:latin typeface="Calibri" pitchFamily="34" charset="0"/>
                <a:ea typeface="Calibri" pitchFamily="34" charset="-122"/>
                <a:cs typeface="Calibri" pitchFamily="34" charset="-120"/>
              </a:rPr>
              <a:t>Lex Harris · Director, Capital Markets &amp; IR · lex@inventwood.com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2026-09-06T01:06:36Z</dcterms:created>
  <dcterms:modified xsi:type="dcterms:W3CDTF">2026-09-06T01:06:36Z</dcterms:modified>
</cp:coreProperties>
</file>