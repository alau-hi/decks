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TWO COMPLAINTS ARE ABOUT THE BUILDING</a:t>
            </a:r>
            <a:endParaRPr lang="en-US" sz="900" dirty="0"/>
          </a:p>
        </p:txBody>
      </p:sp>
      <p:sp>
        <p:nvSpPr>
          <p:cNvPr id="7" name="Shape 5"/>
          <p:cNvSpPr/>
          <p:nvPr/>
        </p:nvSpPr>
        <p:spPr>
          <a:xfrm>
            <a:off x="502920" y="2331720"/>
            <a:ext cx="128016" cy="128016"/>
          </a:xfrm>
          <a:prstGeom prst="ellipse">
            <a:avLst/>
          </a:prstGeom>
          <a:solidFill>
            <a:srgbClr val="E2B877"/>
          </a:solidFill>
          <a:ln/>
        </p:spPr>
      </p:sp>
      <p:sp>
        <p:nvSpPr>
          <p:cNvPr id="8" name="Text 6"/>
          <p:cNvSpPr/>
          <p:nvPr/>
        </p:nvSpPr>
        <p:spPr>
          <a:xfrm>
            <a:off x="795528" y="224028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58775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setbacks and design standards.</a:t>
            </a:r>
            <a:endParaRPr lang="en-US" sz="1100" dirty="0"/>
          </a:p>
        </p:txBody>
      </p:sp>
      <p:sp>
        <p:nvSpPr>
          <p:cNvPr id="10" name="Text 8"/>
          <p:cNvSpPr/>
          <p:nvPr/>
        </p:nvSpPr>
        <p:spPr>
          <a:xfrm>
            <a:off x="795528" y="297180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566160"/>
            <a:ext cx="128016" cy="128016"/>
          </a:xfrm>
          <a:prstGeom prst="ellipse">
            <a:avLst/>
          </a:prstGeom>
          <a:solidFill>
            <a:srgbClr val="E2B877"/>
          </a:solidFill>
          <a:ln/>
        </p:spPr>
      </p:sp>
      <p:sp>
        <p:nvSpPr>
          <p:cNvPr id="12" name="Text 10"/>
          <p:cNvSpPr/>
          <p:nvPr/>
        </p:nvSpPr>
        <p:spPr>
          <a:xfrm>
            <a:off x="795528" y="3474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382219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Fans, chillers, generator tests. Property-line decibel limits are spreading.</a:t>
            </a:r>
            <a:endParaRPr lang="en-US" sz="1100" dirty="0"/>
          </a:p>
        </p:txBody>
      </p:sp>
      <p:sp>
        <p:nvSpPr>
          <p:cNvPr id="14" name="Text 12"/>
          <p:cNvSpPr/>
          <p:nvPr/>
        </p:nvSpPr>
        <p:spPr>
          <a:xfrm>
            <a:off x="795528" y="420624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quieter fan enclosures and ductwork.</a:t>
            </a:r>
            <a:endParaRPr lang="en-US" sz="1100" dirty="0"/>
          </a:p>
        </p:txBody>
      </p:sp>
      <p:sp>
        <p:nvSpPr>
          <p:cNvPr id="15" name="Text 13"/>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6" name="Shape 14"/>
          <p:cNvSpPr/>
          <p:nvPr/>
        </p:nvSpPr>
        <p:spPr>
          <a:xfrm>
            <a:off x="7315200" y="2240280"/>
            <a:ext cx="4343400" cy="1234440"/>
          </a:xfrm>
          <a:prstGeom prst="roundRect">
            <a:avLst>
              <a:gd name="adj" fmla="val 6667"/>
            </a:avLst>
          </a:prstGeom>
          <a:solidFill>
            <a:srgbClr val="2E2113"/>
          </a:solidFill>
          <a:ln/>
        </p:spPr>
      </p:sp>
      <p:sp>
        <p:nvSpPr>
          <p:cNvPr id="17" name="Text 15"/>
          <p:cNvSpPr/>
          <p:nvPr/>
        </p:nvSpPr>
        <p:spPr>
          <a:xfrm>
            <a:off x="7543800" y="23774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18" name="Text 16"/>
          <p:cNvSpPr/>
          <p:nvPr/>
        </p:nvSpPr>
        <p:spPr>
          <a:xfrm>
            <a:off x="7543800" y="29260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Q1 2026, as much as all of 2025. 833 opposition groups in 49 states.</a:t>
            </a:r>
            <a:endParaRPr lang="en-US" sz="1050" dirty="0"/>
          </a:p>
        </p:txBody>
      </p:sp>
      <p:sp>
        <p:nvSpPr>
          <p:cNvPr id="19" name="Shape 17"/>
          <p:cNvSpPr/>
          <p:nvPr/>
        </p:nvSpPr>
        <p:spPr>
          <a:xfrm>
            <a:off x="7315200" y="3611880"/>
            <a:ext cx="4343400" cy="1234440"/>
          </a:xfrm>
          <a:prstGeom prst="roundRect">
            <a:avLst>
              <a:gd name="adj" fmla="val 6667"/>
            </a:avLst>
          </a:prstGeom>
          <a:solidFill>
            <a:srgbClr val="2E2113"/>
          </a:solidFill>
          <a:ln/>
        </p:spPr>
      </p:sp>
      <p:sp>
        <p:nvSpPr>
          <p:cNvPr id="20" name="Text 18"/>
          <p:cNvSpPr/>
          <p:nvPr/>
        </p:nvSpPr>
        <p:spPr>
          <a:xfrm>
            <a:off x="7543800" y="37490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1" name="Text 19"/>
          <p:cNvSpPr/>
          <p:nvPr/>
        </p:nvSpPr>
        <p:spPr>
          <a:xfrm>
            <a:off x="7543800" y="42976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a:t>
            </a:r>
            <a:endParaRPr lang="en-US" sz="1050" dirty="0"/>
          </a:p>
        </p:txBody>
      </p:sp>
      <p:sp>
        <p:nvSpPr>
          <p:cNvPr id="22" name="Text 20"/>
          <p:cNvSpPr/>
          <p:nvPr/>
        </p:nvSpPr>
        <p:spPr>
          <a:xfrm>
            <a:off x="502920" y="5166360"/>
            <a:ext cx="11155680" cy="45720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We help with these two. </a:t>
            </a:r>
            <a:pPr indent="0" marL="0">
              <a:buNone/>
            </a:pPr>
            <a:r>
              <a:rPr lang="en-US" sz="1700" i="1" dirty="0">
                <a:solidFill>
                  <a:srgbClr val="E2B877"/>
                </a:solidFill>
                <a:latin typeface="Georgia" pitchFamily="34" charset="0"/>
                <a:ea typeface="Georgia" pitchFamily="34" charset="-122"/>
                <a:cs typeface="Georgia" pitchFamily="34" charset="-120"/>
              </a:rPr>
              <a:t>We can go much further</a:t>
            </a:r>
            <a:pPr indent="0" marL="0">
              <a:buNone/>
            </a:pPr>
            <a:r>
              <a:rPr lang="en-US" sz="17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700" dirty="0"/>
          </a:p>
        </p:txBody>
      </p:sp>
      <p:sp>
        <p:nvSpPr>
          <p:cNvPr id="23" name="Text 21"/>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sp>
        <p:nvSpPr>
          <p:cNvPr id="10"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3"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2026-09-05T19:27:17Z</dcterms:created>
  <dcterms:modified xsi:type="dcterms:W3CDTF">2026-09-05T19:27:17Z</dcterms:modified>
</cp:coreProperties>
</file>