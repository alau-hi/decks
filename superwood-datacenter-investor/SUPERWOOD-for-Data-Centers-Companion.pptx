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Community pushback now delays more data center projects than ever. Most of it is about power and water; </a:t>
            </a:r>
            <a:pPr indent="0" marL="0">
              <a:buNone/>
            </a:pPr>
            <a:r>
              <a:rPr lang="en-US" sz="2100" i="1" dirty="0">
                <a:solidFill>
                  <a:srgbClr val="E2B877"/>
                </a:solidFill>
                <a:latin typeface="Georgia" pitchFamily="34" charset="0"/>
                <a:ea typeface="Georgia" pitchFamily="34" charset="-122"/>
                <a:cs typeface="Georgia" pitchFamily="34" charset="-120"/>
              </a:rPr>
              <a:t>two complaints are about the building itself</a:t>
            </a:r>
            <a:pPr indent="0" marL="0">
              <a:buNone/>
            </a:pPr>
            <a:r>
              <a:rPr lang="en-US" sz="2100" dirty="0">
                <a:solidFill>
                  <a:srgbClr val="F4ECDF"/>
                </a:solidFill>
                <a:latin typeface="Georgia" pitchFamily="34" charset="0"/>
                <a:ea typeface="Georgia" pitchFamily="34" charset="-122"/>
                <a:cs typeface="Georgia" pitchFamily="34" charset="-120"/>
              </a:rPr>
              <a:t>.</a:t>
            </a:r>
            <a:endParaRPr lang="en-US" sz="21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NEIGHBORS OBJECT TO</a:t>
            </a:r>
            <a:endParaRPr lang="en-US" sz="900" dirty="0"/>
          </a:p>
        </p:txBody>
      </p:sp>
      <p:sp>
        <p:nvSpPr>
          <p:cNvPr id="7" name="Shape 5"/>
          <p:cNvSpPr/>
          <p:nvPr/>
        </p:nvSpPr>
        <p:spPr>
          <a:xfrm>
            <a:off x="502920" y="2267712"/>
            <a:ext cx="118872" cy="118872"/>
          </a:xfrm>
          <a:prstGeom prst="ellipse">
            <a:avLst/>
          </a:prstGeom>
          <a:solidFill>
            <a:srgbClr val="E2B877"/>
          </a:solidFill>
          <a:ln/>
        </p:spPr>
      </p:sp>
      <p:sp>
        <p:nvSpPr>
          <p:cNvPr id="8" name="Text 6"/>
          <p:cNvSpPr/>
          <p:nvPr/>
        </p:nvSpPr>
        <p:spPr>
          <a:xfrm>
            <a:off x="777240" y="2194560"/>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Electricity bills and grid strain</a:t>
            </a:r>
            <a:endParaRPr lang="en-US" sz="1150" dirty="0"/>
          </a:p>
        </p:txBody>
      </p:sp>
      <p:sp>
        <p:nvSpPr>
          <p:cNvPr id="9" name="Text 7"/>
          <p:cNvSpPr/>
          <p:nvPr/>
        </p:nvSpPr>
        <p:spPr>
          <a:xfrm>
            <a:off x="777240" y="2432304"/>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77% of Americans worry data centers will raise their electricity bills. Utilities build generation and lines for one large load; households fear carrying the cost. Not a materials problem.</a:t>
            </a:r>
            <a:endParaRPr lang="en-US" sz="850" dirty="0"/>
          </a:p>
        </p:txBody>
      </p:sp>
      <p:sp>
        <p:nvSpPr>
          <p:cNvPr id="10" name="Shape 8"/>
          <p:cNvSpPr/>
          <p:nvPr/>
        </p:nvSpPr>
        <p:spPr>
          <a:xfrm>
            <a:off x="502920" y="2889504"/>
            <a:ext cx="118872" cy="118872"/>
          </a:xfrm>
          <a:prstGeom prst="ellipse">
            <a:avLst/>
          </a:prstGeom>
          <a:solidFill>
            <a:srgbClr val="E2B877"/>
          </a:solidFill>
          <a:ln/>
        </p:spPr>
      </p:sp>
      <p:sp>
        <p:nvSpPr>
          <p:cNvPr id="11" name="Text 9"/>
          <p:cNvSpPr/>
          <p:nvPr/>
        </p:nvSpPr>
        <p:spPr>
          <a:xfrm>
            <a:off x="777240" y="2816352"/>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Water for cooling</a:t>
            </a:r>
            <a:endParaRPr lang="en-US" sz="1150" dirty="0"/>
          </a:p>
        </p:txBody>
      </p:sp>
      <p:sp>
        <p:nvSpPr>
          <p:cNvPr id="12" name="Text 10"/>
          <p:cNvSpPr/>
          <p:nvPr/>
        </p:nvSpPr>
        <p:spPr>
          <a:xfrm>
            <a:off x="777240" y="3054096"/>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Evaporative cooling draws on local supply; closed-loop cooling is now written into ordinances. Not a materials problem.</a:t>
            </a:r>
            <a:endParaRPr lang="en-US" sz="850" dirty="0"/>
          </a:p>
        </p:txBody>
      </p:sp>
      <p:sp>
        <p:nvSpPr>
          <p:cNvPr id="13" name="Shape 11"/>
          <p:cNvSpPr/>
          <p:nvPr/>
        </p:nvSpPr>
        <p:spPr>
          <a:xfrm>
            <a:off x="502920" y="3511296"/>
            <a:ext cx="118872" cy="118872"/>
          </a:xfrm>
          <a:prstGeom prst="ellipse">
            <a:avLst/>
          </a:prstGeom>
          <a:solidFill>
            <a:srgbClr val="E2B877"/>
          </a:solidFill>
          <a:ln/>
        </p:spPr>
      </p:sp>
      <p:sp>
        <p:nvSpPr>
          <p:cNvPr id="14" name="Text 12"/>
          <p:cNvSpPr/>
          <p:nvPr/>
        </p:nvSpPr>
        <p:spPr>
          <a:xfrm>
            <a:off x="777240" y="3438144"/>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Noise</a:t>
            </a:r>
            <a:endParaRPr lang="en-US" sz="1150" dirty="0"/>
          </a:p>
        </p:txBody>
      </p:sp>
      <p:sp>
        <p:nvSpPr>
          <p:cNvPr id="15" name="Text 13"/>
          <p:cNvSpPr/>
          <p:nvPr/>
        </p:nvSpPr>
        <p:spPr>
          <a:xfrm>
            <a:off x="777240" y="3675888"/>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Cooling fans and generator testing produce a low-frequency hum that carries; new local codes set decibel limits at the property line. SUPERWOOD: acoustic screens and barriers that damp sound and look like architecture.</a:t>
            </a:r>
            <a:endParaRPr lang="en-US" sz="850" dirty="0"/>
          </a:p>
        </p:txBody>
      </p:sp>
      <p:sp>
        <p:nvSpPr>
          <p:cNvPr id="16" name="Shape 14"/>
          <p:cNvSpPr/>
          <p:nvPr/>
        </p:nvSpPr>
        <p:spPr>
          <a:xfrm>
            <a:off x="502920" y="4133088"/>
            <a:ext cx="118872" cy="118872"/>
          </a:xfrm>
          <a:prstGeom prst="ellipse">
            <a:avLst/>
          </a:prstGeom>
          <a:solidFill>
            <a:srgbClr val="E2B877"/>
          </a:solidFill>
          <a:ln/>
        </p:spPr>
      </p:sp>
      <p:sp>
        <p:nvSpPr>
          <p:cNvPr id="17" name="Text 15"/>
          <p:cNvSpPr/>
          <p:nvPr/>
        </p:nvSpPr>
        <p:spPr>
          <a:xfrm>
            <a:off x="777240" y="4059936"/>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Visual mass and land use</a:t>
            </a:r>
            <a:endParaRPr lang="en-US" sz="1150" dirty="0"/>
          </a:p>
        </p:txBody>
      </p:sp>
      <p:sp>
        <p:nvSpPr>
          <p:cNvPr id="18" name="Text 16"/>
          <p:cNvSpPr/>
          <p:nvPr/>
        </p:nvSpPr>
        <p:spPr>
          <a:xfrm>
            <a:off x="777240" y="4297680"/>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Windowless boxes and substations on farmland and next to subdivisions; counties answer with 500–1,000 ft setbacks, design standards and screening rules. SUPERWOOD: facades, fences and screens that neighbors accept, and a lower-carbon building.</a:t>
            </a:r>
            <a:endParaRPr lang="en-US" sz="850" dirty="0"/>
          </a:p>
        </p:txBody>
      </p:sp>
      <p:sp>
        <p:nvSpPr>
          <p:cNvPr id="19" name="Shape 17"/>
          <p:cNvSpPr/>
          <p:nvPr/>
        </p:nvSpPr>
        <p:spPr>
          <a:xfrm>
            <a:off x="502920" y="4754880"/>
            <a:ext cx="118872" cy="118872"/>
          </a:xfrm>
          <a:prstGeom prst="ellipse">
            <a:avLst/>
          </a:prstGeom>
          <a:solidFill>
            <a:srgbClr val="E2B877"/>
          </a:solidFill>
          <a:ln/>
        </p:spPr>
      </p:sp>
      <p:sp>
        <p:nvSpPr>
          <p:cNvPr id="20" name="Text 18"/>
          <p:cNvSpPr/>
          <p:nvPr/>
        </p:nvSpPr>
        <p:spPr>
          <a:xfrm>
            <a:off x="777240" y="4681728"/>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Diesel backup generators</a:t>
            </a:r>
            <a:endParaRPr lang="en-US" sz="1150" dirty="0"/>
          </a:p>
        </p:txBody>
      </p:sp>
      <p:sp>
        <p:nvSpPr>
          <p:cNvPr id="21" name="Text 19"/>
          <p:cNvSpPr/>
          <p:nvPr/>
        </p:nvSpPr>
        <p:spPr>
          <a:xfrm>
            <a:off x="777240" y="4919472"/>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Hundreds of engines per site; air-quality rules now require the cleanest tier. Not a materials problem.</a:t>
            </a:r>
            <a:endParaRPr lang="en-US" sz="850" dirty="0"/>
          </a:p>
        </p:txBody>
      </p:sp>
      <p:sp>
        <p:nvSpPr>
          <p:cNvPr id="22" name="Shape 20"/>
          <p:cNvSpPr/>
          <p:nvPr/>
        </p:nvSpPr>
        <p:spPr>
          <a:xfrm>
            <a:off x="502920" y="5376672"/>
            <a:ext cx="118872" cy="118872"/>
          </a:xfrm>
          <a:prstGeom prst="ellipse">
            <a:avLst/>
          </a:prstGeom>
          <a:solidFill>
            <a:srgbClr val="E2B877"/>
          </a:solidFill>
          <a:ln/>
        </p:spPr>
      </p:sp>
      <p:sp>
        <p:nvSpPr>
          <p:cNvPr id="23" name="Text 21"/>
          <p:cNvSpPr/>
          <p:nvPr/>
        </p:nvSpPr>
        <p:spPr>
          <a:xfrm>
            <a:off x="777240" y="5303520"/>
            <a:ext cx="6309360" cy="237744"/>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Few jobs, tax breaks, secrecy</a:t>
            </a:r>
            <a:endParaRPr lang="en-US" sz="1150" dirty="0"/>
          </a:p>
        </p:txBody>
      </p:sp>
      <p:sp>
        <p:nvSpPr>
          <p:cNvPr id="24" name="Text 22"/>
          <p:cNvSpPr/>
          <p:nvPr/>
        </p:nvSpPr>
        <p:spPr>
          <a:xfrm>
            <a:off x="777240" y="5541264"/>
            <a:ext cx="6309360" cy="384048"/>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Large abatements for small permanent headcounts, and non-disclosure agreements that keep the buyer's name out of the hearing. Not a materials problem.</a:t>
            </a:r>
            <a:endParaRPr lang="en-US" sz="850" dirty="0"/>
          </a:p>
        </p:txBody>
      </p:sp>
      <p:sp>
        <p:nvSpPr>
          <p:cNvPr id="25" name="Text 2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BIG THE PUSHBACK HAS BECOME</a:t>
            </a:r>
            <a:endParaRPr lang="en-US" sz="900" dirty="0"/>
          </a:p>
        </p:txBody>
      </p:sp>
      <p:sp>
        <p:nvSpPr>
          <p:cNvPr id="26" name="Shape 24"/>
          <p:cNvSpPr/>
          <p:nvPr/>
        </p:nvSpPr>
        <p:spPr>
          <a:xfrm>
            <a:off x="7315200" y="2194560"/>
            <a:ext cx="4343400" cy="1152144"/>
          </a:xfrm>
          <a:prstGeom prst="roundRect">
            <a:avLst>
              <a:gd name="adj" fmla="val 7143"/>
            </a:avLst>
          </a:prstGeom>
          <a:solidFill>
            <a:srgbClr val="2E2113"/>
          </a:solidFill>
          <a:ln/>
        </p:spPr>
      </p:sp>
      <p:sp>
        <p:nvSpPr>
          <p:cNvPr id="27" name="Text 25"/>
          <p:cNvSpPr/>
          <p:nvPr/>
        </p:nvSpPr>
        <p:spPr>
          <a:xfrm>
            <a:off x="7516368" y="2304288"/>
            <a:ext cx="3941064" cy="384048"/>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8" name="Text 26"/>
          <p:cNvSpPr/>
          <p:nvPr/>
        </p:nvSpPr>
        <p:spPr>
          <a:xfrm>
            <a:off x="7516368" y="2706624"/>
            <a:ext cx="3941064" cy="603504"/>
          </a:xfrm>
          <a:prstGeom prst="rect">
            <a:avLst/>
          </a:prstGeom>
          <a:noFill/>
          <a:ln/>
        </p:spPr>
        <p:txBody>
          <a:bodyPr wrap="square" lIns="0" tIns="0" rIns="0" bIns="0" rtlCol="0" anchor="t"/>
          <a:lstStyle/>
          <a:p>
            <a:pPr indent="0" marL="0">
              <a:buNone/>
            </a:pPr>
            <a:r>
              <a:rPr lang="en-US" sz="850" dirty="0">
                <a:solidFill>
                  <a:srgbClr val="CDBFA9"/>
                </a:solidFill>
                <a:latin typeface="Calibri" pitchFamily="34" charset="0"/>
                <a:ea typeface="Calibri" pitchFamily="34" charset="-122"/>
                <a:cs typeface="Calibri" pitchFamily="34" charset="-120"/>
              </a:rPr>
              <a:t>January to March 2026: as much as in all of 2025. 833 active opposition groups in 49 states, more than double the count at the end of 2025. Moratorium bills introduced in 14 states.</a:t>
            </a:r>
            <a:endParaRPr lang="en-US" sz="850" dirty="0"/>
          </a:p>
        </p:txBody>
      </p:sp>
      <p:sp>
        <p:nvSpPr>
          <p:cNvPr id="29" name="Shape 27"/>
          <p:cNvSpPr/>
          <p:nvPr/>
        </p:nvSpPr>
        <p:spPr>
          <a:xfrm>
            <a:off x="7315200" y="3456432"/>
            <a:ext cx="4343400" cy="1152144"/>
          </a:xfrm>
          <a:prstGeom prst="roundRect">
            <a:avLst>
              <a:gd name="adj" fmla="val 7143"/>
            </a:avLst>
          </a:prstGeom>
          <a:solidFill>
            <a:srgbClr val="2E2113"/>
          </a:solidFill>
          <a:ln/>
        </p:spPr>
      </p:sp>
      <p:sp>
        <p:nvSpPr>
          <p:cNvPr id="30" name="Text 28"/>
          <p:cNvSpPr/>
          <p:nvPr/>
        </p:nvSpPr>
        <p:spPr>
          <a:xfrm>
            <a:off x="7516368" y="3566160"/>
            <a:ext cx="3941064" cy="384048"/>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The least-wanted development in America</a:t>
            </a:r>
            <a:endParaRPr lang="en-US" sz="1100" dirty="0"/>
          </a:p>
        </p:txBody>
      </p:sp>
      <p:sp>
        <p:nvSpPr>
          <p:cNvPr id="31" name="Text 29"/>
          <p:cNvSpPr/>
          <p:nvPr/>
        </p:nvSpPr>
        <p:spPr>
          <a:xfrm>
            <a:off x="7516368" y="3968496"/>
            <a:ext cx="3941064" cy="603504"/>
          </a:xfrm>
          <a:prstGeom prst="rect">
            <a:avLst/>
          </a:prstGeom>
          <a:noFill/>
          <a:ln/>
        </p:spPr>
        <p:txBody>
          <a:bodyPr wrap="square" lIns="0" tIns="0" rIns="0" bIns="0" rtlCol="0" anchor="t"/>
          <a:lstStyle/>
          <a:p>
            <a:pPr indent="0" marL="0">
              <a:buNone/>
            </a:pPr>
            <a:r>
              <a:rPr lang="en-US" sz="850" dirty="0">
                <a:solidFill>
                  <a:srgbClr val="CDBFA9"/>
                </a:solidFill>
                <a:latin typeface="Calibri" pitchFamily="34" charset="0"/>
                <a:ea typeface="Calibri" pitchFamily="34" charset="-122"/>
                <a:cs typeface="Calibri" pitchFamily="34" charset="-120"/>
              </a:rPr>
              <a:t>Asked about ten kinds of local development, Americans ranked data centers last: 26% support one nearby, 46% oppose. Housing led at 58%.</a:t>
            </a:r>
            <a:endParaRPr lang="en-US" sz="850" dirty="0"/>
          </a:p>
        </p:txBody>
      </p:sp>
      <p:sp>
        <p:nvSpPr>
          <p:cNvPr id="32" name="Shape 30"/>
          <p:cNvSpPr/>
          <p:nvPr/>
        </p:nvSpPr>
        <p:spPr>
          <a:xfrm>
            <a:off x="7315200" y="4718304"/>
            <a:ext cx="4343400" cy="1152144"/>
          </a:xfrm>
          <a:prstGeom prst="roundRect">
            <a:avLst>
              <a:gd name="adj" fmla="val 7143"/>
            </a:avLst>
          </a:prstGeom>
          <a:solidFill>
            <a:srgbClr val="261A0F"/>
          </a:solidFill>
          <a:ln/>
        </p:spPr>
      </p:sp>
      <p:sp>
        <p:nvSpPr>
          <p:cNvPr id="33" name="Text 31"/>
          <p:cNvSpPr/>
          <p:nvPr/>
        </p:nvSpPr>
        <p:spPr>
          <a:xfrm>
            <a:off x="7516368" y="4828032"/>
            <a:ext cx="3941064" cy="384048"/>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Why it matters to us</a:t>
            </a:r>
            <a:endParaRPr lang="en-US" sz="1100" dirty="0"/>
          </a:p>
        </p:txBody>
      </p:sp>
      <p:sp>
        <p:nvSpPr>
          <p:cNvPr id="34" name="Text 32"/>
          <p:cNvSpPr/>
          <p:nvPr/>
        </p:nvSpPr>
        <p:spPr>
          <a:xfrm>
            <a:off x="7516368" y="5230368"/>
            <a:ext cx="3941064" cy="603504"/>
          </a:xfrm>
          <a:prstGeom prst="rect">
            <a:avLst/>
          </a:prstGeom>
          <a:noFill/>
          <a:ln/>
        </p:spPr>
        <p:txBody>
          <a:bodyPr wrap="square" lIns="0" tIns="0" rIns="0" bIns="0" rtlCol="0" anchor="t"/>
          <a:lstStyle/>
          <a:p>
            <a:pPr indent="0" marL="0">
              <a:buNone/>
            </a:pPr>
            <a:r>
              <a:rPr lang="en-US" sz="850" dirty="0">
                <a:solidFill>
                  <a:srgbClr val="CDBFA9"/>
                </a:solidFill>
                <a:latin typeface="Calibri" pitchFamily="34" charset="0"/>
                <a:ea typeface="Calibri" pitchFamily="34" charset="-122"/>
                <a:cs typeface="Calibri" pitchFamily="34" charset="-120"/>
              </a:rPr>
              <a:t>Entitlement is where hyperscalers now lose time. Facades, screens and fences a community accepts are a schedule argument, not decoration. Power, water and rates are outside our scope, and we say so.</a:t>
            </a:r>
            <a:endParaRPr lang="en-US" sz="850" dirty="0"/>
          </a:p>
        </p:txBody>
      </p:sp>
      <p:sp>
        <p:nvSpPr>
          <p:cNvPr id="35" name="Text 3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75 projects, ~$130B, 833 groups, 49 states, 14 states with moratorium bills. Reuters/Ipsos 2026 survey (77% worry about electricity bills) as cited by Brookings, Aug 2026. ITIF and Public First survey, Aug 2026 (26% support, 46% oppose; last of ten development types). Setbacks and noise limits: Virginia HB 153 (500 ft); Henry County, VA ordinance, Aug 2026 (1,000 ft, 50 dBA, closed-loop cooling); Virginia DEQ generator rule, Jul 2026. Issue list is general reporting, not a ranked survey.</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FIT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2026-09-05T14:25:08Z</dcterms:created>
  <dcterms:modified xsi:type="dcterms:W3CDTF">2026-09-05T14:25:08Z</dcterms:modified>
</cp:coreProperties>
</file>