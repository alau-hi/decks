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Hyperscalers are already building with wood. We </a:t>
            </a:r>
            <a:pPr indent="0" marL="0">
              <a:buNone/>
            </a:pPr>
            <a:r>
              <a:rPr lang="en-US" sz="2700" i="1" dirty="0">
                <a:solidFill>
                  <a:srgbClr val="E2B877"/>
                </a:solidFill>
                <a:latin typeface="Georgia" pitchFamily="34" charset="0"/>
                <a:ea typeface="Georgia" pitchFamily="34" charset="-122"/>
                <a:cs typeface="Georgia" pitchFamily="34" charset="-120"/>
              </a:rPr>
              <a:t>turbocharge</a:t>
            </a:r>
            <a:pPr indent="0" marL="0">
              <a:buNone/>
            </a:pPr>
            <a:r>
              <a:rPr lang="en-US" sz="2700" dirty="0">
                <a:solidFill>
                  <a:srgbClr val="F4ECDF"/>
                </a:solidFill>
                <a:latin typeface="Georgia" pitchFamily="34" charset="0"/>
                <a:ea typeface="Georgia" pitchFamily="34" charset="-122"/>
                <a:cs typeface="Georgia" pitchFamily="34" charset="-120"/>
              </a:rPr>
              <a:t> wood.</a:t>
            </a:r>
            <a:endParaRPr lang="en-US" sz="27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783080"/>
          </a:xfrm>
          <a:prstGeom prst="roundRect">
            <a:avLst>
              <a:gd name="adj" fmla="val 4615"/>
            </a:avLst>
          </a:prstGeom>
          <a:solidFill>
            <a:srgbClr val="2E2113"/>
          </a:solidFill>
          <a:ln/>
        </p:spPr>
      </p:sp>
      <p:pic>
        <p:nvPicPr>
          <p:cNvPr id="8" name="Image 0" descr="prep/logo_microsoft.png">    </p:cNvPr>
          <p:cNvPicPr>
            <a:picLocks noChangeAspect="1"/>
          </p:cNvPicPr>
          <p:nvPr/>
        </p:nvPicPr>
        <p:blipFill>
          <a:blip r:embed="rId1"/>
          <a:stretch>
            <a:fillRect/>
          </a:stretch>
        </p:blipFill>
        <p:spPr>
          <a:xfrm>
            <a:off x="731520" y="2286000"/>
            <a:ext cx="1457757" cy="310896"/>
          </a:xfrm>
          <a:prstGeom prst="rect">
            <a:avLst/>
          </a:prstGeom>
        </p:spPr>
      </p:pic>
      <p:sp>
        <p:nvSpPr>
          <p:cNvPr id="9" name="Text 6"/>
          <p:cNvSpPr/>
          <p:nvPr/>
        </p:nvSpPr>
        <p:spPr>
          <a:xfrm>
            <a:off x="731520" y="272491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Two Northern Virginia datacenters with cross-laminated timber floor panels on a steel frame: an estimated 35% embodied-carbon reduction vs. conventional steel construction and 65% vs. precast concrete. Design by Gensler; structural engineering by Thornton Tomasetti.</a:t>
            </a:r>
            <a:endParaRPr lang="en-US" sz="950" dirty="0"/>
          </a:p>
        </p:txBody>
      </p:sp>
      <p:sp>
        <p:nvSpPr>
          <p:cNvPr id="10" name="Text 7"/>
          <p:cNvSpPr/>
          <p:nvPr/>
        </p:nvSpPr>
        <p:spPr>
          <a:xfrm>
            <a:off x="731520" y="361188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Microsoft Source, Nov 2024</a:t>
            </a:r>
            <a:endParaRPr lang="en-US" sz="800" dirty="0"/>
          </a:p>
        </p:txBody>
      </p:sp>
      <p:sp>
        <p:nvSpPr>
          <p:cNvPr id="11" name="Shape 8"/>
          <p:cNvSpPr/>
          <p:nvPr/>
        </p:nvSpPr>
        <p:spPr>
          <a:xfrm>
            <a:off x="502920" y="4023360"/>
            <a:ext cx="4206240" cy="1783080"/>
          </a:xfrm>
          <a:prstGeom prst="roundRect">
            <a:avLst>
              <a:gd name="adj" fmla="val 4615"/>
            </a:avLst>
          </a:prstGeom>
          <a:solidFill>
            <a:srgbClr val="2E2113"/>
          </a:solidFill>
          <a:ln/>
        </p:spPr>
      </p:sp>
      <p:pic>
        <p:nvPicPr>
          <p:cNvPr id="12" name="Image 1" descr="prep/logo_meta.png">    </p:cNvPr>
          <p:cNvPicPr>
            <a:picLocks noChangeAspect="1"/>
          </p:cNvPicPr>
          <p:nvPr/>
        </p:nvPicPr>
        <p:blipFill>
          <a:blip r:embed="rId2"/>
          <a:stretch>
            <a:fillRect/>
          </a:stretch>
        </p:blipFill>
        <p:spPr>
          <a:xfrm>
            <a:off x="731520" y="4206240"/>
            <a:ext cx="1543086" cy="310896"/>
          </a:xfrm>
          <a:prstGeom prst="rect">
            <a:avLst/>
          </a:prstGeom>
        </p:spPr>
      </p:pic>
      <p:sp>
        <p:nvSpPr>
          <p:cNvPr id="13" name="Text 9"/>
          <p:cNvSpPr/>
          <p:nvPr/>
        </p:nvSpPr>
        <p:spPr>
          <a:xfrm>
            <a:off x="731520" y="464515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Piloting mass timber for data-center administrative buildings: first completed 2025 at Aiken, South Carolina (DPR, SmartLam); projects under way in Cheyenne, Wyoming and Montgomery, Alabama; about a 41% reduction in the embodied carbon of the materials substituted.</a:t>
            </a:r>
            <a:endParaRPr lang="en-US" sz="950" dirty="0"/>
          </a:p>
        </p:txBody>
      </p:sp>
      <p:sp>
        <p:nvSpPr>
          <p:cNvPr id="14" name="Text 10"/>
          <p:cNvSpPr/>
          <p:nvPr/>
        </p:nvSpPr>
        <p:spPr>
          <a:xfrm>
            <a:off x="731520" y="553212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Meta Sustainability, 31 Jul 2025</a:t>
            </a:r>
            <a:endParaRPr lang="en-US" sz="800" dirty="0"/>
          </a:p>
        </p:txBody>
      </p:sp>
      <p:sp>
        <p:nvSpPr>
          <p:cNvPr id="15" name="Text 11"/>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16" name="Image 2" descr="prep/beam_glulam.jpg">    </p:cNvPr>
          <p:cNvPicPr>
            <a:picLocks noChangeAspect="1"/>
          </p:cNvPicPr>
          <p:nvPr/>
        </p:nvPicPr>
        <p:blipFill>
          <a:blip r:embed="rId3"/>
          <a:srcRect l="0" r="0" t="0" b="0"/>
          <a:stretch/>
        </p:blipFill>
        <p:spPr>
          <a:xfrm>
            <a:off x="4983480" y="2103120"/>
            <a:ext cx="2133600" cy="1188720"/>
          </a:xfrm>
          <a:prstGeom prst="rect">
            <a:avLst/>
          </a:prstGeom>
        </p:spPr>
      </p:pic>
      <p:sp>
        <p:nvSpPr>
          <p:cNvPr id="17" name="Text 12"/>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18" name="Image 3" descr="prep/beam_hybrid.jpg">    </p:cNvPr>
          <p:cNvPicPr>
            <a:picLocks noChangeAspect="1"/>
          </p:cNvPicPr>
          <p:nvPr/>
        </p:nvPicPr>
        <p:blipFill>
          <a:blip r:embed="rId4"/>
          <a:srcRect l="0" r="0" t="0" b="0"/>
          <a:stretch/>
        </p:blipFill>
        <p:spPr>
          <a:xfrm>
            <a:off x="7254240" y="2103120"/>
            <a:ext cx="2133600" cy="1188720"/>
          </a:xfrm>
          <a:prstGeom prst="rect">
            <a:avLst/>
          </a:prstGeom>
        </p:spPr>
      </p:pic>
      <p:sp>
        <p:nvSpPr>
          <p:cNvPr id="19" name="Text 13"/>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0" name="Image 4" descr="prep/beam_thin.jpg">    </p:cNvPr>
          <p:cNvPicPr>
            <a:picLocks noChangeAspect="1"/>
          </p:cNvPicPr>
          <p:nvPr/>
        </p:nvPicPr>
        <p:blipFill>
          <a:blip r:embed="rId5"/>
          <a:srcRect l="0" r="0" t="0" b="0"/>
          <a:stretch/>
        </p:blipFill>
        <p:spPr>
          <a:xfrm>
            <a:off x="9525000" y="2103120"/>
            <a:ext cx="2133600" cy="1188720"/>
          </a:xfrm>
          <a:prstGeom prst="rect">
            <a:avLst/>
          </a:prstGeom>
        </p:spPr>
      </p:pic>
      <p:sp>
        <p:nvSpPr>
          <p:cNvPr id="21" name="Text 14"/>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steel-like sections</a:t>
            </a:r>
            <a:endParaRPr lang="en-US" sz="850" dirty="0"/>
          </a:p>
        </p:txBody>
      </p:sp>
      <p:sp>
        <p:nvSpPr>
          <p:cNvPr id="22" name="Text 15"/>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3" name="Text 16"/>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4" name="Text 17"/>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5" name="Shape 18"/>
          <p:cNvSpPr/>
          <p:nvPr/>
        </p:nvSpPr>
        <p:spPr>
          <a:xfrm>
            <a:off x="4983480" y="4009644"/>
            <a:ext cx="6675120" cy="10973"/>
          </a:xfrm>
          <a:prstGeom prst="rect">
            <a:avLst/>
          </a:prstGeom>
          <a:solidFill>
            <a:srgbClr val="3A2B1A"/>
          </a:solidFill>
          <a:ln/>
        </p:spPr>
      </p:sp>
      <p:sp>
        <p:nvSpPr>
          <p:cNvPr id="26" name="Text 19"/>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7" name="Text 20"/>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8" name="Text 21"/>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9" name="Shape 22"/>
          <p:cNvSpPr/>
          <p:nvPr/>
        </p:nvSpPr>
        <p:spPr>
          <a:xfrm>
            <a:off x="4983480" y="4361688"/>
            <a:ext cx="6675120" cy="10973"/>
          </a:xfrm>
          <a:prstGeom prst="rect">
            <a:avLst/>
          </a:prstGeom>
          <a:solidFill>
            <a:srgbClr val="3A2B1A"/>
          </a:solidFill>
          <a:ln/>
        </p:spPr>
      </p:sp>
      <p:sp>
        <p:nvSpPr>
          <p:cNvPr id="30" name="Text 23"/>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1" name="Text 24"/>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2" name="Text 25"/>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3" name="Shape 26"/>
          <p:cNvSpPr/>
          <p:nvPr/>
        </p:nvSpPr>
        <p:spPr>
          <a:xfrm>
            <a:off x="4983480" y="4713732"/>
            <a:ext cx="6675120" cy="10973"/>
          </a:xfrm>
          <a:prstGeom prst="rect">
            <a:avLst/>
          </a:prstGeom>
          <a:solidFill>
            <a:srgbClr val="3A2B1A"/>
          </a:solidFill>
          <a:ln/>
        </p:spPr>
      </p:sp>
      <p:sp>
        <p:nvSpPr>
          <p:cNvPr id="34" name="Text 27"/>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5" name="Text 28"/>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6" name="Text 29"/>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7" name="Shape 30"/>
          <p:cNvSpPr/>
          <p:nvPr/>
        </p:nvSpPr>
        <p:spPr>
          <a:xfrm>
            <a:off x="4983480" y="5065776"/>
            <a:ext cx="6675120" cy="10973"/>
          </a:xfrm>
          <a:prstGeom prst="rect">
            <a:avLst/>
          </a:prstGeom>
          <a:solidFill>
            <a:srgbClr val="3A2B1A"/>
          </a:solidFill>
          <a:ln/>
        </p:spPr>
      </p:sp>
      <p:sp>
        <p:nvSpPr>
          <p:cNvPr id="38" name="Text 31"/>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9" name="Text 32"/>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0" name="Text 33"/>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1" name="Shape 34"/>
          <p:cNvSpPr/>
          <p:nvPr/>
        </p:nvSpPr>
        <p:spPr>
          <a:xfrm>
            <a:off x="4983480" y="5417820"/>
            <a:ext cx="6675120" cy="10973"/>
          </a:xfrm>
          <a:prstGeom prst="rect">
            <a:avLst/>
          </a:prstGeom>
          <a:solidFill>
            <a:srgbClr val="3A2B1A"/>
          </a:solidFill>
          <a:ln/>
        </p:spPr>
      </p:sp>
      <p:sp>
        <p:nvSpPr>
          <p:cNvPr id="42" name="Text 35"/>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3" name="Text 36"/>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4" name="Text 37"/>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5" name="Shape 38"/>
          <p:cNvSpPr/>
          <p:nvPr/>
        </p:nvSpPr>
        <p:spPr>
          <a:xfrm>
            <a:off x="4983480" y="5769864"/>
            <a:ext cx="6675120" cy="10973"/>
          </a:xfrm>
          <a:prstGeom prst="rect">
            <a:avLst/>
          </a:prstGeom>
          <a:solidFill>
            <a:srgbClr val="3A2B1A"/>
          </a:solidFill>
          <a:ln/>
        </p:spPr>
      </p:sp>
      <p:sp>
        <p:nvSpPr>
          <p:cNvPr id="46" name="Text 39"/>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7" name="Text 40"/>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8" name="Text 41"/>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9" name="Text 42"/>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are the companies' marks, used to identify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2026-09-04T21:39:28Z</dcterms:created>
  <dcterms:modified xsi:type="dcterms:W3CDTF">2026-09-04T21:39:28Z</dcterms:modified>
</cp:coreProperties>
</file>