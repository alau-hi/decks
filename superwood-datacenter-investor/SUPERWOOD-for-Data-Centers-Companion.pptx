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Shape 8"/>
          <p:cNvSpPr/>
          <p:nvPr/>
        </p:nvSpPr>
        <p:spPr>
          <a:xfrm>
            <a:off x="502920" y="2514600"/>
            <a:ext cx="11155680" cy="10973"/>
          </a:xfrm>
          <a:prstGeom prst="rect">
            <a:avLst/>
          </a:prstGeom>
          <a:solidFill>
            <a:srgbClr val="3A2B1A"/>
          </a:solidFill>
          <a:ln/>
        </p:spPr>
      </p:sp>
      <p:sp>
        <p:nvSpPr>
          <p:cNvPr id="11" name="Text 9"/>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2" name="Text 10"/>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3" name="Text 11"/>
          <p:cNvSpPr/>
          <p:nvPr/>
        </p:nvSpPr>
        <p:spPr>
          <a:xfrm>
            <a:off x="8229600" y="2606040"/>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1.4–3.1 years of SuperMill One</a:t>
            </a:r>
            <a:endParaRPr lang="en-US" sz="1500" dirty="0"/>
          </a:p>
        </p:txBody>
      </p:sp>
      <p:sp>
        <p:nvSpPr>
          <p:cNvPr id="14" name="Shape 12"/>
          <p:cNvSpPr/>
          <p:nvPr/>
        </p:nvSpPr>
        <p:spPr>
          <a:xfrm>
            <a:off x="502920" y="3227832"/>
            <a:ext cx="11155680" cy="10973"/>
          </a:xfrm>
          <a:prstGeom prst="rect">
            <a:avLst/>
          </a:prstGeom>
          <a:solidFill>
            <a:srgbClr val="3A2B1A"/>
          </a:solidFill>
          <a:ln/>
        </p:spPr>
      </p:sp>
      <p:sp>
        <p:nvSpPr>
          <p:cNvPr id="15" name="Text 13"/>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16" name="Text 14"/>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17" name="Text 15"/>
          <p:cNvSpPr/>
          <p:nvPr/>
        </p:nvSpPr>
        <p:spPr>
          <a:xfrm>
            <a:off x="8229600" y="3319272"/>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0.1–0.6 years of SuperMill Two</a:t>
            </a:r>
            <a:endParaRPr lang="en-US" sz="1500" dirty="0"/>
          </a:p>
        </p:txBody>
      </p:sp>
      <p:sp>
        <p:nvSpPr>
          <p:cNvPr id="18" name="Shape 16"/>
          <p:cNvSpPr/>
          <p:nvPr/>
        </p:nvSpPr>
        <p:spPr>
          <a:xfrm>
            <a:off x="502920" y="3941064"/>
            <a:ext cx="11155680" cy="10973"/>
          </a:xfrm>
          <a:prstGeom prst="rect">
            <a:avLst/>
          </a:prstGeom>
          <a:solidFill>
            <a:srgbClr val="3A2B1A"/>
          </a:solidFill>
          <a:ln/>
        </p:spPr>
      </p:sp>
      <p:sp>
        <p:nvSpPr>
          <p:cNvPr id="19" name="Text 17"/>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0" name="Text 18"/>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1" name="Text 19"/>
          <p:cNvSpPr/>
          <p:nvPr/>
        </p:nvSpPr>
        <p:spPr>
          <a:xfrm>
            <a:off x="8229600" y="4032504"/>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0.5–2.1 years of SuperMill Two</a:t>
            </a:r>
            <a:endParaRPr lang="en-US" sz="1500" dirty="0"/>
          </a:p>
        </p:txBody>
      </p:sp>
      <p:sp>
        <p:nvSpPr>
          <p:cNvPr id="22" name="Shape 20"/>
          <p:cNvSpPr/>
          <p:nvPr/>
        </p:nvSpPr>
        <p:spPr>
          <a:xfrm>
            <a:off x="502920" y="4654296"/>
            <a:ext cx="11155680" cy="10973"/>
          </a:xfrm>
          <a:prstGeom prst="rect">
            <a:avLst/>
          </a:prstGeom>
          <a:solidFill>
            <a:srgbClr val="3A2B1A"/>
          </a:solidFill>
          <a:ln/>
        </p:spPr>
      </p:sp>
      <p:sp>
        <p:nvSpPr>
          <p:cNvPr id="23" name="Text 2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 server boxes</a:t>
            </a:r>
            <a:endParaRPr lang="en-US" sz="1500" dirty="0"/>
          </a:p>
        </p:txBody>
      </p:sp>
      <p:sp>
        <p:nvSpPr>
          <p:cNvPr id="24" name="Text 2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25" name="Text 23"/>
          <p:cNvSpPr/>
          <p:nvPr/>
        </p:nvSpPr>
        <p:spPr>
          <a:xfrm>
            <a:off x="8229600" y="4745736"/>
            <a:ext cx="3383280" cy="548640"/>
          </a:xfrm>
          <a:prstGeom prst="rect">
            <a:avLst/>
          </a:prstGeom>
          <a:noFill/>
          <a:ln/>
        </p:spPr>
        <p:txBody>
          <a:bodyPr wrap="square" lIns="0" tIns="0" rIns="0" bIns="0" rtlCol="0" anchor="ctr"/>
          <a:lstStyle/>
          <a:p>
            <a:pPr indent="0" marL="0">
              <a:buNone/>
            </a:pPr>
            <a:r>
              <a:rPr lang="en-US" sz="1500" b="1" dirty="0">
                <a:solidFill>
                  <a:srgbClr val="E2B877"/>
                </a:solidFill>
                <a:latin typeface="Calibri" pitchFamily="34" charset="0"/>
                <a:ea typeface="Calibri" pitchFamily="34" charset="-122"/>
                <a:cs typeface="Calibri" pitchFamily="34" charset="-120"/>
              </a:rPr>
              <a:t>1.8–12 years of SuperMill Two</a:t>
            </a:r>
            <a:endParaRPr lang="en-US" sz="1500" dirty="0"/>
          </a:p>
        </p:txBody>
      </p:sp>
      <p:sp>
        <p:nvSpPr>
          <p:cNvPr id="26" name="Shape 24"/>
          <p:cNvSpPr/>
          <p:nvPr/>
        </p:nvSpPr>
        <p:spPr>
          <a:xfrm>
            <a:off x="502920" y="5367528"/>
            <a:ext cx="11155680" cy="10973"/>
          </a:xfrm>
          <a:prstGeom prst="rect">
            <a:avLst/>
          </a:prstGeom>
          <a:solidFill>
            <a:srgbClr val="3A2B1A"/>
          </a:solidFill>
          <a:ln/>
        </p:spPr>
      </p:sp>
      <p:sp>
        <p:nvSpPr>
          <p:cNvPr id="27" name="Text 25"/>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28" name="Text 26"/>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includes server enclosures at 40% of IT mass,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2026-09-05T15:36:48Z</dcterms:created>
  <dcterms:modified xsi:type="dcterms:W3CDTF">2026-09-05T15:36:48Z</dcterms:modified>
</cp:coreProperties>
</file>