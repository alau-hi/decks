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pic>
        <p:nvPicPr>
          <p:cNvPr id="18" name="Image 4" descr="prep/beam_glulam.jpg">    </p:cNvPr>
          <p:cNvPicPr>
            <a:picLocks noChangeAspect="1"/>
          </p:cNvPicPr>
          <p:nvPr/>
        </p:nvPicPr>
        <p:blipFill>
          <a:blip r:embed="rId5"/>
          <a:srcRect l="0" r="0" t="0" b="0"/>
          <a:stretch/>
        </p:blipFill>
        <p:spPr>
          <a:xfrm>
            <a:off x="4983480" y="1828800"/>
            <a:ext cx="2133600" cy="1600200"/>
          </a:xfrm>
          <a:prstGeom prst="rect">
            <a:avLst/>
          </a:prstGeom>
        </p:spPr>
      </p:pic>
      <p:pic>
        <p:nvPicPr>
          <p:cNvPr id="19" name="Image 5" descr="prep/beam_hybrid.jpg">    </p:cNvPr>
          <p:cNvPicPr>
            <a:picLocks noChangeAspect="1"/>
          </p:cNvPicPr>
          <p:nvPr/>
        </p:nvPicPr>
        <p:blipFill>
          <a:blip r:embed="rId6"/>
          <a:srcRect l="0" r="0" t="0" b="0"/>
          <a:stretch/>
        </p:blipFill>
        <p:spPr>
          <a:xfrm>
            <a:off x="7254240" y="1828800"/>
            <a:ext cx="2133600" cy="1600200"/>
          </a:xfrm>
          <a:prstGeom prst="rect">
            <a:avLst/>
          </a:prstGeom>
        </p:spPr>
      </p:pic>
      <p:pic>
        <p:nvPicPr>
          <p:cNvPr id="20" name="Image 6" descr="prep/beam_thin.jpg">    </p:cNvPr>
          <p:cNvPicPr>
            <a:picLocks noChangeAspect="1"/>
          </p:cNvPicPr>
          <p:nvPr/>
        </p:nvPicPr>
        <p:blipFill>
          <a:blip r:embed="rId7"/>
          <a:srcRect l="0" r="0" t="0" b="0"/>
          <a:stretch/>
        </p:blipFill>
        <p:spPr>
          <a:xfrm>
            <a:off x="9525000" y="1828800"/>
            <a:ext cx="2133600" cy="1600200"/>
          </a:xfrm>
          <a:prstGeom prst="rect">
            <a:avLst/>
          </a:prstGeom>
        </p:spPr>
      </p:pic>
      <p:sp>
        <p:nvSpPr>
          <p:cNvPr id="21" name="Text 12"/>
          <p:cNvSpPr/>
          <p:nvPr/>
        </p:nvSpPr>
        <p:spPr>
          <a:xfrm>
            <a:off x="4983480" y="3611880"/>
            <a:ext cx="1280160" cy="329184"/>
          </a:xfrm>
          <a:prstGeom prst="rect">
            <a:avLst/>
          </a:prstGeom>
          <a:noFill/>
          <a:ln/>
        </p:spPr>
        <p:txBody>
          <a:bodyPr wrap="square" lIns="0" tIns="0" rIns="0" bIns="0" rtlCol="0" anchor="t"/>
          <a:lstStyle/>
          <a:p>
            <a:pPr indent="0" marL="0">
              <a:buNone/>
            </a:pPr>
            <a:endParaRPr lang="en-US" sz="800" dirty="0"/>
          </a:p>
        </p:txBody>
      </p:sp>
      <p:sp>
        <p:nvSpPr>
          <p:cNvPr id="22" name="Text 13"/>
          <p:cNvSpPr/>
          <p:nvPr/>
        </p:nvSpPr>
        <p:spPr>
          <a:xfrm>
            <a:off x="6355080" y="361188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3" name="Text 14"/>
          <p:cNvSpPr/>
          <p:nvPr/>
        </p:nvSpPr>
        <p:spPr>
          <a:xfrm>
            <a:off x="8412480" y="361188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4" name="Shape 15"/>
          <p:cNvSpPr/>
          <p:nvPr/>
        </p:nvSpPr>
        <p:spPr>
          <a:xfrm>
            <a:off x="4983480" y="3927348"/>
            <a:ext cx="6675120" cy="10973"/>
          </a:xfrm>
          <a:prstGeom prst="rect">
            <a:avLst/>
          </a:prstGeom>
          <a:solidFill>
            <a:srgbClr val="3A2B1A"/>
          </a:solidFill>
          <a:ln/>
        </p:spPr>
      </p:sp>
      <p:sp>
        <p:nvSpPr>
          <p:cNvPr id="25" name="Text 16"/>
          <p:cNvSpPr/>
          <p:nvPr/>
        </p:nvSpPr>
        <p:spPr>
          <a:xfrm>
            <a:off x="4983480" y="397306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26" name="Text 17"/>
          <p:cNvSpPr/>
          <p:nvPr/>
        </p:nvSpPr>
        <p:spPr>
          <a:xfrm>
            <a:off x="6355080" y="397306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27" name="Text 18"/>
          <p:cNvSpPr/>
          <p:nvPr/>
        </p:nvSpPr>
        <p:spPr>
          <a:xfrm>
            <a:off x="8412480" y="397306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28" name="Shape 19"/>
          <p:cNvSpPr/>
          <p:nvPr/>
        </p:nvSpPr>
        <p:spPr>
          <a:xfrm>
            <a:off x="4983480" y="4288536"/>
            <a:ext cx="6675120" cy="10973"/>
          </a:xfrm>
          <a:prstGeom prst="rect">
            <a:avLst/>
          </a:prstGeom>
          <a:solidFill>
            <a:srgbClr val="3A2B1A"/>
          </a:solidFill>
          <a:ln/>
        </p:spPr>
      </p:sp>
      <p:sp>
        <p:nvSpPr>
          <p:cNvPr id="29" name="Text 20"/>
          <p:cNvSpPr/>
          <p:nvPr/>
        </p:nvSpPr>
        <p:spPr>
          <a:xfrm>
            <a:off x="4983480" y="433425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0" name="Text 21"/>
          <p:cNvSpPr/>
          <p:nvPr/>
        </p:nvSpPr>
        <p:spPr>
          <a:xfrm>
            <a:off x="6355080" y="433425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1" name="Text 22"/>
          <p:cNvSpPr/>
          <p:nvPr/>
        </p:nvSpPr>
        <p:spPr>
          <a:xfrm>
            <a:off x="8412480" y="433425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2" name="Shape 23"/>
          <p:cNvSpPr/>
          <p:nvPr/>
        </p:nvSpPr>
        <p:spPr>
          <a:xfrm>
            <a:off x="4983480" y="4649724"/>
            <a:ext cx="6675120" cy="10973"/>
          </a:xfrm>
          <a:prstGeom prst="rect">
            <a:avLst/>
          </a:prstGeom>
          <a:solidFill>
            <a:srgbClr val="3A2B1A"/>
          </a:solidFill>
          <a:ln/>
        </p:spPr>
      </p:sp>
      <p:sp>
        <p:nvSpPr>
          <p:cNvPr id="33" name="Text 24"/>
          <p:cNvSpPr/>
          <p:nvPr/>
        </p:nvSpPr>
        <p:spPr>
          <a:xfrm>
            <a:off x="4983480" y="469544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4" name="Text 25"/>
          <p:cNvSpPr/>
          <p:nvPr/>
        </p:nvSpPr>
        <p:spPr>
          <a:xfrm>
            <a:off x="6355080" y="469544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35" name="Text 26"/>
          <p:cNvSpPr/>
          <p:nvPr/>
        </p:nvSpPr>
        <p:spPr>
          <a:xfrm>
            <a:off x="8412480" y="469544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36" name="Shape 27"/>
          <p:cNvSpPr/>
          <p:nvPr/>
        </p:nvSpPr>
        <p:spPr>
          <a:xfrm>
            <a:off x="4983480" y="5010912"/>
            <a:ext cx="6675120" cy="10973"/>
          </a:xfrm>
          <a:prstGeom prst="rect">
            <a:avLst/>
          </a:prstGeom>
          <a:solidFill>
            <a:srgbClr val="3A2B1A"/>
          </a:solidFill>
          <a:ln/>
        </p:spPr>
      </p:sp>
      <p:sp>
        <p:nvSpPr>
          <p:cNvPr id="37" name="Text 28"/>
          <p:cNvSpPr/>
          <p:nvPr/>
        </p:nvSpPr>
        <p:spPr>
          <a:xfrm>
            <a:off x="4983480" y="505663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38" name="Text 29"/>
          <p:cNvSpPr/>
          <p:nvPr/>
        </p:nvSpPr>
        <p:spPr>
          <a:xfrm>
            <a:off x="6355080" y="505663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39" name="Text 30"/>
          <p:cNvSpPr/>
          <p:nvPr/>
        </p:nvSpPr>
        <p:spPr>
          <a:xfrm>
            <a:off x="8412480" y="505663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0" name="Shape 31"/>
          <p:cNvSpPr/>
          <p:nvPr/>
        </p:nvSpPr>
        <p:spPr>
          <a:xfrm>
            <a:off x="4983480" y="5372100"/>
            <a:ext cx="6675120" cy="10973"/>
          </a:xfrm>
          <a:prstGeom prst="rect">
            <a:avLst/>
          </a:prstGeom>
          <a:solidFill>
            <a:srgbClr val="3A2B1A"/>
          </a:solidFill>
          <a:ln/>
        </p:spPr>
      </p:sp>
      <p:sp>
        <p:nvSpPr>
          <p:cNvPr id="41" name="Text 32"/>
          <p:cNvSpPr/>
          <p:nvPr/>
        </p:nvSpPr>
        <p:spPr>
          <a:xfrm>
            <a:off x="4983480" y="541782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2" name="Text 33"/>
          <p:cNvSpPr/>
          <p:nvPr/>
        </p:nvSpPr>
        <p:spPr>
          <a:xfrm>
            <a:off x="6355080" y="541782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3" name="Text 34"/>
          <p:cNvSpPr/>
          <p:nvPr/>
        </p:nvSpPr>
        <p:spPr>
          <a:xfrm>
            <a:off x="8412480" y="541782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4" name="Shape 35"/>
          <p:cNvSpPr/>
          <p:nvPr/>
        </p:nvSpPr>
        <p:spPr>
          <a:xfrm>
            <a:off x="4983480" y="5733288"/>
            <a:ext cx="6675120" cy="10973"/>
          </a:xfrm>
          <a:prstGeom prst="rect">
            <a:avLst/>
          </a:prstGeom>
          <a:solidFill>
            <a:srgbClr val="3A2B1A"/>
          </a:solidFill>
          <a:ln/>
        </p:spPr>
      </p:sp>
      <p:sp>
        <p:nvSpPr>
          <p:cNvPr id="45" name="Text 36"/>
          <p:cNvSpPr/>
          <p:nvPr/>
        </p:nvSpPr>
        <p:spPr>
          <a:xfrm>
            <a:off x="4983480" y="57790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46" name="Text 37"/>
          <p:cNvSpPr/>
          <p:nvPr/>
        </p:nvSpPr>
        <p:spPr>
          <a:xfrm>
            <a:off x="6355080" y="57790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47" name="Text 38"/>
          <p:cNvSpPr/>
          <p:nvPr/>
        </p:nvSpPr>
        <p:spPr>
          <a:xfrm>
            <a:off x="8412480" y="57790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48" name="Text 39"/>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boxes eventually — the electronics never.</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965960"/>
            <a:ext cx="4572000" cy="2232837"/>
          </a:xfrm>
          <a:prstGeom prst="rect">
            <a:avLst/>
          </a:prstGeom>
        </p:spPr>
      </p:pic>
      <p:sp>
        <p:nvSpPr>
          <p:cNvPr id="7" name="Text 4"/>
          <p:cNvSpPr/>
          <p:nvPr/>
        </p:nvSpPr>
        <p:spPr>
          <a:xfrm>
            <a:off x="5394960" y="1737360"/>
            <a:ext cx="201168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HORIZON</a:t>
            </a:r>
            <a:endParaRPr lang="en-US" sz="900" dirty="0"/>
          </a:p>
        </p:txBody>
      </p:sp>
      <p:sp>
        <p:nvSpPr>
          <p:cNvPr id="8" name="Text 5"/>
          <p:cNvSpPr/>
          <p:nvPr/>
        </p:nvSpPr>
        <p:spPr>
          <a:xfrm>
            <a:off x="749808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INCUMBENT REPLACED</a:t>
            </a:r>
            <a:endParaRPr lang="en-US" sz="900" dirty="0"/>
          </a:p>
        </p:txBody>
      </p:sp>
      <p:sp>
        <p:nvSpPr>
          <p:cNvPr id="9" name="Text 6"/>
          <p:cNvSpPr/>
          <p:nvPr/>
        </p:nvSpPr>
        <p:spPr>
          <a:xfrm>
            <a:off x="877824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SUPERWOOD REQUIRED</a:t>
            </a:r>
            <a:endParaRPr lang="en-US" sz="900" dirty="0"/>
          </a:p>
        </p:txBody>
      </p:sp>
      <p:sp>
        <p:nvSpPr>
          <p:cNvPr id="10" name="Text 7"/>
          <p:cNvSpPr/>
          <p:nvPr/>
        </p:nvSpPr>
        <p:spPr>
          <a:xfrm>
            <a:off x="10058400" y="1737360"/>
            <a:ext cx="160020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PLANT-YEARS</a:t>
            </a:r>
            <a:endParaRPr lang="en-US" sz="900" dirty="0"/>
          </a:p>
        </p:txBody>
      </p:sp>
      <p:sp>
        <p:nvSpPr>
          <p:cNvPr id="11" name="Shape 8"/>
          <p:cNvSpPr/>
          <p:nvPr/>
        </p:nvSpPr>
        <p:spPr>
          <a:xfrm>
            <a:off x="5394960" y="2258568"/>
            <a:ext cx="6263640" cy="10973"/>
          </a:xfrm>
          <a:prstGeom prst="rect">
            <a:avLst/>
          </a:prstGeom>
          <a:solidFill>
            <a:srgbClr val="3A2B1A"/>
          </a:solidFill>
          <a:ln/>
        </p:spPr>
      </p:sp>
      <p:sp>
        <p:nvSpPr>
          <p:cNvPr id="12" name="Text 9"/>
          <p:cNvSpPr/>
          <p:nvPr/>
        </p:nvSpPr>
        <p:spPr>
          <a:xfrm>
            <a:off x="5394960" y="2331720"/>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Now — skins, screens, fences</a:t>
            </a:r>
            <a:endParaRPr lang="en-US" sz="1200" dirty="0"/>
          </a:p>
        </p:txBody>
      </p:sp>
      <p:sp>
        <p:nvSpPr>
          <p:cNvPr id="13" name="Text 10"/>
          <p:cNvSpPr/>
          <p:nvPr/>
        </p:nvSpPr>
        <p:spPr>
          <a:xfrm>
            <a:off x="749808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3.3–12 kt</a:t>
            </a:r>
            <a:endParaRPr lang="en-US" sz="1150" dirty="0"/>
          </a:p>
        </p:txBody>
      </p:sp>
      <p:sp>
        <p:nvSpPr>
          <p:cNvPr id="14" name="Text 11"/>
          <p:cNvSpPr/>
          <p:nvPr/>
        </p:nvSpPr>
        <p:spPr>
          <a:xfrm>
            <a:off x="877824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1.2–2.7 kt (1.4–3.1M sf)</a:t>
            </a:r>
            <a:endParaRPr lang="en-US" sz="1150" dirty="0"/>
          </a:p>
        </p:txBody>
      </p:sp>
      <p:sp>
        <p:nvSpPr>
          <p:cNvPr id="15" name="Text 12"/>
          <p:cNvSpPr/>
          <p:nvPr/>
        </p:nvSpPr>
        <p:spPr>
          <a:xfrm>
            <a:off x="10058400" y="2331720"/>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1.4–3.1 yr of SuperMill One</a:t>
            </a:r>
            <a:endParaRPr lang="en-US" sz="1150" dirty="0"/>
          </a:p>
        </p:txBody>
      </p:sp>
      <p:sp>
        <p:nvSpPr>
          <p:cNvPr id="16" name="Shape 13"/>
          <p:cNvSpPr/>
          <p:nvPr/>
        </p:nvSpPr>
        <p:spPr>
          <a:xfrm>
            <a:off x="5394960" y="3008376"/>
            <a:ext cx="6263640" cy="10973"/>
          </a:xfrm>
          <a:prstGeom prst="rect">
            <a:avLst/>
          </a:prstGeom>
          <a:solidFill>
            <a:srgbClr val="3A2B1A"/>
          </a:solidFill>
          <a:ln/>
        </p:spPr>
      </p:sp>
      <p:sp>
        <p:nvSpPr>
          <p:cNvPr id="17" name="Text 14"/>
          <p:cNvSpPr/>
          <p:nvPr/>
        </p:nvSpPr>
        <p:spPr>
          <a:xfrm>
            <a:off x="5394960" y="3081528"/>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Next — racks, platforms, barriers</a:t>
            </a:r>
            <a:endParaRPr lang="en-US" sz="1200" dirty="0"/>
          </a:p>
        </p:txBody>
      </p:sp>
      <p:sp>
        <p:nvSpPr>
          <p:cNvPr id="18" name="Text 15"/>
          <p:cNvSpPr/>
          <p:nvPr/>
        </p:nvSpPr>
        <p:spPr>
          <a:xfrm>
            <a:off x="749808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12–30 kt</a:t>
            </a:r>
            <a:endParaRPr lang="en-US" sz="1150" dirty="0"/>
          </a:p>
        </p:txBody>
      </p:sp>
      <p:sp>
        <p:nvSpPr>
          <p:cNvPr id="19" name="Text 16"/>
          <p:cNvSpPr/>
          <p:nvPr/>
        </p:nvSpPr>
        <p:spPr>
          <a:xfrm>
            <a:off x="877824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3.5–18 kt</a:t>
            </a:r>
            <a:endParaRPr lang="en-US" sz="1150" dirty="0"/>
          </a:p>
        </p:txBody>
      </p:sp>
      <p:sp>
        <p:nvSpPr>
          <p:cNvPr id="20" name="Text 17"/>
          <p:cNvSpPr/>
          <p:nvPr/>
        </p:nvSpPr>
        <p:spPr>
          <a:xfrm>
            <a:off x="10058400" y="3081528"/>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0.1–0.6 yr of SuperMill Two</a:t>
            </a:r>
            <a:endParaRPr lang="en-US" sz="1150" dirty="0"/>
          </a:p>
        </p:txBody>
      </p:sp>
      <p:sp>
        <p:nvSpPr>
          <p:cNvPr id="21" name="Shape 18"/>
          <p:cNvSpPr/>
          <p:nvPr/>
        </p:nvSpPr>
        <p:spPr>
          <a:xfrm>
            <a:off x="5394960" y="3758184"/>
            <a:ext cx="6263640" cy="10973"/>
          </a:xfrm>
          <a:prstGeom prst="rect">
            <a:avLst/>
          </a:prstGeom>
          <a:solidFill>
            <a:srgbClr val="3A2B1A"/>
          </a:solidFill>
          <a:ln/>
        </p:spPr>
      </p:sp>
      <p:sp>
        <p:nvSpPr>
          <p:cNvPr id="22" name="Text 19"/>
          <p:cNvSpPr/>
          <p:nvPr/>
        </p:nvSpPr>
        <p:spPr>
          <a:xfrm>
            <a:off x="5394960" y="3831336"/>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Structural — frame, roofs, enclosures</a:t>
            </a:r>
            <a:endParaRPr lang="en-US" sz="1200" dirty="0"/>
          </a:p>
        </p:txBody>
      </p:sp>
      <p:sp>
        <p:nvSpPr>
          <p:cNvPr id="23" name="Text 20"/>
          <p:cNvSpPr/>
          <p:nvPr/>
        </p:nvSpPr>
        <p:spPr>
          <a:xfrm>
            <a:off x="749808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53–108 kt</a:t>
            </a:r>
            <a:endParaRPr lang="en-US" sz="1150" dirty="0"/>
          </a:p>
        </p:txBody>
      </p:sp>
      <p:sp>
        <p:nvSpPr>
          <p:cNvPr id="24" name="Text 21"/>
          <p:cNvSpPr/>
          <p:nvPr/>
        </p:nvSpPr>
        <p:spPr>
          <a:xfrm>
            <a:off x="877824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16–65 kt</a:t>
            </a:r>
            <a:endParaRPr lang="en-US" sz="1150" dirty="0"/>
          </a:p>
        </p:txBody>
      </p:sp>
      <p:sp>
        <p:nvSpPr>
          <p:cNvPr id="25" name="Text 22"/>
          <p:cNvSpPr/>
          <p:nvPr/>
        </p:nvSpPr>
        <p:spPr>
          <a:xfrm>
            <a:off x="10058400" y="3831336"/>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0.5–2.1 yr of SuperMill Two</a:t>
            </a:r>
            <a:endParaRPr lang="en-US" sz="1150" dirty="0"/>
          </a:p>
        </p:txBody>
      </p:sp>
      <p:sp>
        <p:nvSpPr>
          <p:cNvPr id="26" name="Shape 23"/>
          <p:cNvSpPr/>
          <p:nvPr/>
        </p:nvSpPr>
        <p:spPr>
          <a:xfrm>
            <a:off x="5394960" y="4507992"/>
            <a:ext cx="6263640" cy="10973"/>
          </a:xfrm>
          <a:prstGeom prst="rect">
            <a:avLst/>
          </a:prstGeom>
          <a:solidFill>
            <a:srgbClr val="3A2B1A"/>
          </a:solidFill>
          <a:ln/>
        </p:spPr>
      </p:sp>
      <p:sp>
        <p:nvSpPr>
          <p:cNvPr id="27" name="Text 24"/>
          <p:cNvSpPr/>
          <p:nvPr/>
        </p:nvSpPr>
        <p:spPr>
          <a:xfrm>
            <a:off x="5394960" y="4581144"/>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Long-term vision — slab, foundations, server boxes</a:t>
            </a:r>
            <a:endParaRPr lang="en-US" sz="1200" dirty="0"/>
          </a:p>
        </p:txBody>
      </p:sp>
      <p:sp>
        <p:nvSpPr>
          <p:cNvPr id="28" name="Text 25"/>
          <p:cNvSpPr/>
          <p:nvPr/>
        </p:nvSpPr>
        <p:spPr>
          <a:xfrm>
            <a:off x="749808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1,002–2,089 kt</a:t>
            </a:r>
            <a:endParaRPr lang="en-US" sz="1150" dirty="0"/>
          </a:p>
        </p:txBody>
      </p:sp>
      <p:sp>
        <p:nvSpPr>
          <p:cNvPr id="29" name="Text 26"/>
          <p:cNvSpPr/>
          <p:nvPr/>
        </p:nvSpPr>
        <p:spPr>
          <a:xfrm>
            <a:off x="877824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58–362 kt</a:t>
            </a:r>
            <a:endParaRPr lang="en-US" sz="1150" dirty="0"/>
          </a:p>
        </p:txBody>
      </p:sp>
      <p:sp>
        <p:nvSpPr>
          <p:cNvPr id="30" name="Text 27"/>
          <p:cNvSpPr/>
          <p:nvPr/>
        </p:nvSpPr>
        <p:spPr>
          <a:xfrm>
            <a:off x="10058400" y="4581144"/>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1.8–12 yr of SuperMill Two</a:t>
            </a:r>
            <a:endParaRPr lang="en-US" sz="1150" dirty="0"/>
          </a:p>
        </p:txBody>
      </p:sp>
      <p:sp>
        <p:nvSpPr>
          <p:cNvPr id="31" name="Shape 28"/>
          <p:cNvSpPr/>
          <p:nvPr/>
        </p:nvSpPr>
        <p:spPr>
          <a:xfrm>
            <a:off x="502920" y="5440680"/>
            <a:ext cx="11155680" cy="640080"/>
          </a:xfrm>
          <a:prstGeom prst="roundRect">
            <a:avLst>
              <a:gd name="adj" fmla="val 12857"/>
            </a:avLst>
          </a:prstGeom>
          <a:solidFill>
            <a:srgbClr val="261A0F"/>
          </a:solidFill>
          <a:ln/>
        </p:spPr>
      </p:sp>
      <p:sp>
        <p:nvSpPr>
          <p:cNvPr id="32" name="Text 29"/>
          <p:cNvSpPr/>
          <p:nvPr/>
        </p:nvSpPr>
        <p:spPr>
          <a:xfrm>
            <a:off x="777240" y="5486400"/>
            <a:ext cx="10607040" cy="548640"/>
          </a:xfrm>
          <a:prstGeom prst="rect">
            <a:avLst/>
          </a:prstGeom>
          <a:noFill/>
          <a:ln/>
        </p:spPr>
        <p:txBody>
          <a:bodyPr wrap="square" lIns="0" tIns="0" rIns="0" bIns="0" rtlCol="0" anchor="ctr"/>
          <a:lstStyle/>
          <a:p>
            <a:pPr indent="0" marL="0">
              <a:buNone/>
            </a:pPr>
            <a:r>
              <a:rPr lang="en-US" sz="120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20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200" dirty="0"/>
          </a:p>
        </p:txBody>
      </p:sp>
      <p:sp>
        <p:nvSpPr>
          <p:cNvPr id="33" name="Text 30"/>
          <p:cNvSpPr/>
          <p:nvPr/>
        </p:nvSpPr>
        <p:spPr>
          <a:xfrm>
            <a:off x="502920" y="6144768"/>
            <a:ext cx="11155680" cy="329184"/>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(slide 5 model; low–high scenarios). Incumbent replaced is steel except the long-term row (concrete, rebar, server enclosures at 40% of IT mass — estimate; electronics excluded). SUPERWOOD required uses a 0.3–0.6 steel substitution factor (estimate). Plant output: SuperMill One ≈ 0.9 kt/yr (1M sf), SuperMill Two ≈ 31 kt/yr (36M sf) at 0.87 kg/sf, 1.3 t/m³. Pricing is set per application.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6" name="Text 27"/>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next, a few months of development;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campus is millions of square feet of skins and screens and tens of thousands of tonnes of structure — and hyperscalers build campus after campus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change what a planning commission sees — the social license to build and to scale.</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sizes and labels the claim.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2026-09-04T23:43:33Z</dcterms:created>
  <dcterms:modified xsi:type="dcterms:W3CDTF">2026-09-04T23:43:33Z</dcterms:modified>
</cp:coreProperties>
</file>