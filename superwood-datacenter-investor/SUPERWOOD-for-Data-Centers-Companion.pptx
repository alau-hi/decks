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1.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4343400"/>
            <a:ext cx="12188952" cy="2514600"/>
          </a:xfrm>
          <a:prstGeom prst="rect">
            <a:avLst/>
          </a:prstGeom>
          <a:solidFill>
            <a:srgbClr val="120C07">
              <a:alpha val="70000"/>
            </a:srgbClr>
          </a:solidFill>
          <a:ln/>
        </p:spPr>
      </p:sp>
      <p:pic>
        <p:nvPicPr>
          <p:cNvPr id="3" name="Image 0" descr="prep/wordmark_cream.png">    </p:cNvPr>
          <p:cNvPicPr>
            <a:picLocks noChangeAspect="1"/>
          </p:cNvPicPr>
          <p:nvPr/>
        </p:nvPicPr>
        <p:blipFill>
          <a:blip r:embed="rId2"/>
          <a:stretch>
            <a:fillRect/>
          </a:stretch>
        </p:blipFill>
        <p:spPr>
          <a:xfrm>
            <a:off x="640080" y="4663440"/>
            <a:ext cx="5669280" cy="906904"/>
          </a:xfrm>
          <a:prstGeom prst="rect">
            <a:avLst/>
          </a:prstGeom>
        </p:spPr>
      </p:pic>
      <p:sp>
        <p:nvSpPr>
          <p:cNvPr id="4" name="Text 1"/>
          <p:cNvSpPr/>
          <p:nvPr/>
        </p:nvSpPr>
        <p:spPr>
          <a:xfrm>
            <a:off x="658368" y="5669280"/>
            <a:ext cx="8229600" cy="548640"/>
          </a:xfrm>
          <a:prstGeom prst="rect">
            <a:avLst/>
          </a:prstGeom>
          <a:noFill/>
          <a:ln/>
        </p:spPr>
        <p:txBody>
          <a:bodyPr wrap="square" lIns="0" tIns="0" rIns="0" bIns="0" rtlCol="0" anchor="ctr"/>
          <a:lstStyle/>
          <a:p>
            <a:pPr indent="0" marL="0">
              <a:buNone/>
            </a:pPr>
            <a:r>
              <a:rPr lang="en-US" sz="2600" i="1" dirty="0">
                <a:solidFill>
                  <a:srgbClr val="E2B877"/>
                </a:solidFill>
                <a:latin typeface="Georgia" pitchFamily="34" charset="0"/>
                <a:ea typeface="Georgia" pitchFamily="34" charset="-122"/>
                <a:cs typeface="Georgia" pitchFamily="34" charset="-120"/>
              </a:rPr>
              <a:t>SUPERWOOD for Data Centers</a:t>
            </a:r>
            <a:endParaRPr lang="en-US" sz="2600" dirty="0"/>
          </a:p>
        </p:txBody>
      </p:sp>
      <p:sp>
        <p:nvSpPr>
          <p:cNvPr id="5" name="Text 2"/>
          <p:cNvSpPr/>
          <p:nvPr/>
        </p:nvSpPr>
        <p:spPr>
          <a:xfrm>
            <a:off x="658368" y="6263640"/>
            <a:ext cx="7315200" cy="32004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Investor companion to Super Mills America  ·  September 2026</a:t>
            </a:r>
            <a:endParaRPr lang="en-US" sz="1200" dirty="0"/>
          </a:p>
        </p:txBody>
      </p:sp>
      <p:sp>
        <p:nvSpPr>
          <p:cNvPr id="6" name="Text 3"/>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7" name="Text 4"/>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Data centers turn SUPERWOOD from a premium skin into a </a:t>
            </a:r>
            <a:pPr indent="0" marL="0">
              <a:buNone/>
            </a:pPr>
            <a:r>
              <a:rPr lang="en-US" sz="3000" i="1" dirty="0">
                <a:solidFill>
                  <a:srgbClr val="E2B877"/>
                </a:solidFill>
                <a:latin typeface="Georgia" pitchFamily="34" charset="0"/>
                <a:ea typeface="Georgia" pitchFamily="34" charset="-122"/>
                <a:cs typeface="Georgia" pitchFamily="34" charset="-120"/>
              </a:rPr>
              <a:t>structural</a:t>
            </a:r>
            <a:pPr indent="0" marL="0">
              <a:buNone/>
            </a:pPr>
            <a:r>
              <a:rPr lang="en-US" sz="3000" dirty="0">
                <a:solidFill>
                  <a:srgbClr val="F4ECDF"/>
                </a:solidFill>
                <a:latin typeface="Georgia" pitchFamily="34" charset="0"/>
                <a:ea typeface="Georgia" pitchFamily="34" charset="-122"/>
                <a:cs typeface="Georgia" pitchFamily="34" charset="-120"/>
              </a:rPr>
              <a:t> material</a:t>
            </a:r>
            <a:endParaRPr lang="en-US" sz="30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campus's skins alone are one to three years of SuperMill One's output; its structure is a year or more of SuperMill Two. The long game is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Super Mills America. This deck covers one application. Strength: company test data vs ASTM A36; campus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Data centers are a fast-growing buyer of structural steel, and they are short of it</a:t>
            </a:r>
            <a:endParaRPr lang="en-US" sz="2700" dirty="0"/>
          </a:p>
        </p:txBody>
      </p:sp>
      <p:pic>
        <p:nvPicPr>
          <p:cNvPr id="6" name="Image 0" descr="prep/dc_steel_frame.jpg">    </p:cNvPr>
          <p:cNvPicPr>
            <a:picLocks noChangeAspect="1"/>
          </p:cNvPicPr>
          <p:nvPr/>
        </p:nvPicPr>
        <p:blipFill>
          <a:blip r:embed="rId1"/>
          <a:srcRect l="0" r="0" t="0" b="-106"/>
          <a:stretch/>
        </p:blipFill>
        <p:spPr>
          <a:xfrm>
            <a:off x="502920" y="1828800"/>
            <a:ext cx="5760720" cy="3218688"/>
          </a:xfrm>
          <a:prstGeom prst="rect">
            <a:avLst/>
          </a:prstGeom>
        </p:spPr>
      </p:pic>
      <p:sp>
        <p:nvSpPr>
          <p:cNvPr id="7" name="Text 4"/>
          <p:cNvSpPr/>
          <p:nvPr/>
        </p:nvSpPr>
        <p:spPr>
          <a:xfrm>
            <a:off x="3886200" y="5074920"/>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8" name="Shape 5"/>
          <p:cNvSpPr/>
          <p:nvPr/>
        </p:nvSpPr>
        <p:spPr>
          <a:xfrm>
            <a:off x="6583680" y="1911096"/>
            <a:ext cx="128016" cy="128016"/>
          </a:xfrm>
          <a:prstGeom prst="ellipse">
            <a:avLst/>
          </a:prstGeom>
          <a:solidFill>
            <a:srgbClr val="E2B877"/>
          </a:solidFill>
          <a:ln/>
        </p:spPr>
      </p:sp>
      <p:sp>
        <p:nvSpPr>
          <p:cNvPr id="9" name="Text 6"/>
          <p:cNvSpPr/>
          <p:nvPr/>
        </p:nvSpPr>
        <p:spPr>
          <a:xfrm>
            <a:off x="6903720" y="1828800"/>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500–1,000 t of structural steel per 10 MW</a:t>
            </a:r>
            <a:endParaRPr lang="en-US" sz="1300" dirty="0"/>
          </a:p>
        </p:txBody>
      </p:sp>
      <p:sp>
        <p:nvSpPr>
          <p:cNvPr id="10" name="Text 7"/>
          <p:cNvSpPr/>
          <p:nvPr/>
        </p:nvSpPr>
        <p:spPr>
          <a:xfrm>
            <a:off x="6903720" y="2157984"/>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and 5,000–10,000 m³ of concrete — literature intensities for hyperscale builds. A gigawatt campus carries roughly 50–100 kt of structural steel above the slab.</a:t>
            </a:r>
            <a:endParaRPr lang="en-US" sz="1050" dirty="0"/>
          </a:p>
        </p:txBody>
      </p:sp>
      <p:sp>
        <p:nvSpPr>
          <p:cNvPr id="11" name="Shape 8"/>
          <p:cNvSpPr/>
          <p:nvPr/>
        </p:nvSpPr>
        <p:spPr>
          <a:xfrm>
            <a:off x="6583680" y="3026664"/>
            <a:ext cx="128016" cy="128016"/>
          </a:xfrm>
          <a:prstGeom prst="ellipse">
            <a:avLst/>
          </a:prstGeom>
          <a:solidFill>
            <a:srgbClr val="E2B877"/>
          </a:solidFill>
          <a:ln/>
        </p:spPr>
      </p:sp>
      <p:sp>
        <p:nvSpPr>
          <p:cNvPr id="12" name="Text 9"/>
          <p:cNvSpPr/>
          <p:nvPr/>
        </p:nvSpPr>
        <p:spPr>
          <a:xfrm>
            <a:off x="6903720" y="2944368"/>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Customers report backlogs and a shortage of structural steel</a:t>
            </a:r>
            <a:endParaRPr lang="en-US" sz="1300" dirty="0"/>
          </a:p>
        </p:txBody>
      </p:sp>
      <p:sp>
        <p:nvSpPr>
          <p:cNvPr id="13" name="Text 10"/>
          <p:cNvSpPr/>
          <p:nvPr/>
        </p:nvSpPr>
        <p:spPr>
          <a:xfrm>
            <a:off x="6903720" y="3273552"/>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Supply chain and timeline are the first concern data-center customers raise with us. A domestic material that is lighter to ship and faster to erect answers it directly.</a:t>
            </a:r>
            <a:endParaRPr lang="en-US" sz="1050" dirty="0"/>
          </a:p>
        </p:txBody>
      </p:sp>
      <p:sp>
        <p:nvSpPr>
          <p:cNvPr id="14" name="Shape 11"/>
          <p:cNvSpPr/>
          <p:nvPr/>
        </p:nvSpPr>
        <p:spPr>
          <a:xfrm>
            <a:off x="6583680" y="4142232"/>
            <a:ext cx="128016" cy="128016"/>
          </a:xfrm>
          <a:prstGeom prst="ellipse">
            <a:avLst/>
          </a:prstGeom>
          <a:solidFill>
            <a:srgbClr val="E2B877"/>
          </a:solidFill>
          <a:ln/>
        </p:spPr>
      </p:sp>
      <p:sp>
        <p:nvSpPr>
          <p:cNvPr id="15" name="Text 12"/>
          <p:cNvSpPr/>
          <p:nvPr/>
        </p:nvSpPr>
        <p:spPr>
          <a:xfrm>
            <a:off x="6903720" y="4059936"/>
            <a:ext cx="4754880" cy="310896"/>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Campuses are built to a standard basis of design</a:t>
            </a:r>
            <a:endParaRPr lang="en-US" sz="1300" dirty="0"/>
          </a:p>
        </p:txBody>
      </p:sp>
      <p:sp>
        <p:nvSpPr>
          <p:cNvPr id="16" name="Text 13"/>
          <p:cNvSpPr/>
          <p:nvPr/>
        </p:nvSpPr>
        <p:spPr>
          <a:xfrm>
            <a:off x="6903720" y="4389120"/>
            <a:ext cx="4754880" cy="7772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Hyperscalers repeat one design campus after campus. A material written into that design is specified again and again.</a:t>
            </a:r>
            <a:endParaRPr lang="en-US" sz="1050" dirty="0"/>
          </a:p>
        </p:txBody>
      </p:sp>
      <p:sp>
        <p:nvSpPr>
          <p:cNvPr id="17" name="Text 14"/>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Steel and concrete intensities: arXiv 2509.21312 (Sep 2025), citing Hasan et al. 2022 and Sharma et al. 2023 — secondary literature figures, ranges as published; per-GW figure is that range × 1,000 MW. Shortage and backlog statements are what data-center customers report to InventWood (2026), not a published statistic.</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Hyperscalers are already building with wood. We </a:t>
            </a:r>
            <a:pPr indent="0" marL="0">
              <a:buNone/>
            </a:pPr>
            <a:r>
              <a:rPr lang="en-US" sz="2700" i="1" dirty="0">
                <a:solidFill>
                  <a:srgbClr val="E2B877"/>
                </a:solidFill>
                <a:latin typeface="Georgia" pitchFamily="34" charset="0"/>
                <a:ea typeface="Georgia" pitchFamily="34" charset="-122"/>
                <a:cs typeface="Georgia" pitchFamily="34" charset="-120"/>
              </a:rPr>
              <a:t>turbocharge</a:t>
            </a:r>
            <a:pPr indent="0" marL="0">
              <a:buNone/>
            </a:pPr>
            <a:r>
              <a:rPr lang="en-US" sz="2700" dirty="0">
                <a:solidFill>
                  <a:srgbClr val="F4ECDF"/>
                </a:solidFill>
                <a:latin typeface="Georgia" pitchFamily="34" charset="0"/>
                <a:ea typeface="Georgia" pitchFamily="34" charset="-122"/>
                <a:cs typeface="Georgia" pitchFamily="34" charset="-120"/>
              </a:rPr>
              <a:t> wood.</a:t>
            </a:r>
            <a:endParaRPr lang="en-US" sz="2700" dirty="0"/>
          </a:p>
        </p:txBody>
      </p:sp>
      <p:sp>
        <p:nvSpPr>
          <p:cNvPr id="6" name="Text 4"/>
          <p:cNvSpPr/>
          <p:nvPr/>
        </p:nvSpPr>
        <p:spPr>
          <a:xfrm>
            <a:off x="502920" y="1783080"/>
            <a:ext cx="420624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7" name="Shape 5"/>
          <p:cNvSpPr/>
          <p:nvPr/>
        </p:nvSpPr>
        <p:spPr>
          <a:xfrm>
            <a:off x="502920" y="2103120"/>
            <a:ext cx="4206240" cy="1783080"/>
          </a:xfrm>
          <a:prstGeom prst="roundRect">
            <a:avLst>
              <a:gd name="adj" fmla="val 4615"/>
            </a:avLst>
          </a:prstGeom>
          <a:solidFill>
            <a:srgbClr val="2E2113"/>
          </a:solidFill>
          <a:ln/>
        </p:spPr>
      </p:sp>
      <p:pic>
        <p:nvPicPr>
          <p:cNvPr id="8" name="Image 0" descr="prep/logo_microsoft.png">    </p:cNvPr>
          <p:cNvPicPr>
            <a:picLocks noChangeAspect="1"/>
          </p:cNvPicPr>
          <p:nvPr/>
        </p:nvPicPr>
        <p:blipFill>
          <a:blip r:embed="rId1"/>
          <a:stretch>
            <a:fillRect/>
          </a:stretch>
        </p:blipFill>
        <p:spPr>
          <a:xfrm>
            <a:off x="731520" y="2286000"/>
            <a:ext cx="1457757" cy="310896"/>
          </a:xfrm>
          <a:prstGeom prst="rect">
            <a:avLst/>
          </a:prstGeom>
        </p:spPr>
      </p:pic>
      <p:sp>
        <p:nvSpPr>
          <p:cNvPr id="9" name="Text 6"/>
          <p:cNvSpPr/>
          <p:nvPr/>
        </p:nvSpPr>
        <p:spPr>
          <a:xfrm>
            <a:off x="731520" y="2724912"/>
            <a:ext cx="3749040" cy="91440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Two Northern Virginia datacenters with cross-laminated timber floor panels on a steel frame: an estimated 35% embodied-carbon reduction vs. conventional steel construction and 65% vs. precast concrete. Design by Gensler; structural engineering by Thornton Tomasetti.</a:t>
            </a:r>
            <a:endParaRPr lang="en-US" sz="950" dirty="0"/>
          </a:p>
        </p:txBody>
      </p:sp>
      <p:sp>
        <p:nvSpPr>
          <p:cNvPr id="10" name="Text 7"/>
          <p:cNvSpPr/>
          <p:nvPr/>
        </p:nvSpPr>
        <p:spPr>
          <a:xfrm>
            <a:off x="731520" y="3611880"/>
            <a:ext cx="3749040" cy="228600"/>
          </a:xfrm>
          <a:prstGeom prst="rect">
            <a:avLst/>
          </a:prstGeom>
          <a:noFill/>
          <a:ln/>
        </p:spPr>
        <p:txBody>
          <a:bodyPr wrap="square" lIns="0" tIns="0" rIns="0" bIns="0" rtlCol="0" anchor="ctr"/>
          <a:lstStyle/>
          <a:p>
            <a:pPr indent="0" marL="0">
              <a:buNone/>
            </a:pPr>
            <a:r>
              <a:rPr lang="en-US" sz="800" i="1" dirty="0">
                <a:solidFill>
                  <a:srgbClr val="9D8D76"/>
                </a:solidFill>
                <a:latin typeface="Calibri" pitchFamily="34" charset="0"/>
                <a:ea typeface="Calibri" pitchFamily="34" charset="-122"/>
                <a:cs typeface="Calibri" pitchFamily="34" charset="-120"/>
              </a:rPr>
              <a:t>Microsoft Source, Nov 2024</a:t>
            </a:r>
            <a:endParaRPr lang="en-US" sz="800" dirty="0"/>
          </a:p>
        </p:txBody>
      </p:sp>
      <p:sp>
        <p:nvSpPr>
          <p:cNvPr id="11" name="Shape 8"/>
          <p:cNvSpPr/>
          <p:nvPr/>
        </p:nvSpPr>
        <p:spPr>
          <a:xfrm>
            <a:off x="502920" y="4023360"/>
            <a:ext cx="4206240" cy="1783080"/>
          </a:xfrm>
          <a:prstGeom prst="roundRect">
            <a:avLst>
              <a:gd name="adj" fmla="val 4615"/>
            </a:avLst>
          </a:prstGeom>
          <a:solidFill>
            <a:srgbClr val="2E2113"/>
          </a:solidFill>
          <a:ln/>
        </p:spPr>
      </p:sp>
      <p:pic>
        <p:nvPicPr>
          <p:cNvPr id="12" name="Image 1" descr="prep/logo_meta.png">    </p:cNvPr>
          <p:cNvPicPr>
            <a:picLocks noChangeAspect="1"/>
          </p:cNvPicPr>
          <p:nvPr/>
        </p:nvPicPr>
        <p:blipFill>
          <a:blip r:embed="rId2"/>
          <a:stretch>
            <a:fillRect/>
          </a:stretch>
        </p:blipFill>
        <p:spPr>
          <a:xfrm>
            <a:off x="731520" y="4206240"/>
            <a:ext cx="1543086" cy="310896"/>
          </a:xfrm>
          <a:prstGeom prst="rect">
            <a:avLst/>
          </a:prstGeom>
        </p:spPr>
      </p:pic>
      <p:sp>
        <p:nvSpPr>
          <p:cNvPr id="13" name="Text 9"/>
          <p:cNvSpPr/>
          <p:nvPr/>
        </p:nvSpPr>
        <p:spPr>
          <a:xfrm>
            <a:off x="731520" y="4645152"/>
            <a:ext cx="3749040" cy="91440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Piloting mass timber for data-center administrative buildings: first completed 2025 at Aiken, South Carolina (DPR, SmartLam); projects under way in Cheyenne, Wyoming and Montgomery, Alabama; about a 41% reduction in the embodied carbon of the materials substituted.</a:t>
            </a:r>
            <a:endParaRPr lang="en-US" sz="950" dirty="0"/>
          </a:p>
        </p:txBody>
      </p:sp>
      <p:sp>
        <p:nvSpPr>
          <p:cNvPr id="14" name="Text 10"/>
          <p:cNvSpPr/>
          <p:nvPr/>
        </p:nvSpPr>
        <p:spPr>
          <a:xfrm>
            <a:off x="731520" y="5532120"/>
            <a:ext cx="3749040" cy="228600"/>
          </a:xfrm>
          <a:prstGeom prst="rect">
            <a:avLst/>
          </a:prstGeom>
          <a:noFill/>
          <a:ln/>
        </p:spPr>
        <p:txBody>
          <a:bodyPr wrap="square" lIns="0" tIns="0" rIns="0" bIns="0" rtlCol="0" anchor="ctr"/>
          <a:lstStyle/>
          <a:p>
            <a:pPr indent="0" marL="0">
              <a:buNone/>
            </a:pPr>
            <a:r>
              <a:rPr lang="en-US" sz="800" i="1" dirty="0">
                <a:solidFill>
                  <a:srgbClr val="9D8D76"/>
                </a:solidFill>
                <a:latin typeface="Calibri" pitchFamily="34" charset="0"/>
                <a:ea typeface="Calibri" pitchFamily="34" charset="-122"/>
                <a:cs typeface="Calibri" pitchFamily="34" charset="-120"/>
              </a:rPr>
              <a:t>Meta Sustainability, 31 Jul 2025</a:t>
            </a:r>
            <a:endParaRPr lang="en-US" sz="800" dirty="0"/>
          </a:p>
        </p:txBody>
      </p:sp>
      <p:sp>
        <p:nvSpPr>
          <p:cNvPr id="15" name="Text 11"/>
          <p:cNvSpPr/>
          <p:nvPr/>
        </p:nvSpPr>
        <p:spPr>
          <a:xfrm>
            <a:off x="4983480" y="1783080"/>
            <a:ext cx="6675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WHAT SUPERWOOD ADDS TO THE WOOD THEY ALREADY USE</a:t>
            </a:r>
            <a:endParaRPr lang="en-US" sz="900" dirty="0"/>
          </a:p>
        </p:txBody>
      </p:sp>
      <p:pic>
        <p:nvPicPr>
          <p:cNvPr id="16" name="Image 2" descr="prep/beam_glulam.jpg">    </p:cNvPr>
          <p:cNvPicPr>
            <a:picLocks noChangeAspect="1"/>
          </p:cNvPicPr>
          <p:nvPr/>
        </p:nvPicPr>
        <p:blipFill>
          <a:blip r:embed="rId3"/>
          <a:srcRect l="0" r="0" t="0" b="0"/>
          <a:stretch/>
        </p:blipFill>
        <p:spPr>
          <a:xfrm>
            <a:off x="4983480" y="2103120"/>
            <a:ext cx="2133600" cy="1188720"/>
          </a:xfrm>
          <a:prstGeom prst="rect">
            <a:avLst/>
          </a:prstGeom>
        </p:spPr>
      </p:pic>
      <p:sp>
        <p:nvSpPr>
          <p:cNvPr id="17" name="Text 12"/>
          <p:cNvSpPr/>
          <p:nvPr/>
        </p:nvSpPr>
        <p:spPr>
          <a:xfrm>
            <a:off x="4983480" y="3328416"/>
            <a:ext cx="2133600" cy="329184"/>
          </a:xfrm>
          <a:prstGeom prst="rect">
            <a:avLst/>
          </a:prstGeom>
          <a:noFill/>
          <a:ln/>
        </p:spPr>
        <p:txBody>
          <a:bodyPr wrap="square" lIns="0" tIns="0" rIns="0" bIns="0" rtlCol="0" anchor="t"/>
          <a:lstStyle/>
          <a:p>
            <a:pPr algn="ctr" indent="0" marL="0">
              <a:buNone/>
            </a:pPr>
            <a:r>
              <a:rPr lang="en-US" sz="850" i="1" dirty="0">
                <a:solidFill>
                  <a:srgbClr val="9D8D76"/>
                </a:solidFill>
                <a:latin typeface="Calibri" pitchFamily="34" charset="0"/>
                <a:ea typeface="Calibri" pitchFamily="34" charset="-122"/>
                <a:cs typeface="Calibri" pitchFamily="34" charset="-120"/>
              </a:rPr>
              <a:t>Glulam beam — mass timber today</a:t>
            </a:r>
            <a:endParaRPr lang="en-US" sz="850" dirty="0"/>
          </a:p>
        </p:txBody>
      </p:sp>
      <p:pic>
        <p:nvPicPr>
          <p:cNvPr id="18" name="Image 3" descr="prep/beam_hybrid.jpg">    </p:cNvPr>
          <p:cNvPicPr>
            <a:picLocks noChangeAspect="1"/>
          </p:cNvPicPr>
          <p:nvPr/>
        </p:nvPicPr>
        <p:blipFill>
          <a:blip r:embed="rId4"/>
          <a:srcRect l="0" r="0" t="0" b="0"/>
          <a:stretch/>
        </p:blipFill>
        <p:spPr>
          <a:xfrm>
            <a:off x="7254240" y="2103120"/>
            <a:ext cx="2133600" cy="1188720"/>
          </a:xfrm>
          <a:prstGeom prst="rect">
            <a:avLst/>
          </a:prstGeom>
        </p:spPr>
      </p:pic>
      <p:sp>
        <p:nvSpPr>
          <p:cNvPr id="19" name="Text 13"/>
          <p:cNvSpPr/>
          <p:nvPr/>
        </p:nvSpPr>
        <p:spPr>
          <a:xfrm>
            <a:off x="725424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SUPERWOOD hybrid beam — outer laminations on glulam</a:t>
            </a:r>
            <a:endParaRPr lang="en-US" sz="850" dirty="0"/>
          </a:p>
        </p:txBody>
      </p:sp>
      <p:pic>
        <p:nvPicPr>
          <p:cNvPr id="20" name="Image 4" descr="prep/beam_thin.jpg">    </p:cNvPr>
          <p:cNvPicPr>
            <a:picLocks noChangeAspect="1"/>
          </p:cNvPicPr>
          <p:nvPr/>
        </p:nvPicPr>
        <p:blipFill>
          <a:blip r:embed="rId5"/>
          <a:srcRect l="0" r="0" t="0" b="0"/>
          <a:stretch/>
        </p:blipFill>
        <p:spPr>
          <a:xfrm>
            <a:off x="9525000" y="2103120"/>
            <a:ext cx="2133600" cy="1188720"/>
          </a:xfrm>
          <a:prstGeom prst="rect">
            <a:avLst/>
          </a:prstGeom>
        </p:spPr>
      </p:pic>
      <p:sp>
        <p:nvSpPr>
          <p:cNvPr id="21" name="Text 14"/>
          <p:cNvSpPr/>
          <p:nvPr/>
        </p:nvSpPr>
        <p:spPr>
          <a:xfrm>
            <a:off x="9525000" y="3328416"/>
            <a:ext cx="2133600" cy="329184"/>
          </a:xfrm>
          <a:prstGeom prst="rect">
            <a:avLst/>
          </a:prstGeom>
          <a:noFill/>
          <a:ln/>
        </p:spPr>
        <p:txBody>
          <a:bodyPr wrap="square" lIns="0" tIns="0" rIns="0" bIns="0" rtlCol="0" anchor="t"/>
          <a:lstStyle/>
          <a:p>
            <a:pPr algn="ctr" indent="0" marL="0">
              <a:buNone/>
            </a:pPr>
            <a:r>
              <a:rPr lang="en-US" sz="850" i="1" dirty="0">
                <a:solidFill>
                  <a:srgbClr val="CDA165"/>
                </a:solidFill>
                <a:latin typeface="Calibri" pitchFamily="34" charset="0"/>
                <a:ea typeface="Calibri" pitchFamily="34" charset="-122"/>
                <a:cs typeface="Calibri" pitchFamily="34" charset="-120"/>
              </a:rPr>
              <a:t>Thin SUPERWOOD beam — steel-like sections</a:t>
            </a:r>
            <a:endParaRPr lang="en-US" sz="850" dirty="0"/>
          </a:p>
        </p:txBody>
      </p:sp>
      <p:sp>
        <p:nvSpPr>
          <p:cNvPr id="22" name="Text 15"/>
          <p:cNvSpPr/>
          <p:nvPr/>
        </p:nvSpPr>
        <p:spPr>
          <a:xfrm>
            <a:off x="4983480" y="3703320"/>
            <a:ext cx="1280160" cy="329184"/>
          </a:xfrm>
          <a:prstGeom prst="rect">
            <a:avLst/>
          </a:prstGeom>
          <a:noFill/>
          <a:ln/>
        </p:spPr>
        <p:txBody>
          <a:bodyPr wrap="square" lIns="0" tIns="0" rIns="0" bIns="0" rtlCol="0" anchor="t"/>
          <a:lstStyle/>
          <a:p>
            <a:pPr indent="0" marL="0">
              <a:buNone/>
            </a:pPr>
            <a:endParaRPr lang="en-US" sz="800" dirty="0"/>
          </a:p>
        </p:txBody>
      </p:sp>
      <p:sp>
        <p:nvSpPr>
          <p:cNvPr id="23" name="Text 16"/>
          <p:cNvSpPr/>
          <p:nvPr/>
        </p:nvSpPr>
        <p:spPr>
          <a:xfrm>
            <a:off x="6355080" y="3703320"/>
            <a:ext cx="196596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MASS TIMBER TODAY (CLT, GLULAM)</a:t>
            </a:r>
            <a:endParaRPr lang="en-US" sz="800" dirty="0"/>
          </a:p>
        </p:txBody>
      </p:sp>
      <p:sp>
        <p:nvSpPr>
          <p:cNvPr id="24" name="Text 17"/>
          <p:cNvSpPr/>
          <p:nvPr/>
        </p:nvSpPr>
        <p:spPr>
          <a:xfrm>
            <a:off x="8412480" y="3703320"/>
            <a:ext cx="3246120" cy="329184"/>
          </a:xfrm>
          <a:prstGeom prst="rect">
            <a:avLst/>
          </a:prstGeom>
          <a:noFill/>
          <a:ln/>
        </p:spPr>
        <p:txBody>
          <a:bodyPr wrap="square" lIns="0" tIns="0" rIns="0" bIns="0" rtlCol="0" anchor="t"/>
          <a:lstStyle/>
          <a:p>
            <a:pPr indent="0" marL="0">
              <a:buNone/>
            </a:pPr>
            <a:r>
              <a:rPr lang="en-US" sz="800" b="1" spc="120" kern="0" dirty="0">
                <a:solidFill>
                  <a:srgbClr val="CDA165"/>
                </a:solidFill>
                <a:latin typeface="Calibri" pitchFamily="34" charset="0"/>
                <a:ea typeface="Calibri" pitchFamily="34" charset="-122"/>
                <a:cs typeface="Calibri" pitchFamily="34" charset="-120"/>
              </a:rPr>
              <a:t>WITH SUPERWOOD</a:t>
            </a:r>
            <a:endParaRPr lang="en-US" sz="800" dirty="0"/>
          </a:p>
        </p:txBody>
      </p:sp>
      <p:sp>
        <p:nvSpPr>
          <p:cNvPr id="25" name="Shape 18"/>
          <p:cNvSpPr/>
          <p:nvPr/>
        </p:nvSpPr>
        <p:spPr>
          <a:xfrm>
            <a:off x="4983480" y="4009644"/>
            <a:ext cx="6675120" cy="10973"/>
          </a:xfrm>
          <a:prstGeom prst="rect">
            <a:avLst/>
          </a:prstGeom>
          <a:solidFill>
            <a:srgbClr val="3A2B1A"/>
          </a:solidFill>
          <a:ln/>
        </p:spPr>
      </p:sp>
      <p:sp>
        <p:nvSpPr>
          <p:cNvPr id="26" name="Text 19"/>
          <p:cNvSpPr/>
          <p:nvPr/>
        </p:nvSpPr>
        <p:spPr>
          <a:xfrm>
            <a:off x="4983480" y="405536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What it replaces</a:t>
            </a:r>
            <a:endParaRPr lang="en-US" sz="950" dirty="0"/>
          </a:p>
        </p:txBody>
      </p:sp>
      <p:sp>
        <p:nvSpPr>
          <p:cNvPr id="27" name="Text 20"/>
          <p:cNvSpPr/>
          <p:nvPr/>
        </p:nvSpPr>
        <p:spPr>
          <a:xfrm>
            <a:off x="6355080" y="405536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Concrete floor slabs and decks; some columns and beams</a:t>
            </a:r>
            <a:endParaRPr lang="en-US" sz="800" dirty="0"/>
          </a:p>
        </p:txBody>
      </p:sp>
      <p:sp>
        <p:nvSpPr>
          <p:cNvPr id="28" name="Text 21"/>
          <p:cNvSpPr/>
          <p:nvPr/>
        </p:nvSpPr>
        <p:spPr>
          <a:xfrm>
            <a:off x="8412480" y="405536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Adds the steel: members, skins, screens and fences — and, ahead, enclosures and foundations</a:t>
            </a:r>
            <a:endParaRPr lang="en-US" sz="800" dirty="0"/>
          </a:p>
        </p:txBody>
      </p:sp>
      <p:sp>
        <p:nvSpPr>
          <p:cNvPr id="29" name="Shape 22"/>
          <p:cNvSpPr/>
          <p:nvPr/>
        </p:nvSpPr>
        <p:spPr>
          <a:xfrm>
            <a:off x="4983480" y="4361688"/>
            <a:ext cx="6675120" cy="10973"/>
          </a:xfrm>
          <a:prstGeom prst="rect">
            <a:avLst/>
          </a:prstGeom>
          <a:solidFill>
            <a:srgbClr val="3A2B1A"/>
          </a:solidFill>
          <a:ln/>
        </p:spPr>
      </p:sp>
      <p:sp>
        <p:nvSpPr>
          <p:cNvPr id="30" name="Text 23"/>
          <p:cNvSpPr/>
          <p:nvPr/>
        </p:nvSpPr>
        <p:spPr>
          <a:xfrm>
            <a:off x="4983480" y="4407408"/>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Strength</a:t>
            </a:r>
            <a:endParaRPr lang="en-US" sz="950" dirty="0"/>
          </a:p>
        </p:txBody>
      </p:sp>
      <p:sp>
        <p:nvSpPr>
          <p:cNvPr id="31" name="Text 24"/>
          <p:cNvSpPr/>
          <p:nvPr/>
        </p:nvSpPr>
        <p:spPr>
          <a:xfrm>
            <a:off x="6355080" y="4407408"/>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Lumber-grade; large sections carry the load</a:t>
            </a:r>
            <a:endParaRPr lang="en-US" sz="800" dirty="0"/>
          </a:p>
        </p:txBody>
      </p:sp>
      <p:sp>
        <p:nvSpPr>
          <p:cNvPr id="32" name="Text 25"/>
          <p:cNvSpPr/>
          <p:nvPr/>
        </p:nvSpPr>
        <p:spPr>
          <a:xfrm>
            <a:off x="8412480" y="4407408"/>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800" dirty="0"/>
          </a:p>
        </p:txBody>
      </p:sp>
      <p:sp>
        <p:nvSpPr>
          <p:cNvPr id="33" name="Shape 26"/>
          <p:cNvSpPr/>
          <p:nvPr/>
        </p:nvSpPr>
        <p:spPr>
          <a:xfrm>
            <a:off x="4983480" y="4713732"/>
            <a:ext cx="6675120" cy="10973"/>
          </a:xfrm>
          <a:prstGeom prst="rect">
            <a:avLst/>
          </a:prstGeom>
          <a:solidFill>
            <a:srgbClr val="3A2B1A"/>
          </a:solidFill>
          <a:ln/>
        </p:spPr>
      </p:sp>
      <p:sp>
        <p:nvSpPr>
          <p:cNvPr id="34" name="Text 27"/>
          <p:cNvSpPr/>
          <p:nvPr/>
        </p:nvSpPr>
        <p:spPr>
          <a:xfrm>
            <a:off x="4983480" y="4759452"/>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The timber itself</a:t>
            </a:r>
            <a:endParaRPr lang="en-US" sz="950" dirty="0"/>
          </a:p>
        </p:txBody>
      </p:sp>
      <p:sp>
        <p:nvSpPr>
          <p:cNvPr id="35" name="Text 28"/>
          <p:cNvSpPr/>
          <p:nvPr/>
        </p:nvSpPr>
        <p:spPr>
          <a:xfrm>
            <a:off x="6355080" y="4759452"/>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Glulam and CLT at lumber stiffness</a:t>
            </a:r>
            <a:endParaRPr lang="en-US" sz="800" dirty="0"/>
          </a:p>
        </p:txBody>
      </p:sp>
      <p:sp>
        <p:nvSpPr>
          <p:cNvPr id="36" name="Text 29"/>
          <p:cNvSpPr/>
          <p:nvPr/>
        </p:nvSpPr>
        <p:spPr>
          <a:xfrm>
            <a:off x="8412480" y="4759452"/>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800" dirty="0"/>
          </a:p>
        </p:txBody>
      </p:sp>
      <p:sp>
        <p:nvSpPr>
          <p:cNvPr id="37" name="Shape 30"/>
          <p:cNvSpPr/>
          <p:nvPr/>
        </p:nvSpPr>
        <p:spPr>
          <a:xfrm>
            <a:off x="4983480" y="5065776"/>
            <a:ext cx="6675120" cy="10973"/>
          </a:xfrm>
          <a:prstGeom prst="rect">
            <a:avLst/>
          </a:prstGeom>
          <a:solidFill>
            <a:srgbClr val="3A2B1A"/>
          </a:solidFill>
          <a:ln/>
        </p:spPr>
      </p:sp>
      <p:sp>
        <p:nvSpPr>
          <p:cNvPr id="38" name="Text 31"/>
          <p:cNvSpPr/>
          <p:nvPr/>
        </p:nvSpPr>
        <p:spPr>
          <a:xfrm>
            <a:off x="4983480" y="5111496"/>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Exterior use</a:t>
            </a:r>
            <a:endParaRPr lang="en-US" sz="950" dirty="0"/>
          </a:p>
        </p:txBody>
      </p:sp>
      <p:sp>
        <p:nvSpPr>
          <p:cNvPr id="39" name="Text 32"/>
          <p:cNvSpPr/>
          <p:nvPr/>
        </p:nvSpPr>
        <p:spPr>
          <a:xfrm>
            <a:off x="6355080" y="5111496"/>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Needs protection from weather</a:t>
            </a:r>
            <a:endParaRPr lang="en-US" sz="800" dirty="0"/>
          </a:p>
        </p:txBody>
      </p:sp>
      <p:sp>
        <p:nvSpPr>
          <p:cNvPr id="40" name="Text 33"/>
          <p:cNvSpPr/>
          <p:nvPr/>
        </p:nvSpPr>
        <p:spPr>
          <a:xfrm>
            <a:off x="8412480" y="5111496"/>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Exterior grade; resists moisture, pests and rot</a:t>
            </a:r>
            <a:endParaRPr lang="en-US" sz="800" dirty="0"/>
          </a:p>
        </p:txBody>
      </p:sp>
      <p:sp>
        <p:nvSpPr>
          <p:cNvPr id="41" name="Shape 34"/>
          <p:cNvSpPr/>
          <p:nvPr/>
        </p:nvSpPr>
        <p:spPr>
          <a:xfrm>
            <a:off x="4983480" y="5417820"/>
            <a:ext cx="6675120" cy="10973"/>
          </a:xfrm>
          <a:prstGeom prst="rect">
            <a:avLst/>
          </a:prstGeom>
          <a:solidFill>
            <a:srgbClr val="3A2B1A"/>
          </a:solidFill>
          <a:ln/>
        </p:spPr>
      </p:sp>
      <p:sp>
        <p:nvSpPr>
          <p:cNvPr id="42" name="Text 35"/>
          <p:cNvSpPr/>
          <p:nvPr/>
        </p:nvSpPr>
        <p:spPr>
          <a:xfrm>
            <a:off x="4983480" y="5463540"/>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Fire</a:t>
            </a:r>
            <a:endParaRPr lang="en-US" sz="950" dirty="0"/>
          </a:p>
        </p:txBody>
      </p:sp>
      <p:sp>
        <p:nvSpPr>
          <p:cNvPr id="43" name="Text 36"/>
          <p:cNvSpPr/>
          <p:nvPr/>
        </p:nvSpPr>
        <p:spPr>
          <a:xfrm>
            <a:off x="6355080" y="5463540"/>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Chars; established assemblies</a:t>
            </a:r>
            <a:endParaRPr lang="en-US" sz="800" dirty="0"/>
          </a:p>
        </p:txBody>
      </p:sp>
      <p:sp>
        <p:nvSpPr>
          <p:cNvPr id="44" name="Text 37"/>
          <p:cNvSpPr/>
          <p:nvPr/>
        </p:nvSpPr>
        <p:spPr>
          <a:xfrm>
            <a:off x="8412480" y="5463540"/>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800" dirty="0"/>
          </a:p>
        </p:txBody>
      </p:sp>
      <p:sp>
        <p:nvSpPr>
          <p:cNvPr id="45" name="Shape 38"/>
          <p:cNvSpPr/>
          <p:nvPr/>
        </p:nvSpPr>
        <p:spPr>
          <a:xfrm>
            <a:off x="4983480" y="5769864"/>
            <a:ext cx="6675120" cy="10973"/>
          </a:xfrm>
          <a:prstGeom prst="rect">
            <a:avLst/>
          </a:prstGeom>
          <a:solidFill>
            <a:srgbClr val="3A2B1A"/>
          </a:solidFill>
          <a:ln/>
        </p:spPr>
      </p:sp>
      <p:sp>
        <p:nvSpPr>
          <p:cNvPr id="46" name="Text 39"/>
          <p:cNvSpPr/>
          <p:nvPr/>
        </p:nvSpPr>
        <p:spPr>
          <a:xfrm>
            <a:off x="4983480" y="5815584"/>
            <a:ext cx="1280160" cy="329184"/>
          </a:xfrm>
          <a:prstGeom prst="rect">
            <a:avLst/>
          </a:prstGeom>
          <a:noFill/>
          <a:ln/>
        </p:spPr>
        <p:txBody>
          <a:bodyPr wrap="square" lIns="0" tIns="0" rIns="0" bIns="0" rtlCol="0" anchor="t"/>
          <a:lstStyle/>
          <a:p>
            <a:pPr indent="0" marL="0">
              <a:buNone/>
            </a:pPr>
            <a:r>
              <a:rPr lang="en-US" sz="950" b="1" dirty="0">
                <a:solidFill>
                  <a:srgbClr val="F4ECDF"/>
                </a:solidFill>
                <a:latin typeface="Calibri" pitchFamily="34" charset="0"/>
                <a:ea typeface="Calibri" pitchFamily="34" charset="-122"/>
                <a:cs typeface="Calibri" pitchFamily="34" charset="-120"/>
              </a:rPr>
              <a:t>Code path</a:t>
            </a:r>
            <a:endParaRPr lang="en-US" sz="950" dirty="0"/>
          </a:p>
        </p:txBody>
      </p:sp>
      <p:sp>
        <p:nvSpPr>
          <p:cNvPr id="47" name="Text 40"/>
          <p:cNvSpPr/>
          <p:nvPr/>
        </p:nvSpPr>
        <p:spPr>
          <a:xfrm>
            <a:off x="6355080" y="5815584"/>
            <a:ext cx="1965960" cy="329184"/>
          </a:xfrm>
          <a:prstGeom prst="rect">
            <a:avLst/>
          </a:prstGeom>
          <a:noFill/>
          <a:ln/>
        </p:spPr>
        <p:txBody>
          <a:bodyPr wrap="square" lIns="0" tIns="0" rIns="0" bIns="0" rtlCol="0" anchor="t"/>
          <a:lstStyle/>
          <a:p>
            <a:pPr indent="0" marL="0">
              <a:buNone/>
            </a:pPr>
            <a:r>
              <a:rPr lang="en-US" sz="800" dirty="0">
                <a:solidFill>
                  <a:srgbClr val="9D8D76"/>
                </a:solidFill>
                <a:latin typeface="Calibri" pitchFamily="34" charset="0"/>
                <a:ea typeface="Calibri" pitchFamily="34" charset="-122"/>
                <a:cs typeface="Calibri" pitchFamily="34" charset="-120"/>
              </a:rPr>
              <a:t>Established in the building codes</a:t>
            </a:r>
            <a:endParaRPr lang="en-US" sz="800" dirty="0"/>
          </a:p>
        </p:txBody>
      </p:sp>
      <p:sp>
        <p:nvSpPr>
          <p:cNvPr id="48" name="Text 41"/>
          <p:cNvSpPr/>
          <p:nvPr/>
        </p:nvSpPr>
        <p:spPr>
          <a:xfrm>
            <a:off x="8412480" y="5815584"/>
            <a:ext cx="3246120" cy="329184"/>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800" dirty="0"/>
          </a:p>
        </p:txBody>
      </p:sp>
      <p:sp>
        <p:nvSpPr>
          <p:cNvPr id="49" name="Text 42"/>
          <p:cNvSpPr/>
          <p:nvPr/>
        </p:nvSpPr>
        <p:spPr>
          <a:xfrm>
            <a:off x="502920" y="623620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are the companies' marks, used to identify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120640" cy="314553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5120640" cy="3145536"/>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5074920"/>
            <a:ext cx="11155680" cy="267931"/>
          </a:xfrm>
          <a:prstGeom prst="rect">
            <a:avLst/>
          </a:prstGeom>
        </p:spPr>
      </p:pic>
      <p:sp>
        <p:nvSpPr>
          <p:cNvPr id="11" name="Text 6"/>
          <p:cNvSpPr/>
          <p:nvPr/>
        </p:nvSpPr>
        <p:spPr>
          <a:xfrm>
            <a:off x="50292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150" dirty="0"/>
          </a:p>
        </p:txBody>
      </p:sp>
      <p:sp>
        <p:nvSpPr>
          <p:cNvPr id="12" name="Text 7"/>
          <p:cNvSpPr/>
          <p:nvPr/>
        </p:nvSpPr>
        <p:spPr>
          <a:xfrm>
            <a:off x="50292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Structure, envelope and contents — frame, roof, skins, platforms, racking, enclosures, equipment. Every one of those rows is a SUPERWOOD application: skins now, platforms and racking next, frame and roofs as structure.</a:t>
            </a:r>
            <a:endParaRPr lang="en-US" sz="850" dirty="0"/>
          </a:p>
        </p:txBody>
      </p:sp>
      <p:sp>
        <p:nvSpPr>
          <p:cNvPr id="13" name="Text 8"/>
          <p:cNvSpPr/>
          <p:nvPr/>
        </p:nvSpPr>
        <p:spPr>
          <a:xfrm>
            <a:off x="6126480" y="5431536"/>
            <a:ext cx="5394960" cy="274320"/>
          </a:xfrm>
          <a:prstGeom prst="rect">
            <a:avLst/>
          </a:prstGeom>
          <a:noFill/>
          <a:ln/>
        </p:spPr>
        <p:txBody>
          <a:bodyPr wrap="square" lIns="0" tIns="0" rIns="0" bIns="0" rtlCol="0" anchor="ctr"/>
          <a:lstStyle/>
          <a:p>
            <a:pPr indent="0" marL="0">
              <a:buNone/>
            </a:pPr>
            <a:r>
              <a:rPr lang="en-US" sz="115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150" dirty="0"/>
          </a:p>
        </p:txBody>
      </p:sp>
      <p:sp>
        <p:nvSpPr>
          <p:cNvPr id="14" name="Text 9"/>
          <p:cNvSpPr/>
          <p:nvPr/>
        </p:nvSpPr>
        <p:spPr>
          <a:xfrm>
            <a:off x="6126480" y="5705856"/>
            <a:ext cx="5394960" cy="457200"/>
          </a:xfrm>
          <a:prstGeom prst="rect">
            <a:avLst/>
          </a:prstGeom>
          <a:noFill/>
          <a:ln/>
        </p:spPr>
        <p:txBody>
          <a:bodyPr wrap="square" lIns="0" tIns="0" rIns="0" bIns="0" rtlCol="0" anchor="t"/>
          <a:lstStyle/>
          <a:p>
            <a:pPr indent="0" marL="0">
              <a:buNone/>
            </a:pPr>
            <a:r>
              <a:rPr lang="en-US" sz="850" dirty="0">
                <a:solidFill>
                  <a:srgbClr val="9D8D76"/>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through the structural horizon.</a:t>
            </a:r>
            <a:endParaRPr lang="en-US" sz="85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campus, high case. Only the concrete and structural-steel intensities are published (arXiv 2509.21312, secondary, conf M); other rows are estimates from unit masses. Carbon factors: steel 1.8 kg CO₂e/kg (global average; recycled 0.4–0.7), concrete 0.12; equipment embodied carbon not estimated. Steel share: company estimate. Model: analyses/materials-mass-and-replacement.xlsx.</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one gigawatt of campus is worth to InventWood</a:t>
            </a:r>
            <a:endParaRPr lang="en-US" sz="2700" dirty="0"/>
          </a:p>
        </p:txBody>
      </p:sp>
      <p:pic>
        <p:nvPicPr>
          <p:cNvPr id="6" name="Image 0" descr="prep/charts/worth.png">    </p:cNvPr>
          <p:cNvPicPr>
            <a:picLocks noChangeAspect="1"/>
          </p:cNvPicPr>
          <p:nvPr/>
        </p:nvPicPr>
        <p:blipFill>
          <a:blip r:embed="rId1"/>
          <a:stretch>
            <a:fillRect/>
          </a:stretch>
        </p:blipFill>
        <p:spPr>
          <a:xfrm>
            <a:off x="502920" y="1737360"/>
            <a:ext cx="5394960" cy="2634748"/>
          </a:xfrm>
          <a:prstGeom prst="rect">
            <a:avLst/>
          </a:prstGeom>
        </p:spPr>
      </p:pic>
      <p:sp>
        <p:nvSpPr>
          <p:cNvPr id="7" name="Text 4"/>
          <p:cNvSpPr/>
          <p:nvPr/>
        </p:nvSpPr>
        <p:spPr>
          <a:xfrm>
            <a:off x="6126480" y="1737360"/>
            <a:ext cx="196596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HORIZON</a:t>
            </a:r>
            <a:endParaRPr lang="en-US" sz="750" dirty="0"/>
          </a:p>
        </p:txBody>
      </p:sp>
      <p:sp>
        <p:nvSpPr>
          <p:cNvPr id="8" name="Text 5"/>
          <p:cNvSpPr/>
          <p:nvPr/>
        </p:nvSpPr>
        <p:spPr>
          <a:xfrm>
            <a:off x="8183880" y="1737360"/>
            <a:ext cx="100584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INCUMBENT REPLACED</a:t>
            </a:r>
            <a:endParaRPr lang="en-US" sz="750" dirty="0"/>
          </a:p>
        </p:txBody>
      </p:sp>
      <p:sp>
        <p:nvSpPr>
          <p:cNvPr id="9" name="Text 6"/>
          <p:cNvSpPr/>
          <p:nvPr/>
        </p:nvSpPr>
        <p:spPr>
          <a:xfrm>
            <a:off x="9281160" y="1737360"/>
            <a:ext cx="114300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SUPERWOOD REQUIRED</a:t>
            </a:r>
            <a:endParaRPr lang="en-US" sz="750" dirty="0"/>
          </a:p>
        </p:txBody>
      </p:sp>
      <p:sp>
        <p:nvSpPr>
          <p:cNvPr id="10" name="Text 7"/>
          <p:cNvSpPr/>
          <p:nvPr/>
        </p:nvSpPr>
        <p:spPr>
          <a:xfrm>
            <a:off x="10515600" y="1737360"/>
            <a:ext cx="1188720" cy="411480"/>
          </a:xfrm>
          <a:prstGeom prst="rect">
            <a:avLst/>
          </a:prstGeom>
          <a:noFill/>
          <a:ln/>
        </p:spPr>
        <p:txBody>
          <a:bodyPr wrap="square" lIns="0" tIns="0" rIns="0" bIns="0" rtlCol="0" anchor="b"/>
          <a:lstStyle/>
          <a:p>
            <a:pPr indent="0" marL="0">
              <a:buNone/>
            </a:pPr>
            <a:r>
              <a:rPr lang="en-US" sz="750" b="1" spc="100" kern="0" dirty="0">
                <a:solidFill>
                  <a:srgbClr val="CDA165"/>
                </a:solidFill>
                <a:latin typeface="Calibri" pitchFamily="34" charset="0"/>
                <a:ea typeface="Calibri" pitchFamily="34" charset="-122"/>
                <a:cs typeface="Calibri" pitchFamily="34" charset="-120"/>
              </a:rPr>
              <a:t>PLANT-YEARS</a:t>
            </a:r>
            <a:endParaRPr lang="en-US" sz="750" dirty="0"/>
          </a:p>
        </p:txBody>
      </p:sp>
      <p:sp>
        <p:nvSpPr>
          <p:cNvPr id="11" name="Shape 8"/>
          <p:cNvSpPr/>
          <p:nvPr/>
        </p:nvSpPr>
        <p:spPr>
          <a:xfrm>
            <a:off x="6126480" y="2185416"/>
            <a:ext cx="5577840" cy="10973"/>
          </a:xfrm>
          <a:prstGeom prst="rect">
            <a:avLst/>
          </a:prstGeom>
          <a:solidFill>
            <a:srgbClr val="3A2B1A"/>
          </a:solidFill>
          <a:ln/>
        </p:spPr>
      </p:sp>
      <p:sp>
        <p:nvSpPr>
          <p:cNvPr id="12" name="Text 9"/>
          <p:cNvSpPr/>
          <p:nvPr/>
        </p:nvSpPr>
        <p:spPr>
          <a:xfrm>
            <a:off x="6126480" y="2240280"/>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Now — skins, screens, fences</a:t>
            </a:r>
            <a:endParaRPr lang="en-US" sz="1000" dirty="0"/>
          </a:p>
        </p:txBody>
      </p:sp>
      <p:sp>
        <p:nvSpPr>
          <p:cNvPr id="13" name="Text 10"/>
          <p:cNvSpPr/>
          <p:nvPr/>
        </p:nvSpPr>
        <p:spPr>
          <a:xfrm>
            <a:off x="8183880" y="2240280"/>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3.3–12 kt</a:t>
            </a:r>
            <a:endParaRPr lang="en-US" sz="950" dirty="0"/>
          </a:p>
        </p:txBody>
      </p:sp>
      <p:sp>
        <p:nvSpPr>
          <p:cNvPr id="14" name="Text 11"/>
          <p:cNvSpPr/>
          <p:nvPr/>
        </p:nvSpPr>
        <p:spPr>
          <a:xfrm>
            <a:off x="9281160" y="2240280"/>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1.2–2.7 kt (1.4–3.1M sf)</a:t>
            </a:r>
            <a:endParaRPr lang="en-US" sz="950" dirty="0"/>
          </a:p>
        </p:txBody>
      </p:sp>
      <p:sp>
        <p:nvSpPr>
          <p:cNvPr id="15" name="Text 12"/>
          <p:cNvSpPr/>
          <p:nvPr/>
        </p:nvSpPr>
        <p:spPr>
          <a:xfrm>
            <a:off x="10515600" y="2240280"/>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1.4–3.1 yr of SuperMill One</a:t>
            </a:r>
            <a:endParaRPr lang="en-US" sz="950" dirty="0"/>
          </a:p>
        </p:txBody>
      </p:sp>
      <p:sp>
        <p:nvSpPr>
          <p:cNvPr id="16" name="Shape 13"/>
          <p:cNvSpPr/>
          <p:nvPr/>
        </p:nvSpPr>
        <p:spPr>
          <a:xfrm>
            <a:off x="6126480" y="2843784"/>
            <a:ext cx="5577840" cy="10973"/>
          </a:xfrm>
          <a:prstGeom prst="rect">
            <a:avLst/>
          </a:prstGeom>
          <a:solidFill>
            <a:srgbClr val="3A2B1A"/>
          </a:solidFill>
          <a:ln/>
        </p:spPr>
      </p:sp>
      <p:sp>
        <p:nvSpPr>
          <p:cNvPr id="17" name="Text 14"/>
          <p:cNvSpPr/>
          <p:nvPr/>
        </p:nvSpPr>
        <p:spPr>
          <a:xfrm>
            <a:off x="6126480" y="2898648"/>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Next — platforms, barriers, racking</a:t>
            </a:r>
            <a:endParaRPr lang="en-US" sz="1000" dirty="0"/>
          </a:p>
        </p:txBody>
      </p:sp>
      <p:sp>
        <p:nvSpPr>
          <p:cNvPr id="18" name="Text 15"/>
          <p:cNvSpPr/>
          <p:nvPr/>
        </p:nvSpPr>
        <p:spPr>
          <a:xfrm>
            <a:off x="8183880" y="2898648"/>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12–30 kt</a:t>
            </a:r>
            <a:endParaRPr lang="en-US" sz="950" dirty="0"/>
          </a:p>
        </p:txBody>
      </p:sp>
      <p:sp>
        <p:nvSpPr>
          <p:cNvPr id="19" name="Text 16"/>
          <p:cNvSpPr/>
          <p:nvPr/>
        </p:nvSpPr>
        <p:spPr>
          <a:xfrm>
            <a:off x="9281160" y="2898648"/>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3.5–18 kt</a:t>
            </a:r>
            <a:endParaRPr lang="en-US" sz="950" dirty="0"/>
          </a:p>
        </p:txBody>
      </p:sp>
      <p:sp>
        <p:nvSpPr>
          <p:cNvPr id="20" name="Text 17"/>
          <p:cNvSpPr/>
          <p:nvPr/>
        </p:nvSpPr>
        <p:spPr>
          <a:xfrm>
            <a:off x="10515600" y="2898648"/>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0.1–0.6 yr of SuperMill Two</a:t>
            </a:r>
            <a:endParaRPr lang="en-US" sz="950" dirty="0"/>
          </a:p>
        </p:txBody>
      </p:sp>
      <p:sp>
        <p:nvSpPr>
          <p:cNvPr id="21" name="Shape 18"/>
          <p:cNvSpPr/>
          <p:nvPr/>
        </p:nvSpPr>
        <p:spPr>
          <a:xfrm>
            <a:off x="6126480" y="3502152"/>
            <a:ext cx="5577840" cy="10973"/>
          </a:xfrm>
          <a:prstGeom prst="rect">
            <a:avLst/>
          </a:prstGeom>
          <a:solidFill>
            <a:srgbClr val="3A2B1A"/>
          </a:solidFill>
          <a:ln/>
        </p:spPr>
      </p:sp>
      <p:sp>
        <p:nvSpPr>
          <p:cNvPr id="22" name="Text 19"/>
          <p:cNvSpPr/>
          <p:nvPr/>
        </p:nvSpPr>
        <p:spPr>
          <a:xfrm>
            <a:off x="6126480" y="3557016"/>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Structural — frame, roofs, enclosures</a:t>
            </a:r>
            <a:endParaRPr lang="en-US" sz="1000" dirty="0"/>
          </a:p>
        </p:txBody>
      </p:sp>
      <p:sp>
        <p:nvSpPr>
          <p:cNvPr id="23" name="Text 20"/>
          <p:cNvSpPr/>
          <p:nvPr/>
        </p:nvSpPr>
        <p:spPr>
          <a:xfrm>
            <a:off x="8183880" y="3557016"/>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53–108 kt</a:t>
            </a:r>
            <a:endParaRPr lang="en-US" sz="950" dirty="0"/>
          </a:p>
        </p:txBody>
      </p:sp>
      <p:sp>
        <p:nvSpPr>
          <p:cNvPr id="24" name="Text 21"/>
          <p:cNvSpPr/>
          <p:nvPr/>
        </p:nvSpPr>
        <p:spPr>
          <a:xfrm>
            <a:off x="9281160" y="3557016"/>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16–65 kt</a:t>
            </a:r>
            <a:endParaRPr lang="en-US" sz="950" dirty="0"/>
          </a:p>
        </p:txBody>
      </p:sp>
      <p:sp>
        <p:nvSpPr>
          <p:cNvPr id="25" name="Text 22"/>
          <p:cNvSpPr/>
          <p:nvPr/>
        </p:nvSpPr>
        <p:spPr>
          <a:xfrm>
            <a:off x="10515600" y="3557016"/>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0.5–2.1 yr of SuperMill Two</a:t>
            </a:r>
            <a:endParaRPr lang="en-US" sz="950" dirty="0"/>
          </a:p>
        </p:txBody>
      </p:sp>
      <p:sp>
        <p:nvSpPr>
          <p:cNvPr id="26" name="Shape 23"/>
          <p:cNvSpPr/>
          <p:nvPr/>
        </p:nvSpPr>
        <p:spPr>
          <a:xfrm>
            <a:off x="6126480" y="4160520"/>
            <a:ext cx="5577840" cy="10973"/>
          </a:xfrm>
          <a:prstGeom prst="rect">
            <a:avLst/>
          </a:prstGeom>
          <a:solidFill>
            <a:srgbClr val="3A2B1A"/>
          </a:solidFill>
          <a:ln/>
        </p:spPr>
      </p:sp>
      <p:sp>
        <p:nvSpPr>
          <p:cNvPr id="27" name="Text 24"/>
          <p:cNvSpPr/>
          <p:nvPr/>
        </p:nvSpPr>
        <p:spPr>
          <a:xfrm>
            <a:off x="6126480" y="4215384"/>
            <a:ext cx="1965960" cy="566928"/>
          </a:xfrm>
          <a:prstGeom prst="rect">
            <a:avLst/>
          </a:prstGeom>
          <a:noFill/>
          <a:ln/>
        </p:spPr>
        <p:txBody>
          <a:bodyPr wrap="square" lIns="0" tIns="0" rIns="0" bIns="0" rtlCol="0" anchor="t"/>
          <a:lstStyle/>
          <a:p>
            <a:pPr indent="0" marL="0">
              <a:buNone/>
            </a:pPr>
            <a:r>
              <a:rPr lang="en-US" sz="1000" b="1" dirty="0">
                <a:solidFill>
                  <a:srgbClr val="F4ECDF"/>
                </a:solidFill>
                <a:latin typeface="Calibri" pitchFamily="34" charset="0"/>
                <a:ea typeface="Calibri" pitchFamily="34" charset="-122"/>
                <a:cs typeface="Calibri" pitchFamily="34" charset="-120"/>
              </a:rPr>
              <a:t>Long-term vision — slab, paving, foundations</a:t>
            </a:r>
            <a:endParaRPr lang="en-US" sz="1000" dirty="0"/>
          </a:p>
        </p:txBody>
      </p:sp>
      <p:sp>
        <p:nvSpPr>
          <p:cNvPr id="28" name="Text 25"/>
          <p:cNvSpPr/>
          <p:nvPr/>
        </p:nvSpPr>
        <p:spPr>
          <a:xfrm>
            <a:off x="8183880" y="4215384"/>
            <a:ext cx="100584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996–2,061 kt</a:t>
            </a:r>
            <a:endParaRPr lang="en-US" sz="950" dirty="0"/>
          </a:p>
        </p:txBody>
      </p:sp>
      <p:sp>
        <p:nvSpPr>
          <p:cNvPr id="29" name="Text 26"/>
          <p:cNvSpPr/>
          <p:nvPr/>
        </p:nvSpPr>
        <p:spPr>
          <a:xfrm>
            <a:off x="9281160" y="4215384"/>
            <a:ext cx="1143000" cy="566928"/>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56–346 kt</a:t>
            </a:r>
            <a:endParaRPr lang="en-US" sz="950" dirty="0"/>
          </a:p>
        </p:txBody>
      </p:sp>
      <p:sp>
        <p:nvSpPr>
          <p:cNvPr id="30" name="Text 27"/>
          <p:cNvSpPr/>
          <p:nvPr/>
        </p:nvSpPr>
        <p:spPr>
          <a:xfrm>
            <a:off x="10515600" y="4215384"/>
            <a:ext cx="1188720" cy="566928"/>
          </a:xfrm>
          <a:prstGeom prst="rect">
            <a:avLst/>
          </a:prstGeom>
          <a:noFill/>
          <a:ln/>
        </p:spPr>
        <p:txBody>
          <a:bodyPr wrap="square" lIns="0" tIns="0" rIns="0" bIns="0" rtlCol="0" anchor="t"/>
          <a:lstStyle/>
          <a:p>
            <a:pPr indent="0" marL="0">
              <a:buNone/>
            </a:pPr>
            <a:r>
              <a:rPr lang="en-US" sz="950" b="1" dirty="0">
                <a:solidFill>
                  <a:srgbClr val="E2B877"/>
                </a:solidFill>
                <a:latin typeface="Calibri" pitchFamily="34" charset="0"/>
                <a:ea typeface="Calibri" pitchFamily="34" charset="-122"/>
                <a:cs typeface="Calibri" pitchFamily="34" charset="-120"/>
              </a:rPr>
              <a:t>1.8–11 yr of SuperMill Two</a:t>
            </a:r>
            <a:endParaRPr lang="en-US" sz="950" dirty="0"/>
          </a:p>
        </p:txBody>
      </p:sp>
      <p:sp>
        <p:nvSpPr>
          <p:cNvPr id="31" name="Shape 28"/>
          <p:cNvSpPr/>
          <p:nvPr/>
        </p:nvSpPr>
        <p:spPr>
          <a:xfrm>
            <a:off x="502920" y="4617720"/>
            <a:ext cx="11155680" cy="777240"/>
          </a:xfrm>
          <a:prstGeom prst="roundRect">
            <a:avLst>
              <a:gd name="adj" fmla="val 10588"/>
            </a:avLst>
          </a:prstGeom>
          <a:solidFill>
            <a:srgbClr val="261A0F"/>
          </a:solidFill>
          <a:ln/>
        </p:spPr>
      </p:sp>
      <p:sp>
        <p:nvSpPr>
          <p:cNvPr id="32" name="Text 29"/>
          <p:cNvSpPr/>
          <p:nvPr/>
        </p:nvSpPr>
        <p:spPr>
          <a:xfrm>
            <a:off x="777240" y="4690872"/>
            <a:ext cx="10607040" cy="640080"/>
          </a:xfrm>
          <a:prstGeom prst="rect">
            <a:avLst/>
          </a:prstGeom>
          <a:noFill/>
          <a:ln/>
        </p:spPr>
        <p:txBody>
          <a:bodyPr wrap="square" lIns="0" tIns="0" rIns="0" bIns="0" rtlCol="0" anchor="ctr"/>
          <a:lstStyle/>
          <a:p>
            <a:pPr indent="0" marL="0">
              <a:buNone/>
            </a:pPr>
            <a:r>
              <a:rPr lang="en-US" sz="1150" b="1" dirty="0">
                <a:solidFill>
                  <a:srgbClr val="E2B877"/>
                </a:solidFill>
                <a:latin typeface="Calibri" pitchFamily="34" charset="0"/>
                <a:ea typeface="Calibri" pitchFamily="34" charset="-122"/>
                <a:cs typeface="Calibri" pitchFamily="34" charset="-120"/>
              </a:rPr>
              <a:t>Two or three gigawatts of campus absorb SuperMill Two for years.  </a:t>
            </a:r>
            <a:pPr indent="0" marL="0">
              <a:buNone/>
            </a:pPr>
            <a:r>
              <a:rPr lang="en-US" sz="1150" dirty="0">
                <a:solidFill>
                  <a:srgbClr val="CDBFA9"/>
                </a:solidFill>
                <a:latin typeface="Calibri" pitchFamily="34" charset="0"/>
                <a:ea typeface="Calibri" pitchFamily="34" charset="-122"/>
                <a:cs typeface="Calibri" pitchFamily="34" charset="-120"/>
              </a:rPr>
              <a:t>That is the offtake argument and the capacity risk in one number — and why a basis-of-design win with one hyperscaler is the demand anchor for the second mill.</a:t>
            </a:r>
            <a:endParaRPr lang="en-US" sz="1150" dirty="0"/>
          </a:p>
        </p:txBody>
      </p:sp>
      <p:sp>
        <p:nvSpPr>
          <p:cNvPr id="33" name="Text 30"/>
          <p:cNvSpPr/>
          <p:nvPr/>
        </p:nvSpPr>
        <p:spPr>
          <a:xfrm>
            <a:off x="502920" y="5532120"/>
            <a:ext cx="11155680" cy="6858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Quantities: company estimate (slide 5 model; low–high scenarios). Incumbent replaced is steel except the long-term row (concrete and rebar). SUPERWOOD required uses a 0.3–0.6 substitution factor for steel (estimate, to be engineering-stamped per element). Plant output: SuperMill One ≈ 0.9 kt/yr (1M sf), SuperMill Two ≈ 31 kt/yr (36M sf) at 0.87 kg/sf, 1.3 t/m³. Pricing is set per application; see Super Mills America for the cost roadmap.</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We unlock the power of </a:t>
            </a:r>
            <a:pPr indent="0" marL="0">
              <a:buNone/>
            </a:pPr>
            <a:r>
              <a:rPr lang="en-US" sz="3000" i="1" dirty="0">
                <a:solidFill>
                  <a:srgbClr val="E2B877"/>
                </a:solidFill>
                <a:latin typeface="Georgia" pitchFamily="34" charset="0"/>
                <a:ea typeface="Georgia" pitchFamily="34" charset="-122"/>
                <a:cs typeface="Georgia" pitchFamily="34" charset="-120"/>
              </a:rPr>
              <a:t>cellulose</a:t>
            </a:r>
            <a:endParaRPr lang="en-US" sz="3000" dirty="0"/>
          </a:p>
        </p:txBody>
      </p:sp>
      <p:sp>
        <p:nvSpPr>
          <p:cNvPr id="6" name="Text 4"/>
          <p:cNvSpPr/>
          <p:nvPr/>
        </p:nvSpPr>
        <p:spPr>
          <a:xfrm>
            <a:off x="502920" y="1691640"/>
            <a:ext cx="11155680" cy="365760"/>
          </a:xfrm>
          <a:prstGeom prst="rect">
            <a:avLst/>
          </a:prstGeom>
          <a:noFill/>
          <a:ln/>
        </p:spPr>
        <p:txBody>
          <a:bodyPr wrap="square" lIns="0" tIns="0" rIns="0" bIns="0" rtlCol="0" anchor="ctr"/>
          <a:lstStyle/>
          <a:p>
            <a:pPr indent="0" marL="0">
              <a:buNone/>
            </a:pPr>
            <a:r>
              <a:rPr lang="en-US" sz="1300" dirty="0">
                <a:solidFill>
                  <a:srgbClr val="CDBFA9"/>
                </a:solidFill>
                <a:latin typeface="Calibri" pitchFamily="34" charset="0"/>
                <a:ea typeface="Calibri" pitchFamily="34" charset="-122"/>
                <a:cs typeface="Calibri" pitchFamily="34" charset="-120"/>
              </a:rPr>
              <a:t>Our patented process transforms ordinary wood into SUPERWOOD — an environmentally benign process using chemistry common to food and pulp processing.</a:t>
            </a:r>
            <a:endParaRPr lang="en-US" sz="1300" dirty="0"/>
          </a:p>
        </p:txBody>
      </p:sp>
      <p:sp>
        <p:nvSpPr>
          <p:cNvPr id="7" name="Text 5"/>
          <p:cNvSpPr/>
          <p:nvPr/>
        </p:nvSpPr>
        <p:spPr>
          <a:xfrm>
            <a:off x="50292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01 · Start with woody feedstock</a:t>
            </a:r>
            <a:endParaRPr lang="en-US" sz="1100" dirty="0"/>
          </a:p>
        </p:txBody>
      </p:sp>
      <p:sp>
        <p:nvSpPr>
          <p:cNvPr id="8" name="Text 6"/>
          <p:cNvSpPr/>
          <p:nvPr/>
        </p:nvSpPr>
        <p:spPr>
          <a:xfrm>
            <a:off x="50292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Hardwoods, softwoods, bamboo, underutilized species, waste wood</a:t>
            </a:r>
            <a:endParaRPr lang="en-US" sz="1050" dirty="0"/>
          </a:p>
        </p:txBody>
      </p:sp>
      <p:pic>
        <p:nvPicPr>
          <p:cNvPr id="9" name="Image 0" descr="prep/feed-timber.jpg">    </p:cNvPr>
          <p:cNvPicPr>
            <a:picLocks noChangeAspect="1"/>
          </p:cNvPicPr>
          <p:nvPr/>
        </p:nvPicPr>
        <p:blipFill>
          <a:blip r:embed="rId1"/>
          <a:srcRect l="0" r="0" t="0" b="0"/>
          <a:stretch/>
        </p:blipFill>
        <p:spPr>
          <a:xfrm>
            <a:off x="502920" y="3383280"/>
            <a:ext cx="3520440" cy="2148840"/>
          </a:xfrm>
          <a:prstGeom prst="rect">
            <a:avLst/>
          </a:prstGeom>
        </p:spPr>
      </p:pic>
      <p:sp>
        <p:nvSpPr>
          <p:cNvPr id="10" name="Text 7"/>
          <p:cNvSpPr/>
          <p:nvPr/>
        </p:nvSpPr>
        <p:spPr>
          <a:xfrm>
            <a:off x="50292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Before: open cell vessels</a:t>
            </a:r>
            <a:endParaRPr lang="en-US" sz="950" dirty="0"/>
          </a:p>
        </p:txBody>
      </p:sp>
      <p:sp>
        <p:nvSpPr>
          <p:cNvPr id="11" name="Text 8"/>
          <p:cNvSpPr/>
          <p:nvPr/>
        </p:nvSpPr>
        <p:spPr>
          <a:xfrm>
            <a:off x="403250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2" name="Text 9"/>
          <p:cNvSpPr/>
          <p:nvPr/>
        </p:nvSpPr>
        <p:spPr>
          <a:xfrm>
            <a:off x="434340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02 · Molecular re-engineering &amp; densification</a:t>
            </a:r>
            <a:endParaRPr lang="en-US" sz="1100" dirty="0"/>
          </a:p>
        </p:txBody>
      </p:sp>
      <p:sp>
        <p:nvSpPr>
          <p:cNvPr id="13" name="Text 10"/>
          <p:cNvSpPr/>
          <p:nvPr/>
        </p:nvSpPr>
        <p:spPr>
          <a:xfrm>
            <a:off x="434340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3–4× density increase, elimination of pores and defects, new hydrogen bonds across fibers</a:t>
            </a:r>
            <a:endParaRPr lang="en-US" sz="1050" dirty="0"/>
          </a:p>
        </p:txBody>
      </p:sp>
      <p:pic>
        <p:nvPicPr>
          <p:cNvPr id="14" name="Image 1" descr="prep/proc-compress.png">    </p:cNvPr>
          <p:cNvPicPr>
            <a:picLocks noChangeAspect="1"/>
          </p:cNvPicPr>
          <p:nvPr/>
        </p:nvPicPr>
        <p:blipFill>
          <a:blip r:embed="rId2"/>
          <a:srcRect l="0" r="0" t="0" b="0"/>
          <a:stretch/>
        </p:blipFill>
        <p:spPr>
          <a:xfrm>
            <a:off x="4343400" y="3383280"/>
            <a:ext cx="3520440" cy="2148840"/>
          </a:xfrm>
          <a:prstGeom prst="rect">
            <a:avLst/>
          </a:prstGeom>
        </p:spPr>
      </p:pic>
      <p:sp>
        <p:nvSpPr>
          <p:cNvPr id="15" name="Text 11"/>
          <p:cNvSpPr/>
          <p:nvPr/>
        </p:nvSpPr>
        <p:spPr>
          <a:xfrm>
            <a:off x="4343400" y="5623560"/>
            <a:ext cx="3520440" cy="320040"/>
          </a:xfrm>
          <a:prstGeom prst="rect">
            <a:avLst/>
          </a:prstGeom>
          <a:noFill/>
          <a:ln/>
        </p:spPr>
        <p:txBody>
          <a:bodyPr wrap="square" lIns="0" tIns="0" rIns="0" bIns="0" rtlCol="0" anchor="ctr"/>
          <a:lstStyle/>
          <a:p>
            <a:pPr algn="ctr" indent="0" marL="0">
              <a:buNone/>
            </a:pPr>
            <a:r>
              <a:rPr lang="en-US" sz="950" i="1" dirty="0">
                <a:solidFill>
                  <a:srgbClr val="CDA165"/>
                </a:solidFill>
                <a:latin typeface="Calibri" pitchFamily="34" charset="0"/>
                <a:ea typeface="Calibri" pitchFamily="34" charset="-122"/>
                <a:cs typeface="Calibri" pitchFamily="34" charset="-120"/>
              </a:rPr>
              <a:t>No added glues · No polymer binders</a:t>
            </a:r>
            <a:endParaRPr lang="en-US" sz="950" dirty="0"/>
          </a:p>
        </p:txBody>
      </p:sp>
      <p:sp>
        <p:nvSpPr>
          <p:cNvPr id="16" name="Text 12"/>
          <p:cNvSpPr/>
          <p:nvPr/>
        </p:nvSpPr>
        <p:spPr>
          <a:xfrm>
            <a:off x="7872984" y="4206240"/>
            <a:ext cx="3200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a:t>
            </a:r>
            <a:endParaRPr lang="en-US" sz="2200" dirty="0"/>
          </a:p>
        </p:txBody>
      </p:sp>
      <p:sp>
        <p:nvSpPr>
          <p:cNvPr id="17" name="Text 13"/>
          <p:cNvSpPr/>
          <p:nvPr/>
        </p:nvSpPr>
        <p:spPr>
          <a:xfrm>
            <a:off x="8183880" y="2194560"/>
            <a:ext cx="3520440" cy="502920"/>
          </a:xfrm>
          <a:prstGeom prst="rect">
            <a:avLst/>
          </a:prstGeom>
          <a:noFill/>
          <a:ln/>
        </p:spPr>
        <p:txBody>
          <a:bodyPr wrap="square" lIns="0" tIns="0" rIns="0" bIns="0" rtlCol="0" anchor="ctr"/>
          <a:lstStyle/>
          <a:p>
            <a:pPr indent="0" marL="0">
              <a:buNone/>
            </a:pPr>
            <a:r>
              <a:rPr lang="en-US" sz="1100" b="1" spc="100" kern="0" dirty="0">
                <a:solidFill>
                  <a:srgbClr val="CDA165"/>
                </a:solidFill>
                <a:latin typeface="Calibri" pitchFamily="34" charset="0"/>
                <a:ea typeface="Calibri" pitchFamily="34" charset="-122"/>
                <a:cs typeface="Calibri" pitchFamily="34" charset="-120"/>
              </a:rPr>
              <a:t>03 · SUPERWOOD</a:t>
            </a:r>
            <a:endParaRPr lang="en-US" sz="1100" dirty="0"/>
          </a:p>
        </p:txBody>
      </p:sp>
      <p:sp>
        <p:nvSpPr>
          <p:cNvPr id="18" name="Text 14"/>
          <p:cNvSpPr/>
          <p:nvPr/>
        </p:nvSpPr>
        <p:spPr>
          <a:xfrm>
            <a:off x="8183880" y="2697480"/>
            <a:ext cx="3520440" cy="5486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Samples more than 50% stronger than A36 steel in tension, at one-sixth the weight</a:t>
            </a:r>
            <a:endParaRPr lang="en-US" sz="1050" dirty="0"/>
          </a:p>
        </p:txBody>
      </p:sp>
      <p:pic>
        <p:nvPicPr>
          <p:cNvPr id="19" name="Image 2" descr="media/image75.png">    </p:cNvPr>
          <p:cNvPicPr>
            <a:picLocks noChangeAspect="1"/>
          </p:cNvPicPr>
          <p:nvPr/>
        </p:nvPicPr>
        <p:blipFill>
          <a:blip r:embed="rId3"/>
          <a:srcRect l="0" r="0" t="0" b="0"/>
          <a:stretch/>
        </p:blipFill>
        <p:spPr>
          <a:xfrm>
            <a:off x="8183880" y="3383280"/>
            <a:ext cx="3520440" cy="2148840"/>
          </a:xfrm>
          <a:prstGeom prst="rect">
            <a:avLst/>
          </a:prstGeom>
        </p:spPr>
      </p:pic>
      <p:sp>
        <p:nvSpPr>
          <p:cNvPr id="20" name="Text 15"/>
          <p:cNvSpPr/>
          <p:nvPr/>
        </p:nvSpPr>
        <p:spPr>
          <a:xfrm>
            <a:off x="8183880" y="5623560"/>
            <a:ext cx="3520440" cy="320040"/>
          </a:xfrm>
          <a:prstGeom prst="rect">
            <a:avLst/>
          </a:prstGeom>
          <a:noFill/>
          <a:ln/>
        </p:spPr>
        <p:txBody>
          <a:bodyPr wrap="square" lIns="0" tIns="0" rIns="0" bIns="0" rtlCol="0" anchor="ctr"/>
          <a:lstStyle/>
          <a:p>
            <a:pPr algn="ctr" indent="0" marL="0">
              <a:buNone/>
            </a:pPr>
            <a:r>
              <a:rPr lang="en-US" sz="950" i="1" dirty="0">
                <a:solidFill>
                  <a:srgbClr val="9D8D76"/>
                </a:solidFill>
                <a:latin typeface="Calibri" pitchFamily="34" charset="0"/>
                <a:ea typeface="Calibri" pitchFamily="34" charset="-122"/>
                <a:cs typeface="Calibri" pitchFamily="34" charset="-120"/>
              </a:rPr>
              <a:t>After: collapsed, interlocking vessels</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The </a:t>
            </a:r>
            <a:pPr indent="0" marL="0">
              <a:buNone/>
            </a:pPr>
            <a:r>
              <a:rPr lang="en-US" sz="3000" i="1" dirty="0">
                <a:solidFill>
                  <a:srgbClr val="E2B877"/>
                </a:solidFill>
                <a:latin typeface="Georgia" pitchFamily="34" charset="0"/>
                <a:ea typeface="Georgia" pitchFamily="34" charset="-122"/>
                <a:cs typeface="Georgia" pitchFamily="34" charset="-120"/>
              </a:rPr>
              <a:t>strength</a:t>
            </a:r>
            <a:pPr indent="0" marL="0">
              <a:buNone/>
            </a:pPr>
            <a:r>
              <a:rPr lang="en-US" sz="3000" dirty="0">
                <a:solidFill>
                  <a:srgbClr val="F4ECDF"/>
                </a:solidFill>
                <a:latin typeface="Georgia" pitchFamily="34" charset="0"/>
                <a:ea typeface="Georgia" pitchFamily="34" charset="-122"/>
                <a:cs typeface="Georgia" pitchFamily="34" charset="-120"/>
              </a:rPr>
              <a:t> of SUPERWOOD, one number set</a:t>
            </a:r>
            <a:endParaRPr lang="en-US" sz="3000" dirty="0"/>
          </a:p>
        </p:txBody>
      </p:sp>
      <p:sp>
        <p:nvSpPr>
          <p:cNvPr id="6" name="Text 4"/>
          <p:cNvSpPr/>
          <p:nvPr/>
        </p:nvSpPr>
        <p:spPr>
          <a:xfrm>
            <a:off x="502920"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500 MPa</a:t>
            </a:r>
            <a:endParaRPr lang="en-US" sz="3200" dirty="0"/>
          </a:p>
        </p:txBody>
      </p:sp>
      <p:sp>
        <p:nvSpPr>
          <p:cNvPr id="7" name="Text 5"/>
          <p:cNvSpPr/>
          <p:nvPr/>
        </p:nvSpPr>
        <p:spPr>
          <a:xfrm>
            <a:off x="502920"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tensile strength in production today</a:t>
            </a:r>
            <a:endParaRPr lang="en-US" sz="1150" dirty="0"/>
          </a:p>
        </p:txBody>
      </p:sp>
      <p:sp>
        <p:nvSpPr>
          <p:cNvPr id="8" name="Text 6"/>
          <p:cNvSpPr/>
          <p:nvPr/>
        </p:nvSpPr>
        <p:spPr>
          <a:xfrm>
            <a:off x="3346704"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600+ MPa</a:t>
            </a:r>
            <a:endParaRPr lang="en-US" sz="3200" dirty="0"/>
          </a:p>
        </p:txBody>
      </p:sp>
      <p:sp>
        <p:nvSpPr>
          <p:cNvPr id="9" name="Text 7"/>
          <p:cNvSpPr/>
          <p:nvPr/>
        </p:nvSpPr>
        <p:spPr>
          <a:xfrm>
            <a:off x="3346704"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demonstrated in lab samples; pathway toward 1,000</a:t>
            </a:r>
            <a:endParaRPr lang="en-US" sz="1150" dirty="0"/>
          </a:p>
        </p:txBody>
      </p:sp>
      <p:sp>
        <p:nvSpPr>
          <p:cNvPr id="10" name="Text 8"/>
          <p:cNvSpPr/>
          <p:nvPr/>
        </p:nvSpPr>
        <p:spPr>
          <a:xfrm>
            <a:off x="6190488"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1/6</a:t>
            </a:r>
            <a:endParaRPr lang="en-US" sz="3200" dirty="0"/>
          </a:p>
        </p:txBody>
      </p:sp>
      <p:sp>
        <p:nvSpPr>
          <p:cNvPr id="11" name="Text 9"/>
          <p:cNvSpPr/>
          <p:nvPr/>
        </p:nvSpPr>
        <p:spPr>
          <a:xfrm>
            <a:off x="6190488"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weight of steel</a:t>
            </a:r>
            <a:endParaRPr lang="en-US" sz="1150" dirty="0"/>
          </a:p>
        </p:txBody>
      </p:sp>
      <p:sp>
        <p:nvSpPr>
          <p:cNvPr id="12" name="Text 10"/>
          <p:cNvSpPr/>
          <p:nvPr/>
        </p:nvSpPr>
        <p:spPr>
          <a:xfrm>
            <a:off x="9034272" y="1783080"/>
            <a:ext cx="2743200" cy="640080"/>
          </a:xfrm>
          <a:prstGeom prst="rect">
            <a:avLst/>
          </a:prstGeom>
          <a:noFill/>
          <a:ln/>
        </p:spPr>
        <p:txBody>
          <a:bodyPr wrap="square" lIns="0" tIns="0" rIns="0" bIns="0" rtlCol="0" anchor="ctr"/>
          <a:lstStyle/>
          <a:p>
            <a:pPr indent="0" marL="0">
              <a:buNone/>
            </a:pPr>
            <a:r>
              <a:rPr lang="en-US" sz="3200" dirty="0">
                <a:solidFill>
                  <a:srgbClr val="E2B877"/>
                </a:solidFill>
                <a:latin typeface="Georgia" pitchFamily="34" charset="0"/>
                <a:ea typeface="Georgia" pitchFamily="34" charset="-122"/>
                <a:cs typeface="Georgia" pitchFamily="34" charset="-120"/>
              </a:rPr>
              <a:t>7–9×</a:t>
            </a:r>
            <a:endParaRPr lang="en-US" sz="3200" dirty="0"/>
          </a:p>
        </p:txBody>
      </p:sp>
      <p:sp>
        <p:nvSpPr>
          <p:cNvPr id="13" name="Text 11"/>
          <p:cNvSpPr/>
          <p:nvPr/>
        </p:nvSpPr>
        <p:spPr>
          <a:xfrm>
            <a:off x="9034272" y="2450592"/>
            <a:ext cx="2468880" cy="548640"/>
          </a:xfrm>
          <a:prstGeom prst="rect">
            <a:avLst/>
          </a:prstGeom>
          <a:noFill/>
          <a:ln/>
        </p:spPr>
        <p:txBody>
          <a:bodyPr wrap="square" lIns="0" tIns="0" rIns="0" bIns="0" rtlCol="0" anchor="ctr"/>
          <a:lstStyle/>
          <a:p>
            <a:pPr indent="0" marL="0">
              <a:buNone/>
            </a:pPr>
            <a:r>
              <a:rPr lang="en-US" sz="1150" dirty="0">
                <a:solidFill>
                  <a:srgbClr val="CDBFA9"/>
                </a:solidFill>
                <a:latin typeface="Calibri" pitchFamily="34" charset="0"/>
                <a:ea typeface="Calibri" pitchFamily="34" charset="-122"/>
                <a:cs typeface="Calibri" pitchFamily="34" charset="-120"/>
              </a:rPr>
              <a:t>the strength-to-weight ratio of A36 steel, derived below</a:t>
            </a:r>
            <a:endParaRPr lang="en-US" sz="1150" dirty="0"/>
          </a:p>
        </p:txBody>
      </p:sp>
      <p:pic>
        <p:nvPicPr>
          <p:cNvPr id="14" name="Image 0" descr="prep/charts/strength.png">    </p:cNvPr>
          <p:cNvPicPr>
            <a:picLocks noChangeAspect="1"/>
          </p:cNvPicPr>
          <p:nvPr/>
        </p:nvPicPr>
        <p:blipFill>
          <a:blip r:embed="rId1"/>
          <a:stretch>
            <a:fillRect/>
          </a:stretch>
        </p:blipFill>
        <p:spPr>
          <a:xfrm>
            <a:off x="1371600" y="3108960"/>
            <a:ext cx="6583680" cy="2890396"/>
          </a:xfrm>
          <a:prstGeom prst="rect">
            <a:avLst/>
          </a:prstGeom>
        </p:spPr>
      </p:pic>
      <p:sp>
        <p:nvSpPr>
          <p:cNvPr id="15" name="Shape 12"/>
          <p:cNvSpPr/>
          <p:nvPr/>
        </p:nvSpPr>
        <p:spPr>
          <a:xfrm>
            <a:off x="8229600" y="3108960"/>
            <a:ext cx="3429000" cy="2880360"/>
          </a:xfrm>
          <a:prstGeom prst="roundRect">
            <a:avLst>
              <a:gd name="adj" fmla="val 2857"/>
            </a:avLst>
          </a:prstGeom>
          <a:solidFill>
            <a:srgbClr val="261A0F"/>
          </a:solidFill>
          <a:ln/>
        </p:spPr>
      </p:sp>
      <p:sp>
        <p:nvSpPr>
          <p:cNvPr id="16" name="Text 13"/>
          <p:cNvSpPr/>
          <p:nvPr/>
        </p:nvSpPr>
        <p:spPr>
          <a:xfrm>
            <a:off x="8458200" y="3246120"/>
            <a:ext cx="30175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THE RATIOS ARE DERIVED</a:t>
            </a:r>
            <a:endParaRPr lang="en-US" sz="900" dirty="0"/>
          </a:p>
        </p:txBody>
      </p:sp>
      <p:sp>
        <p:nvSpPr>
          <p:cNvPr id="17" name="Text 14"/>
          <p:cNvSpPr/>
          <p:nvPr/>
        </p:nvSpPr>
        <p:spPr>
          <a:xfrm>
            <a:off x="8458200" y="3566160"/>
            <a:ext cx="3017520" cy="23774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Strength: 500–600 MPa SUPERWOOD ÷ 400 MPa (A36 minimum ultimate tensile) = 1.25–1.5×.</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Weight: steel 7.85 t/m³ ÷ SUPERWOOD ~1.3 t/m³ ≈ 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Strength-to-weight: 1.25–1.5 × 6 ≈ 7–9×.</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the top of the A36 range (550 MPa) the strength ratio is 0.9–1.1×; “stronger than steel” is stated against the A36 minimum.</a:t>
            </a:r>
            <a:endParaRPr lang="en-US" sz="950" dirty="0"/>
          </a:p>
        </p:txBody>
      </p:sp>
      <p:sp>
        <p:nvSpPr>
          <p:cNvPr id="18" name="Text 15"/>
          <p:cNvSpPr/>
          <p:nvPr/>
        </p:nvSpPr>
        <p:spPr>
          <a:xfrm>
            <a:off x="502920" y="608076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parallel-to-grain tension, company test data (production QC and lab samples). Steel: ASTM A36 specifies 400–550 MPa ultimate tensile. Aluminum: 6061-T6, 310 MPa typical. Design values and test methods available on request.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on a data center campus</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fire.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FIRE PERFORMANCE</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rather than burns — far better in fire than ordinary wood. ASTM E84 Class A demonstrated in testing; specified per order</a:t>
            </a:r>
            <a:endParaRPr lang="en-US" sz="950" dirty="0"/>
          </a:p>
        </p:txBody>
      </p:sp>
      <p:pic>
        <p:nvPicPr>
          <p:cNvPr id="11" name="Image 2" descr="prep/icon_shield.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 suited to fences, screens and door protection</a:t>
            </a:r>
            <a:endParaRPr lang="en-US" sz="950" dirty="0"/>
          </a:p>
        </p:txBody>
      </p:sp>
      <p:pic>
        <p:nvPicPr>
          <p:cNvPr id="14" name="Image 3" descr="prep/icon_droplet.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RESISTS MOISTURE, PESTS AND ROT</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Exterior grade for facades, yards and fences; no rust; resists termites, mold and fungus</a:t>
            </a:r>
            <a:endParaRPr lang="en-US" sz="950" dirty="0"/>
          </a:p>
        </p:txBody>
      </p:sp>
      <p:pic>
        <p:nvPicPr>
          <p:cNvPr id="17" name="Image 4" descr="prep/icon_thermo.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0" name="Image 5" descr="prep/icon_vibration_cream.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Better damping than steel — the basis for acoustic barriers and equipment screens</a:t>
            </a:r>
            <a:endParaRPr lang="en-US" sz="950" dirty="0"/>
          </a:p>
        </p:txBody>
      </p:sp>
      <p:pic>
        <p:nvPicPr>
          <p:cNvPr id="23" name="Image 6" descr="prep/icon_rf.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pic>
        <p:nvPicPr>
          <p:cNvPr id="26" name="Image 7" descr="prep/icon_lea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Class A is a demonstrated capability, not a rating carried by every board.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Speed is the data-center benefit: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the metric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NOW</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Now: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pic>
        <p:nvPicPr>
          <p:cNvPr id="7"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8" name="Text 5"/>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9"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0" name="Text 6"/>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1"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2" name="Text 7"/>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3"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4" name="Text 8"/>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5"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6" name="Text 9"/>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7"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8" name="Text 10"/>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19" name="Shape 11"/>
          <p:cNvSpPr/>
          <p:nvPr/>
        </p:nvSpPr>
        <p:spPr>
          <a:xfrm>
            <a:off x="502920" y="4846320"/>
            <a:ext cx="11155680" cy="1051560"/>
          </a:xfrm>
          <a:prstGeom prst="roundRect">
            <a:avLst>
              <a:gd name="adj" fmla="val 7826"/>
            </a:avLst>
          </a:prstGeom>
          <a:solidFill>
            <a:srgbClr val="261A0F"/>
          </a:solidFill>
          <a:ln/>
        </p:spPr>
      </p:sp>
      <p:sp>
        <p:nvSpPr>
          <p:cNvPr id="20" name="Text 12"/>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campus. And they are the near-term projects our hyperscaler customers asked for: facades, biophilic office interiors, staff-area fencing and security fencing around critical outdoor infrastructure.</a:t>
            </a:r>
            <a:endParaRPr lang="en-US" sz="1100" dirty="0"/>
          </a:p>
        </p:txBody>
      </p:sp>
      <p:sp>
        <p:nvSpPr>
          <p:cNvPr id="21" name="Text 13"/>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NEXT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Next: applications one test program away</a:t>
            </a:r>
            <a:endParaRPr lang="en-US" sz="3000" dirty="0"/>
          </a:p>
        </p:txBody>
      </p:sp>
      <p:pic>
        <p:nvPicPr>
          <p:cNvPr id="6" name="Image 0" descr="prep/tiles/tile_barrier.jpg">    </p:cNvPr>
          <p:cNvPicPr>
            <a:picLocks noChangeAspect="1"/>
          </p:cNvPicPr>
          <p:nvPr/>
        </p:nvPicPr>
        <p:blipFill>
          <a:blip r:embed="rId1"/>
          <a:stretch>
            <a:fillRect/>
          </a:stretch>
        </p:blipFill>
        <p:spPr>
          <a:xfrm>
            <a:off x="701040" y="1920240"/>
            <a:ext cx="1463040" cy="1463040"/>
          </a:xfrm>
          <a:prstGeom prst="rect">
            <a:avLst/>
          </a:prstGeom>
        </p:spPr>
      </p:pic>
      <p:sp>
        <p:nvSpPr>
          <p:cNvPr id="7" name="Text 4"/>
          <p:cNvSpPr/>
          <p:nvPr/>
        </p:nvSpPr>
        <p:spPr>
          <a:xfrm>
            <a:off x="54864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Acoustic barrier walls &amp; equipment screens</a:t>
            </a:r>
            <a:endParaRPr lang="en-US" sz="1100" dirty="0"/>
          </a:p>
        </p:txBody>
      </p:sp>
      <p:sp>
        <p:nvSpPr>
          <p:cNvPr id="8" name="Text 5"/>
          <p:cNvSpPr/>
          <p:nvPr/>
        </p:nvSpPr>
        <p:spPr>
          <a:xfrm>
            <a:off x="54864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560320" y="1920240"/>
            <a:ext cx="1463040" cy="1463040"/>
          </a:xfrm>
          <a:prstGeom prst="rect">
            <a:avLst/>
          </a:prstGeom>
        </p:spPr>
      </p:pic>
      <p:sp>
        <p:nvSpPr>
          <p:cNvPr id="11" name="Text 7"/>
          <p:cNvSpPr/>
          <p:nvPr/>
        </p:nvSpPr>
        <p:spPr>
          <a:xfrm>
            <a:off x="240792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Walkways &amp; platforms</a:t>
            </a:r>
            <a:endParaRPr lang="en-US" sz="1100" dirty="0"/>
          </a:p>
        </p:txBody>
      </p:sp>
      <p:sp>
        <p:nvSpPr>
          <p:cNvPr id="12" name="Text 8"/>
          <p:cNvSpPr/>
          <p:nvPr/>
        </p:nvSpPr>
        <p:spPr>
          <a:xfrm>
            <a:off x="240792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40792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4419600" y="1920240"/>
            <a:ext cx="1463040" cy="1463040"/>
          </a:xfrm>
          <a:prstGeom prst="rect">
            <a:avLst/>
          </a:prstGeom>
        </p:spPr>
      </p:pic>
      <p:sp>
        <p:nvSpPr>
          <p:cNvPr id="15" name="Text 10"/>
          <p:cNvSpPr/>
          <p:nvPr/>
        </p:nvSpPr>
        <p:spPr>
          <a:xfrm>
            <a:off x="426720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Railings</a:t>
            </a:r>
            <a:endParaRPr lang="en-US" sz="1100" dirty="0"/>
          </a:p>
        </p:txBody>
      </p:sp>
      <p:sp>
        <p:nvSpPr>
          <p:cNvPr id="16" name="Text 11"/>
          <p:cNvSpPr/>
          <p:nvPr/>
        </p:nvSpPr>
        <p:spPr>
          <a:xfrm>
            <a:off x="426720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426720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6278880" y="1920240"/>
            <a:ext cx="1463040" cy="1463040"/>
          </a:xfrm>
          <a:prstGeom prst="rect">
            <a:avLst/>
          </a:prstGeom>
        </p:spPr>
      </p:pic>
      <p:sp>
        <p:nvSpPr>
          <p:cNvPr id="19" name="Text 13"/>
          <p:cNvSpPr/>
          <p:nvPr/>
        </p:nvSpPr>
        <p:spPr>
          <a:xfrm>
            <a:off x="612648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20" name="Text 14"/>
          <p:cNvSpPr/>
          <p:nvPr/>
        </p:nvSpPr>
        <p:spPr>
          <a:xfrm>
            <a:off x="612648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612648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8138160" y="1920240"/>
            <a:ext cx="1463040" cy="1463040"/>
          </a:xfrm>
          <a:prstGeom prst="rect">
            <a:avLst/>
          </a:prstGeom>
        </p:spPr>
      </p:pic>
      <p:sp>
        <p:nvSpPr>
          <p:cNvPr id="23" name="Text 16"/>
          <p:cNvSpPr/>
          <p:nvPr/>
        </p:nvSpPr>
        <p:spPr>
          <a:xfrm>
            <a:off x="798576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Interior doors &amp; door protection</a:t>
            </a:r>
            <a:endParaRPr lang="en-US" sz="1100" dirty="0"/>
          </a:p>
        </p:txBody>
      </p:sp>
      <p:sp>
        <p:nvSpPr>
          <p:cNvPr id="24" name="Text 17"/>
          <p:cNvSpPr/>
          <p:nvPr/>
        </p:nvSpPr>
        <p:spPr>
          <a:xfrm>
            <a:off x="798576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798576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9997440" y="1920240"/>
            <a:ext cx="1463040" cy="1463040"/>
          </a:xfrm>
          <a:prstGeom prst="rect">
            <a:avLst/>
          </a:prstGeom>
        </p:spPr>
      </p:pic>
      <p:sp>
        <p:nvSpPr>
          <p:cNvPr id="27" name="Text 19"/>
          <p:cNvSpPr/>
          <p:nvPr/>
        </p:nvSpPr>
        <p:spPr>
          <a:xfrm>
            <a:off x="9845040" y="3474720"/>
            <a:ext cx="1767840" cy="566928"/>
          </a:xfrm>
          <a:prstGeom prst="rect">
            <a:avLst/>
          </a:prstGeom>
          <a:noFill/>
          <a:ln/>
        </p:spPr>
        <p:txBody>
          <a:bodyPr wrap="square" lIns="0" tIns="0" rIns="0" bIns="0" rtlCol="0" anchor="t"/>
          <a:lstStyle/>
          <a:p>
            <a:pPr algn="ctr" indent="0" marL="0">
              <a:buNone/>
            </a:pPr>
            <a:r>
              <a:rPr lang="en-US" sz="1100" b="1" dirty="0">
                <a:solidFill>
                  <a:srgbClr val="F4ECDF"/>
                </a:solidFill>
                <a:latin typeface="Calibri" pitchFamily="34" charset="0"/>
                <a:ea typeface="Calibri" pitchFamily="34" charset="-122"/>
                <a:cs typeface="Calibri" pitchFamily="34" charset="-120"/>
              </a:rPr>
              <a:t>Equipment backplanes</a:t>
            </a:r>
            <a:endParaRPr lang="en-US" sz="1100" dirty="0"/>
          </a:p>
        </p:txBody>
      </p:sp>
      <p:sp>
        <p:nvSpPr>
          <p:cNvPr id="28" name="Text 20"/>
          <p:cNvSpPr/>
          <p:nvPr/>
        </p:nvSpPr>
        <p:spPr>
          <a:xfrm>
            <a:off x="9845040" y="4096512"/>
            <a:ext cx="1767840"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9845040" y="4315968"/>
            <a:ext cx="1767840" cy="45720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sp>
        <p:nvSpPr>
          <p:cNvPr id="30" name="Shape 22"/>
          <p:cNvSpPr/>
          <p:nvPr/>
        </p:nvSpPr>
        <p:spPr>
          <a:xfrm>
            <a:off x="502920" y="5029200"/>
            <a:ext cx="11155680" cy="777240"/>
          </a:xfrm>
          <a:prstGeom prst="roundRect">
            <a:avLst>
              <a:gd name="adj" fmla="val 10588"/>
            </a:avLst>
          </a:prstGeom>
          <a:solidFill>
            <a:srgbClr val="261A0F"/>
          </a:solidFill>
          <a:ln/>
        </p:spPr>
      </p:sp>
      <p:sp>
        <p:nvSpPr>
          <p:cNvPr id="31" name="Text 23"/>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of these is a scoped test program, not a research question — and the natural first co-funded project with a customer. Which comes first depends on which a customer picks up first.</a:t>
            </a:r>
            <a:endParaRPr lang="en-US" sz="1150" dirty="0"/>
          </a:p>
        </p:txBody>
      </p:sp>
      <p:sp>
        <p:nvSpPr>
          <p:cNvPr id="32" name="Text 24"/>
          <p:cNvSpPr/>
          <p:nvPr/>
        </p:nvSpPr>
        <p:spPr>
          <a:xfrm>
            <a:off x="8897112" y="603504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STRUCTURAL</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WAY FROM TODAY'S BOARDS</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Structural work has begun. Truss design is starting, and mass-timber enhancement — SUPERWOOD laminations that stiffen and strengthen glulam and CLT-type members — is under way. We expect structural sales on the way to SuperMill Two.</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Replacing structural steel is the first thing new data-center customers ask about.</a:t>
            </a:r>
            <a:endParaRPr lang="en-US" sz="105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spaceframe.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Building enclosures &amp; structural components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The co-development target with hyperscaler architects and engineers</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fast-to-build enclosures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Racking &amp; heavy equipment supports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After design values and seismic qualification</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 This is the Microsoft and Google conversation, and it is SuperMill Two-scale demand.</a:t>
            </a:r>
            <a:endParaRPr lang="en-US" sz="1050" dirty="0"/>
          </a:p>
        </p:txBody>
      </p:sp>
      <p:sp>
        <p:nvSpPr>
          <p:cNvPr id="25" name="Text 18"/>
          <p:cNvSpPr/>
          <p:nvPr/>
        </p:nvSpPr>
        <p:spPr>
          <a:xfrm>
            <a:off x="8897112" y="608076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THE LONG GAME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Where this goes: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pic>
        <p:nvPicPr>
          <p:cNvPr id="6" name="Image 0" descr="prep/app_shell.jpg">    </p:cNvPr>
          <p:cNvPicPr>
            <a:picLocks noChangeAspect="1"/>
          </p:cNvPicPr>
          <p:nvPr/>
        </p:nvPicPr>
        <p:blipFill>
          <a:blip r:embed="rId1"/>
          <a:srcRect l="0" r="0" t="0" b="0"/>
          <a:stretch/>
        </p:blipFill>
        <p:spPr>
          <a:xfrm>
            <a:off x="502920" y="1783080"/>
            <a:ext cx="5486400" cy="2331720"/>
          </a:xfrm>
          <a:prstGeom prst="rect">
            <a:avLst/>
          </a:prstGeom>
        </p:spPr>
      </p:pic>
      <p:sp>
        <p:nvSpPr>
          <p:cNvPr id="7" name="Text 4"/>
          <p:cNvSpPr/>
          <p:nvPr/>
        </p:nvSpPr>
        <p:spPr>
          <a:xfrm>
            <a:off x="50292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building envelopes</a:t>
            </a:r>
            <a:endParaRPr lang="en-US" sz="1400" dirty="0"/>
          </a:p>
        </p:txBody>
      </p:sp>
      <p:sp>
        <p:nvSpPr>
          <p:cNvPr id="8" name="Text 5"/>
          <p:cNvSpPr/>
          <p:nvPr/>
        </p:nvSpPr>
        <p:spPr>
          <a:xfrm>
            <a:off x="50292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and set in days — the co-development target with our hyperscaler customers' architects and engineers. Optimized shells that carry their own loads, weigh a fraction of steel and precast, and can be taken apart and moved.</a:t>
            </a:r>
            <a:endParaRPr lang="en-US" sz="1050" dirty="0"/>
          </a:p>
        </p:txBody>
      </p:sp>
      <p:pic>
        <p:nvPicPr>
          <p:cNvPr id="9" name="Image 1" descr="prep/dc_wood_foundation.jpg">    </p:cNvPr>
          <p:cNvPicPr>
            <a:picLocks noChangeAspect="1"/>
          </p:cNvPicPr>
          <p:nvPr/>
        </p:nvPicPr>
        <p:blipFill>
          <a:blip r:embed="rId2"/>
          <a:srcRect l="0" r="0" t="0" b="0"/>
          <a:stretch/>
        </p:blipFill>
        <p:spPr>
          <a:xfrm>
            <a:off x="6172200" y="1783080"/>
            <a:ext cx="5486400" cy="2331720"/>
          </a:xfrm>
          <a:prstGeom prst="rect">
            <a:avLst/>
          </a:prstGeom>
        </p:spPr>
      </p:pic>
      <p:sp>
        <p:nvSpPr>
          <p:cNvPr id="10" name="Text 6"/>
          <p:cNvSpPr/>
          <p:nvPr/>
        </p:nvSpPr>
        <p:spPr>
          <a:xfrm>
            <a:off x="6172200" y="4251960"/>
            <a:ext cx="5486400" cy="347472"/>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Foundations, slabs and paving</a:t>
            </a:r>
            <a:endParaRPr lang="en-US" sz="1400" dirty="0"/>
          </a:p>
        </p:txBody>
      </p:sp>
      <p:sp>
        <p:nvSpPr>
          <p:cNvPr id="11" name="Text 7"/>
          <p:cNvSpPr/>
          <p:nvPr/>
        </p:nvSpPr>
        <p:spPr>
          <a:xfrm>
            <a:off x="6172200" y="4617720"/>
            <a:ext cx="5486400" cy="96012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 Concrete is three-quarters of a campus by mass; this is where the material would change the whole building.</a:t>
            </a:r>
            <a:endParaRPr lang="en-US" sz="1050" dirty="0"/>
          </a:p>
        </p:txBody>
      </p:sp>
      <p:sp>
        <p:nvSpPr>
          <p:cNvPr id="12" name="Shape 8"/>
          <p:cNvSpPr/>
          <p:nvPr/>
        </p:nvSpPr>
        <p:spPr>
          <a:xfrm>
            <a:off x="502920" y="5623560"/>
            <a:ext cx="11155680" cy="548640"/>
          </a:xfrm>
          <a:prstGeom prst="roundRect">
            <a:avLst>
              <a:gd name="adj" fmla="val 15000"/>
            </a:avLst>
          </a:prstGeom>
          <a:solidFill>
            <a:srgbClr val="2E2113"/>
          </a:solidFill>
          <a:ln/>
        </p:spPr>
      </p:sp>
      <p:sp>
        <p:nvSpPr>
          <p:cNvPr id="13" name="Text 9"/>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through the structural horizon SUPERWOOD addresses about 5% of campus mass; foundations and slabs would raise the ceiling to about three-quarters — on the order of 1–2 million tonnes of concrete and rebar per gigawatt. No design or code pathway exists yet.</a:t>
            </a:r>
            <a:endParaRPr lang="en-US" sz="950" dirty="0"/>
          </a:p>
        </p:txBody>
      </p:sp>
      <p:sp>
        <p:nvSpPr>
          <p:cNvPr id="14" name="Text 10"/>
          <p:cNvSpPr/>
          <p:nvPr/>
        </p:nvSpPr>
        <p:spPr>
          <a:xfrm>
            <a:off x="8897112" y="411480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Every account on one ladder</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stages and partner statements as reported by InventWood, September 2026; next steps undated. Public-record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 on the record, and with us</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ON THE PUBLIC RECORD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Engagement statements as reported by InventWood, September 2026. 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The carbon claim, sized and labeled: a projection until the LCA lands</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 what hyperscalers increasingly buy</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durable advantage is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TONNE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 per tonne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 × 0.5 = 0.15–0.30 t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[conf: M].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What has to be true, and what could stop it</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campuses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 allocates output; a gigawatt's skins alone are one to three plant-years. SuperMill Two is the answer — and the raise.</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lands</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thesis depends on, stated so they can be tracked.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A concrete 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on a friendly site.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campus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pic>
        <p:nvPicPr>
          <p:cNvPr id="3" name="Image 0" descr="prep/wordmark_cream.png">    </p:cNvPr>
          <p:cNvPicPr>
            <a:picLocks noChangeAspect="1"/>
          </p:cNvPicPr>
          <p:nvPr/>
        </p:nvPicPr>
        <p:blipFill>
          <a:blip r:embed="rId2"/>
          <a:stretch>
            <a:fillRect/>
          </a:stretch>
        </p:blipFill>
        <p:spPr>
          <a:xfrm>
            <a:off x="914400" y="3657600"/>
            <a:ext cx="4114800" cy="658237"/>
          </a:xfrm>
          <a:prstGeom prst="rect">
            <a:avLst/>
          </a:prstGeom>
        </p:spPr>
      </p:pic>
      <p:sp>
        <p:nvSpPr>
          <p:cNvPr id="4" name="Text 1"/>
          <p:cNvSpPr/>
          <p:nvPr/>
        </p:nvSpPr>
        <p:spPr>
          <a:xfrm>
            <a:off x="914400" y="448056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5" name="Text 2"/>
          <p:cNvSpPr/>
          <p:nvPr/>
        </p:nvSpPr>
        <p:spPr>
          <a:xfrm>
            <a:off x="914400" y="48920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2026-09-04T21:24:27Z</dcterms:created>
  <dcterms:modified xsi:type="dcterms:W3CDTF">2026-09-04T21:24:27Z</dcterms:modified>
</cp:coreProperties>
</file>