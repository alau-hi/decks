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26280"/>
            <a:ext cx="10789920" cy="1325880"/>
          </a:xfrm>
          <a:prstGeom prst="rect">
            <a:avLst/>
          </a:prstGeom>
          <a:noFill/>
          <a:ln/>
        </p:spPr>
        <p:txBody>
          <a:bodyPr wrap="square" lIns="0" tIns="0" rIns="0" bIns="0" rtlCol="0" anchor="t"/>
          <a:lstStyle/>
          <a:p>
            <a:pPr indent="0" marL="0">
              <a:buNone/>
            </a:pPr>
            <a:r>
              <a:rPr lang="en-US" sz="3400" dirty="0">
                <a:solidFill>
                  <a:srgbClr val="F4ECDF"/>
                </a:solidFill>
                <a:latin typeface="Georgia" pitchFamily="34" charset="0"/>
                <a:ea typeface="Georgia" pitchFamily="34" charset="-122"/>
                <a:cs typeface="Georgia" pitchFamily="34" charset="-120"/>
              </a:rPr>
              <a:t>SUPERWOOD for Data Centers — </a:t>
            </a:r>
            <a:pPr indent="0" marL="0">
              <a:buNone/>
            </a:pPr>
            <a:r>
              <a:rPr lang="en-US" sz="3400" i="1" dirty="0">
                <a:solidFill>
                  <a:srgbClr val="CDA165"/>
                </a:solidFill>
                <a:latin typeface="Georgia" pitchFamily="34" charset="0"/>
                <a:ea typeface="Georgia" pitchFamily="34" charset="-122"/>
                <a:cs typeface="Georgia" pitchFamily="34" charset="-120"/>
              </a:rPr>
              <a:t>turbocharging the wood hyperscalers already build with</a:t>
            </a:r>
            <a:endParaRPr lang="en-US" sz="3400" dirty="0"/>
          </a:p>
        </p:txBody>
      </p:sp>
      <p:sp>
        <p:nvSpPr>
          <p:cNvPr id="6" name="Text 3"/>
          <p:cNvSpPr/>
          <p:nvPr/>
        </p:nvSpPr>
        <p:spPr>
          <a:xfrm>
            <a:off x="658368" y="5870448"/>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Steel-intensive</a:t>
            </a:r>
            <a:endParaRPr lang="en-US" sz="1400" dirty="0"/>
          </a:p>
        </p:txBody>
      </p:sp>
      <p:sp>
        <p:nvSpPr>
          <p:cNvPr id="10" name="Text 7"/>
          <p:cNvSpPr/>
          <p:nvPr/>
        </p:nvSpPr>
        <p:spPr>
          <a:xfrm>
            <a:off x="6903720" y="217627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500–1,000 tons of structural steel and 5,000–10,000 m³ of concrete per 10 MW — literature intensities for hyperscale builds. A gigawatt campus carries roughly 50,000–100,000 tons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Supply-chain challenged</a:t>
            </a:r>
            <a:endParaRPr lang="en-US" sz="1400" dirty="0"/>
          </a:p>
        </p:txBody>
      </p:sp>
      <p:sp>
        <p:nvSpPr>
          <p:cNvPr id="13" name="Text 10"/>
          <p:cNvSpPr/>
          <p:nvPr/>
        </p:nvSpPr>
        <p:spPr>
          <a:xfrm>
            <a:off x="6903720" y="329184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Customers report backlogs and a shortage of structural steel. Supply chain and timeline are the first concern they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Highly repeatable</a:t>
            </a:r>
            <a:endParaRPr lang="en-US" sz="1400" dirty="0"/>
          </a:p>
        </p:txBody>
      </p:sp>
      <p:sp>
        <p:nvSpPr>
          <p:cNvPr id="16" name="Text 13"/>
          <p:cNvSpPr/>
          <p:nvPr/>
        </p:nvSpPr>
        <p:spPr>
          <a:xfrm>
            <a:off x="6903720" y="4407408"/>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build to a standard basis of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(metric tons);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pic>
        <p:nvPicPr>
          <p:cNvPr id="18" name="Image 4" descr="prep/beam_glulam.jpg">    </p:cNvPr>
          <p:cNvPicPr>
            <a:picLocks noChangeAspect="1"/>
          </p:cNvPicPr>
          <p:nvPr/>
        </p:nvPicPr>
        <p:blipFill>
          <a:blip r:embed="rId5"/>
          <a:srcRect l="0" r="0" t="0" b="0"/>
          <a:stretch/>
        </p:blipFill>
        <p:spPr>
          <a:xfrm>
            <a:off x="4983480" y="1828800"/>
            <a:ext cx="2133600" cy="1600200"/>
          </a:xfrm>
          <a:prstGeom prst="rect">
            <a:avLst/>
          </a:prstGeom>
        </p:spPr>
      </p:pic>
      <p:pic>
        <p:nvPicPr>
          <p:cNvPr id="19" name="Image 5" descr="prep/beam_hybrid.jpg">    </p:cNvPr>
          <p:cNvPicPr>
            <a:picLocks noChangeAspect="1"/>
          </p:cNvPicPr>
          <p:nvPr/>
        </p:nvPicPr>
        <p:blipFill>
          <a:blip r:embed="rId6"/>
          <a:srcRect l="0" r="0" t="0" b="0"/>
          <a:stretch/>
        </p:blipFill>
        <p:spPr>
          <a:xfrm>
            <a:off x="7254240" y="1828800"/>
            <a:ext cx="2133600" cy="1600200"/>
          </a:xfrm>
          <a:prstGeom prst="rect">
            <a:avLst/>
          </a:prstGeom>
        </p:spPr>
      </p:pic>
      <p:pic>
        <p:nvPicPr>
          <p:cNvPr id="20" name="Image 6" descr="prep/beam_thin.jpg">    </p:cNvPr>
          <p:cNvPicPr>
            <a:picLocks noChangeAspect="1"/>
          </p:cNvPicPr>
          <p:nvPr/>
        </p:nvPicPr>
        <p:blipFill>
          <a:blip r:embed="rId7"/>
          <a:srcRect l="0" r="0" t="0" b="0"/>
          <a:stretch/>
        </p:blipFill>
        <p:spPr>
          <a:xfrm>
            <a:off x="9525000" y="1828800"/>
            <a:ext cx="2133600" cy="1600200"/>
          </a:xfrm>
          <a:prstGeom prst="rect">
            <a:avLst/>
          </a:prstGeom>
        </p:spPr>
      </p:pic>
      <p:sp>
        <p:nvSpPr>
          <p:cNvPr id="21" name="Text 12"/>
          <p:cNvSpPr/>
          <p:nvPr/>
        </p:nvSpPr>
        <p:spPr>
          <a:xfrm>
            <a:off x="4983480" y="3611880"/>
            <a:ext cx="1280160" cy="329184"/>
          </a:xfrm>
          <a:prstGeom prst="rect">
            <a:avLst/>
          </a:prstGeom>
          <a:noFill/>
          <a:ln/>
        </p:spPr>
        <p:txBody>
          <a:bodyPr wrap="square" lIns="0" tIns="0" rIns="0" bIns="0" rtlCol="0" anchor="t"/>
          <a:lstStyle/>
          <a:p>
            <a:pPr indent="0" marL="0">
              <a:buNone/>
            </a:pPr>
            <a:endParaRPr lang="en-US" sz="800" dirty="0"/>
          </a:p>
        </p:txBody>
      </p:sp>
      <p:sp>
        <p:nvSpPr>
          <p:cNvPr id="22" name="Text 13"/>
          <p:cNvSpPr/>
          <p:nvPr/>
        </p:nvSpPr>
        <p:spPr>
          <a:xfrm>
            <a:off x="6355080" y="361188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3" name="Text 14"/>
          <p:cNvSpPr/>
          <p:nvPr/>
        </p:nvSpPr>
        <p:spPr>
          <a:xfrm>
            <a:off x="8412480" y="361188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4" name="Shape 15"/>
          <p:cNvSpPr/>
          <p:nvPr/>
        </p:nvSpPr>
        <p:spPr>
          <a:xfrm>
            <a:off x="4983480" y="3927348"/>
            <a:ext cx="6675120" cy="10973"/>
          </a:xfrm>
          <a:prstGeom prst="rect">
            <a:avLst/>
          </a:prstGeom>
          <a:solidFill>
            <a:srgbClr val="3A2B1A"/>
          </a:solidFill>
          <a:ln/>
        </p:spPr>
      </p:sp>
      <p:sp>
        <p:nvSpPr>
          <p:cNvPr id="25" name="Text 16"/>
          <p:cNvSpPr/>
          <p:nvPr/>
        </p:nvSpPr>
        <p:spPr>
          <a:xfrm>
            <a:off x="4983480" y="397306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6" name="Text 17"/>
          <p:cNvSpPr/>
          <p:nvPr/>
        </p:nvSpPr>
        <p:spPr>
          <a:xfrm>
            <a:off x="6355080" y="397306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7" name="Text 18"/>
          <p:cNvSpPr/>
          <p:nvPr/>
        </p:nvSpPr>
        <p:spPr>
          <a:xfrm>
            <a:off x="8412480" y="397306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8" name="Shape 19"/>
          <p:cNvSpPr/>
          <p:nvPr/>
        </p:nvSpPr>
        <p:spPr>
          <a:xfrm>
            <a:off x="4983480" y="4288536"/>
            <a:ext cx="6675120" cy="10973"/>
          </a:xfrm>
          <a:prstGeom prst="rect">
            <a:avLst/>
          </a:prstGeom>
          <a:solidFill>
            <a:srgbClr val="3A2B1A"/>
          </a:solidFill>
          <a:ln/>
        </p:spPr>
      </p:sp>
      <p:sp>
        <p:nvSpPr>
          <p:cNvPr id="29" name="Text 20"/>
          <p:cNvSpPr/>
          <p:nvPr/>
        </p:nvSpPr>
        <p:spPr>
          <a:xfrm>
            <a:off x="4983480" y="433425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0" name="Text 21"/>
          <p:cNvSpPr/>
          <p:nvPr/>
        </p:nvSpPr>
        <p:spPr>
          <a:xfrm>
            <a:off x="6355080" y="433425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1" name="Text 22"/>
          <p:cNvSpPr/>
          <p:nvPr/>
        </p:nvSpPr>
        <p:spPr>
          <a:xfrm>
            <a:off x="8412480" y="433425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2" name="Shape 23"/>
          <p:cNvSpPr/>
          <p:nvPr/>
        </p:nvSpPr>
        <p:spPr>
          <a:xfrm>
            <a:off x="4983480" y="4649724"/>
            <a:ext cx="6675120" cy="10973"/>
          </a:xfrm>
          <a:prstGeom prst="rect">
            <a:avLst/>
          </a:prstGeom>
          <a:solidFill>
            <a:srgbClr val="3A2B1A"/>
          </a:solidFill>
          <a:ln/>
        </p:spPr>
      </p:sp>
      <p:sp>
        <p:nvSpPr>
          <p:cNvPr id="33" name="Text 24"/>
          <p:cNvSpPr/>
          <p:nvPr/>
        </p:nvSpPr>
        <p:spPr>
          <a:xfrm>
            <a:off x="4983480" y="469544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4" name="Text 25"/>
          <p:cNvSpPr/>
          <p:nvPr/>
        </p:nvSpPr>
        <p:spPr>
          <a:xfrm>
            <a:off x="6355080" y="469544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5" name="Text 26"/>
          <p:cNvSpPr/>
          <p:nvPr/>
        </p:nvSpPr>
        <p:spPr>
          <a:xfrm>
            <a:off x="8412480" y="469544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6" name="Shape 27"/>
          <p:cNvSpPr/>
          <p:nvPr/>
        </p:nvSpPr>
        <p:spPr>
          <a:xfrm>
            <a:off x="4983480" y="5010912"/>
            <a:ext cx="6675120" cy="10973"/>
          </a:xfrm>
          <a:prstGeom prst="rect">
            <a:avLst/>
          </a:prstGeom>
          <a:solidFill>
            <a:srgbClr val="3A2B1A"/>
          </a:solidFill>
          <a:ln/>
        </p:spPr>
      </p:sp>
      <p:sp>
        <p:nvSpPr>
          <p:cNvPr id="37" name="Text 28"/>
          <p:cNvSpPr/>
          <p:nvPr/>
        </p:nvSpPr>
        <p:spPr>
          <a:xfrm>
            <a:off x="4983480" y="505663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8" name="Text 29"/>
          <p:cNvSpPr/>
          <p:nvPr/>
        </p:nvSpPr>
        <p:spPr>
          <a:xfrm>
            <a:off x="6355080" y="505663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39" name="Text 30"/>
          <p:cNvSpPr/>
          <p:nvPr/>
        </p:nvSpPr>
        <p:spPr>
          <a:xfrm>
            <a:off x="8412480" y="505663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0" name="Shape 31"/>
          <p:cNvSpPr/>
          <p:nvPr/>
        </p:nvSpPr>
        <p:spPr>
          <a:xfrm>
            <a:off x="4983480" y="5372100"/>
            <a:ext cx="6675120" cy="10973"/>
          </a:xfrm>
          <a:prstGeom prst="rect">
            <a:avLst/>
          </a:prstGeom>
          <a:solidFill>
            <a:srgbClr val="3A2B1A"/>
          </a:solidFill>
          <a:ln/>
        </p:spPr>
      </p:sp>
      <p:sp>
        <p:nvSpPr>
          <p:cNvPr id="41" name="Text 32"/>
          <p:cNvSpPr/>
          <p:nvPr/>
        </p:nvSpPr>
        <p:spPr>
          <a:xfrm>
            <a:off x="4983480" y="541782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2" name="Text 33"/>
          <p:cNvSpPr/>
          <p:nvPr/>
        </p:nvSpPr>
        <p:spPr>
          <a:xfrm>
            <a:off x="6355080" y="541782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3" name="Text 34"/>
          <p:cNvSpPr/>
          <p:nvPr/>
        </p:nvSpPr>
        <p:spPr>
          <a:xfrm>
            <a:off x="8412480" y="541782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4" name="Shape 35"/>
          <p:cNvSpPr/>
          <p:nvPr/>
        </p:nvSpPr>
        <p:spPr>
          <a:xfrm>
            <a:off x="4983480" y="5733288"/>
            <a:ext cx="6675120" cy="10973"/>
          </a:xfrm>
          <a:prstGeom prst="rect">
            <a:avLst/>
          </a:prstGeom>
          <a:solidFill>
            <a:srgbClr val="3A2B1A"/>
          </a:solidFill>
          <a:ln/>
        </p:spPr>
      </p:sp>
      <p:sp>
        <p:nvSpPr>
          <p:cNvPr id="45" name="Text 36"/>
          <p:cNvSpPr/>
          <p:nvPr/>
        </p:nvSpPr>
        <p:spPr>
          <a:xfrm>
            <a:off x="4983480" y="57790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6" name="Text 37"/>
          <p:cNvSpPr/>
          <p:nvPr/>
        </p:nvSpPr>
        <p:spPr>
          <a:xfrm>
            <a:off x="6355080" y="57790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7" name="Text 38"/>
          <p:cNvSpPr/>
          <p:nvPr/>
        </p:nvSpPr>
        <p:spPr>
          <a:xfrm>
            <a:off x="8412480" y="57790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8" name="Text 39"/>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Now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3.3–12 kt</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1.2–2.7 kt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Next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12–30 kt</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3.5–18 kt</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Structural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53–108 kt</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16–65 kt</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Long-term vision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1,002–2,089 kt</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58–362 kt</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20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0.9 kt/yr (1M sf), SuperMill Two ≈ 31 kt/yr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campus is millions of square feet of skins and screens and tens of thousands of tonnes of structure — and hyperscalers build campus after campus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change what a planning commission sees — the social license to build and to scale.</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sizes and labels the claim.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inventwood_logo.png">    </p:cNvPr>
          <p:cNvPicPr>
            <a:picLocks noChangeAspect="1"/>
          </p:cNvPicPr>
          <p:nvPr/>
        </p:nvPicPr>
        <p:blipFill>
          <a:blip r:embed="rId2"/>
          <a:stretch>
            <a:fillRect/>
          </a:stretch>
        </p:blipFill>
        <p:spPr>
          <a:xfrm>
            <a:off x="822960" y="3611880"/>
            <a:ext cx="4206240" cy="616801"/>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2026-09-04T23:55:30Z</dcterms:created>
  <dcterms:modified xsi:type="dcterms:W3CDTF">2026-09-04T23:55:30Z</dcterms:modified>
</cp:coreProperties>
</file>