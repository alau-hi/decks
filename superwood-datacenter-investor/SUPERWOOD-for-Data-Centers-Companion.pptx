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and details. Microsoft: Microsoft Source, Nov 2024, https://news.microsoft.com/source/features/sustainability/microsoft-builds-first-datacenters-with-wood-to-slash-carbon-emissions/ — two Northern Virginia datacenters with CLT floor panels on a steel frame, about 35% less embodied carbon than conventional steel construction and 65% less than precast; Gensler; Thornton Tomasetti project page https://www.thorntontomasetti.com/project/microsoft-mass-timber-data-centers. Meta: Meta Sustainability, 31 Jul 2025, https://sustainability.atmeta.com/blog/2025/07/31/meta-pilots-mass-timber-for-more-sustainable-data-center-construction/ — mass-timber pilot for administrative buildings; Aiken SC completed 2025 (DPR, SmartLam); Cheyenne WY and Montgomery AL under way; about 41% less embodied carbon in the materials substituted.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INDUSTRY GROWTH</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Growth</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1600" i="1" dirty="0">
                <a:solidFill>
                  <a:srgbClr val="E2B877"/>
                </a:solidFill>
                <a:latin typeface="Georgia" pitchFamily="34" charset="0"/>
                <a:ea typeface="Georgia" pitchFamily="34" charset="-122"/>
                <a:cs typeface="Georgia" pitchFamily="34" charset="-120"/>
              </a:rPr>
              <a:t>$75 billion a year</a:t>
            </a:r>
            <a:pPr indent="0" marL="0">
              <a:buNone/>
            </a:pPr>
            <a:r>
              <a:rPr lang="en-US" sz="1600" dirty="0">
                <a:solidFill>
                  <a:srgbClr val="F4ECDF"/>
                </a:solidFill>
                <a:latin typeface="Georgia" pitchFamily="34" charset="0"/>
                <a:ea typeface="Georgia" pitchFamily="34" charset="-122"/>
                <a:cs typeface="Georgia" pitchFamily="34" charset="-120"/>
              </a:rPr>
              <a:t>, up 57% in twelve months.</a:t>
            </a:r>
            <a:endParaRPr lang="en-US" sz="1600" dirty="0"/>
          </a:p>
        </p:txBody>
      </p:sp>
      <p:pic>
        <p:nvPicPr>
          <p:cNvPr id="7"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8" name="Text 5"/>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9" name="Shape 6"/>
          <p:cNvSpPr/>
          <p:nvPr/>
        </p:nvSpPr>
        <p:spPr>
          <a:xfrm>
            <a:off x="6675120" y="2231136"/>
            <a:ext cx="128016" cy="128016"/>
          </a:xfrm>
          <a:prstGeom prst="ellipse">
            <a:avLst/>
          </a:prstGeom>
          <a:solidFill>
            <a:srgbClr val="E2B877"/>
          </a:solidFill>
          <a:ln/>
        </p:spPr>
      </p:sp>
      <p:sp>
        <p:nvSpPr>
          <p:cNvPr id="10" name="Text 7"/>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1" name="Text 8"/>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2" name="Shape 9"/>
          <p:cNvSpPr/>
          <p:nvPr/>
        </p:nvSpPr>
        <p:spPr>
          <a:xfrm>
            <a:off x="6675120" y="3191256"/>
            <a:ext cx="128016" cy="128016"/>
          </a:xfrm>
          <a:prstGeom prst="ellipse">
            <a:avLst/>
          </a:prstGeom>
          <a:solidFill>
            <a:srgbClr val="E2B877"/>
          </a:solidFill>
          <a:ln/>
        </p:spPr>
      </p:sp>
      <p:sp>
        <p:nvSpPr>
          <p:cNvPr id="13" name="Text 10"/>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4" name="Text 11"/>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5" name="Shape 12"/>
          <p:cNvSpPr/>
          <p:nvPr/>
        </p:nvSpPr>
        <p:spPr>
          <a:xfrm>
            <a:off x="6675120" y="4151376"/>
            <a:ext cx="128016" cy="128016"/>
          </a:xfrm>
          <a:prstGeom prst="ellipse">
            <a:avLst/>
          </a:prstGeom>
          <a:solidFill>
            <a:srgbClr val="E2B877"/>
          </a:solidFill>
          <a:ln/>
        </p:spPr>
      </p:sp>
      <p:sp>
        <p:nvSpPr>
          <p:cNvPr id="16" name="Text 13"/>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7" name="Text 14"/>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8" name="Text 15"/>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2026 estimated from the January to July pace;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INDUSTRY CHALLENGED BY COMMUNITIES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Industry Challenged by Communities</a:t>
            </a:r>
            <a:endParaRPr lang="en-US" sz="2700" dirty="0"/>
          </a:p>
        </p:txBody>
      </p:sp>
      <p:sp>
        <p:nvSpPr>
          <p:cNvPr id="6" name="Text 4"/>
          <p:cNvSpPr/>
          <p:nvPr/>
        </p:nvSpPr>
        <p:spPr>
          <a:xfrm>
            <a:off x="502920" y="1298448"/>
            <a:ext cx="11155680" cy="365760"/>
          </a:xfrm>
          <a:prstGeom prst="rect">
            <a:avLst/>
          </a:prstGeom>
          <a:noFill/>
          <a:ln/>
        </p:spPr>
        <p:txBody>
          <a:bodyPr wrap="square" lIns="0" tIns="0" rIns="0" bIns="0" rtlCol="0" anchor="ctr"/>
          <a:lstStyle/>
          <a:p>
            <a:pPr indent="0" marL="0">
              <a:buNone/>
            </a:pPr>
            <a:r>
              <a:rPr lang="en-US" sz="16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1600" dirty="0"/>
          </a:p>
        </p:txBody>
      </p:sp>
      <p:sp>
        <p:nvSpPr>
          <p:cNvPr id="7" name="Shape 5"/>
          <p:cNvSpPr/>
          <p:nvPr/>
        </p:nvSpPr>
        <p:spPr>
          <a:xfrm>
            <a:off x="502920" y="1783080"/>
            <a:ext cx="5440680" cy="2788920"/>
          </a:xfrm>
          <a:prstGeom prst="roundRect">
            <a:avLst>
              <a:gd name="adj" fmla="val 2951"/>
            </a:avLst>
          </a:prstGeom>
          <a:solidFill>
            <a:srgbClr val="261A0F"/>
          </a:solidFill>
          <a:ln/>
        </p:spPr>
      </p:sp>
      <p:pic>
        <p:nvPicPr>
          <p:cNvPr id="8" name="Image 0" descr="prep/entrance_office.jpg">    </p:cNvPr>
          <p:cNvPicPr>
            <a:picLocks noChangeAspect="1"/>
          </p:cNvPicPr>
          <p:nvPr/>
        </p:nvPicPr>
        <p:blipFill>
          <a:blip r:embed="rId1"/>
          <a:srcRect l="0" r="0" t="0" b="0"/>
          <a:stretch/>
        </p:blipFill>
        <p:spPr>
          <a:xfrm>
            <a:off x="502920" y="1783080"/>
            <a:ext cx="5440680" cy="1417320"/>
          </a:xfrm>
          <a:prstGeom prst="rect">
            <a:avLst/>
          </a:prstGeom>
        </p:spPr>
      </p:pic>
      <p:sp>
        <p:nvSpPr>
          <p:cNvPr id="9" name="Text 6"/>
          <p:cNvSpPr/>
          <p:nvPr/>
        </p:nvSpPr>
        <p:spPr>
          <a:xfrm>
            <a:off x="777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0" name="Text 7"/>
          <p:cNvSpPr/>
          <p:nvPr/>
        </p:nvSpPr>
        <p:spPr>
          <a:xfrm>
            <a:off x="777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Aesthetics</a:t>
            </a:r>
            <a:endParaRPr lang="en-US" sz="1700" dirty="0"/>
          </a:p>
        </p:txBody>
      </p:sp>
      <p:sp>
        <p:nvSpPr>
          <p:cNvPr id="11" name="Text 8"/>
          <p:cNvSpPr/>
          <p:nvPr/>
        </p:nvSpPr>
        <p:spPr>
          <a:xfrm>
            <a:off x="777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Windowless boxes on farmland. Counties answer with setbacks and design standards.</a:t>
            </a:r>
            <a:endParaRPr lang="en-US" sz="950" dirty="0"/>
          </a:p>
        </p:txBody>
      </p:sp>
      <p:sp>
        <p:nvSpPr>
          <p:cNvPr id="12" name="Shape 9"/>
          <p:cNvSpPr/>
          <p:nvPr/>
        </p:nvSpPr>
        <p:spPr>
          <a:xfrm>
            <a:off x="777240" y="4142232"/>
            <a:ext cx="4892040" cy="10973"/>
          </a:xfrm>
          <a:prstGeom prst="rect">
            <a:avLst/>
          </a:prstGeom>
          <a:solidFill>
            <a:srgbClr val="3A2B1A"/>
          </a:solidFill>
          <a:ln/>
        </p:spPr>
      </p:sp>
      <p:sp>
        <p:nvSpPr>
          <p:cNvPr id="13" name="Text 10"/>
          <p:cNvSpPr/>
          <p:nvPr/>
        </p:nvSpPr>
        <p:spPr>
          <a:xfrm>
            <a:off x="777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Facades, fences and screens that read as architecture.</a:t>
            </a:r>
            <a:endParaRPr lang="en-US" sz="750" dirty="0"/>
          </a:p>
        </p:txBody>
      </p:sp>
      <p:sp>
        <p:nvSpPr>
          <p:cNvPr id="14" name="Shape 11"/>
          <p:cNvSpPr/>
          <p:nvPr/>
        </p:nvSpPr>
        <p:spPr>
          <a:xfrm>
            <a:off x="6217920" y="1783080"/>
            <a:ext cx="5440680" cy="2788920"/>
          </a:xfrm>
          <a:prstGeom prst="roundRect">
            <a:avLst>
              <a:gd name="adj" fmla="val 2951"/>
            </a:avLst>
          </a:prstGeom>
          <a:solidFill>
            <a:srgbClr val="261A0F"/>
          </a:solidFill>
          <a:ln/>
        </p:spPr>
      </p:sp>
      <p:pic>
        <p:nvPicPr>
          <p:cNvPr id="15" name="Image 1" descr="prep/tiles/tile_fanbox.jpg">    </p:cNvPr>
          <p:cNvPicPr>
            <a:picLocks noChangeAspect="1"/>
          </p:cNvPicPr>
          <p:nvPr/>
        </p:nvPicPr>
        <p:blipFill>
          <a:blip r:embed="rId2"/>
          <a:srcRect l="0" r="0" t="0" b="0"/>
          <a:stretch/>
        </p:blipFill>
        <p:spPr>
          <a:xfrm>
            <a:off x="6217920" y="1783080"/>
            <a:ext cx="5440680" cy="1417320"/>
          </a:xfrm>
          <a:prstGeom prst="rect">
            <a:avLst/>
          </a:prstGeom>
        </p:spPr>
      </p:pic>
      <p:sp>
        <p:nvSpPr>
          <p:cNvPr id="16" name="Text 12"/>
          <p:cNvSpPr/>
          <p:nvPr/>
        </p:nvSpPr>
        <p:spPr>
          <a:xfrm>
            <a:off x="6492240" y="3337560"/>
            <a:ext cx="2743200" cy="182880"/>
          </a:xfrm>
          <a:prstGeom prst="rect">
            <a:avLst/>
          </a:prstGeom>
          <a:noFill/>
          <a:ln/>
        </p:spPr>
        <p:txBody>
          <a:bodyPr wrap="square" lIns="0" tIns="0" rIns="0" bIns="0" rtlCol="0" anchor="ctr"/>
          <a:lstStyle/>
          <a:p>
            <a:pPr indent="0" marL="0">
              <a:buNone/>
            </a:pPr>
            <a:r>
              <a:rPr lang="en-US" sz="750" b="1" spc="150" kern="0" dirty="0">
                <a:solidFill>
                  <a:srgbClr val="CDA165"/>
                </a:solidFill>
                <a:latin typeface="Calibri" pitchFamily="34" charset="0"/>
                <a:ea typeface="Calibri" pitchFamily="34" charset="-122"/>
                <a:cs typeface="Calibri" pitchFamily="34" charset="-120"/>
              </a:rPr>
              <a:t>COMPLAINT</a:t>
            </a:r>
            <a:endParaRPr lang="en-US" sz="750" dirty="0"/>
          </a:p>
        </p:txBody>
      </p:sp>
      <p:sp>
        <p:nvSpPr>
          <p:cNvPr id="17" name="Text 13"/>
          <p:cNvSpPr/>
          <p:nvPr/>
        </p:nvSpPr>
        <p:spPr>
          <a:xfrm>
            <a:off x="6492240" y="3502152"/>
            <a:ext cx="4892040" cy="329184"/>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Noise</a:t>
            </a:r>
            <a:endParaRPr lang="en-US" sz="1700" dirty="0"/>
          </a:p>
        </p:txBody>
      </p:sp>
      <p:sp>
        <p:nvSpPr>
          <p:cNvPr id="18" name="Text 14"/>
          <p:cNvSpPr/>
          <p:nvPr/>
        </p:nvSpPr>
        <p:spPr>
          <a:xfrm>
            <a:off x="6492240" y="3840480"/>
            <a:ext cx="4892040" cy="2743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Fans, chillers, generator tests. Property-line decibel limits are spreading.</a:t>
            </a:r>
            <a:endParaRPr lang="en-US" sz="950" dirty="0"/>
          </a:p>
        </p:txBody>
      </p:sp>
      <p:sp>
        <p:nvSpPr>
          <p:cNvPr id="19" name="Shape 15"/>
          <p:cNvSpPr/>
          <p:nvPr/>
        </p:nvSpPr>
        <p:spPr>
          <a:xfrm>
            <a:off x="6492240" y="4142232"/>
            <a:ext cx="4892040" cy="10973"/>
          </a:xfrm>
          <a:prstGeom prst="rect">
            <a:avLst/>
          </a:prstGeom>
          <a:solidFill>
            <a:srgbClr val="3A2B1A"/>
          </a:solidFill>
          <a:ln/>
        </p:spPr>
      </p:sp>
      <p:sp>
        <p:nvSpPr>
          <p:cNvPr id="20" name="Text 16"/>
          <p:cNvSpPr/>
          <p:nvPr/>
        </p:nvSpPr>
        <p:spPr>
          <a:xfrm>
            <a:off x="6492240" y="4187952"/>
            <a:ext cx="4892040" cy="329184"/>
          </a:xfrm>
          <a:prstGeom prst="rect">
            <a:avLst/>
          </a:prstGeom>
          <a:noFill/>
          <a:ln/>
        </p:spPr>
        <p:txBody>
          <a:bodyPr wrap="square" lIns="0" tIns="0" rIns="0" bIns="0" rtlCol="0" anchor="ctr"/>
          <a:lstStyle/>
          <a:p>
            <a:pPr indent="0" marL="0">
              <a:buNone/>
            </a:pPr>
            <a:r>
              <a:rPr lang="en-US" sz="750" b="1" spc="150" kern="0" dirty="0">
                <a:solidFill>
                  <a:srgbClr val="E2B877"/>
                </a:solidFill>
                <a:latin typeface="Calibri" pitchFamily="34" charset="0"/>
                <a:ea typeface="Calibri" pitchFamily="34" charset="-122"/>
                <a:cs typeface="Calibri" pitchFamily="34" charset="-120"/>
              </a:rPr>
              <a:t>SUPERWOOD   </a:t>
            </a:r>
            <a:pPr indent="0" marL="0">
              <a:buNone/>
            </a:pPr>
            <a:r>
              <a:rPr lang="en-US" sz="1000" dirty="0">
                <a:solidFill>
                  <a:srgbClr val="F4ECDF"/>
                </a:solidFill>
                <a:latin typeface="Calibri" pitchFamily="34" charset="0"/>
                <a:ea typeface="Calibri" pitchFamily="34" charset="-122"/>
                <a:cs typeface="Calibri" pitchFamily="34" charset="-120"/>
              </a:rPr>
              <a:t>Acoustic screens and barriers; quieter fan enclosures and ductwork.</a:t>
            </a:r>
            <a:endParaRPr lang="en-US" sz="750" dirty="0"/>
          </a:p>
        </p:txBody>
      </p:sp>
      <p:sp>
        <p:nvSpPr>
          <p:cNvPr id="21" name="Text 17"/>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2" name="Shape 18"/>
          <p:cNvSpPr/>
          <p:nvPr/>
        </p:nvSpPr>
        <p:spPr>
          <a:xfrm>
            <a:off x="502920" y="4846320"/>
            <a:ext cx="27432" cy="640080"/>
          </a:xfrm>
          <a:prstGeom prst="rect">
            <a:avLst/>
          </a:prstGeom>
          <a:solidFill>
            <a:srgbClr val="CDA165"/>
          </a:solidFill>
          <a:ln/>
        </p:spPr>
      </p:sp>
      <p:sp>
        <p:nvSpPr>
          <p:cNvPr id="23" name="Text 19"/>
          <p:cNvSpPr/>
          <p:nvPr/>
        </p:nvSpPr>
        <p:spPr>
          <a:xfrm>
            <a:off x="685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100" dirty="0"/>
          </a:p>
        </p:txBody>
      </p:sp>
      <p:sp>
        <p:nvSpPr>
          <p:cNvPr id="24" name="Text 20"/>
          <p:cNvSpPr/>
          <p:nvPr/>
        </p:nvSpPr>
        <p:spPr>
          <a:xfrm>
            <a:off x="685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Q1 2026, as much as all of 2025. 833 opposition groups in 49 states.</a:t>
            </a:r>
            <a:endParaRPr lang="en-US" sz="900" dirty="0"/>
          </a:p>
        </p:txBody>
      </p:sp>
      <p:sp>
        <p:nvSpPr>
          <p:cNvPr id="25" name="Shape 21"/>
          <p:cNvSpPr/>
          <p:nvPr/>
        </p:nvSpPr>
        <p:spPr>
          <a:xfrm>
            <a:off x="6217920" y="4846320"/>
            <a:ext cx="27432" cy="640080"/>
          </a:xfrm>
          <a:prstGeom prst="rect">
            <a:avLst/>
          </a:prstGeom>
          <a:solidFill>
            <a:srgbClr val="CDA165"/>
          </a:solidFill>
          <a:ln/>
        </p:spPr>
      </p:sp>
      <p:sp>
        <p:nvSpPr>
          <p:cNvPr id="26" name="Text 22"/>
          <p:cNvSpPr/>
          <p:nvPr/>
        </p:nvSpPr>
        <p:spPr>
          <a:xfrm>
            <a:off x="6400800" y="4846320"/>
            <a:ext cx="5257800" cy="29260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Rules are following</a:t>
            </a:r>
            <a:endParaRPr lang="en-US" sz="1100" dirty="0"/>
          </a:p>
        </p:txBody>
      </p:sp>
      <p:sp>
        <p:nvSpPr>
          <p:cNvPr id="27" name="Text 23"/>
          <p:cNvSpPr/>
          <p:nvPr/>
        </p:nvSpPr>
        <p:spPr>
          <a:xfrm>
            <a:off x="6400800" y="5157216"/>
            <a:ext cx="5257800" cy="329184"/>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Henry County, Virginia: 1,000 ft setbacks, 50 dBA at the property line.</a:t>
            </a:r>
            <a:endParaRPr lang="en-US" sz="900" dirty="0"/>
          </a:p>
        </p:txBody>
      </p:sp>
      <p:sp>
        <p:nvSpPr>
          <p:cNvPr id="28" name="Text 24"/>
          <p:cNvSpPr/>
          <p:nvPr/>
        </p:nvSpPr>
        <p:spPr>
          <a:xfrm>
            <a:off x="502920" y="5577840"/>
            <a:ext cx="11155680" cy="411480"/>
          </a:xfrm>
          <a:prstGeom prst="rect">
            <a:avLst/>
          </a:prstGeom>
          <a:noFill/>
          <a:ln/>
        </p:spPr>
        <p:txBody>
          <a:bodyPr wrap="square" lIns="0" tIns="0" rIns="0" bIns="0" rtlCol="0" anchor="ctr"/>
          <a:lstStyle/>
          <a:p>
            <a:pPr indent="0" marL="0">
              <a:buNone/>
            </a:pPr>
            <a:r>
              <a:rPr lang="en-US" sz="1500" dirty="0">
                <a:solidFill>
                  <a:srgbClr val="F4ECDF"/>
                </a:solidFill>
                <a:latin typeface="Georgia" pitchFamily="34" charset="0"/>
                <a:ea typeface="Georgia" pitchFamily="34" charset="-122"/>
                <a:cs typeface="Georgia" pitchFamily="34" charset="-120"/>
              </a:rPr>
              <a:t>We help with these two. </a:t>
            </a:r>
            <a:pPr indent="0" marL="0">
              <a:buNone/>
            </a:pPr>
            <a:r>
              <a:rPr lang="en-US" sz="1500" i="1" dirty="0">
                <a:solidFill>
                  <a:srgbClr val="E2B877"/>
                </a:solidFill>
                <a:latin typeface="Georgia" pitchFamily="34" charset="0"/>
                <a:ea typeface="Georgia" pitchFamily="34" charset="-122"/>
                <a:cs typeface="Georgia" pitchFamily="34" charset="-120"/>
              </a:rPr>
              <a:t>We can go much further</a:t>
            </a:r>
            <a:pPr indent="0" marL="0">
              <a:buNone/>
            </a:pPr>
            <a:r>
              <a:rPr lang="en-US" sz="15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500" dirty="0"/>
          </a:p>
        </p:txBody>
      </p:sp>
      <p:sp>
        <p:nvSpPr>
          <p:cNvPr id="29" name="Text 25"/>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MATERIALS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5394960" cy="3236976"/>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263640" y="1901952"/>
            <a:ext cx="5394960" cy="3236976"/>
          </a:xfrm>
          <a:prstGeom prst="rect">
            <a:avLst/>
          </a:prstGeom>
        </p:spPr>
      </p:pic>
      <p:sp>
        <p:nvSpPr>
          <p:cNvPr id="10" name="Text 6"/>
          <p:cNvSpPr/>
          <p:nvPr/>
        </p:nvSpPr>
        <p:spPr>
          <a:xfrm>
            <a:off x="50292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522976"/>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two-thirds of everything estimated, including the steel inside the equipment</a:t>
            </a:r>
            <a:endParaRPr lang="en-US" sz="1300" dirty="0"/>
          </a:p>
        </p:txBody>
      </p:sp>
      <p:sp>
        <p:nvSpPr>
          <p:cNvPr id="13" name="Text 9"/>
          <p:cNvSpPr/>
          <p:nvPr/>
        </p:nvSpPr>
        <p:spPr>
          <a:xfrm>
            <a:off x="6126480" y="5833872"/>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and plastics in electrical, mechanical and IT equipment add roughly 250,000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carbon is valued on each row's steel, concrete and plastic content (material split per component: estimates, analyses/material_split.json; polymers at an average 3.0 kg CO₂e/kg); copper, aluminum, electronics, water, gypsum and wood not valued. Concrete: footprint bottom-up with moderate soils (slab, footings, pads, paving, yard mats; the published 500–1,000 m³/MW intensity is the upper comparison).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4,300–26,000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97358"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0.1–0.8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17,000–72,000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98764" y="4078224"/>
            <a:ext cx="479298"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0.6–2.3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25,000–296,000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449513" y="4791456"/>
            <a:ext cx="2444420"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0.8–9.4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moderate soils;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Prefabricated building envelopes</a:t>
            </a:r>
            <a:endParaRPr lang="en-US" sz="1800" dirty="0"/>
          </a:p>
        </p:txBody>
      </p:sp>
      <p:sp>
        <p:nvSpPr>
          <p:cNvPr id="8" name="Text 6"/>
          <p:cNvSpPr/>
          <p:nvPr/>
        </p:nvSpPr>
        <p:spPr>
          <a:xfrm>
            <a:off x="77724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9" name="Text 7"/>
          <p:cNvSpPr/>
          <p:nvPr/>
        </p:nvSpPr>
        <p:spPr>
          <a:xfrm>
            <a:off x="77724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0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800" dirty="0">
                <a:solidFill>
                  <a:srgbClr val="F4ECDF"/>
                </a:solidFill>
                <a:latin typeface="Georgia" pitchFamily="34" charset="0"/>
                <a:ea typeface="Georgia" pitchFamily="34" charset="-122"/>
                <a:cs typeface="Georgia" pitchFamily="34" charset="-120"/>
              </a:rPr>
              <a:t>Foundations, slabs and paving</a:t>
            </a:r>
            <a:endParaRPr lang="en-US" sz="1800" dirty="0"/>
          </a:p>
        </p:txBody>
      </p:sp>
      <p:sp>
        <p:nvSpPr>
          <p:cNvPr id="12" name="Text 10"/>
          <p:cNvSpPr/>
          <p:nvPr/>
        </p:nvSpPr>
        <p:spPr>
          <a:xfrm>
            <a:off x="6446520" y="2578608"/>
            <a:ext cx="4937760" cy="914400"/>
          </a:xfrm>
          <a:prstGeom prst="rect">
            <a:avLst/>
          </a:prstGeom>
          <a:noFill/>
          <a:ln/>
        </p:spPr>
        <p:txBody>
          <a:bodyPr wrap="square" lIns="0" tIns="0" rIns="0" bIns="0" rtlCol="0" anchor="t"/>
          <a:lstStyle/>
          <a:p>
            <a:pPr indent="0" marL="0">
              <a:buNone/>
            </a:pPr>
            <a:r>
              <a:rPr lang="en-US" sz="1150"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3" name="Text 11"/>
          <p:cNvSpPr/>
          <p:nvPr/>
        </p:nvSpPr>
        <p:spPr>
          <a:xfrm>
            <a:off x="6446520" y="3566160"/>
            <a:ext cx="4937760" cy="146304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0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Top timber engineers</a:t>
            </a:r>
            <a:endParaRPr lang="en-US" sz="700" dirty="0"/>
          </a:p>
        </p:txBody>
      </p:sp>
      <p:pic>
        <p:nvPicPr>
          <p:cNvPr id="52" name="Image 1" descr="prep/logo_hitt.png">    </p:cNvPr>
          <p:cNvPicPr>
            <a:picLocks noChangeAspect="1"/>
          </p:cNvPicPr>
          <p:nvPr/>
        </p:nvPicPr>
        <p:blipFill>
          <a:blip r:embed="rId2"/>
          <a:stretch>
            <a:fillRect/>
          </a:stretch>
        </p:blipFill>
        <p:spPr>
          <a:xfrm>
            <a:off x="5257800" y="5888736"/>
            <a:ext cx="683362" cy="173736"/>
          </a:xfrm>
          <a:prstGeom prst="rect">
            <a:avLst/>
          </a:prstGeom>
        </p:spPr>
      </p:pic>
      <p:sp>
        <p:nvSpPr>
          <p:cNvPr id="53" name="Text 49"/>
          <p:cNvSpPr/>
          <p:nvPr/>
        </p:nvSpPr>
        <p:spPr>
          <a:xfrm>
            <a:off x="525780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data center contractor, ENR 2025</a:t>
            </a:r>
            <a:endParaRPr lang="en-US" sz="700" dirty="0"/>
          </a:p>
        </p:txBody>
      </p:sp>
      <p:pic>
        <p:nvPicPr>
          <p:cNvPr id="54" name="Image 2" descr="prep/logo_turner.png">    </p:cNvPr>
          <p:cNvPicPr>
            <a:picLocks noChangeAspect="1"/>
          </p:cNvPicPr>
          <p:nvPr/>
        </p:nvPicPr>
        <p:blipFill>
          <a:blip r:embed="rId3"/>
          <a:stretch>
            <a:fillRect/>
          </a:stretch>
        </p:blipFill>
        <p:spPr>
          <a:xfrm>
            <a:off x="7406640" y="5888736"/>
            <a:ext cx="592703" cy="173736"/>
          </a:xfrm>
          <a:prstGeom prst="rect">
            <a:avLst/>
          </a:prstGeom>
        </p:spPr>
      </p:pic>
      <p:sp>
        <p:nvSpPr>
          <p:cNvPr id="55" name="Text 50"/>
          <p:cNvSpPr/>
          <p:nvPr/>
        </p:nvSpPr>
        <p:spPr>
          <a:xfrm>
            <a:off x="740664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#1 US contractor, ENR Top 400</a:t>
            </a:r>
            <a:endParaRPr lang="en-US" sz="700" dirty="0"/>
          </a:p>
        </p:txBody>
      </p:sp>
      <p:sp>
        <p:nvSpPr>
          <p:cNvPr id="56" name="Text 51"/>
          <p:cNvSpPr/>
          <p:nvPr/>
        </p:nvSpPr>
        <p:spPr>
          <a:xfrm>
            <a:off x="955548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Don Davies, advisor</a:t>
            </a:r>
            <a:endParaRPr lang="en-US" sz="1000" dirty="0"/>
          </a:p>
        </p:txBody>
      </p:sp>
      <p:sp>
        <p:nvSpPr>
          <p:cNvPr id="57" name="Text 52"/>
          <p:cNvSpPr/>
          <p:nvPr/>
        </p:nvSpPr>
        <p:spPr>
          <a:xfrm>
            <a:off x="9555480" y="6071616"/>
            <a:ext cx="2057400" cy="274320"/>
          </a:xfrm>
          <a:prstGeom prst="rect">
            <a:avLst/>
          </a:prstGeom>
          <a:noFill/>
          <a:ln/>
        </p:spPr>
        <p:txBody>
          <a:bodyPr wrap="square" lIns="0" tIns="0" rIns="0" bIns="0" rtlCol="0" anchor="t"/>
          <a:lstStyle/>
          <a:p>
            <a:pPr indent="0" marL="0">
              <a:buNone/>
            </a:pPr>
            <a:r>
              <a:rPr lang="en-US" sz="700" dirty="0">
                <a:solidFill>
                  <a:srgbClr val="9D8D76"/>
                </a:solidFill>
                <a:latin typeface="Calibri" pitchFamily="34" charset="0"/>
                <a:ea typeface="Calibri" pitchFamily="34" charset="-122"/>
                <a:cs typeface="Calibri" pitchFamily="34" charset="-120"/>
              </a:rPr>
              <a:t>Former president of MKA; structural engineer for several hyperscalers</a:t>
            </a:r>
            <a:endParaRPr lang="en-US" sz="70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9" name="Text 7"/>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0" name="Shape 8"/>
          <p:cNvSpPr/>
          <p:nvPr/>
        </p:nvSpPr>
        <p:spPr>
          <a:xfrm>
            <a:off x="502920" y="4105656"/>
            <a:ext cx="109728" cy="109728"/>
          </a:xfrm>
          <a:prstGeom prst="ellipse">
            <a:avLst/>
          </a:prstGeom>
          <a:solidFill>
            <a:srgbClr val="E2B877"/>
          </a:solidFill>
          <a:ln/>
        </p:spPr>
      </p:sp>
      <p:sp>
        <p:nvSpPr>
          <p:cNvPr id="11" name="Text 9"/>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2" name="Text 10"/>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3" name="Shape 11"/>
          <p:cNvSpPr/>
          <p:nvPr/>
        </p:nvSpPr>
        <p:spPr>
          <a:xfrm>
            <a:off x="502920" y="4672584"/>
            <a:ext cx="109728" cy="109728"/>
          </a:xfrm>
          <a:prstGeom prst="ellipse">
            <a:avLst/>
          </a:prstGeom>
          <a:solidFill>
            <a:srgbClr val="E2B877"/>
          </a:solidFill>
          <a:ln/>
        </p:spPr>
      </p:sp>
      <p:sp>
        <p:nvSpPr>
          <p:cNvPr id="14" name="Text 12"/>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5" name="Text 13"/>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6" name="Shape 14"/>
          <p:cNvSpPr/>
          <p:nvPr/>
        </p:nvSpPr>
        <p:spPr>
          <a:xfrm>
            <a:off x="502920" y="5239512"/>
            <a:ext cx="109728" cy="109728"/>
          </a:xfrm>
          <a:prstGeom prst="ellipse">
            <a:avLst/>
          </a:prstGeom>
          <a:solidFill>
            <a:srgbClr val="E2B877"/>
          </a:solidFill>
          <a:ln/>
        </p:spPr>
      </p:sp>
      <p:sp>
        <p:nvSpPr>
          <p:cNvPr id="17" name="Text 15"/>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18" name="Text 16"/>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19"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0" name="Text 17"/>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1" name="Text 18"/>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2" name="Shape 19"/>
          <p:cNvSpPr/>
          <p:nvPr/>
        </p:nvSpPr>
        <p:spPr>
          <a:xfrm>
            <a:off x="6172200" y="2286000"/>
            <a:ext cx="5486400" cy="1325880"/>
          </a:xfrm>
          <a:prstGeom prst="roundRect">
            <a:avLst>
              <a:gd name="adj" fmla="val 6207"/>
            </a:avLst>
          </a:prstGeom>
          <a:solidFill>
            <a:srgbClr val="2E2113"/>
          </a:solidFill>
          <a:ln/>
        </p:spPr>
      </p:sp>
      <p:sp>
        <p:nvSpPr>
          <p:cNvPr id="23" name="Text 20"/>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4" name="Text 21"/>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5" name="Shape 22"/>
          <p:cNvSpPr/>
          <p:nvPr/>
        </p:nvSpPr>
        <p:spPr>
          <a:xfrm>
            <a:off x="6172200" y="4105656"/>
            <a:ext cx="109728" cy="109728"/>
          </a:xfrm>
          <a:prstGeom prst="ellipse">
            <a:avLst/>
          </a:prstGeom>
          <a:solidFill>
            <a:srgbClr val="E2B877"/>
          </a:solidFill>
          <a:ln/>
        </p:spPr>
      </p:sp>
      <p:sp>
        <p:nvSpPr>
          <p:cNvPr id="26" name="Text 23"/>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27" name="Text 24"/>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28" name="Shape 25"/>
          <p:cNvSpPr/>
          <p:nvPr/>
        </p:nvSpPr>
        <p:spPr>
          <a:xfrm>
            <a:off x="6172200" y="4672584"/>
            <a:ext cx="109728" cy="109728"/>
          </a:xfrm>
          <a:prstGeom prst="ellipse">
            <a:avLst/>
          </a:prstGeom>
          <a:solidFill>
            <a:srgbClr val="E2B877"/>
          </a:solidFill>
          <a:ln/>
        </p:spPr>
      </p:sp>
      <p:sp>
        <p:nvSpPr>
          <p:cNvPr id="29" name="Text 26"/>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0" name="Text 27"/>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1" name="Shape 28"/>
          <p:cNvSpPr/>
          <p:nvPr/>
        </p:nvSpPr>
        <p:spPr>
          <a:xfrm>
            <a:off x="6172200" y="5239512"/>
            <a:ext cx="109728" cy="109728"/>
          </a:xfrm>
          <a:prstGeom prst="ellipse">
            <a:avLst/>
          </a:prstGeom>
          <a:solidFill>
            <a:srgbClr val="E2B877"/>
          </a:solidFill>
          <a:ln/>
        </p:spPr>
      </p:sp>
      <p:sp>
        <p:nvSpPr>
          <p:cNvPr id="32" name="Text 29"/>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3" name="Text 30"/>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4"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5" name="Text 31"/>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71838" cy="256032"/>
          </a:xfrm>
          <a:prstGeom prst="rect">
            <a:avLst/>
          </a:prstGeom>
          <a:solidFill>
            <a:srgbClr val="A0714E">
              <a:alpha val="85000"/>
            </a:srgbClr>
          </a:solidFill>
          <a:ln w="12700">
            <a:solidFill>
              <a:srgbClr val="A0714E">
                <a:alpha val="0"/>
              </a:srgbClr>
            </a:solidFill>
            <a:prstDash val="solid"/>
          </a:ln>
        </p:spPr>
      </p:sp>
      <p:sp>
        <p:nvSpPr>
          <p:cNvPr id="16" name="Shape 14"/>
          <p:cNvSpPr/>
          <p:nvPr/>
        </p:nvSpPr>
        <p:spPr>
          <a:xfrm>
            <a:off x="2439829" y="3328416"/>
            <a:ext cx="71838" cy="256032"/>
          </a:xfrm>
          <a:prstGeom prst="rect">
            <a:avLst/>
          </a:prstGeom>
          <a:solidFill>
            <a:srgbClr val="A0714E">
              <a:alpha val="74000"/>
            </a:srgbClr>
          </a:solidFill>
          <a:ln w="12700">
            <a:solidFill>
              <a:srgbClr val="A0714E">
                <a:alpha val="0"/>
              </a:srgbClr>
            </a:solidFill>
            <a:prstDash val="solid"/>
          </a:ln>
        </p:spPr>
      </p:sp>
      <p:sp>
        <p:nvSpPr>
          <p:cNvPr id="17" name="Shape 15"/>
          <p:cNvSpPr/>
          <p:nvPr/>
        </p:nvSpPr>
        <p:spPr>
          <a:xfrm>
            <a:off x="2509838" y="3328416"/>
            <a:ext cx="71838" cy="256032"/>
          </a:xfrm>
          <a:prstGeom prst="rect">
            <a:avLst/>
          </a:prstGeom>
          <a:solidFill>
            <a:srgbClr val="A0714E">
              <a:alpha val="64000"/>
            </a:srgbClr>
          </a:solidFill>
          <a:ln w="12700">
            <a:solidFill>
              <a:srgbClr val="A0714E">
                <a:alpha val="0"/>
              </a:srgbClr>
            </a:solidFill>
            <a:prstDash val="solid"/>
          </a:ln>
        </p:spPr>
      </p:sp>
      <p:sp>
        <p:nvSpPr>
          <p:cNvPr id="18" name="Shape 16"/>
          <p:cNvSpPr/>
          <p:nvPr/>
        </p:nvSpPr>
        <p:spPr>
          <a:xfrm>
            <a:off x="2579846" y="3328416"/>
            <a:ext cx="71838" cy="256032"/>
          </a:xfrm>
          <a:prstGeom prst="rect">
            <a:avLst/>
          </a:prstGeom>
          <a:solidFill>
            <a:srgbClr val="A0714E">
              <a:alpha val="53000"/>
            </a:srgbClr>
          </a:solidFill>
          <a:ln w="12700">
            <a:solidFill>
              <a:srgbClr val="A0714E">
                <a:alpha val="0"/>
              </a:srgbClr>
            </a:solidFill>
            <a:prstDash val="solid"/>
          </a:ln>
        </p:spPr>
      </p:sp>
      <p:sp>
        <p:nvSpPr>
          <p:cNvPr id="19" name="Shape 17"/>
          <p:cNvSpPr/>
          <p:nvPr/>
        </p:nvSpPr>
        <p:spPr>
          <a:xfrm>
            <a:off x="2649855" y="3328416"/>
            <a:ext cx="71838" cy="256032"/>
          </a:xfrm>
          <a:prstGeom prst="rect">
            <a:avLst/>
          </a:prstGeom>
          <a:solidFill>
            <a:srgbClr val="A0714E">
              <a:alpha val="42000"/>
            </a:srgbClr>
          </a:solidFill>
          <a:ln w="12700">
            <a:solidFill>
              <a:srgbClr val="A0714E">
                <a:alpha val="0"/>
              </a:srgbClr>
            </a:solidFill>
            <a:prstDash val="solid"/>
          </a:ln>
        </p:spPr>
      </p:sp>
      <p:sp>
        <p:nvSpPr>
          <p:cNvPr id="20" name="Shape 18"/>
          <p:cNvSpPr/>
          <p:nvPr/>
        </p:nvSpPr>
        <p:spPr>
          <a:xfrm>
            <a:off x="2719864" y="3328416"/>
            <a:ext cx="71838" cy="256032"/>
          </a:xfrm>
          <a:prstGeom prst="rect">
            <a:avLst/>
          </a:prstGeom>
          <a:solidFill>
            <a:srgbClr val="A0714E">
              <a:alpha val="31000"/>
            </a:srgbClr>
          </a:solidFill>
          <a:ln w="12700">
            <a:solidFill>
              <a:srgbClr val="A0714E">
                <a:alpha val="0"/>
              </a:srgbClr>
            </a:solidFill>
            <a:prstDash val="solid"/>
          </a:ln>
        </p:spPr>
      </p:sp>
      <p:sp>
        <p:nvSpPr>
          <p:cNvPr id="21" name="Shape 19"/>
          <p:cNvSpPr/>
          <p:nvPr/>
        </p:nvSpPr>
        <p:spPr>
          <a:xfrm>
            <a:off x="2789873" y="3328416"/>
            <a:ext cx="71838" cy="256032"/>
          </a:xfrm>
          <a:prstGeom prst="rect">
            <a:avLst/>
          </a:prstGeom>
          <a:solidFill>
            <a:srgbClr val="A0714E">
              <a:alpha val="21000"/>
            </a:srgbClr>
          </a:solidFill>
          <a:ln w="12700">
            <a:solidFill>
              <a:srgbClr val="A0714E">
                <a:alpha val="0"/>
              </a:srgbClr>
            </a:solidFill>
            <a:prstDash val="solid"/>
          </a:ln>
        </p:spPr>
      </p:sp>
      <p:sp>
        <p:nvSpPr>
          <p:cNvPr id="22" name="Shape 20"/>
          <p:cNvSpPr/>
          <p:nvPr/>
        </p:nvSpPr>
        <p:spPr>
          <a:xfrm>
            <a:off x="2859881" y="3328416"/>
            <a:ext cx="71838" cy="256032"/>
          </a:xfrm>
          <a:prstGeom prst="rect">
            <a:avLst/>
          </a:prstGeom>
          <a:solidFill>
            <a:srgbClr val="A0714E">
              <a:alpha val="10000"/>
            </a:srgbClr>
          </a:solidFill>
          <a:ln w="12700">
            <a:solidFill>
              <a:srgbClr val="A0714E">
                <a:alpha val="0"/>
              </a:srgbClr>
            </a:solidFill>
            <a:prstDash val="solid"/>
          </a:ln>
        </p:spPr>
      </p:sp>
      <p:sp>
        <p:nvSpPr>
          <p:cNvPr id="23" name="Shape 21"/>
          <p:cNvSpPr/>
          <p:nvPr/>
        </p:nvSpPr>
        <p:spPr>
          <a:xfrm>
            <a:off x="1623060" y="3291840"/>
            <a:ext cx="0" cy="329184"/>
          </a:xfrm>
          <a:prstGeom prst="line">
            <a:avLst/>
          </a:prstGeom>
          <a:noFill/>
          <a:ln w="9525">
            <a:solidFill>
              <a:srgbClr val="CDBFA9"/>
            </a:solidFill>
            <a:prstDash val="solid"/>
          </a:ln>
        </p:spPr>
      </p:sp>
      <p:sp>
        <p:nvSpPr>
          <p:cNvPr id="24" name="Text 22"/>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25" name="Text 23"/>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26" name="Shape 24"/>
          <p:cNvSpPr/>
          <p:nvPr/>
        </p:nvSpPr>
        <p:spPr>
          <a:xfrm>
            <a:off x="502920" y="4197096"/>
            <a:ext cx="4480560" cy="256032"/>
          </a:xfrm>
          <a:prstGeom prst="rect">
            <a:avLst/>
          </a:prstGeom>
          <a:solidFill>
            <a:srgbClr val="3A2B1A"/>
          </a:solidFill>
          <a:ln/>
        </p:spPr>
      </p:sp>
      <p:sp>
        <p:nvSpPr>
          <p:cNvPr id="27" name="Shape 25"/>
          <p:cNvSpPr/>
          <p:nvPr/>
        </p:nvSpPr>
        <p:spPr>
          <a:xfrm>
            <a:off x="1623060" y="4197096"/>
            <a:ext cx="186690" cy="256032"/>
          </a:xfrm>
          <a:prstGeom prst="rect">
            <a:avLst/>
          </a:prstGeom>
          <a:solidFill>
            <a:srgbClr val="8FB356"/>
          </a:solidFill>
          <a:ln/>
        </p:spPr>
      </p:sp>
      <p:sp>
        <p:nvSpPr>
          <p:cNvPr id="28" name="Shape 26"/>
          <p:cNvSpPr/>
          <p:nvPr/>
        </p:nvSpPr>
        <p:spPr>
          <a:xfrm>
            <a:off x="1809750" y="4197096"/>
            <a:ext cx="25165" cy="256032"/>
          </a:xfrm>
          <a:prstGeom prst="rect">
            <a:avLst/>
          </a:prstGeom>
          <a:solidFill>
            <a:srgbClr val="8FB356">
              <a:alpha val="85000"/>
            </a:srgbClr>
          </a:solidFill>
          <a:ln w="12700">
            <a:solidFill>
              <a:srgbClr val="8FB356">
                <a:alpha val="0"/>
              </a:srgbClr>
            </a:solidFill>
            <a:prstDash val="solid"/>
          </a:ln>
        </p:spPr>
      </p:sp>
      <p:sp>
        <p:nvSpPr>
          <p:cNvPr id="29" name="Shape 27"/>
          <p:cNvSpPr/>
          <p:nvPr/>
        </p:nvSpPr>
        <p:spPr>
          <a:xfrm>
            <a:off x="1833086" y="4197096"/>
            <a:ext cx="25165" cy="256032"/>
          </a:xfrm>
          <a:prstGeom prst="rect">
            <a:avLst/>
          </a:prstGeom>
          <a:solidFill>
            <a:srgbClr val="8FB356">
              <a:alpha val="74000"/>
            </a:srgbClr>
          </a:solidFill>
          <a:ln w="12700">
            <a:solidFill>
              <a:srgbClr val="8FB356">
                <a:alpha val="0"/>
              </a:srgbClr>
            </a:solidFill>
            <a:prstDash val="solid"/>
          </a:ln>
        </p:spPr>
      </p:sp>
      <p:sp>
        <p:nvSpPr>
          <p:cNvPr id="30" name="Shape 28"/>
          <p:cNvSpPr/>
          <p:nvPr/>
        </p:nvSpPr>
        <p:spPr>
          <a:xfrm>
            <a:off x="1856423" y="4197096"/>
            <a:ext cx="25165" cy="256032"/>
          </a:xfrm>
          <a:prstGeom prst="rect">
            <a:avLst/>
          </a:prstGeom>
          <a:solidFill>
            <a:srgbClr val="8FB356">
              <a:alpha val="64000"/>
            </a:srgbClr>
          </a:solidFill>
          <a:ln w="12700">
            <a:solidFill>
              <a:srgbClr val="8FB356">
                <a:alpha val="0"/>
              </a:srgbClr>
            </a:solidFill>
            <a:prstDash val="solid"/>
          </a:ln>
        </p:spPr>
      </p:sp>
      <p:sp>
        <p:nvSpPr>
          <p:cNvPr id="31" name="Shape 29"/>
          <p:cNvSpPr/>
          <p:nvPr/>
        </p:nvSpPr>
        <p:spPr>
          <a:xfrm>
            <a:off x="1879759" y="4197096"/>
            <a:ext cx="25165" cy="256032"/>
          </a:xfrm>
          <a:prstGeom prst="rect">
            <a:avLst/>
          </a:prstGeom>
          <a:solidFill>
            <a:srgbClr val="8FB356">
              <a:alpha val="53000"/>
            </a:srgbClr>
          </a:solidFill>
          <a:ln w="12700">
            <a:solidFill>
              <a:srgbClr val="8FB356">
                <a:alpha val="0"/>
              </a:srgbClr>
            </a:solidFill>
            <a:prstDash val="solid"/>
          </a:ln>
        </p:spPr>
      </p:sp>
      <p:sp>
        <p:nvSpPr>
          <p:cNvPr id="32" name="Shape 30"/>
          <p:cNvSpPr/>
          <p:nvPr/>
        </p:nvSpPr>
        <p:spPr>
          <a:xfrm>
            <a:off x="1903095" y="4197096"/>
            <a:ext cx="25165" cy="256032"/>
          </a:xfrm>
          <a:prstGeom prst="rect">
            <a:avLst/>
          </a:prstGeom>
          <a:solidFill>
            <a:srgbClr val="8FB356">
              <a:alpha val="42000"/>
            </a:srgbClr>
          </a:solidFill>
          <a:ln w="12700">
            <a:solidFill>
              <a:srgbClr val="8FB356">
                <a:alpha val="0"/>
              </a:srgbClr>
            </a:solidFill>
            <a:prstDash val="solid"/>
          </a:ln>
        </p:spPr>
      </p:sp>
      <p:sp>
        <p:nvSpPr>
          <p:cNvPr id="33" name="Shape 31"/>
          <p:cNvSpPr/>
          <p:nvPr/>
        </p:nvSpPr>
        <p:spPr>
          <a:xfrm>
            <a:off x="1926431" y="4197096"/>
            <a:ext cx="25165" cy="256032"/>
          </a:xfrm>
          <a:prstGeom prst="rect">
            <a:avLst/>
          </a:prstGeom>
          <a:solidFill>
            <a:srgbClr val="8FB356">
              <a:alpha val="31000"/>
            </a:srgbClr>
          </a:solidFill>
          <a:ln w="12700">
            <a:solidFill>
              <a:srgbClr val="8FB356">
                <a:alpha val="0"/>
              </a:srgbClr>
            </a:solidFill>
            <a:prstDash val="solid"/>
          </a:ln>
        </p:spPr>
      </p:sp>
      <p:sp>
        <p:nvSpPr>
          <p:cNvPr id="34" name="Shape 32"/>
          <p:cNvSpPr/>
          <p:nvPr/>
        </p:nvSpPr>
        <p:spPr>
          <a:xfrm>
            <a:off x="1949768" y="4197096"/>
            <a:ext cx="25165" cy="256032"/>
          </a:xfrm>
          <a:prstGeom prst="rect">
            <a:avLst/>
          </a:prstGeom>
          <a:solidFill>
            <a:srgbClr val="8FB356">
              <a:alpha val="21000"/>
            </a:srgbClr>
          </a:solidFill>
          <a:ln w="12700">
            <a:solidFill>
              <a:srgbClr val="8FB356">
                <a:alpha val="0"/>
              </a:srgbClr>
            </a:solidFill>
            <a:prstDash val="solid"/>
          </a:ln>
        </p:spPr>
      </p:sp>
      <p:sp>
        <p:nvSpPr>
          <p:cNvPr id="35" name="Shape 33"/>
          <p:cNvSpPr/>
          <p:nvPr/>
        </p:nvSpPr>
        <p:spPr>
          <a:xfrm>
            <a:off x="1973104" y="4197096"/>
            <a:ext cx="25165" cy="256032"/>
          </a:xfrm>
          <a:prstGeom prst="rect">
            <a:avLst/>
          </a:prstGeom>
          <a:solidFill>
            <a:srgbClr val="8FB356">
              <a:alpha val="10000"/>
            </a:srgbClr>
          </a:solidFill>
          <a:ln w="12700">
            <a:solidFill>
              <a:srgbClr val="8FB356">
                <a:alpha val="0"/>
              </a:srgbClr>
            </a:solidFill>
            <a:prstDash val="solid"/>
          </a:ln>
        </p:spPr>
      </p:sp>
      <p:sp>
        <p:nvSpPr>
          <p:cNvPr id="36" name="Shape 34"/>
          <p:cNvSpPr/>
          <p:nvPr/>
        </p:nvSpPr>
        <p:spPr>
          <a:xfrm>
            <a:off x="1436370" y="4197096"/>
            <a:ext cx="186690" cy="256032"/>
          </a:xfrm>
          <a:prstGeom prst="rect">
            <a:avLst/>
          </a:prstGeom>
          <a:solidFill>
            <a:srgbClr val="5EA9A2"/>
          </a:solidFill>
          <a:ln/>
        </p:spPr>
      </p:sp>
      <p:sp>
        <p:nvSpPr>
          <p:cNvPr id="37" name="Shape 35"/>
          <p:cNvSpPr/>
          <p:nvPr/>
        </p:nvSpPr>
        <p:spPr>
          <a:xfrm>
            <a:off x="1343025" y="4197096"/>
            <a:ext cx="95174" cy="256032"/>
          </a:xfrm>
          <a:prstGeom prst="rect">
            <a:avLst/>
          </a:prstGeom>
          <a:solidFill>
            <a:srgbClr val="5EA9A2">
              <a:alpha val="85000"/>
            </a:srgbClr>
          </a:solidFill>
          <a:ln w="12700">
            <a:solidFill>
              <a:srgbClr val="5EA9A2">
                <a:alpha val="0"/>
              </a:srgbClr>
            </a:solidFill>
            <a:prstDash val="solid"/>
          </a:ln>
        </p:spPr>
      </p:sp>
      <p:sp>
        <p:nvSpPr>
          <p:cNvPr id="38" name="Shape 36"/>
          <p:cNvSpPr/>
          <p:nvPr/>
        </p:nvSpPr>
        <p:spPr>
          <a:xfrm>
            <a:off x="1249680" y="4197096"/>
            <a:ext cx="95174" cy="256032"/>
          </a:xfrm>
          <a:prstGeom prst="rect">
            <a:avLst/>
          </a:prstGeom>
          <a:solidFill>
            <a:srgbClr val="5EA9A2">
              <a:alpha val="74000"/>
            </a:srgbClr>
          </a:solidFill>
          <a:ln w="12700">
            <a:solidFill>
              <a:srgbClr val="5EA9A2">
                <a:alpha val="0"/>
              </a:srgbClr>
            </a:solidFill>
            <a:prstDash val="solid"/>
          </a:ln>
        </p:spPr>
      </p:sp>
      <p:sp>
        <p:nvSpPr>
          <p:cNvPr id="39" name="Shape 37"/>
          <p:cNvSpPr/>
          <p:nvPr/>
        </p:nvSpPr>
        <p:spPr>
          <a:xfrm>
            <a:off x="1156335" y="4197096"/>
            <a:ext cx="95174" cy="256032"/>
          </a:xfrm>
          <a:prstGeom prst="rect">
            <a:avLst/>
          </a:prstGeom>
          <a:solidFill>
            <a:srgbClr val="5EA9A2">
              <a:alpha val="64000"/>
            </a:srgbClr>
          </a:solidFill>
          <a:ln w="12700">
            <a:solidFill>
              <a:srgbClr val="5EA9A2">
                <a:alpha val="0"/>
              </a:srgbClr>
            </a:solidFill>
            <a:prstDash val="solid"/>
          </a:ln>
        </p:spPr>
      </p:sp>
      <p:sp>
        <p:nvSpPr>
          <p:cNvPr id="40" name="Shape 38"/>
          <p:cNvSpPr/>
          <p:nvPr/>
        </p:nvSpPr>
        <p:spPr>
          <a:xfrm>
            <a:off x="1062990" y="4197096"/>
            <a:ext cx="95174" cy="256032"/>
          </a:xfrm>
          <a:prstGeom prst="rect">
            <a:avLst/>
          </a:prstGeom>
          <a:solidFill>
            <a:srgbClr val="5EA9A2">
              <a:alpha val="53000"/>
            </a:srgbClr>
          </a:solidFill>
          <a:ln w="12700">
            <a:solidFill>
              <a:srgbClr val="5EA9A2">
                <a:alpha val="0"/>
              </a:srgbClr>
            </a:solidFill>
            <a:prstDash val="solid"/>
          </a:ln>
        </p:spPr>
      </p:sp>
      <p:sp>
        <p:nvSpPr>
          <p:cNvPr id="41" name="Shape 39"/>
          <p:cNvSpPr/>
          <p:nvPr/>
        </p:nvSpPr>
        <p:spPr>
          <a:xfrm>
            <a:off x="969645" y="4197096"/>
            <a:ext cx="95174" cy="256032"/>
          </a:xfrm>
          <a:prstGeom prst="rect">
            <a:avLst/>
          </a:prstGeom>
          <a:solidFill>
            <a:srgbClr val="5EA9A2">
              <a:alpha val="42000"/>
            </a:srgbClr>
          </a:solidFill>
          <a:ln w="12700">
            <a:solidFill>
              <a:srgbClr val="5EA9A2">
                <a:alpha val="0"/>
              </a:srgbClr>
            </a:solidFill>
            <a:prstDash val="solid"/>
          </a:ln>
        </p:spPr>
      </p:sp>
      <p:sp>
        <p:nvSpPr>
          <p:cNvPr id="42" name="Shape 40"/>
          <p:cNvSpPr/>
          <p:nvPr/>
        </p:nvSpPr>
        <p:spPr>
          <a:xfrm>
            <a:off x="876300" y="4197096"/>
            <a:ext cx="95174" cy="256032"/>
          </a:xfrm>
          <a:prstGeom prst="rect">
            <a:avLst/>
          </a:prstGeom>
          <a:solidFill>
            <a:srgbClr val="5EA9A2">
              <a:alpha val="31000"/>
            </a:srgbClr>
          </a:solidFill>
          <a:ln w="12700">
            <a:solidFill>
              <a:srgbClr val="5EA9A2">
                <a:alpha val="0"/>
              </a:srgbClr>
            </a:solidFill>
            <a:prstDash val="solid"/>
          </a:ln>
        </p:spPr>
      </p:sp>
      <p:sp>
        <p:nvSpPr>
          <p:cNvPr id="43" name="Shape 41"/>
          <p:cNvSpPr/>
          <p:nvPr/>
        </p:nvSpPr>
        <p:spPr>
          <a:xfrm>
            <a:off x="782955" y="4197096"/>
            <a:ext cx="95174" cy="256032"/>
          </a:xfrm>
          <a:prstGeom prst="rect">
            <a:avLst/>
          </a:prstGeom>
          <a:solidFill>
            <a:srgbClr val="5EA9A2">
              <a:alpha val="21000"/>
            </a:srgbClr>
          </a:solidFill>
          <a:ln w="12700">
            <a:solidFill>
              <a:srgbClr val="5EA9A2">
                <a:alpha val="0"/>
              </a:srgbClr>
            </a:solidFill>
            <a:prstDash val="solid"/>
          </a:ln>
        </p:spPr>
      </p:sp>
      <p:sp>
        <p:nvSpPr>
          <p:cNvPr id="44" name="Shape 42"/>
          <p:cNvSpPr/>
          <p:nvPr/>
        </p:nvSpPr>
        <p:spPr>
          <a:xfrm>
            <a:off x="689610" y="4197096"/>
            <a:ext cx="95174" cy="256032"/>
          </a:xfrm>
          <a:prstGeom prst="rect">
            <a:avLst/>
          </a:prstGeom>
          <a:solidFill>
            <a:srgbClr val="5EA9A2">
              <a:alpha val="10000"/>
            </a:srgbClr>
          </a:solidFill>
          <a:ln w="12700">
            <a:solidFill>
              <a:srgbClr val="5EA9A2">
                <a:alpha val="0"/>
              </a:srgbClr>
            </a:solidFill>
            <a:prstDash val="solid"/>
          </a:ln>
        </p:spPr>
      </p:sp>
      <p:sp>
        <p:nvSpPr>
          <p:cNvPr id="45" name="Shape 43"/>
          <p:cNvSpPr/>
          <p:nvPr/>
        </p:nvSpPr>
        <p:spPr>
          <a:xfrm>
            <a:off x="1623060" y="4160520"/>
            <a:ext cx="0" cy="329184"/>
          </a:xfrm>
          <a:prstGeom prst="line">
            <a:avLst/>
          </a:prstGeom>
          <a:noFill/>
          <a:ln w="9525">
            <a:solidFill>
              <a:srgbClr val="CDBFA9"/>
            </a:solidFill>
            <a:prstDash val="solid"/>
          </a:ln>
        </p:spPr>
      </p:sp>
      <p:sp>
        <p:nvSpPr>
          <p:cNvPr id="46" name="Text 44"/>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47" name="Shape 45"/>
          <p:cNvSpPr/>
          <p:nvPr/>
        </p:nvSpPr>
        <p:spPr>
          <a:xfrm>
            <a:off x="502920" y="4800600"/>
            <a:ext cx="5852160" cy="1097280"/>
          </a:xfrm>
          <a:prstGeom prst="roundRect">
            <a:avLst>
              <a:gd name="adj" fmla="val 7500"/>
            </a:avLst>
          </a:prstGeom>
          <a:solidFill>
            <a:srgbClr val="2E2113"/>
          </a:solidFill>
          <a:ln/>
        </p:spPr>
      </p:sp>
      <p:sp>
        <p:nvSpPr>
          <p:cNvPr id="48" name="Text 46"/>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49" name="Text 47"/>
          <p:cNvSpPr/>
          <p:nvPr/>
        </p:nvSpPr>
        <p:spPr>
          <a:xfrm>
            <a:off x="6675120" y="2194560"/>
            <a:ext cx="4983480" cy="1280160"/>
          </a:xfrm>
          <a:prstGeom prst="rect">
            <a:avLst/>
          </a:prstGeom>
          <a:noFill/>
          <a:ln/>
        </p:spPr>
        <p:txBody>
          <a:bodyPr wrap="square" lIns="0" tIns="0" rIns="0" bIns="0" rtlCol="0" anchor="t"/>
          <a:lstStyle/>
          <a:p>
            <a:pPr indent="0" marL="0">
              <a:buNone/>
            </a:pPr>
            <a:r>
              <a:rPr lang="en-US" sz="1600" dirty="0">
                <a:solidFill>
                  <a:srgbClr val="F4ECDF"/>
                </a:solidFill>
                <a:latin typeface="Georgia" pitchFamily="34" charset="0"/>
                <a:ea typeface="Georgia" pitchFamily="34" charset="-122"/>
                <a:cs typeface="Georgia" pitchFamily="34" charset="-120"/>
              </a:rPr>
              <a:t>SUPERWOOD carbon estimates are based on the LCA developed by Professor Ming Hu, University of Notre Dame.</a:t>
            </a:r>
            <a:endParaRPr lang="en-US" sz="1600" dirty="0"/>
          </a:p>
        </p:txBody>
      </p:sp>
      <p:sp>
        <p:nvSpPr>
          <p:cNvPr id="50" name="Text 48"/>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2026-09-06T16:33:13Z</dcterms:created>
  <dcterms:modified xsi:type="dcterms:W3CDTF">2026-09-06T16:33:13Z</dcterms:modified>
</cp:coreProperties>
</file>