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Text 4"/>
          <p:cNvSpPr/>
          <p:nvPr/>
        </p:nvSpPr>
        <p:spPr>
          <a:xfrm>
            <a:off x="502920" y="182880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TWO COMPLAINTS ARE ABOUT THE BUILDING</a:t>
            </a:r>
            <a:endParaRPr lang="en-US" sz="900" dirty="0"/>
          </a:p>
        </p:txBody>
      </p:sp>
      <p:sp>
        <p:nvSpPr>
          <p:cNvPr id="7" name="Shape 5"/>
          <p:cNvSpPr/>
          <p:nvPr/>
        </p:nvSpPr>
        <p:spPr>
          <a:xfrm>
            <a:off x="502920" y="2331720"/>
            <a:ext cx="128016" cy="128016"/>
          </a:xfrm>
          <a:prstGeom prst="ellipse">
            <a:avLst/>
          </a:prstGeom>
          <a:solidFill>
            <a:srgbClr val="E2B877"/>
          </a:solidFill>
          <a:ln/>
        </p:spPr>
      </p:sp>
      <p:sp>
        <p:nvSpPr>
          <p:cNvPr id="8" name="Text 6"/>
          <p:cNvSpPr/>
          <p:nvPr/>
        </p:nvSpPr>
        <p:spPr>
          <a:xfrm>
            <a:off x="795528" y="224028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587752"/>
            <a:ext cx="6309360" cy="36576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setbacks and design standards.</a:t>
            </a:r>
            <a:endParaRPr lang="en-US" sz="1100" dirty="0"/>
          </a:p>
        </p:txBody>
      </p:sp>
      <p:sp>
        <p:nvSpPr>
          <p:cNvPr id="10" name="Shape 8"/>
          <p:cNvSpPr/>
          <p:nvPr/>
        </p:nvSpPr>
        <p:spPr>
          <a:xfrm>
            <a:off x="795528" y="2971800"/>
            <a:ext cx="6309360" cy="384048"/>
          </a:xfrm>
          <a:prstGeom prst="rect">
            <a:avLst/>
          </a:prstGeom>
          <a:solidFill>
            <a:srgbClr val="2E2113"/>
          </a:solidFill>
          <a:ln/>
        </p:spPr>
      </p:sp>
      <p:sp>
        <p:nvSpPr>
          <p:cNvPr id="11" name="Shape 9"/>
          <p:cNvSpPr/>
          <p:nvPr/>
        </p:nvSpPr>
        <p:spPr>
          <a:xfrm>
            <a:off x="795528" y="2971800"/>
            <a:ext cx="27432" cy="384048"/>
          </a:xfrm>
          <a:prstGeom prst="rect">
            <a:avLst/>
          </a:prstGeom>
          <a:solidFill>
            <a:srgbClr val="E2B877"/>
          </a:solidFill>
          <a:ln/>
        </p:spPr>
      </p:sp>
      <p:sp>
        <p:nvSpPr>
          <p:cNvPr id="12" name="Text 10"/>
          <p:cNvSpPr/>
          <p:nvPr/>
        </p:nvSpPr>
        <p:spPr>
          <a:xfrm>
            <a:off x="914400" y="2971800"/>
            <a:ext cx="6126480" cy="384048"/>
          </a:xfrm>
          <a:prstGeom prst="rect">
            <a:avLst/>
          </a:prstGeom>
          <a:noFill/>
          <a:ln/>
        </p:spPr>
        <p:txBody>
          <a:bodyPr wrap="square" lIns="0" tIns="0" rIns="0" bIns="0" rtlCol="0" anchor="ctr"/>
          <a:lstStyle/>
          <a:p>
            <a:pPr indent="0" marL="0">
              <a:buNone/>
            </a:pPr>
            <a:r>
              <a:rPr lang="en-US" sz="800" b="1" spc="150" kern="0" dirty="0">
                <a:solidFill>
                  <a:srgbClr val="E2B877"/>
                </a:solidFill>
                <a:latin typeface="Calibri" pitchFamily="34" charset="0"/>
                <a:ea typeface="Calibri" pitchFamily="34" charset="-122"/>
                <a:cs typeface="Calibri" pitchFamily="34" charset="-120"/>
              </a:rPr>
              <a:t>SUPERWOOD   </a:t>
            </a:r>
            <a:pPr indent="0" marL="0">
              <a:buNone/>
            </a:pPr>
            <a:r>
              <a:rPr lang="en-US" sz="1050" dirty="0">
                <a:solidFill>
                  <a:srgbClr val="F4ECDF"/>
                </a:solidFill>
                <a:latin typeface="Calibri" pitchFamily="34" charset="0"/>
                <a:ea typeface="Calibri" pitchFamily="34" charset="-122"/>
                <a:cs typeface="Calibri" pitchFamily="34" charset="-120"/>
              </a:rPr>
              <a:t>facades, fences and screens that read as architecture.</a:t>
            </a:r>
            <a:endParaRPr lang="en-US" sz="800" dirty="0"/>
          </a:p>
        </p:txBody>
      </p:sp>
      <p:sp>
        <p:nvSpPr>
          <p:cNvPr id="13" name="Shape 11"/>
          <p:cNvSpPr/>
          <p:nvPr/>
        </p:nvSpPr>
        <p:spPr>
          <a:xfrm>
            <a:off x="502920" y="3566160"/>
            <a:ext cx="128016" cy="128016"/>
          </a:xfrm>
          <a:prstGeom prst="ellipse">
            <a:avLst/>
          </a:prstGeom>
          <a:solidFill>
            <a:srgbClr val="E2B877"/>
          </a:solidFill>
          <a:ln/>
        </p:spPr>
      </p:sp>
      <p:sp>
        <p:nvSpPr>
          <p:cNvPr id="14" name="Text 12"/>
          <p:cNvSpPr/>
          <p:nvPr/>
        </p:nvSpPr>
        <p:spPr>
          <a:xfrm>
            <a:off x="795528" y="3474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5" name="Text 13"/>
          <p:cNvSpPr/>
          <p:nvPr/>
        </p:nvSpPr>
        <p:spPr>
          <a:xfrm>
            <a:off x="795528" y="3822192"/>
            <a:ext cx="6309360" cy="36576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Fans, chillers, generator tests. Property-line decibel limits are spreading.</a:t>
            </a:r>
            <a:endParaRPr lang="en-US" sz="1100" dirty="0"/>
          </a:p>
        </p:txBody>
      </p:sp>
      <p:sp>
        <p:nvSpPr>
          <p:cNvPr id="16" name="Shape 14"/>
          <p:cNvSpPr/>
          <p:nvPr/>
        </p:nvSpPr>
        <p:spPr>
          <a:xfrm>
            <a:off x="795528" y="4206240"/>
            <a:ext cx="6309360" cy="384048"/>
          </a:xfrm>
          <a:prstGeom prst="rect">
            <a:avLst/>
          </a:prstGeom>
          <a:solidFill>
            <a:srgbClr val="2E2113"/>
          </a:solidFill>
          <a:ln/>
        </p:spPr>
      </p:sp>
      <p:sp>
        <p:nvSpPr>
          <p:cNvPr id="17" name="Shape 15"/>
          <p:cNvSpPr/>
          <p:nvPr/>
        </p:nvSpPr>
        <p:spPr>
          <a:xfrm>
            <a:off x="795528" y="4206240"/>
            <a:ext cx="27432" cy="384048"/>
          </a:xfrm>
          <a:prstGeom prst="rect">
            <a:avLst/>
          </a:prstGeom>
          <a:solidFill>
            <a:srgbClr val="E2B877"/>
          </a:solidFill>
          <a:ln/>
        </p:spPr>
      </p:sp>
      <p:sp>
        <p:nvSpPr>
          <p:cNvPr id="18" name="Text 16"/>
          <p:cNvSpPr/>
          <p:nvPr/>
        </p:nvSpPr>
        <p:spPr>
          <a:xfrm>
            <a:off x="914400" y="4206240"/>
            <a:ext cx="6126480" cy="384048"/>
          </a:xfrm>
          <a:prstGeom prst="rect">
            <a:avLst/>
          </a:prstGeom>
          <a:noFill/>
          <a:ln/>
        </p:spPr>
        <p:txBody>
          <a:bodyPr wrap="square" lIns="0" tIns="0" rIns="0" bIns="0" rtlCol="0" anchor="ctr"/>
          <a:lstStyle/>
          <a:p>
            <a:pPr indent="0" marL="0">
              <a:buNone/>
            </a:pPr>
            <a:r>
              <a:rPr lang="en-US" sz="800" b="1" spc="150" kern="0" dirty="0">
                <a:solidFill>
                  <a:srgbClr val="E2B877"/>
                </a:solidFill>
                <a:latin typeface="Calibri" pitchFamily="34" charset="0"/>
                <a:ea typeface="Calibri" pitchFamily="34" charset="-122"/>
                <a:cs typeface="Calibri" pitchFamily="34" charset="-120"/>
              </a:rPr>
              <a:t>SUPERWOOD   </a:t>
            </a:r>
            <a:pPr indent="0" marL="0">
              <a:buNone/>
            </a:pPr>
            <a:r>
              <a:rPr lang="en-US" sz="105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800" dirty="0"/>
          </a:p>
        </p:txBody>
      </p:sp>
      <p:sp>
        <p:nvSpPr>
          <p:cNvPr id="19" name="Text 17"/>
          <p:cNvSpPr/>
          <p:nvPr/>
        </p:nvSpPr>
        <p:spPr>
          <a:xfrm>
            <a:off x="7315200" y="182880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20" name="Shape 18"/>
          <p:cNvSpPr/>
          <p:nvPr/>
        </p:nvSpPr>
        <p:spPr>
          <a:xfrm>
            <a:off x="7315200" y="2240280"/>
            <a:ext cx="4343400" cy="1234440"/>
          </a:xfrm>
          <a:prstGeom prst="roundRect">
            <a:avLst>
              <a:gd name="adj" fmla="val 6667"/>
            </a:avLst>
          </a:prstGeom>
          <a:solidFill>
            <a:srgbClr val="2E2113"/>
          </a:solidFill>
          <a:ln/>
        </p:spPr>
      </p:sp>
      <p:sp>
        <p:nvSpPr>
          <p:cNvPr id="21" name="Text 19"/>
          <p:cNvSpPr/>
          <p:nvPr/>
        </p:nvSpPr>
        <p:spPr>
          <a:xfrm>
            <a:off x="7543800" y="2377440"/>
            <a:ext cx="3886200" cy="5029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22" name="Text 20"/>
          <p:cNvSpPr/>
          <p:nvPr/>
        </p:nvSpPr>
        <p:spPr>
          <a:xfrm>
            <a:off x="7543800" y="2926080"/>
            <a:ext cx="3886200" cy="5029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Q1 2026, as much as all of 2025. 833 opposition groups in 49 states.</a:t>
            </a:r>
            <a:endParaRPr lang="en-US" sz="1050" dirty="0"/>
          </a:p>
        </p:txBody>
      </p:sp>
      <p:sp>
        <p:nvSpPr>
          <p:cNvPr id="23" name="Shape 21"/>
          <p:cNvSpPr/>
          <p:nvPr/>
        </p:nvSpPr>
        <p:spPr>
          <a:xfrm>
            <a:off x="7315200" y="3611880"/>
            <a:ext cx="4343400" cy="1234440"/>
          </a:xfrm>
          <a:prstGeom prst="roundRect">
            <a:avLst>
              <a:gd name="adj" fmla="val 6667"/>
            </a:avLst>
          </a:prstGeom>
          <a:solidFill>
            <a:srgbClr val="2E2113"/>
          </a:solidFill>
          <a:ln/>
        </p:spPr>
      </p:sp>
      <p:sp>
        <p:nvSpPr>
          <p:cNvPr id="24" name="Text 22"/>
          <p:cNvSpPr/>
          <p:nvPr/>
        </p:nvSpPr>
        <p:spPr>
          <a:xfrm>
            <a:off x="7543800" y="3749040"/>
            <a:ext cx="3886200" cy="5029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5" name="Text 23"/>
          <p:cNvSpPr/>
          <p:nvPr/>
        </p:nvSpPr>
        <p:spPr>
          <a:xfrm>
            <a:off x="7543800" y="4297680"/>
            <a:ext cx="3886200" cy="5029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a:t>
            </a:r>
            <a:endParaRPr lang="en-US" sz="1050" dirty="0"/>
          </a:p>
        </p:txBody>
      </p:sp>
      <p:sp>
        <p:nvSpPr>
          <p:cNvPr id="26" name="Text 24"/>
          <p:cNvSpPr/>
          <p:nvPr/>
        </p:nvSpPr>
        <p:spPr>
          <a:xfrm>
            <a:off x="502920" y="5166360"/>
            <a:ext cx="11155680" cy="457200"/>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We help with these two. </a:t>
            </a:r>
            <a:pPr indent="0" marL="0">
              <a:buNone/>
            </a:pPr>
            <a:r>
              <a:rPr lang="en-US" sz="1700" i="1" dirty="0">
                <a:solidFill>
                  <a:srgbClr val="E2B877"/>
                </a:solidFill>
                <a:latin typeface="Georgia" pitchFamily="34" charset="0"/>
                <a:ea typeface="Georgia" pitchFamily="34" charset="-122"/>
                <a:cs typeface="Georgia" pitchFamily="34" charset="-120"/>
              </a:rPr>
              <a:t>We can go much further</a:t>
            </a:r>
            <a:pPr indent="0" marL="0">
              <a:buNone/>
            </a:pPr>
            <a:r>
              <a:rPr lang="en-US" sz="17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700" dirty="0"/>
          </a:p>
        </p:txBody>
      </p:sp>
      <p:sp>
        <p:nvSpPr>
          <p:cNvPr id="27" name="Text 25"/>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sp>
        <p:nvSpPr>
          <p:cNvPr id="10"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2026-09-06T00:57:57Z</dcterms:created>
  <dcterms:modified xsi:type="dcterms:W3CDTF">2026-09-06T00:57:57Z</dcterms:modified>
</cp:coreProperties>
</file>