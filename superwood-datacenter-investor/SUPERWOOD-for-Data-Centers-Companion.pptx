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 two Northern Virginia datacenters with CLT floor panels on a steel frame, about 35% less embodied carbon than conventional steel construction and 65% less than precast; Gensler; Thornton Tomasetti project page. Meta: Meta Sustainability, 31 Jul 2025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image" Target="../media/image-6-5.jpg"/><Relationship Id="rId6" Type="http://schemas.openxmlformats.org/officeDocument/2006/relationships/image" Target="../media/image-6-6.jpg"/><Relationship Id="rId7" Type="http://schemas.openxmlformats.org/officeDocument/2006/relationships/image" Target="../media/image-6-7.jp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INDUSTRY GROWTH</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Text 14"/>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COMMUNITIES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entrance_office.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SUPPLY CHAINS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Data centers are waiting on steel, power equipment and crews.</a:t>
            </a:r>
            <a:endParaRPr lang="en-US" sz="2500" dirty="0"/>
          </a:p>
        </p:txBody>
      </p:sp>
      <p:sp>
        <p:nvSpPr>
          <p:cNvPr id="6" name="Shape 4"/>
          <p:cNvSpPr/>
          <p:nvPr/>
        </p:nvSpPr>
        <p:spPr>
          <a:xfrm>
            <a:off x="502920" y="1828800"/>
            <a:ext cx="3611880" cy="1417320"/>
          </a:xfrm>
          <a:prstGeom prst="roundRect">
            <a:avLst>
              <a:gd name="adj" fmla="val 5806"/>
            </a:avLst>
          </a:prstGeom>
          <a:solidFill>
            <a:srgbClr val="2E2113"/>
          </a:solidFill>
          <a:ln/>
        </p:spPr>
      </p:sp>
      <p:sp>
        <p:nvSpPr>
          <p:cNvPr id="7" name="Text 5"/>
          <p:cNvSpPr/>
          <p:nvPr/>
        </p:nvSpPr>
        <p:spPr>
          <a:xfrm>
            <a:off x="731520" y="196596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Structural steel</a:t>
            </a:r>
            <a:endParaRPr lang="en-US" sz="1300" dirty="0"/>
          </a:p>
        </p:txBody>
      </p:sp>
      <p:sp>
        <p:nvSpPr>
          <p:cNvPr id="8" name="Text 6"/>
          <p:cNvSpPr/>
          <p:nvPr/>
        </p:nvSpPr>
        <p:spPr>
          <a:xfrm>
            <a:off x="731520" y="2286000"/>
            <a:ext cx="3154680" cy="8686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 Section 232 tariffs on steel doubled to 50% in 2025 and since April 2026 apply to a product's full value.</a:t>
            </a:r>
            <a:endParaRPr lang="en-US" sz="1000" dirty="0"/>
          </a:p>
        </p:txBody>
      </p:sp>
      <p:sp>
        <p:nvSpPr>
          <p:cNvPr id="9" name="Shape 7"/>
          <p:cNvSpPr/>
          <p:nvPr/>
        </p:nvSpPr>
        <p:spPr>
          <a:xfrm>
            <a:off x="4274820" y="1828800"/>
            <a:ext cx="3611880" cy="1417320"/>
          </a:xfrm>
          <a:prstGeom prst="roundRect">
            <a:avLst>
              <a:gd name="adj" fmla="val 5806"/>
            </a:avLst>
          </a:prstGeom>
          <a:solidFill>
            <a:srgbClr val="2E2113"/>
          </a:solidFill>
          <a:ln/>
        </p:spPr>
      </p:sp>
      <p:sp>
        <p:nvSpPr>
          <p:cNvPr id="10" name="Text 8"/>
          <p:cNvSpPr/>
          <p:nvPr/>
        </p:nvSpPr>
        <p:spPr>
          <a:xfrm>
            <a:off x="4503420" y="196596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Power equipment</a:t>
            </a:r>
            <a:endParaRPr lang="en-US" sz="1300" dirty="0"/>
          </a:p>
        </p:txBody>
      </p:sp>
      <p:sp>
        <p:nvSpPr>
          <p:cNvPr id="11" name="Text 9"/>
          <p:cNvSpPr/>
          <p:nvPr/>
        </p:nvSpPr>
        <p:spPr>
          <a:xfrm>
            <a:off x="4503420" y="2286000"/>
            <a:ext cx="3154680" cy="8686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Power transformers average 128 weeks to deliver and substation transformers more than 160; switchgear about 44 weeks, with medium-voltage gear over a year.</a:t>
            </a:r>
            <a:endParaRPr lang="en-US" sz="1000" dirty="0"/>
          </a:p>
        </p:txBody>
      </p:sp>
      <p:sp>
        <p:nvSpPr>
          <p:cNvPr id="12" name="Shape 10"/>
          <p:cNvSpPr/>
          <p:nvPr/>
        </p:nvSpPr>
        <p:spPr>
          <a:xfrm>
            <a:off x="8046720" y="1828800"/>
            <a:ext cx="3611880" cy="1417320"/>
          </a:xfrm>
          <a:prstGeom prst="roundRect">
            <a:avLst>
              <a:gd name="adj" fmla="val 5806"/>
            </a:avLst>
          </a:prstGeom>
          <a:solidFill>
            <a:srgbClr val="2E2113"/>
          </a:solidFill>
          <a:ln/>
        </p:spPr>
      </p:sp>
      <p:sp>
        <p:nvSpPr>
          <p:cNvPr id="13" name="Text 11"/>
          <p:cNvSpPr/>
          <p:nvPr/>
        </p:nvSpPr>
        <p:spPr>
          <a:xfrm>
            <a:off x="8275320" y="196596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Crews</a:t>
            </a:r>
            <a:endParaRPr lang="en-US" sz="1300" dirty="0"/>
          </a:p>
        </p:txBody>
      </p:sp>
      <p:sp>
        <p:nvSpPr>
          <p:cNvPr id="14" name="Text 12"/>
          <p:cNvSpPr/>
          <p:nvPr/>
        </p:nvSpPr>
        <p:spPr>
          <a:xfrm>
            <a:off x="8275320" y="2286000"/>
            <a:ext cx="3154680" cy="8686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Construction needs up to 349,000 additional workers in 2026; backlogs on some data center build-outs have reached eight and a half months.</a:t>
            </a:r>
            <a:endParaRPr lang="en-US" sz="1000" dirty="0"/>
          </a:p>
        </p:txBody>
      </p:sp>
      <p:sp>
        <p:nvSpPr>
          <p:cNvPr id="15" name="Shape 13"/>
          <p:cNvSpPr/>
          <p:nvPr/>
        </p:nvSpPr>
        <p:spPr>
          <a:xfrm>
            <a:off x="502920" y="3474720"/>
            <a:ext cx="3611880" cy="1188720"/>
          </a:xfrm>
          <a:prstGeom prst="roundRect">
            <a:avLst>
              <a:gd name="adj" fmla="val 6923"/>
            </a:avLst>
          </a:prstGeom>
          <a:solidFill>
            <a:srgbClr val="261A0F"/>
          </a:solidFill>
          <a:ln/>
        </p:spPr>
      </p:sp>
      <p:sp>
        <p:nvSpPr>
          <p:cNvPr id="16" name="Text 14"/>
          <p:cNvSpPr/>
          <p:nvPr/>
        </p:nvSpPr>
        <p:spPr>
          <a:xfrm>
            <a:off x="731520" y="361188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Steel-intensive</a:t>
            </a:r>
            <a:endParaRPr lang="en-US" sz="1300" dirty="0"/>
          </a:p>
        </p:txBody>
      </p:sp>
      <p:sp>
        <p:nvSpPr>
          <p:cNvPr id="17" name="Text 15"/>
          <p:cNvSpPr/>
          <p:nvPr/>
        </p:nvSpPr>
        <p:spPr>
          <a:xfrm>
            <a:off x="731520" y="3931920"/>
            <a:ext cx="3154680" cy="6400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1000" dirty="0"/>
          </a:p>
        </p:txBody>
      </p:sp>
      <p:sp>
        <p:nvSpPr>
          <p:cNvPr id="18" name="Shape 16"/>
          <p:cNvSpPr/>
          <p:nvPr/>
        </p:nvSpPr>
        <p:spPr>
          <a:xfrm>
            <a:off x="4274820" y="3474720"/>
            <a:ext cx="3611880" cy="1188720"/>
          </a:xfrm>
          <a:prstGeom prst="roundRect">
            <a:avLst>
              <a:gd name="adj" fmla="val 6923"/>
            </a:avLst>
          </a:prstGeom>
          <a:solidFill>
            <a:srgbClr val="261A0F"/>
          </a:solidFill>
          <a:ln/>
        </p:spPr>
      </p:sp>
      <p:sp>
        <p:nvSpPr>
          <p:cNvPr id="19" name="Text 17"/>
          <p:cNvSpPr/>
          <p:nvPr/>
        </p:nvSpPr>
        <p:spPr>
          <a:xfrm>
            <a:off x="4503420" y="361188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Highly repeatable</a:t>
            </a:r>
            <a:endParaRPr lang="en-US" sz="1300" dirty="0"/>
          </a:p>
        </p:txBody>
      </p:sp>
      <p:sp>
        <p:nvSpPr>
          <p:cNvPr id="20" name="Text 18"/>
          <p:cNvSpPr/>
          <p:nvPr/>
        </p:nvSpPr>
        <p:spPr>
          <a:xfrm>
            <a:off x="4503420" y="3931920"/>
            <a:ext cx="3154680" cy="6400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1000" dirty="0"/>
          </a:p>
        </p:txBody>
      </p:sp>
      <p:sp>
        <p:nvSpPr>
          <p:cNvPr id="21" name="Shape 19"/>
          <p:cNvSpPr/>
          <p:nvPr/>
        </p:nvSpPr>
        <p:spPr>
          <a:xfrm>
            <a:off x="8046720" y="3474720"/>
            <a:ext cx="3611880" cy="1188720"/>
          </a:xfrm>
          <a:prstGeom prst="roundRect">
            <a:avLst>
              <a:gd name="adj" fmla="val 6923"/>
            </a:avLst>
          </a:prstGeom>
          <a:solidFill>
            <a:srgbClr val="261A0F"/>
          </a:solidFill>
          <a:ln/>
        </p:spPr>
      </p:sp>
      <p:sp>
        <p:nvSpPr>
          <p:cNvPr id="22" name="Text 20"/>
          <p:cNvSpPr/>
          <p:nvPr/>
        </p:nvSpPr>
        <p:spPr>
          <a:xfrm>
            <a:off x="8275320" y="3611880"/>
            <a:ext cx="3154680" cy="274320"/>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Where SUPERWOOD fits</a:t>
            </a:r>
            <a:endParaRPr lang="en-US" sz="1300" dirty="0"/>
          </a:p>
        </p:txBody>
      </p:sp>
      <p:sp>
        <p:nvSpPr>
          <p:cNvPr id="23" name="Text 21"/>
          <p:cNvSpPr/>
          <p:nvPr/>
        </p:nvSpPr>
        <p:spPr>
          <a:xfrm>
            <a:off x="8275320" y="3931920"/>
            <a:ext cx="3154680" cy="64008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 second source for structural members, skins and screens: made from wood in Frederick, Maryland, prefabricated, one-sixth the weight of steel, so smaller cranes and crews.</a:t>
            </a:r>
            <a:endParaRPr lang="en-US" sz="1000" dirty="0"/>
          </a:p>
        </p:txBody>
      </p:sp>
      <p:sp>
        <p:nvSpPr>
          <p:cNvPr id="24" name="Text 22"/>
          <p:cNvSpPr/>
          <p:nvPr/>
        </p:nvSpPr>
        <p:spPr>
          <a:xfrm>
            <a:off x="502920" y="4983480"/>
            <a:ext cx="11155680" cy="54864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Every week of lead time is a week of unearned power. </a:t>
            </a:r>
            <a:pPr indent="0" marL="0">
              <a:buNone/>
            </a:pPr>
            <a:r>
              <a:rPr lang="en-US" sz="1600" i="1" dirty="0">
                <a:solidFill>
                  <a:srgbClr val="E2B877"/>
                </a:solidFill>
                <a:latin typeface="Georgia" pitchFamily="34" charset="0"/>
                <a:ea typeface="Georgia" pitchFamily="34" charset="-122"/>
                <a:cs typeface="Georgia" pitchFamily="34" charset="-120"/>
              </a:rPr>
              <a:t>A material that is not steel, not imported and not heavy is a schedule argument.</a:t>
            </a:r>
            <a:endParaRPr lang="en-US" sz="1600" dirty="0"/>
          </a:p>
        </p:txBody>
      </p:sp>
      <p:sp>
        <p:nvSpPr>
          <p:cNvPr id="25"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Structural steel shortage: what customers report to InventWood. Tariffs: Congressional Research Service IN12519; Construction Dive on the full-value rule, 2026. Lead times: Wood Mackenzie 2026 survey as reported by POWER and Data Center Knowledge. Labor: Associated Builders and Contractors, 2026 outlook, as reported by Data Center Dynamics. Weight and prefabrication: company data.</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2026-09-06T08:04:35Z</dcterms:created>
  <dcterms:modified xsi:type="dcterms:W3CDTF">2026-09-06T08:04:35Z</dcterms:modified>
</cp:coreProperties>
</file>