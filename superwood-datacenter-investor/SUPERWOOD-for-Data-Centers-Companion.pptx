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and details. Microsoft: Microsoft Source, Nov 2024, https://news.microsoft.com/source/features/sustainability/microsoft-builds-first-datacenters-with-wood-to-slash-carbon-emissions/ — two Northern Virginia datacenters with CLT floor panels on a steel frame, about 35% less embodied carbon than conventional steel construction and 65% less than precast; Gensler; Thornton Tomasetti project page https://www.thorntontomasetti.com/project/microsoft-mass-timber-data-centers. Meta: Meta Sustainability, 31 Jul 2025, https://sustainability.atmeta.com/blog/2025/07/31/meta-pilots-mass-timber-for-more-sustainable-data-center-construction/ — mass-timber pilot for administrative buildings; Aiken SC completed 2025 (DPR, SmartLam); Cheyenne WY and Montgomery AL under way; about 41% less embodied carbon in the materials substituted.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image" Target="../media/image-6-5.jpg"/><Relationship Id="rId6" Type="http://schemas.openxmlformats.org/officeDocument/2006/relationships/image" Target="../media/image-6-6.jpg"/><Relationship Id="rId7" Type="http://schemas.openxmlformats.org/officeDocument/2006/relationships/image" Target="../media/image-6-7.jp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1</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Market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MARKET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Data center construction is growing dramatically</a:t>
            </a:r>
            <a:endParaRPr lang="en-US" sz="2700" dirty="0"/>
          </a:p>
        </p:txBody>
      </p:sp>
      <p:sp>
        <p:nvSpPr>
          <p:cNvPr id="6" name="Text 4"/>
          <p:cNvSpPr/>
          <p:nvPr/>
        </p:nvSpPr>
        <p:spPr>
          <a:xfrm>
            <a:off x="502920" y="1298448"/>
            <a:ext cx="11155680" cy="365760"/>
          </a:xfrm>
          <a:prstGeom prst="rect">
            <a:avLst/>
          </a:prstGeom>
          <a:noFill/>
          <a:ln/>
        </p:spPr>
        <p:txBody>
          <a:bodyPr wrap="square" lIns="0" tIns="0" rIns="0" bIns="0" rtlCol="0" anchor="ctr"/>
          <a:lstStyle/>
          <a:p>
            <a:pPr indent="0" marL="0">
              <a:buNone/>
            </a:pPr>
            <a:r>
              <a:rPr lang="en-US" sz="16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1600" i="1" dirty="0">
                <a:solidFill>
                  <a:srgbClr val="E2B877"/>
                </a:solidFill>
                <a:latin typeface="Georgia" pitchFamily="34" charset="0"/>
                <a:ea typeface="Georgia" pitchFamily="34" charset="-122"/>
                <a:cs typeface="Georgia" pitchFamily="34" charset="-120"/>
              </a:rPr>
              <a:t>$75 billion a year</a:t>
            </a:r>
            <a:pPr indent="0" marL="0">
              <a:buNone/>
            </a:pPr>
            <a:r>
              <a:rPr lang="en-US" sz="1600" dirty="0">
                <a:solidFill>
                  <a:srgbClr val="F4ECDF"/>
                </a:solidFill>
                <a:latin typeface="Georgia" pitchFamily="34" charset="0"/>
                <a:ea typeface="Georgia" pitchFamily="34" charset="-122"/>
                <a:cs typeface="Georgia" pitchFamily="34" charset="-120"/>
              </a:rPr>
              <a:t>, up 57% in twelve months.</a:t>
            </a:r>
            <a:endParaRPr lang="en-US" sz="1600" dirty="0"/>
          </a:p>
        </p:txBody>
      </p:sp>
      <p:pic>
        <p:nvPicPr>
          <p:cNvPr id="7"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8" name="Text 5"/>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9" name="Shape 6"/>
          <p:cNvSpPr/>
          <p:nvPr/>
        </p:nvSpPr>
        <p:spPr>
          <a:xfrm>
            <a:off x="6675120" y="2231136"/>
            <a:ext cx="128016" cy="128016"/>
          </a:xfrm>
          <a:prstGeom prst="ellipse">
            <a:avLst/>
          </a:prstGeom>
          <a:solidFill>
            <a:srgbClr val="E2B877"/>
          </a:solidFill>
          <a:ln/>
        </p:spPr>
      </p:sp>
      <p:sp>
        <p:nvSpPr>
          <p:cNvPr id="10" name="Text 7"/>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1" name="Text 8"/>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2" name="Shape 9"/>
          <p:cNvSpPr/>
          <p:nvPr/>
        </p:nvSpPr>
        <p:spPr>
          <a:xfrm>
            <a:off x="6675120" y="3191256"/>
            <a:ext cx="128016" cy="128016"/>
          </a:xfrm>
          <a:prstGeom prst="ellipse">
            <a:avLst/>
          </a:prstGeom>
          <a:solidFill>
            <a:srgbClr val="E2B877"/>
          </a:solidFill>
          <a:ln/>
        </p:spPr>
      </p:sp>
      <p:sp>
        <p:nvSpPr>
          <p:cNvPr id="13" name="Text 10"/>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4" name="Text 11"/>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5" name="Shape 12"/>
          <p:cNvSpPr/>
          <p:nvPr/>
        </p:nvSpPr>
        <p:spPr>
          <a:xfrm>
            <a:off x="6675120" y="4151376"/>
            <a:ext cx="128016" cy="128016"/>
          </a:xfrm>
          <a:prstGeom prst="ellipse">
            <a:avLst/>
          </a:prstGeom>
          <a:solidFill>
            <a:srgbClr val="E2B877"/>
          </a:solidFill>
          <a:ln/>
        </p:spPr>
      </p:sp>
      <p:sp>
        <p:nvSpPr>
          <p:cNvPr id="16" name="Text 13"/>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7" name="Text 14"/>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8" name="Text 15"/>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2</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Market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MARKET · SUPPLY CHAINS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Resulting in supply chain challenges</a:t>
            </a:r>
            <a:endParaRPr lang="en-US" sz="2700" dirty="0"/>
          </a:p>
        </p:txBody>
      </p:sp>
      <p:sp>
        <p:nvSpPr>
          <p:cNvPr id="6" name="Shape 4"/>
          <p:cNvSpPr/>
          <p:nvPr/>
        </p:nvSpPr>
        <p:spPr>
          <a:xfrm>
            <a:off x="502920" y="1920240"/>
            <a:ext cx="3611880" cy="1737360"/>
          </a:xfrm>
          <a:prstGeom prst="roundRect">
            <a:avLst>
              <a:gd name="adj" fmla="val 4737"/>
            </a:avLst>
          </a:prstGeom>
          <a:solidFill>
            <a:srgbClr val="2E2113"/>
          </a:solidFill>
          <a:ln/>
        </p:spPr>
      </p:sp>
      <p:sp>
        <p:nvSpPr>
          <p:cNvPr id="7" name="Text 5"/>
          <p:cNvSpPr/>
          <p:nvPr/>
        </p:nvSpPr>
        <p:spPr>
          <a:xfrm>
            <a:off x="731520" y="2103120"/>
            <a:ext cx="3154680" cy="320040"/>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Power</a:t>
            </a:r>
            <a:endParaRPr lang="en-US" sz="1700" dirty="0"/>
          </a:p>
        </p:txBody>
      </p:sp>
      <p:sp>
        <p:nvSpPr>
          <p:cNvPr id="8" name="Text 6"/>
          <p:cNvSpPr/>
          <p:nvPr/>
        </p:nvSpPr>
        <p:spPr>
          <a:xfrm>
            <a:off x="731520" y="2514600"/>
            <a:ext cx="3154680" cy="10515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Power transformers average 128 weeks to deliver, substation transformers more than 160. Grid connection sets the schedule.</a:t>
            </a:r>
            <a:endParaRPr lang="en-US" sz="1100" dirty="0"/>
          </a:p>
        </p:txBody>
      </p:sp>
      <p:sp>
        <p:nvSpPr>
          <p:cNvPr id="9" name="Shape 7"/>
          <p:cNvSpPr/>
          <p:nvPr/>
        </p:nvSpPr>
        <p:spPr>
          <a:xfrm>
            <a:off x="4274820" y="1920240"/>
            <a:ext cx="3611880" cy="1737360"/>
          </a:xfrm>
          <a:prstGeom prst="roundRect">
            <a:avLst>
              <a:gd name="adj" fmla="val 4737"/>
            </a:avLst>
          </a:prstGeom>
          <a:solidFill>
            <a:srgbClr val="2E2113"/>
          </a:solidFill>
          <a:ln/>
        </p:spPr>
      </p:sp>
      <p:sp>
        <p:nvSpPr>
          <p:cNvPr id="10" name="Text 8"/>
          <p:cNvSpPr/>
          <p:nvPr/>
        </p:nvSpPr>
        <p:spPr>
          <a:xfrm>
            <a:off x="4503420" y="2103120"/>
            <a:ext cx="3154680" cy="320040"/>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Aluminum</a:t>
            </a:r>
            <a:endParaRPr lang="en-US" sz="1700" dirty="0"/>
          </a:p>
        </p:txBody>
      </p:sp>
      <p:sp>
        <p:nvSpPr>
          <p:cNvPr id="11" name="Text 9"/>
          <p:cNvSpPr/>
          <p:nvPr/>
        </p:nvSpPr>
        <p:spPr>
          <a:xfrm>
            <a:off x="4503420" y="2514600"/>
            <a:ext cx="3154680" cy="10515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On the federal Critical Minerals List since 2022, confirmed in the 2025 list. The metal of skins, louvers and busway.</a:t>
            </a:r>
            <a:endParaRPr lang="en-US" sz="1100" dirty="0"/>
          </a:p>
        </p:txBody>
      </p:sp>
      <p:sp>
        <p:nvSpPr>
          <p:cNvPr id="12" name="Shape 10"/>
          <p:cNvSpPr/>
          <p:nvPr/>
        </p:nvSpPr>
        <p:spPr>
          <a:xfrm>
            <a:off x="8046720" y="1920240"/>
            <a:ext cx="3611880" cy="1737360"/>
          </a:xfrm>
          <a:prstGeom prst="roundRect">
            <a:avLst>
              <a:gd name="adj" fmla="val 4737"/>
            </a:avLst>
          </a:prstGeom>
          <a:solidFill>
            <a:srgbClr val="2E2113"/>
          </a:solidFill>
          <a:ln/>
        </p:spPr>
      </p:sp>
      <p:sp>
        <p:nvSpPr>
          <p:cNvPr id="13" name="Text 11"/>
          <p:cNvSpPr/>
          <p:nvPr/>
        </p:nvSpPr>
        <p:spPr>
          <a:xfrm>
            <a:off x="8275320" y="2103120"/>
            <a:ext cx="3154680" cy="320040"/>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Structural steel</a:t>
            </a:r>
            <a:endParaRPr lang="en-US" sz="1700" dirty="0"/>
          </a:p>
        </p:txBody>
      </p:sp>
      <p:sp>
        <p:nvSpPr>
          <p:cNvPr id="14" name="Text 12"/>
          <p:cNvSpPr/>
          <p:nvPr/>
        </p:nvSpPr>
        <p:spPr>
          <a:xfrm>
            <a:off x="8275320" y="2514600"/>
            <a:ext cx="3154680" cy="10515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Customers report backlogs and shortages. Section 232 tariffs at 50% since 2025, on full product value since April 2026.</a:t>
            </a:r>
            <a:endParaRPr lang="en-US" sz="1100" dirty="0"/>
          </a:p>
        </p:txBody>
      </p:sp>
      <p:sp>
        <p:nvSpPr>
          <p:cNvPr id="15" name="Text 13"/>
          <p:cNvSpPr/>
          <p:nvPr/>
        </p:nvSpPr>
        <p:spPr>
          <a:xfrm>
            <a:off x="502920" y="4114800"/>
            <a:ext cx="11155680" cy="548640"/>
          </a:xfrm>
          <a:prstGeom prst="rect">
            <a:avLst/>
          </a:prstGeom>
          <a:noFill/>
          <a:ln/>
        </p:spPr>
        <p:txBody>
          <a:bodyPr wrap="square" lIns="0" tIns="0" rIns="0" bIns="0" rtlCol="0" anchor="ctr"/>
          <a:lstStyle/>
          <a:p>
            <a:pPr indent="0" marL="0">
              <a:buNone/>
            </a:pPr>
            <a:r>
              <a:rPr lang="en-US" sz="2100" dirty="0">
                <a:solidFill>
                  <a:srgbClr val="F4ECDF"/>
                </a:solidFill>
                <a:latin typeface="Georgia" pitchFamily="34" charset="0"/>
                <a:ea typeface="Georgia" pitchFamily="34" charset="-122"/>
                <a:cs typeface="Georgia" pitchFamily="34" charset="-120"/>
              </a:rPr>
              <a:t>Every week of lead time is a week of </a:t>
            </a:r>
            <a:pPr indent="0" marL="0">
              <a:buNone/>
            </a:pPr>
            <a:r>
              <a:rPr lang="en-US" sz="2100" i="1" dirty="0">
                <a:solidFill>
                  <a:srgbClr val="E2B877"/>
                </a:solidFill>
                <a:latin typeface="Georgia" pitchFamily="34" charset="0"/>
                <a:ea typeface="Georgia" pitchFamily="34" charset="-122"/>
                <a:cs typeface="Georgia" pitchFamily="34" charset="-120"/>
              </a:rPr>
              <a:t>unearned power</a:t>
            </a:r>
            <a:pPr indent="0" marL="0">
              <a:buNone/>
            </a:pPr>
            <a:r>
              <a:rPr lang="en-US" sz="2100" dirty="0">
                <a:solidFill>
                  <a:srgbClr val="F4ECDF"/>
                </a:solidFill>
                <a:latin typeface="Georgia" pitchFamily="34" charset="0"/>
                <a:ea typeface="Georgia" pitchFamily="34" charset="-122"/>
                <a:cs typeface="Georgia" pitchFamily="34" charset="-120"/>
              </a:rPr>
              <a:t>.</a:t>
            </a:r>
            <a:endParaRPr lang="en-US" sz="2100" dirty="0"/>
          </a:p>
        </p:txBody>
      </p:sp>
      <p:sp>
        <p:nvSpPr>
          <p:cNvPr id="16" name="Text 14"/>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3</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Market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MARKET · PUSHBACK</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And communities are pushing back</a:t>
            </a:r>
            <a:endParaRPr lang="en-US" sz="2700" dirty="0"/>
          </a:p>
        </p:txBody>
      </p:sp>
      <p:sp>
        <p:nvSpPr>
          <p:cNvPr id="6" name="Text 4"/>
          <p:cNvSpPr/>
          <p:nvPr/>
        </p:nvSpPr>
        <p:spPr>
          <a:xfrm>
            <a:off x="502920" y="1298448"/>
            <a:ext cx="11155680" cy="365760"/>
          </a:xfrm>
          <a:prstGeom prst="rect">
            <a:avLst/>
          </a:prstGeom>
          <a:noFill/>
          <a:ln/>
        </p:spPr>
        <p:txBody>
          <a:bodyPr wrap="square" lIns="0" tIns="0" rIns="0" bIns="0" rtlCol="0" anchor="ctr"/>
          <a:lstStyle/>
          <a:p>
            <a:pPr indent="0" marL="0">
              <a:buNone/>
            </a:pPr>
            <a:r>
              <a:rPr lang="en-US" sz="16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1600" dirty="0"/>
          </a:p>
        </p:txBody>
      </p:sp>
      <p:sp>
        <p:nvSpPr>
          <p:cNvPr id="7" name="Shape 5"/>
          <p:cNvSpPr/>
          <p:nvPr/>
        </p:nvSpPr>
        <p:spPr>
          <a:xfrm>
            <a:off x="502920" y="1783080"/>
            <a:ext cx="5440680" cy="2331720"/>
          </a:xfrm>
          <a:prstGeom prst="roundRect">
            <a:avLst>
              <a:gd name="adj" fmla="val 3529"/>
            </a:avLst>
          </a:prstGeom>
          <a:solidFill>
            <a:srgbClr val="261A0F"/>
          </a:solidFill>
          <a:ln/>
        </p:spPr>
      </p:sp>
      <p:pic>
        <p:nvPicPr>
          <p:cNvPr id="8" name="Image 0" descr="prep/entrance_office.jpg">    </p:cNvPr>
          <p:cNvPicPr>
            <a:picLocks noChangeAspect="1"/>
          </p:cNvPicPr>
          <p:nvPr/>
        </p:nvPicPr>
        <p:blipFill>
          <a:blip r:embed="rId1"/>
          <a:srcRect l="0" r="0" t="0" b="0"/>
          <a:stretch/>
        </p:blipFill>
        <p:spPr>
          <a:xfrm>
            <a:off x="502920" y="1783080"/>
            <a:ext cx="5440680" cy="1051560"/>
          </a:xfrm>
          <a:prstGeom prst="rect">
            <a:avLst/>
          </a:prstGeom>
        </p:spPr>
      </p:pic>
      <p:sp>
        <p:nvSpPr>
          <p:cNvPr id="9" name="Text 6"/>
          <p:cNvSpPr/>
          <p:nvPr/>
        </p:nvSpPr>
        <p:spPr>
          <a:xfrm>
            <a:off x="777240" y="297180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0" name="Text 7"/>
          <p:cNvSpPr/>
          <p:nvPr/>
        </p:nvSpPr>
        <p:spPr>
          <a:xfrm>
            <a:off x="777240" y="3136392"/>
            <a:ext cx="4892040" cy="329184"/>
          </a:xfrm>
          <a:prstGeom prst="rect">
            <a:avLst/>
          </a:prstGeom>
          <a:noFill/>
          <a:ln/>
        </p:spPr>
        <p:txBody>
          <a:bodyPr wrap="square" lIns="0" tIns="0" rIns="0" bIns="0" rtlCol="0" anchor="ctr"/>
          <a:lstStyle/>
          <a:p>
            <a:pPr indent="0" marL="0">
              <a:buNone/>
            </a:pPr>
            <a:r>
              <a:rPr lang="en-US" sz="1400" dirty="0">
                <a:solidFill>
                  <a:srgbClr val="F4ECDF"/>
                </a:solidFill>
                <a:latin typeface="Georgia" pitchFamily="34" charset="0"/>
                <a:ea typeface="Georgia" pitchFamily="34" charset="-122"/>
                <a:cs typeface="Georgia" pitchFamily="34" charset="-120"/>
              </a:rPr>
              <a:t>Aesthetics</a:t>
            </a:r>
            <a:endParaRPr lang="en-US" sz="1400" dirty="0"/>
          </a:p>
        </p:txBody>
      </p:sp>
      <p:sp>
        <p:nvSpPr>
          <p:cNvPr id="11" name="Text 8"/>
          <p:cNvSpPr/>
          <p:nvPr/>
        </p:nvSpPr>
        <p:spPr>
          <a:xfrm>
            <a:off x="777240" y="3456432"/>
            <a:ext cx="4892040" cy="274320"/>
          </a:xfrm>
          <a:prstGeom prst="rect">
            <a:avLst/>
          </a:prstGeom>
          <a:noFill/>
          <a:ln/>
        </p:spPr>
        <p:txBody>
          <a:bodyPr wrap="square" lIns="0" tIns="0" rIns="0" bIns="0" rtlCol="0" anchor="t"/>
          <a:lstStyle/>
          <a:p>
            <a:pPr indent="0" marL="0">
              <a:buNone/>
            </a:pPr>
            <a:r>
              <a:rPr lang="en-US" sz="90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00" dirty="0"/>
          </a:p>
        </p:txBody>
      </p:sp>
      <p:sp>
        <p:nvSpPr>
          <p:cNvPr id="12" name="Shape 9"/>
          <p:cNvSpPr/>
          <p:nvPr/>
        </p:nvSpPr>
        <p:spPr>
          <a:xfrm>
            <a:off x="777240" y="3776472"/>
            <a:ext cx="4892040" cy="10973"/>
          </a:xfrm>
          <a:prstGeom prst="rect">
            <a:avLst/>
          </a:prstGeom>
          <a:solidFill>
            <a:srgbClr val="3A2B1A"/>
          </a:solidFill>
          <a:ln/>
        </p:spPr>
      </p:sp>
      <p:sp>
        <p:nvSpPr>
          <p:cNvPr id="13" name="Text 10"/>
          <p:cNvSpPr/>
          <p:nvPr/>
        </p:nvSpPr>
        <p:spPr>
          <a:xfrm>
            <a:off x="777240" y="382219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95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4" name="Shape 11"/>
          <p:cNvSpPr/>
          <p:nvPr/>
        </p:nvSpPr>
        <p:spPr>
          <a:xfrm>
            <a:off x="6217920" y="1783080"/>
            <a:ext cx="5440680" cy="2331720"/>
          </a:xfrm>
          <a:prstGeom prst="roundRect">
            <a:avLst>
              <a:gd name="adj" fmla="val 3529"/>
            </a:avLst>
          </a:prstGeom>
          <a:solidFill>
            <a:srgbClr val="261A0F"/>
          </a:solidFill>
          <a:ln/>
        </p:spPr>
      </p:sp>
      <p:pic>
        <p:nvPicPr>
          <p:cNvPr id="15" name="Image 1" descr="prep/tiles/tile_fanbox.jpg">    </p:cNvPr>
          <p:cNvPicPr>
            <a:picLocks noChangeAspect="1"/>
          </p:cNvPicPr>
          <p:nvPr/>
        </p:nvPicPr>
        <p:blipFill>
          <a:blip r:embed="rId2"/>
          <a:srcRect l="0" r="0" t="0" b="0"/>
          <a:stretch/>
        </p:blipFill>
        <p:spPr>
          <a:xfrm>
            <a:off x="6217920" y="1783080"/>
            <a:ext cx="5440680" cy="1051560"/>
          </a:xfrm>
          <a:prstGeom prst="rect">
            <a:avLst/>
          </a:prstGeom>
        </p:spPr>
      </p:pic>
      <p:sp>
        <p:nvSpPr>
          <p:cNvPr id="16" name="Text 12"/>
          <p:cNvSpPr/>
          <p:nvPr/>
        </p:nvSpPr>
        <p:spPr>
          <a:xfrm>
            <a:off x="6492240" y="297180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7" name="Text 13"/>
          <p:cNvSpPr/>
          <p:nvPr/>
        </p:nvSpPr>
        <p:spPr>
          <a:xfrm>
            <a:off x="6492240" y="3136392"/>
            <a:ext cx="4892040" cy="329184"/>
          </a:xfrm>
          <a:prstGeom prst="rect">
            <a:avLst/>
          </a:prstGeom>
          <a:noFill/>
          <a:ln/>
        </p:spPr>
        <p:txBody>
          <a:bodyPr wrap="square" lIns="0" tIns="0" rIns="0" bIns="0" rtlCol="0" anchor="ctr"/>
          <a:lstStyle/>
          <a:p>
            <a:pPr indent="0" marL="0">
              <a:buNone/>
            </a:pPr>
            <a:r>
              <a:rPr lang="en-US" sz="1400" dirty="0">
                <a:solidFill>
                  <a:srgbClr val="F4ECDF"/>
                </a:solidFill>
                <a:latin typeface="Georgia" pitchFamily="34" charset="0"/>
                <a:ea typeface="Georgia" pitchFamily="34" charset="-122"/>
                <a:cs typeface="Georgia" pitchFamily="34" charset="-120"/>
              </a:rPr>
              <a:t>Noise</a:t>
            </a:r>
            <a:endParaRPr lang="en-US" sz="1400" dirty="0"/>
          </a:p>
        </p:txBody>
      </p:sp>
      <p:sp>
        <p:nvSpPr>
          <p:cNvPr id="18" name="Text 14"/>
          <p:cNvSpPr/>
          <p:nvPr/>
        </p:nvSpPr>
        <p:spPr>
          <a:xfrm>
            <a:off x="6492240" y="3456432"/>
            <a:ext cx="4892040" cy="274320"/>
          </a:xfrm>
          <a:prstGeom prst="rect">
            <a:avLst/>
          </a:prstGeom>
          <a:noFill/>
          <a:ln/>
        </p:spPr>
        <p:txBody>
          <a:bodyPr wrap="square" lIns="0" tIns="0" rIns="0" bIns="0" rtlCol="0" anchor="t"/>
          <a:lstStyle/>
          <a:p>
            <a:pPr indent="0" marL="0">
              <a:buNone/>
            </a:pPr>
            <a:r>
              <a:rPr lang="en-US" sz="90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00" dirty="0"/>
          </a:p>
        </p:txBody>
      </p:sp>
      <p:sp>
        <p:nvSpPr>
          <p:cNvPr id="19" name="Shape 15"/>
          <p:cNvSpPr/>
          <p:nvPr/>
        </p:nvSpPr>
        <p:spPr>
          <a:xfrm>
            <a:off x="6492240" y="3776472"/>
            <a:ext cx="4892040" cy="10973"/>
          </a:xfrm>
          <a:prstGeom prst="rect">
            <a:avLst/>
          </a:prstGeom>
          <a:solidFill>
            <a:srgbClr val="3A2B1A"/>
          </a:solidFill>
          <a:ln/>
        </p:spPr>
      </p:sp>
      <p:sp>
        <p:nvSpPr>
          <p:cNvPr id="20" name="Text 16"/>
          <p:cNvSpPr/>
          <p:nvPr/>
        </p:nvSpPr>
        <p:spPr>
          <a:xfrm>
            <a:off x="6492240" y="382219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95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1" name="Text 17"/>
          <p:cNvSpPr/>
          <p:nvPr/>
        </p:nvSpPr>
        <p:spPr>
          <a:xfrm>
            <a:off x="8897112" y="41330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2" name="Shape 18"/>
          <p:cNvSpPr/>
          <p:nvPr/>
        </p:nvSpPr>
        <p:spPr>
          <a:xfrm>
            <a:off x="502920" y="4434840"/>
            <a:ext cx="27432" cy="640080"/>
          </a:xfrm>
          <a:prstGeom prst="rect">
            <a:avLst/>
          </a:prstGeom>
          <a:solidFill>
            <a:srgbClr val="CDA165"/>
          </a:solidFill>
          <a:ln/>
        </p:spPr>
      </p:sp>
      <p:sp>
        <p:nvSpPr>
          <p:cNvPr id="23" name="Text 19"/>
          <p:cNvSpPr/>
          <p:nvPr/>
        </p:nvSpPr>
        <p:spPr>
          <a:xfrm>
            <a:off x="685800" y="443484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4" name="Text 20"/>
          <p:cNvSpPr/>
          <p:nvPr/>
        </p:nvSpPr>
        <p:spPr>
          <a:xfrm>
            <a:off x="685800" y="474573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5" name="Shape 21"/>
          <p:cNvSpPr/>
          <p:nvPr/>
        </p:nvSpPr>
        <p:spPr>
          <a:xfrm>
            <a:off x="6217920" y="4434840"/>
            <a:ext cx="27432" cy="640080"/>
          </a:xfrm>
          <a:prstGeom prst="rect">
            <a:avLst/>
          </a:prstGeom>
          <a:solidFill>
            <a:srgbClr val="CDA165"/>
          </a:solidFill>
          <a:ln/>
        </p:spPr>
      </p:sp>
      <p:sp>
        <p:nvSpPr>
          <p:cNvPr id="26" name="Text 22"/>
          <p:cNvSpPr/>
          <p:nvPr/>
        </p:nvSpPr>
        <p:spPr>
          <a:xfrm>
            <a:off x="6400800" y="443484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7" name="Text 23"/>
          <p:cNvSpPr/>
          <p:nvPr/>
        </p:nvSpPr>
        <p:spPr>
          <a:xfrm>
            <a:off x="6400800" y="474573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8" name="Text 24"/>
          <p:cNvSpPr/>
          <p:nvPr/>
        </p:nvSpPr>
        <p:spPr>
          <a:xfrm>
            <a:off x="502920" y="5257800"/>
            <a:ext cx="11155680" cy="640080"/>
          </a:xfrm>
          <a:prstGeom prst="rect">
            <a:avLst/>
          </a:prstGeom>
          <a:noFill/>
          <a:ln/>
        </p:spPr>
        <p:txBody>
          <a:bodyPr wrap="square" lIns="0" tIns="0" rIns="0" bIns="0" rtlCol="0" anchor="ctr"/>
          <a:lstStyle/>
          <a:p>
            <a:pPr indent="0" marL="0">
              <a:buNone/>
            </a:pPr>
            <a:r>
              <a:rPr lang="en-US" sz="2100" dirty="0">
                <a:solidFill>
                  <a:srgbClr val="F4ECDF"/>
                </a:solidFill>
                <a:latin typeface="Georgia" pitchFamily="34" charset="0"/>
                <a:ea typeface="Georgia" pitchFamily="34" charset="-122"/>
                <a:cs typeface="Georgia" pitchFamily="34" charset="-120"/>
              </a:rPr>
              <a:t>We help with these two. </a:t>
            </a:r>
            <a:pPr indent="0" marL="0">
              <a:buNone/>
            </a:pPr>
            <a:r>
              <a:rPr lang="en-US" sz="2100" i="1" dirty="0">
                <a:solidFill>
                  <a:srgbClr val="E2B877"/>
                </a:solidFill>
                <a:latin typeface="Georgia" pitchFamily="34" charset="0"/>
                <a:ea typeface="Georgia" pitchFamily="34" charset="-122"/>
                <a:cs typeface="Georgia" pitchFamily="34" charset="-120"/>
              </a:rPr>
              <a:t>We can go much further</a:t>
            </a:r>
            <a:pPr indent="0" marL="0">
              <a:buNone/>
            </a:pPr>
            <a:r>
              <a:rPr lang="en-US" sz="21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2100" dirty="0"/>
          </a:p>
        </p:txBody>
      </p:sp>
      <p:sp>
        <p:nvSpPr>
          <p:cNvPr id="29" name="Text 25"/>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4</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Market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MARKET · MASS TIMBER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5</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MATERIALS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600" dirty="0">
                <a:solidFill>
                  <a:srgbClr val="F4ECDF"/>
                </a:solidFill>
                <a:latin typeface="Georgia" pitchFamily="34" charset="0"/>
                <a:ea typeface="Georgia" pitchFamily="34" charset="-122"/>
                <a:cs typeface="Georgia" pitchFamily="34" charset="-120"/>
              </a:rPr>
              <a:t>50–80% of a data center’s building and contents are steel</a:t>
            </a:r>
            <a:endParaRPr lang="en-US" sz="26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394960" cy="323697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263640" y="1901952"/>
            <a:ext cx="5394960" cy="3236976"/>
          </a:xfrm>
          <a:prstGeom prst="rect">
            <a:avLst/>
          </a:prstGeom>
        </p:spPr>
      </p:pic>
      <p:sp>
        <p:nvSpPr>
          <p:cNvPr id="10" name="Text 6"/>
          <p:cNvSpPr/>
          <p:nvPr/>
        </p:nvSpPr>
        <p:spPr>
          <a:xfrm>
            <a:off x="50292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6</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4,300–26,000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97358"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0.1–0.8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17,000–72,000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98764" y="4078224"/>
            <a:ext cx="479298"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0.6–2.3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25,000–296,000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449513" y="4791456"/>
            <a:ext cx="2444420"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0.8–9.4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7</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SUPERWOOD’s properties are a great fit for data centers</a:t>
            </a:r>
            <a:endParaRPr lang="en-US" sz="27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8</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Enabling data centers that are faster to build, lighter, reconfigurable and relocatable</a:t>
            </a:r>
            <a:endParaRPr lang="en-US" sz="23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sp>
        <p:nvSpPr>
          <p:cNvPr id="18" name="Text 16"/>
          <p:cNvSpPr/>
          <p:nvPr/>
        </p:nvSpPr>
        <p:spPr>
          <a:xfrm>
            <a:off x="502920" y="5806440"/>
            <a:ext cx="6309360" cy="320040"/>
          </a:xfrm>
          <a:prstGeom prst="rect">
            <a:avLst/>
          </a:prstGeom>
          <a:noFill/>
          <a:ln/>
        </p:spPr>
        <p:txBody>
          <a:bodyPr wrap="square" lIns="0" tIns="0" rIns="0" bIns="0" rtlCol="0" anchor="ctr"/>
          <a:lstStyle/>
          <a:p>
            <a:pPr indent="0" marL="0">
              <a:buNone/>
            </a:pPr>
            <a:r>
              <a:rPr lang="en-US" sz="1400" dirty="0">
                <a:solidFill>
                  <a:srgbClr val="F4ECDF"/>
                </a:solidFill>
                <a:latin typeface="Georgia" pitchFamily="34" charset="0"/>
                <a:ea typeface="Georgia" pitchFamily="34" charset="-122"/>
                <a:cs typeface="Georgia" pitchFamily="34" charset="-120"/>
              </a:rPr>
              <a:t>In a fast-changing industry, this really matters.</a:t>
            </a:r>
            <a:endParaRPr lang="en-US" sz="1400" dirty="0"/>
          </a:p>
        </p:txBody>
      </p:sp>
      <p:pic>
        <p:nvPicPr>
          <p:cNvPr id="19"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20" name="Text 17"/>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1" name="Text 18"/>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9</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Applications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APPLICATIONS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Skins, screens and fences ship today from SuperMill One</a:t>
            </a:r>
            <a:endParaRPr lang="en-US" sz="27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Applications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APPLICATIONS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Other products require only straightforward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Applications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APPLICATIONS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We’re starting structural product development today, enabling scale with SUPERMILL TWO</a:t>
            </a:r>
            <a:endParaRPr lang="en-US" sz="22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Applications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APPLICATIONS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Longer term, we can do fully prefabricated envelopes and even fast, light foundations</a:t>
            </a:r>
            <a:endParaRPr lang="en-US" sz="22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Customers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CUSTOMERS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We’re engaging thoughtfully and deeply with customers</a:t>
            </a:r>
            <a:endParaRPr lang="en-US" sz="27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Top timber engineers</a:t>
            </a:r>
            <a:endParaRPr lang="en-US" sz="700" dirty="0"/>
          </a:p>
        </p:txBody>
      </p:sp>
      <p:pic>
        <p:nvPicPr>
          <p:cNvPr id="52" name="Image 1" descr="prep/logo_hitt.png">    </p:cNvPr>
          <p:cNvPicPr>
            <a:picLocks noChangeAspect="1"/>
          </p:cNvPicPr>
          <p:nvPr/>
        </p:nvPicPr>
        <p:blipFill>
          <a:blip r:embed="rId2"/>
          <a:stretch>
            <a:fillRect/>
          </a:stretch>
        </p:blipFill>
        <p:spPr>
          <a:xfrm>
            <a:off x="5257800" y="5888736"/>
            <a:ext cx="683362" cy="173736"/>
          </a:xfrm>
          <a:prstGeom prst="rect">
            <a:avLst/>
          </a:prstGeom>
        </p:spPr>
      </p:pic>
      <p:sp>
        <p:nvSpPr>
          <p:cNvPr id="53" name="Text 49"/>
          <p:cNvSpPr/>
          <p:nvPr/>
        </p:nvSpPr>
        <p:spPr>
          <a:xfrm>
            <a:off x="525780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data center contractor, ENR 2025</a:t>
            </a:r>
            <a:endParaRPr lang="en-US" sz="700" dirty="0"/>
          </a:p>
        </p:txBody>
      </p:sp>
      <p:pic>
        <p:nvPicPr>
          <p:cNvPr id="54" name="Image 2" descr="prep/logo_turner.png">    </p:cNvPr>
          <p:cNvPicPr>
            <a:picLocks noChangeAspect="1"/>
          </p:cNvPicPr>
          <p:nvPr/>
        </p:nvPicPr>
        <p:blipFill>
          <a:blip r:embed="rId3"/>
          <a:stretch>
            <a:fillRect/>
          </a:stretch>
        </p:blipFill>
        <p:spPr>
          <a:xfrm>
            <a:off x="7406640" y="5888736"/>
            <a:ext cx="592703" cy="173736"/>
          </a:xfrm>
          <a:prstGeom prst="rect">
            <a:avLst/>
          </a:prstGeom>
        </p:spPr>
      </p:pic>
      <p:sp>
        <p:nvSpPr>
          <p:cNvPr id="55" name="Text 50"/>
          <p:cNvSpPr/>
          <p:nvPr/>
        </p:nvSpPr>
        <p:spPr>
          <a:xfrm>
            <a:off x="740664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contractor, ENR Top 400</a:t>
            </a:r>
            <a:endParaRPr lang="en-US" sz="700" dirty="0"/>
          </a:p>
        </p:txBody>
      </p:sp>
      <p:sp>
        <p:nvSpPr>
          <p:cNvPr id="56" name="Text 51"/>
          <p:cNvSpPr/>
          <p:nvPr/>
        </p:nvSpPr>
        <p:spPr>
          <a:xfrm>
            <a:off x="955548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Don Davies, advisor</a:t>
            </a:r>
            <a:endParaRPr lang="en-US" sz="1000" dirty="0"/>
          </a:p>
        </p:txBody>
      </p:sp>
      <p:sp>
        <p:nvSpPr>
          <p:cNvPr id="57" name="Text 52"/>
          <p:cNvSpPr/>
          <p:nvPr/>
        </p:nvSpPr>
        <p:spPr>
          <a:xfrm>
            <a:off x="955548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Former president of MKA; structural engineer for several hyperscalers</a:t>
            </a:r>
            <a:endParaRPr lang="en-US" sz="700" dirty="0"/>
          </a:p>
        </p:txBody>
      </p:sp>
      <p:sp>
        <p:nvSpPr>
          <p:cNvPr id="58" name="Text 53"/>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10</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Customers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CUSTOMERS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600" dirty="0">
                <a:solidFill>
                  <a:srgbClr val="F4ECDF"/>
                </a:solidFill>
                <a:latin typeface="Georgia" pitchFamily="34" charset="0"/>
                <a:ea typeface="Georgia" pitchFamily="34" charset="-122"/>
                <a:cs typeface="Georgia" pitchFamily="34" charset="-120"/>
              </a:rPr>
              <a:t>Working on both immediate and large-scale, strategic opportunities</a:t>
            </a:r>
            <a:endParaRPr lang="en-US" sz="26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9" name="Text 7"/>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0" name="Shape 8"/>
          <p:cNvSpPr/>
          <p:nvPr/>
        </p:nvSpPr>
        <p:spPr>
          <a:xfrm>
            <a:off x="502920" y="4105656"/>
            <a:ext cx="109728" cy="109728"/>
          </a:xfrm>
          <a:prstGeom prst="ellipse">
            <a:avLst/>
          </a:prstGeom>
          <a:solidFill>
            <a:srgbClr val="E2B877"/>
          </a:solidFill>
          <a:ln/>
        </p:spPr>
      </p:sp>
      <p:sp>
        <p:nvSpPr>
          <p:cNvPr id="11" name="Text 9"/>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2" name="Text 10"/>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3" name="Shape 11"/>
          <p:cNvSpPr/>
          <p:nvPr/>
        </p:nvSpPr>
        <p:spPr>
          <a:xfrm>
            <a:off x="502920" y="4672584"/>
            <a:ext cx="109728" cy="109728"/>
          </a:xfrm>
          <a:prstGeom prst="ellipse">
            <a:avLst/>
          </a:prstGeom>
          <a:solidFill>
            <a:srgbClr val="E2B877"/>
          </a:solidFill>
          <a:ln/>
        </p:spPr>
      </p:sp>
      <p:sp>
        <p:nvSpPr>
          <p:cNvPr id="14" name="Text 12"/>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5" name="Text 13"/>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6" name="Shape 14"/>
          <p:cNvSpPr/>
          <p:nvPr/>
        </p:nvSpPr>
        <p:spPr>
          <a:xfrm>
            <a:off x="502920" y="5239512"/>
            <a:ext cx="109728" cy="109728"/>
          </a:xfrm>
          <a:prstGeom prst="ellipse">
            <a:avLst/>
          </a:prstGeom>
          <a:solidFill>
            <a:srgbClr val="E2B877"/>
          </a:solidFill>
          <a:ln/>
        </p:spPr>
      </p:sp>
      <p:sp>
        <p:nvSpPr>
          <p:cNvPr id="17" name="Text 15"/>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18" name="Text 16"/>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19"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0" name="Text 17"/>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1" name="Text 18"/>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2" name="Shape 19"/>
          <p:cNvSpPr/>
          <p:nvPr/>
        </p:nvSpPr>
        <p:spPr>
          <a:xfrm>
            <a:off x="6172200" y="2286000"/>
            <a:ext cx="5486400" cy="1325880"/>
          </a:xfrm>
          <a:prstGeom prst="roundRect">
            <a:avLst>
              <a:gd name="adj" fmla="val 6207"/>
            </a:avLst>
          </a:prstGeom>
          <a:solidFill>
            <a:srgbClr val="2E2113"/>
          </a:solidFill>
          <a:ln/>
        </p:spPr>
      </p:sp>
      <p:sp>
        <p:nvSpPr>
          <p:cNvPr id="23" name="Text 20"/>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4" name="Text 21"/>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5" name="Shape 22"/>
          <p:cNvSpPr/>
          <p:nvPr/>
        </p:nvSpPr>
        <p:spPr>
          <a:xfrm>
            <a:off x="6172200" y="4105656"/>
            <a:ext cx="109728" cy="109728"/>
          </a:xfrm>
          <a:prstGeom prst="ellipse">
            <a:avLst/>
          </a:prstGeom>
          <a:solidFill>
            <a:srgbClr val="E2B877"/>
          </a:solidFill>
          <a:ln/>
        </p:spPr>
      </p:sp>
      <p:sp>
        <p:nvSpPr>
          <p:cNvPr id="26" name="Text 23"/>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27" name="Text 24"/>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28" name="Shape 25"/>
          <p:cNvSpPr/>
          <p:nvPr/>
        </p:nvSpPr>
        <p:spPr>
          <a:xfrm>
            <a:off x="6172200" y="4672584"/>
            <a:ext cx="109728" cy="109728"/>
          </a:xfrm>
          <a:prstGeom prst="ellipse">
            <a:avLst/>
          </a:prstGeom>
          <a:solidFill>
            <a:srgbClr val="E2B877"/>
          </a:solidFill>
          <a:ln/>
        </p:spPr>
      </p:sp>
      <p:sp>
        <p:nvSpPr>
          <p:cNvPr id="29" name="Text 26"/>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0" name="Text 27"/>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1" name="Shape 28"/>
          <p:cNvSpPr/>
          <p:nvPr/>
        </p:nvSpPr>
        <p:spPr>
          <a:xfrm>
            <a:off x="6172200" y="5239512"/>
            <a:ext cx="109728" cy="109728"/>
          </a:xfrm>
          <a:prstGeom prst="ellipse">
            <a:avLst/>
          </a:prstGeom>
          <a:solidFill>
            <a:srgbClr val="E2B877"/>
          </a:solidFill>
          <a:ln/>
        </p:spPr>
      </p:sp>
      <p:sp>
        <p:nvSpPr>
          <p:cNvPr id="32" name="Text 29"/>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3" name="Text 30"/>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4"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5" name="Text 31"/>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Beyond data centers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BEYOND DATA CENTERS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We’ll build on the data center opportunity to </a:t>
            </a:r>
            <a:pPr indent="0" marL="0">
              <a:buNone/>
            </a:pPr>
            <a:r>
              <a:rPr lang="en-US" sz="2400" i="1" dirty="0">
                <a:solidFill>
                  <a:srgbClr val="E2B877"/>
                </a:solidFill>
                <a:latin typeface="Georgia" pitchFamily="34" charset="0"/>
                <a:ea typeface="Georgia" pitchFamily="34" charset="-122"/>
                <a:cs typeface="Georgia" pitchFamily="34" charset="-120"/>
              </a:rPr>
              <a:t>springboard</a:t>
            </a:r>
            <a:pPr indent="0" marL="0">
              <a:buNone/>
            </a:pPr>
            <a:r>
              <a:rPr lang="en-US" sz="2400" dirty="0">
                <a:solidFill>
                  <a:srgbClr val="F4ECDF"/>
                </a:solidFill>
                <a:latin typeface="Georgia" pitchFamily="34" charset="0"/>
                <a:ea typeface="Georgia" pitchFamily="34" charset="-122"/>
                <a:cs typeface="Georgia" pitchFamily="34" charset="-120"/>
              </a:rPr>
              <a:t> us into much larger markets</a:t>
            </a:r>
            <a:endParaRPr lang="en-US" sz="2400" dirty="0"/>
          </a:p>
        </p:txBody>
      </p:sp>
      <p:sp>
        <p:nvSpPr>
          <p:cNvPr id="6" name="Shape 4"/>
          <p:cNvSpPr/>
          <p:nvPr/>
        </p:nvSpPr>
        <p:spPr>
          <a:xfrm>
            <a:off x="502920" y="1920240"/>
            <a:ext cx="2651760" cy="2377440"/>
          </a:xfrm>
          <a:prstGeom prst="roundRect">
            <a:avLst>
              <a:gd name="adj" fmla="val 3462"/>
            </a:avLst>
          </a:prstGeom>
          <a:solidFill>
            <a:srgbClr val="261A0F"/>
          </a:solidFill>
          <a:ln/>
        </p:spPr>
      </p:sp>
      <p:sp>
        <p:nvSpPr>
          <p:cNvPr id="7" name="Text 5"/>
          <p:cNvSpPr/>
          <p:nvPr/>
        </p:nvSpPr>
        <p:spPr>
          <a:xfrm>
            <a:off x="731520" y="2103120"/>
            <a:ext cx="914400" cy="411480"/>
          </a:xfrm>
          <a:prstGeom prst="rect">
            <a:avLst/>
          </a:prstGeom>
          <a:noFill/>
          <a:ln/>
        </p:spPr>
        <p:txBody>
          <a:bodyPr wrap="square" lIns="0" tIns="0" rIns="0" bIns="0" rtlCol="0" anchor="ctr"/>
          <a:lstStyle/>
          <a:p>
            <a:pPr indent="0" marL="0">
              <a:buNone/>
            </a:pPr>
            <a:r>
              <a:rPr lang="en-US" sz="2000" dirty="0">
                <a:solidFill>
                  <a:srgbClr val="B87D44"/>
                </a:solidFill>
                <a:latin typeface="Georgia" pitchFamily="34" charset="0"/>
                <a:ea typeface="Georgia" pitchFamily="34" charset="-122"/>
                <a:cs typeface="Georgia" pitchFamily="34" charset="-120"/>
              </a:rPr>
              <a:t>01</a:t>
            </a:r>
            <a:endParaRPr lang="en-US" sz="2000" dirty="0"/>
          </a:p>
        </p:txBody>
      </p:sp>
      <p:sp>
        <p:nvSpPr>
          <p:cNvPr id="8" name="Text 6"/>
          <p:cNvSpPr/>
          <p:nvPr/>
        </p:nvSpPr>
        <p:spPr>
          <a:xfrm>
            <a:off x="731520" y="2560320"/>
            <a:ext cx="2194560" cy="457200"/>
          </a:xfrm>
          <a:prstGeom prst="rect">
            <a:avLst/>
          </a:prstGeom>
          <a:noFill/>
          <a:ln/>
        </p:spPr>
        <p:txBody>
          <a:bodyPr wrap="square" lIns="0" tIns="0" rIns="0" bIns="0" rtlCol="0" anchor="t"/>
          <a:lstStyle/>
          <a:p>
            <a:pPr indent="0" marL="0">
              <a:buNone/>
            </a:pPr>
            <a:r>
              <a:rPr lang="en-US" sz="1300" b="1" dirty="0">
                <a:solidFill>
                  <a:srgbClr val="F4ECDF"/>
                </a:solidFill>
                <a:latin typeface="Calibri" pitchFamily="34" charset="0"/>
                <a:ea typeface="Calibri" pitchFamily="34" charset="-122"/>
                <a:cs typeface="Calibri" pitchFamily="34" charset="-120"/>
              </a:rPr>
              <a:t>Data centers</a:t>
            </a:r>
            <a:endParaRPr lang="en-US" sz="1300" dirty="0"/>
          </a:p>
        </p:txBody>
      </p:sp>
      <p:sp>
        <p:nvSpPr>
          <p:cNvPr id="9" name="Text 7"/>
          <p:cNvSpPr/>
          <p:nvPr/>
        </p:nvSpPr>
        <p:spPr>
          <a:xfrm>
            <a:off x="731520" y="3063240"/>
            <a:ext cx="2194560" cy="109728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Skins, fences and screens now; structure with SuperMill Two. A hyperscaler basis of design is the proof point.</a:t>
            </a:r>
            <a:endParaRPr lang="en-US" sz="1000" dirty="0"/>
          </a:p>
        </p:txBody>
      </p:sp>
      <p:sp>
        <p:nvSpPr>
          <p:cNvPr id="10" name="Shape 8"/>
          <p:cNvSpPr/>
          <p:nvPr/>
        </p:nvSpPr>
        <p:spPr>
          <a:xfrm>
            <a:off x="3337560" y="1920240"/>
            <a:ext cx="2651760" cy="2377440"/>
          </a:xfrm>
          <a:prstGeom prst="roundRect">
            <a:avLst>
              <a:gd name="adj" fmla="val 3462"/>
            </a:avLst>
          </a:prstGeom>
          <a:solidFill>
            <a:srgbClr val="261A0F"/>
          </a:solidFill>
          <a:ln/>
        </p:spPr>
      </p:sp>
      <p:sp>
        <p:nvSpPr>
          <p:cNvPr id="11" name="Text 9"/>
          <p:cNvSpPr/>
          <p:nvPr/>
        </p:nvSpPr>
        <p:spPr>
          <a:xfrm>
            <a:off x="3566160" y="2103120"/>
            <a:ext cx="914400" cy="411480"/>
          </a:xfrm>
          <a:prstGeom prst="rect">
            <a:avLst/>
          </a:prstGeom>
          <a:noFill/>
          <a:ln/>
        </p:spPr>
        <p:txBody>
          <a:bodyPr wrap="square" lIns="0" tIns="0" rIns="0" bIns="0" rtlCol="0" anchor="ctr"/>
          <a:lstStyle/>
          <a:p>
            <a:pPr indent="0" marL="0">
              <a:buNone/>
            </a:pPr>
            <a:r>
              <a:rPr lang="en-US" sz="2000" dirty="0">
                <a:solidFill>
                  <a:srgbClr val="B87D44"/>
                </a:solidFill>
                <a:latin typeface="Georgia" pitchFamily="34" charset="0"/>
                <a:ea typeface="Georgia" pitchFamily="34" charset="-122"/>
                <a:cs typeface="Georgia" pitchFamily="34" charset="-120"/>
              </a:rPr>
              <a:t>02</a:t>
            </a:r>
            <a:endParaRPr lang="en-US" sz="2000" dirty="0"/>
          </a:p>
        </p:txBody>
      </p:sp>
      <p:sp>
        <p:nvSpPr>
          <p:cNvPr id="12" name="Text 10"/>
          <p:cNvSpPr/>
          <p:nvPr/>
        </p:nvSpPr>
        <p:spPr>
          <a:xfrm>
            <a:off x="3566160" y="2560320"/>
            <a:ext cx="2194560" cy="457200"/>
          </a:xfrm>
          <a:prstGeom prst="rect">
            <a:avLst/>
          </a:prstGeom>
          <a:noFill/>
          <a:ln/>
        </p:spPr>
        <p:txBody>
          <a:bodyPr wrap="square" lIns="0" tIns="0" rIns="0" bIns="0" rtlCol="0" anchor="t"/>
          <a:lstStyle/>
          <a:p>
            <a:pPr indent="0" marL="0">
              <a:buNone/>
            </a:pPr>
            <a:r>
              <a:rPr lang="en-US" sz="1300" b="1" dirty="0">
                <a:solidFill>
                  <a:srgbClr val="F4ECDF"/>
                </a:solidFill>
                <a:latin typeface="Calibri" pitchFamily="34" charset="0"/>
                <a:ea typeface="Calibri" pitchFamily="34" charset="-122"/>
                <a:cs typeface="Calibri" pitchFamily="34" charset="-120"/>
              </a:rPr>
              <a:t>Interior and exterior products</a:t>
            </a:r>
            <a:endParaRPr lang="en-US" sz="1300" dirty="0"/>
          </a:p>
        </p:txBody>
      </p:sp>
      <p:sp>
        <p:nvSpPr>
          <p:cNvPr id="13" name="Text 11"/>
          <p:cNvSpPr/>
          <p:nvPr/>
        </p:nvSpPr>
        <p:spPr>
          <a:xfrm>
            <a:off x="3566160" y="3063240"/>
            <a:ext cx="2194560" cy="109728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The same boards across commercial construction. $100B+ market.</a:t>
            </a:r>
            <a:endParaRPr lang="en-US" sz="1000" dirty="0"/>
          </a:p>
        </p:txBody>
      </p:sp>
      <p:sp>
        <p:nvSpPr>
          <p:cNvPr id="14" name="Shape 12"/>
          <p:cNvSpPr/>
          <p:nvPr/>
        </p:nvSpPr>
        <p:spPr>
          <a:xfrm>
            <a:off x="6172200" y="1920240"/>
            <a:ext cx="2651760" cy="2377440"/>
          </a:xfrm>
          <a:prstGeom prst="roundRect">
            <a:avLst>
              <a:gd name="adj" fmla="val 3462"/>
            </a:avLst>
          </a:prstGeom>
          <a:solidFill>
            <a:srgbClr val="261A0F"/>
          </a:solidFill>
          <a:ln/>
        </p:spPr>
      </p:sp>
      <p:sp>
        <p:nvSpPr>
          <p:cNvPr id="15" name="Text 13"/>
          <p:cNvSpPr/>
          <p:nvPr/>
        </p:nvSpPr>
        <p:spPr>
          <a:xfrm>
            <a:off x="6400800" y="2103120"/>
            <a:ext cx="914400" cy="411480"/>
          </a:xfrm>
          <a:prstGeom prst="rect">
            <a:avLst/>
          </a:prstGeom>
          <a:noFill/>
          <a:ln/>
        </p:spPr>
        <p:txBody>
          <a:bodyPr wrap="square" lIns="0" tIns="0" rIns="0" bIns="0" rtlCol="0" anchor="ctr"/>
          <a:lstStyle/>
          <a:p>
            <a:pPr indent="0" marL="0">
              <a:buNone/>
            </a:pPr>
            <a:r>
              <a:rPr lang="en-US" sz="2000" dirty="0">
                <a:solidFill>
                  <a:srgbClr val="B87D44"/>
                </a:solidFill>
                <a:latin typeface="Georgia" pitchFamily="34" charset="0"/>
                <a:ea typeface="Georgia" pitchFamily="34" charset="-122"/>
                <a:cs typeface="Georgia" pitchFamily="34" charset="-120"/>
              </a:rPr>
              <a:t>03</a:t>
            </a:r>
            <a:endParaRPr lang="en-US" sz="2000" dirty="0"/>
          </a:p>
        </p:txBody>
      </p:sp>
      <p:sp>
        <p:nvSpPr>
          <p:cNvPr id="16" name="Text 14"/>
          <p:cNvSpPr/>
          <p:nvPr/>
        </p:nvSpPr>
        <p:spPr>
          <a:xfrm>
            <a:off x="6400800" y="2560320"/>
            <a:ext cx="2194560" cy="457200"/>
          </a:xfrm>
          <a:prstGeom prst="rect">
            <a:avLst/>
          </a:prstGeom>
          <a:noFill/>
          <a:ln/>
        </p:spPr>
        <p:txBody>
          <a:bodyPr wrap="square" lIns="0" tIns="0" rIns="0" bIns="0" rtlCol="0" anchor="t"/>
          <a:lstStyle/>
          <a:p>
            <a:pPr indent="0" marL="0">
              <a:buNone/>
            </a:pPr>
            <a:r>
              <a:rPr lang="en-US" sz="1300" b="1" dirty="0">
                <a:solidFill>
                  <a:srgbClr val="F4ECDF"/>
                </a:solidFill>
                <a:latin typeface="Calibri" pitchFamily="34" charset="0"/>
                <a:ea typeface="Calibri" pitchFamily="34" charset="-122"/>
                <a:cs typeface="Calibri" pitchFamily="34" charset="-120"/>
              </a:rPr>
              <a:t>Structural members</a:t>
            </a:r>
            <a:endParaRPr lang="en-US" sz="1300" dirty="0"/>
          </a:p>
        </p:txBody>
      </p:sp>
      <p:sp>
        <p:nvSpPr>
          <p:cNvPr id="17" name="Text 15"/>
          <p:cNvSpPr/>
          <p:nvPr/>
        </p:nvSpPr>
        <p:spPr>
          <a:xfrm>
            <a:off x="6400800" y="3063240"/>
            <a:ext cx="2194560" cy="109728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Members proven in data centers move to offices, warehouses and industrial buildings. $400B+ market.</a:t>
            </a:r>
            <a:endParaRPr lang="en-US" sz="1000" dirty="0"/>
          </a:p>
        </p:txBody>
      </p:sp>
      <p:sp>
        <p:nvSpPr>
          <p:cNvPr id="18" name="Shape 16"/>
          <p:cNvSpPr/>
          <p:nvPr/>
        </p:nvSpPr>
        <p:spPr>
          <a:xfrm>
            <a:off x="9006840" y="1920240"/>
            <a:ext cx="2651760" cy="2377440"/>
          </a:xfrm>
          <a:prstGeom prst="roundRect">
            <a:avLst>
              <a:gd name="adj" fmla="val 3462"/>
            </a:avLst>
          </a:prstGeom>
          <a:solidFill>
            <a:srgbClr val="261A0F"/>
          </a:solidFill>
          <a:ln/>
        </p:spPr>
      </p:sp>
      <p:sp>
        <p:nvSpPr>
          <p:cNvPr id="19" name="Text 17"/>
          <p:cNvSpPr/>
          <p:nvPr/>
        </p:nvSpPr>
        <p:spPr>
          <a:xfrm>
            <a:off x="9235440" y="2103120"/>
            <a:ext cx="914400" cy="411480"/>
          </a:xfrm>
          <a:prstGeom prst="rect">
            <a:avLst/>
          </a:prstGeom>
          <a:noFill/>
          <a:ln/>
        </p:spPr>
        <p:txBody>
          <a:bodyPr wrap="square" lIns="0" tIns="0" rIns="0" bIns="0" rtlCol="0" anchor="ctr"/>
          <a:lstStyle/>
          <a:p>
            <a:pPr indent="0" marL="0">
              <a:buNone/>
            </a:pPr>
            <a:r>
              <a:rPr lang="en-US" sz="2000" dirty="0">
                <a:solidFill>
                  <a:srgbClr val="B87D44"/>
                </a:solidFill>
                <a:latin typeface="Georgia" pitchFamily="34" charset="0"/>
                <a:ea typeface="Georgia" pitchFamily="34" charset="-122"/>
                <a:cs typeface="Georgia" pitchFamily="34" charset="-120"/>
              </a:rPr>
              <a:t>04</a:t>
            </a:r>
            <a:endParaRPr lang="en-US" sz="2000" dirty="0"/>
          </a:p>
        </p:txBody>
      </p:sp>
      <p:sp>
        <p:nvSpPr>
          <p:cNvPr id="20" name="Text 18"/>
          <p:cNvSpPr/>
          <p:nvPr/>
        </p:nvSpPr>
        <p:spPr>
          <a:xfrm>
            <a:off x="9235440" y="2560320"/>
            <a:ext cx="2194560" cy="457200"/>
          </a:xfrm>
          <a:prstGeom prst="rect">
            <a:avLst/>
          </a:prstGeom>
          <a:noFill/>
          <a:ln/>
        </p:spPr>
        <p:txBody>
          <a:bodyPr wrap="square" lIns="0" tIns="0" rIns="0" bIns="0" rtlCol="0" anchor="t"/>
          <a:lstStyle/>
          <a:p>
            <a:pPr indent="0" marL="0">
              <a:buNone/>
            </a:pPr>
            <a:r>
              <a:rPr lang="en-US" sz="1300" b="1" dirty="0">
                <a:solidFill>
                  <a:srgbClr val="F4ECDF"/>
                </a:solidFill>
                <a:latin typeface="Calibri" pitchFamily="34" charset="0"/>
                <a:ea typeface="Calibri" pitchFamily="34" charset="-122"/>
                <a:cs typeface="Calibri" pitchFamily="34" charset="-120"/>
              </a:rPr>
              <a:t>Optimized buildings</a:t>
            </a:r>
            <a:endParaRPr lang="en-US" sz="1300" dirty="0"/>
          </a:p>
        </p:txBody>
      </p:sp>
      <p:sp>
        <p:nvSpPr>
          <p:cNvPr id="21" name="Text 19"/>
          <p:cNvSpPr/>
          <p:nvPr/>
        </p:nvSpPr>
        <p:spPr>
          <a:xfrm>
            <a:off x="9235440" y="3063240"/>
            <a:ext cx="2194560" cy="109728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Prefabricated envelopes and light foundations designed around the material. $700B+ market.</a:t>
            </a:r>
            <a:endParaRPr lang="en-US" sz="1000" dirty="0"/>
          </a:p>
        </p:txBody>
      </p:sp>
      <p:sp>
        <p:nvSpPr>
          <p:cNvPr id="22" name="Text 20"/>
          <p:cNvSpPr/>
          <p:nvPr/>
        </p:nvSpPr>
        <p:spPr>
          <a:xfrm>
            <a:off x="502920" y="4663440"/>
            <a:ext cx="11155680" cy="411480"/>
          </a:xfrm>
          <a:prstGeom prst="rect">
            <a:avLst/>
          </a:prstGeom>
          <a:noFill/>
          <a:ln/>
        </p:spPr>
        <p:txBody>
          <a:bodyPr wrap="square" lIns="0" tIns="0" rIns="0" bIns="0" rtlCol="0" anchor="ctr"/>
          <a:lstStyle/>
          <a:p>
            <a:pPr indent="0" marL="0">
              <a:buNone/>
            </a:pPr>
            <a:r>
              <a:rPr lang="en-US" sz="1600" dirty="0">
                <a:solidFill>
                  <a:srgbClr val="F4ECDF"/>
                </a:solidFill>
                <a:latin typeface="Georgia" pitchFamily="34" charset="0"/>
                <a:ea typeface="Georgia" pitchFamily="34" charset="-122"/>
                <a:cs typeface="Georgia" pitchFamily="34" charset="-120"/>
              </a:rPr>
              <a:t>Behind all of it: steel is a $1.5 trillion a year market and concrete $1 trillion.</a:t>
            </a:r>
            <a:endParaRPr lang="en-US" sz="1600" dirty="0"/>
          </a:p>
        </p:txBody>
      </p:sp>
      <p:sp>
        <p:nvSpPr>
          <p:cNvPr id="23" name="Text 21"/>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11</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Appendix</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APPENDIX · 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71838" cy="256032"/>
          </a:xfrm>
          <a:prstGeom prst="rect">
            <a:avLst/>
          </a:prstGeom>
          <a:solidFill>
            <a:srgbClr val="A0714E">
              <a:alpha val="85000"/>
            </a:srgbClr>
          </a:solidFill>
          <a:ln w="12700">
            <a:solidFill>
              <a:srgbClr val="A0714E">
                <a:alpha val="0"/>
              </a:srgbClr>
            </a:solidFill>
            <a:prstDash val="solid"/>
          </a:ln>
        </p:spPr>
      </p:sp>
      <p:sp>
        <p:nvSpPr>
          <p:cNvPr id="16" name="Shape 14"/>
          <p:cNvSpPr/>
          <p:nvPr/>
        </p:nvSpPr>
        <p:spPr>
          <a:xfrm>
            <a:off x="2439829" y="3328416"/>
            <a:ext cx="71838" cy="256032"/>
          </a:xfrm>
          <a:prstGeom prst="rect">
            <a:avLst/>
          </a:prstGeom>
          <a:solidFill>
            <a:srgbClr val="A0714E">
              <a:alpha val="74000"/>
            </a:srgbClr>
          </a:solidFill>
          <a:ln w="12700">
            <a:solidFill>
              <a:srgbClr val="A0714E">
                <a:alpha val="0"/>
              </a:srgbClr>
            </a:solidFill>
            <a:prstDash val="solid"/>
          </a:ln>
        </p:spPr>
      </p:sp>
      <p:sp>
        <p:nvSpPr>
          <p:cNvPr id="17" name="Shape 15"/>
          <p:cNvSpPr/>
          <p:nvPr/>
        </p:nvSpPr>
        <p:spPr>
          <a:xfrm>
            <a:off x="2509838" y="3328416"/>
            <a:ext cx="71838" cy="256032"/>
          </a:xfrm>
          <a:prstGeom prst="rect">
            <a:avLst/>
          </a:prstGeom>
          <a:solidFill>
            <a:srgbClr val="A0714E">
              <a:alpha val="64000"/>
            </a:srgbClr>
          </a:solidFill>
          <a:ln w="12700">
            <a:solidFill>
              <a:srgbClr val="A0714E">
                <a:alpha val="0"/>
              </a:srgbClr>
            </a:solidFill>
            <a:prstDash val="solid"/>
          </a:ln>
        </p:spPr>
      </p:sp>
      <p:sp>
        <p:nvSpPr>
          <p:cNvPr id="18" name="Shape 16"/>
          <p:cNvSpPr/>
          <p:nvPr/>
        </p:nvSpPr>
        <p:spPr>
          <a:xfrm>
            <a:off x="2579846" y="3328416"/>
            <a:ext cx="71838" cy="256032"/>
          </a:xfrm>
          <a:prstGeom prst="rect">
            <a:avLst/>
          </a:prstGeom>
          <a:solidFill>
            <a:srgbClr val="A0714E">
              <a:alpha val="53000"/>
            </a:srgbClr>
          </a:solidFill>
          <a:ln w="12700">
            <a:solidFill>
              <a:srgbClr val="A0714E">
                <a:alpha val="0"/>
              </a:srgbClr>
            </a:solidFill>
            <a:prstDash val="solid"/>
          </a:ln>
        </p:spPr>
      </p:sp>
      <p:sp>
        <p:nvSpPr>
          <p:cNvPr id="19" name="Shape 17"/>
          <p:cNvSpPr/>
          <p:nvPr/>
        </p:nvSpPr>
        <p:spPr>
          <a:xfrm>
            <a:off x="2649855" y="3328416"/>
            <a:ext cx="71838" cy="256032"/>
          </a:xfrm>
          <a:prstGeom prst="rect">
            <a:avLst/>
          </a:prstGeom>
          <a:solidFill>
            <a:srgbClr val="A0714E">
              <a:alpha val="42000"/>
            </a:srgbClr>
          </a:solidFill>
          <a:ln w="12700">
            <a:solidFill>
              <a:srgbClr val="A0714E">
                <a:alpha val="0"/>
              </a:srgbClr>
            </a:solidFill>
            <a:prstDash val="solid"/>
          </a:ln>
        </p:spPr>
      </p:sp>
      <p:sp>
        <p:nvSpPr>
          <p:cNvPr id="20" name="Shape 18"/>
          <p:cNvSpPr/>
          <p:nvPr/>
        </p:nvSpPr>
        <p:spPr>
          <a:xfrm>
            <a:off x="2719864" y="3328416"/>
            <a:ext cx="71838" cy="256032"/>
          </a:xfrm>
          <a:prstGeom prst="rect">
            <a:avLst/>
          </a:prstGeom>
          <a:solidFill>
            <a:srgbClr val="A0714E">
              <a:alpha val="31000"/>
            </a:srgbClr>
          </a:solidFill>
          <a:ln w="12700">
            <a:solidFill>
              <a:srgbClr val="A0714E">
                <a:alpha val="0"/>
              </a:srgbClr>
            </a:solidFill>
            <a:prstDash val="solid"/>
          </a:ln>
        </p:spPr>
      </p:sp>
      <p:sp>
        <p:nvSpPr>
          <p:cNvPr id="21" name="Shape 19"/>
          <p:cNvSpPr/>
          <p:nvPr/>
        </p:nvSpPr>
        <p:spPr>
          <a:xfrm>
            <a:off x="2789873" y="3328416"/>
            <a:ext cx="71838" cy="256032"/>
          </a:xfrm>
          <a:prstGeom prst="rect">
            <a:avLst/>
          </a:prstGeom>
          <a:solidFill>
            <a:srgbClr val="A0714E">
              <a:alpha val="21000"/>
            </a:srgbClr>
          </a:solidFill>
          <a:ln w="12700">
            <a:solidFill>
              <a:srgbClr val="A0714E">
                <a:alpha val="0"/>
              </a:srgbClr>
            </a:solidFill>
            <a:prstDash val="solid"/>
          </a:ln>
        </p:spPr>
      </p:sp>
      <p:sp>
        <p:nvSpPr>
          <p:cNvPr id="22" name="Shape 20"/>
          <p:cNvSpPr/>
          <p:nvPr/>
        </p:nvSpPr>
        <p:spPr>
          <a:xfrm>
            <a:off x="2859881" y="3328416"/>
            <a:ext cx="71838" cy="256032"/>
          </a:xfrm>
          <a:prstGeom prst="rect">
            <a:avLst/>
          </a:prstGeom>
          <a:solidFill>
            <a:srgbClr val="A0714E">
              <a:alpha val="10000"/>
            </a:srgbClr>
          </a:solidFill>
          <a:ln w="12700">
            <a:solidFill>
              <a:srgbClr val="A0714E">
                <a:alpha val="0"/>
              </a:srgbClr>
            </a:solidFill>
            <a:prstDash val="solid"/>
          </a:ln>
        </p:spPr>
      </p:sp>
      <p:sp>
        <p:nvSpPr>
          <p:cNvPr id="23" name="Shape 21"/>
          <p:cNvSpPr/>
          <p:nvPr/>
        </p:nvSpPr>
        <p:spPr>
          <a:xfrm>
            <a:off x="1623060" y="3291840"/>
            <a:ext cx="0" cy="329184"/>
          </a:xfrm>
          <a:prstGeom prst="line">
            <a:avLst/>
          </a:prstGeom>
          <a:noFill/>
          <a:ln w="9525">
            <a:solidFill>
              <a:srgbClr val="CDBFA9"/>
            </a:solidFill>
            <a:prstDash val="solid"/>
          </a:ln>
        </p:spPr>
      </p:sp>
      <p:sp>
        <p:nvSpPr>
          <p:cNvPr id="24" name="Text 22"/>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25" name="Text 23"/>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26" name="Shape 24"/>
          <p:cNvSpPr/>
          <p:nvPr/>
        </p:nvSpPr>
        <p:spPr>
          <a:xfrm>
            <a:off x="502920" y="4197096"/>
            <a:ext cx="4480560" cy="256032"/>
          </a:xfrm>
          <a:prstGeom prst="rect">
            <a:avLst/>
          </a:prstGeom>
          <a:solidFill>
            <a:srgbClr val="3A2B1A"/>
          </a:solidFill>
          <a:ln/>
        </p:spPr>
      </p:sp>
      <p:sp>
        <p:nvSpPr>
          <p:cNvPr id="27" name="Shape 25"/>
          <p:cNvSpPr/>
          <p:nvPr/>
        </p:nvSpPr>
        <p:spPr>
          <a:xfrm>
            <a:off x="1623060" y="4197096"/>
            <a:ext cx="186690" cy="256032"/>
          </a:xfrm>
          <a:prstGeom prst="rect">
            <a:avLst/>
          </a:prstGeom>
          <a:solidFill>
            <a:srgbClr val="8FB356"/>
          </a:solidFill>
          <a:ln/>
        </p:spPr>
      </p:sp>
      <p:sp>
        <p:nvSpPr>
          <p:cNvPr id="28" name="Shape 26"/>
          <p:cNvSpPr/>
          <p:nvPr/>
        </p:nvSpPr>
        <p:spPr>
          <a:xfrm>
            <a:off x="1809750" y="4197096"/>
            <a:ext cx="25165" cy="256032"/>
          </a:xfrm>
          <a:prstGeom prst="rect">
            <a:avLst/>
          </a:prstGeom>
          <a:solidFill>
            <a:srgbClr val="8FB356">
              <a:alpha val="85000"/>
            </a:srgbClr>
          </a:solidFill>
          <a:ln w="12700">
            <a:solidFill>
              <a:srgbClr val="8FB356">
                <a:alpha val="0"/>
              </a:srgbClr>
            </a:solidFill>
            <a:prstDash val="solid"/>
          </a:ln>
        </p:spPr>
      </p:sp>
      <p:sp>
        <p:nvSpPr>
          <p:cNvPr id="29" name="Shape 27"/>
          <p:cNvSpPr/>
          <p:nvPr/>
        </p:nvSpPr>
        <p:spPr>
          <a:xfrm>
            <a:off x="1833086" y="4197096"/>
            <a:ext cx="25165" cy="256032"/>
          </a:xfrm>
          <a:prstGeom prst="rect">
            <a:avLst/>
          </a:prstGeom>
          <a:solidFill>
            <a:srgbClr val="8FB356">
              <a:alpha val="74000"/>
            </a:srgbClr>
          </a:solidFill>
          <a:ln w="12700">
            <a:solidFill>
              <a:srgbClr val="8FB356">
                <a:alpha val="0"/>
              </a:srgbClr>
            </a:solidFill>
            <a:prstDash val="solid"/>
          </a:ln>
        </p:spPr>
      </p:sp>
      <p:sp>
        <p:nvSpPr>
          <p:cNvPr id="30" name="Shape 28"/>
          <p:cNvSpPr/>
          <p:nvPr/>
        </p:nvSpPr>
        <p:spPr>
          <a:xfrm>
            <a:off x="1856423" y="4197096"/>
            <a:ext cx="25165" cy="256032"/>
          </a:xfrm>
          <a:prstGeom prst="rect">
            <a:avLst/>
          </a:prstGeom>
          <a:solidFill>
            <a:srgbClr val="8FB356">
              <a:alpha val="64000"/>
            </a:srgbClr>
          </a:solidFill>
          <a:ln w="12700">
            <a:solidFill>
              <a:srgbClr val="8FB356">
                <a:alpha val="0"/>
              </a:srgbClr>
            </a:solidFill>
            <a:prstDash val="solid"/>
          </a:ln>
        </p:spPr>
      </p:sp>
      <p:sp>
        <p:nvSpPr>
          <p:cNvPr id="31" name="Shape 29"/>
          <p:cNvSpPr/>
          <p:nvPr/>
        </p:nvSpPr>
        <p:spPr>
          <a:xfrm>
            <a:off x="1879759" y="4197096"/>
            <a:ext cx="25165" cy="256032"/>
          </a:xfrm>
          <a:prstGeom prst="rect">
            <a:avLst/>
          </a:prstGeom>
          <a:solidFill>
            <a:srgbClr val="8FB356">
              <a:alpha val="53000"/>
            </a:srgbClr>
          </a:solidFill>
          <a:ln w="12700">
            <a:solidFill>
              <a:srgbClr val="8FB356">
                <a:alpha val="0"/>
              </a:srgbClr>
            </a:solidFill>
            <a:prstDash val="solid"/>
          </a:ln>
        </p:spPr>
      </p:sp>
      <p:sp>
        <p:nvSpPr>
          <p:cNvPr id="32" name="Shape 30"/>
          <p:cNvSpPr/>
          <p:nvPr/>
        </p:nvSpPr>
        <p:spPr>
          <a:xfrm>
            <a:off x="1903095" y="4197096"/>
            <a:ext cx="25165" cy="256032"/>
          </a:xfrm>
          <a:prstGeom prst="rect">
            <a:avLst/>
          </a:prstGeom>
          <a:solidFill>
            <a:srgbClr val="8FB356">
              <a:alpha val="42000"/>
            </a:srgbClr>
          </a:solidFill>
          <a:ln w="12700">
            <a:solidFill>
              <a:srgbClr val="8FB356">
                <a:alpha val="0"/>
              </a:srgbClr>
            </a:solidFill>
            <a:prstDash val="solid"/>
          </a:ln>
        </p:spPr>
      </p:sp>
      <p:sp>
        <p:nvSpPr>
          <p:cNvPr id="33" name="Shape 31"/>
          <p:cNvSpPr/>
          <p:nvPr/>
        </p:nvSpPr>
        <p:spPr>
          <a:xfrm>
            <a:off x="1926431" y="4197096"/>
            <a:ext cx="25165" cy="256032"/>
          </a:xfrm>
          <a:prstGeom prst="rect">
            <a:avLst/>
          </a:prstGeom>
          <a:solidFill>
            <a:srgbClr val="8FB356">
              <a:alpha val="31000"/>
            </a:srgbClr>
          </a:solidFill>
          <a:ln w="12700">
            <a:solidFill>
              <a:srgbClr val="8FB356">
                <a:alpha val="0"/>
              </a:srgbClr>
            </a:solidFill>
            <a:prstDash val="solid"/>
          </a:ln>
        </p:spPr>
      </p:sp>
      <p:sp>
        <p:nvSpPr>
          <p:cNvPr id="34" name="Shape 32"/>
          <p:cNvSpPr/>
          <p:nvPr/>
        </p:nvSpPr>
        <p:spPr>
          <a:xfrm>
            <a:off x="1949768" y="4197096"/>
            <a:ext cx="25165" cy="256032"/>
          </a:xfrm>
          <a:prstGeom prst="rect">
            <a:avLst/>
          </a:prstGeom>
          <a:solidFill>
            <a:srgbClr val="8FB356">
              <a:alpha val="21000"/>
            </a:srgbClr>
          </a:solidFill>
          <a:ln w="12700">
            <a:solidFill>
              <a:srgbClr val="8FB356">
                <a:alpha val="0"/>
              </a:srgbClr>
            </a:solidFill>
            <a:prstDash val="solid"/>
          </a:ln>
        </p:spPr>
      </p:sp>
      <p:sp>
        <p:nvSpPr>
          <p:cNvPr id="35" name="Shape 33"/>
          <p:cNvSpPr/>
          <p:nvPr/>
        </p:nvSpPr>
        <p:spPr>
          <a:xfrm>
            <a:off x="1973104" y="4197096"/>
            <a:ext cx="25165" cy="256032"/>
          </a:xfrm>
          <a:prstGeom prst="rect">
            <a:avLst/>
          </a:prstGeom>
          <a:solidFill>
            <a:srgbClr val="8FB356">
              <a:alpha val="10000"/>
            </a:srgbClr>
          </a:solidFill>
          <a:ln w="12700">
            <a:solidFill>
              <a:srgbClr val="8FB356">
                <a:alpha val="0"/>
              </a:srgbClr>
            </a:solidFill>
            <a:prstDash val="solid"/>
          </a:ln>
        </p:spPr>
      </p:sp>
      <p:sp>
        <p:nvSpPr>
          <p:cNvPr id="36" name="Shape 34"/>
          <p:cNvSpPr/>
          <p:nvPr/>
        </p:nvSpPr>
        <p:spPr>
          <a:xfrm>
            <a:off x="1436370" y="4197096"/>
            <a:ext cx="186690" cy="256032"/>
          </a:xfrm>
          <a:prstGeom prst="rect">
            <a:avLst/>
          </a:prstGeom>
          <a:solidFill>
            <a:srgbClr val="5EA9A2"/>
          </a:solidFill>
          <a:ln/>
        </p:spPr>
      </p:sp>
      <p:sp>
        <p:nvSpPr>
          <p:cNvPr id="37" name="Shape 35"/>
          <p:cNvSpPr/>
          <p:nvPr/>
        </p:nvSpPr>
        <p:spPr>
          <a:xfrm>
            <a:off x="1343025" y="4197096"/>
            <a:ext cx="95174" cy="256032"/>
          </a:xfrm>
          <a:prstGeom prst="rect">
            <a:avLst/>
          </a:prstGeom>
          <a:solidFill>
            <a:srgbClr val="5EA9A2">
              <a:alpha val="85000"/>
            </a:srgbClr>
          </a:solidFill>
          <a:ln w="12700">
            <a:solidFill>
              <a:srgbClr val="5EA9A2">
                <a:alpha val="0"/>
              </a:srgbClr>
            </a:solidFill>
            <a:prstDash val="solid"/>
          </a:ln>
        </p:spPr>
      </p:sp>
      <p:sp>
        <p:nvSpPr>
          <p:cNvPr id="38" name="Shape 36"/>
          <p:cNvSpPr/>
          <p:nvPr/>
        </p:nvSpPr>
        <p:spPr>
          <a:xfrm>
            <a:off x="1249680" y="4197096"/>
            <a:ext cx="95174" cy="256032"/>
          </a:xfrm>
          <a:prstGeom prst="rect">
            <a:avLst/>
          </a:prstGeom>
          <a:solidFill>
            <a:srgbClr val="5EA9A2">
              <a:alpha val="74000"/>
            </a:srgbClr>
          </a:solidFill>
          <a:ln w="12700">
            <a:solidFill>
              <a:srgbClr val="5EA9A2">
                <a:alpha val="0"/>
              </a:srgbClr>
            </a:solidFill>
            <a:prstDash val="solid"/>
          </a:ln>
        </p:spPr>
      </p:sp>
      <p:sp>
        <p:nvSpPr>
          <p:cNvPr id="39" name="Shape 37"/>
          <p:cNvSpPr/>
          <p:nvPr/>
        </p:nvSpPr>
        <p:spPr>
          <a:xfrm>
            <a:off x="1156335" y="4197096"/>
            <a:ext cx="95174" cy="256032"/>
          </a:xfrm>
          <a:prstGeom prst="rect">
            <a:avLst/>
          </a:prstGeom>
          <a:solidFill>
            <a:srgbClr val="5EA9A2">
              <a:alpha val="64000"/>
            </a:srgbClr>
          </a:solidFill>
          <a:ln w="12700">
            <a:solidFill>
              <a:srgbClr val="5EA9A2">
                <a:alpha val="0"/>
              </a:srgbClr>
            </a:solidFill>
            <a:prstDash val="solid"/>
          </a:ln>
        </p:spPr>
      </p:sp>
      <p:sp>
        <p:nvSpPr>
          <p:cNvPr id="40" name="Shape 38"/>
          <p:cNvSpPr/>
          <p:nvPr/>
        </p:nvSpPr>
        <p:spPr>
          <a:xfrm>
            <a:off x="1062990" y="4197096"/>
            <a:ext cx="95174" cy="256032"/>
          </a:xfrm>
          <a:prstGeom prst="rect">
            <a:avLst/>
          </a:prstGeom>
          <a:solidFill>
            <a:srgbClr val="5EA9A2">
              <a:alpha val="53000"/>
            </a:srgbClr>
          </a:solidFill>
          <a:ln w="12700">
            <a:solidFill>
              <a:srgbClr val="5EA9A2">
                <a:alpha val="0"/>
              </a:srgbClr>
            </a:solidFill>
            <a:prstDash val="solid"/>
          </a:ln>
        </p:spPr>
      </p:sp>
      <p:sp>
        <p:nvSpPr>
          <p:cNvPr id="41" name="Shape 39"/>
          <p:cNvSpPr/>
          <p:nvPr/>
        </p:nvSpPr>
        <p:spPr>
          <a:xfrm>
            <a:off x="969645" y="4197096"/>
            <a:ext cx="95174" cy="256032"/>
          </a:xfrm>
          <a:prstGeom prst="rect">
            <a:avLst/>
          </a:prstGeom>
          <a:solidFill>
            <a:srgbClr val="5EA9A2">
              <a:alpha val="42000"/>
            </a:srgbClr>
          </a:solidFill>
          <a:ln w="12700">
            <a:solidFill>
              <a:srgbClr val="5EA9A2">
                <a:alpha val="0"/>
              </a:srgbClr>
            </a:solidFill>
            <a:prstDash val="solid"/>
          </a:ln>
        </p:spPr>
      </p:sp>
      <p:sp>
        <p:nvSpPr>
          <p:cNvPr id="42" name="Shape 40"/>
          <p:cNvSpPr/>
          <p:nvPr/>
        </p:nvSpPr>
        <p:spPr>
          <a:xfrm>
            <a:off x="876300" y="4197096"/>
            <a:ext cx="95174" cy="256032"/>
          </a:xfrm>
          <a:prstGeom prst="rect">
            <a:avLst/>
          </a:prstGeom>
          <a:solidFill>
            <a:srgbClr val="5EA9A2">
              <a:alpha val="31000"/>
            </a:srgbClr>
          </a:solidFill>
          <a:ln w="12700">
            <a:solidFill>
              <a:srgbClr val="5EA9A2">
                <a:alpha val="0"/>
              </a:srgbClr>
            </a:solidFill>
            <a:prstDash val="solid"/>
          </a:ln>
        </p:spPr>
      </p:sp>
      <p:sp>
        <p:nvSpPr>
          <p:cNvPr id="43" name="Shape 41"/>
          <p:cNvSpPr/>
          <p:nvPr/>
        </p:nvSpPr>
        <p:spPr>
          <a:xfrm>
            <a:off x="782955" y="4197096"/>
            <a:ext cx="95174" cy="256032"/>
          </a:xfrm>
          <a:prstGeom prst="rect">
            <a:avLst/>
          </a:prstGeom>
          <a:solidFill>
            <a:srgbClr val="5EA9A2">
              <a:alpha val="21000"/>
            </a:srgbClr>
          </a:solidFill>
          <a:ln w="12700">
            <a:solidFill>
              <a:srgbClr val="5EA9A2">
                <a:alpha val="0"/>
              </a:srgbClr>
            </a:solidFill>
            <a:prstDash val="solid"/>
          </a:ln>
        </p:spPr>
      </p:sp>
      <p:sp>
        <p:nvSpPr>
          <p:cNvPr id="44" name="Shape 42"/>
          <p:cNvSpPr/>
          <p:nvPr/>
        </p:nvSpPr>
        <p:spPr>
          <a:xfrm>
            <a:off x="689610" y="4197096"/>
            <a:ext cx="95174" cy="256032"/>
          </a:xfrm>
          <a:prstGeom prst="rect">
            <a:avLst/>
          </a:prstGeom>
          <a:solidFill>
            <a:srgbClr val="5EA9A2">
              <a:alpha val="10000"/>
            </a:srgbClr>
          </a:solidFill>
          <a:ln w="12700">
            <a:solidFill>
              <a:srgbClr val="5EA9A2">
                <a:alpha val="0"/>
              </a:srgbClr>
            </a:solidFill>
            <a:prstDash val="solid"/>
          </a:ln>
        </p:spPr>
      </p:sp>
      <p:sp>
        <p:nvSpPr>
          <p:cNvPr id="45" name="Shape 43"/>
          <p:cNvSpPr/>
          <p:nvPr/>
        </p:nvSpPr>
        <p:spPr>
          <a:xfrm>
            <a:off x="1623060" y="4160520"/>
            <a:ext cx="0" cy="329184"/>
          </a:xfrm>
          <a:prstGeom prst="line">
            <a:avLst/>
          </a:prstGeom>
          <a:noFill/>
          <a:ln w="9525">
            <a:solidFill>
              <a:srgbClr val="CDBFA9"/>
            </a:solidFill>
            <a:prstDash val="solid"/>
          </a:ln>
        </p:spPr>
      </p:sp>
      <p:sp>
        <p:nvSpPr>
          <p:cNvPr id="46" name="Text 44"/>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47" name="Shape 45"/>
          <p:cNvSpPr/>
          <p:nvPr/>
        </p:nvSpPr>
        <p:spPr>
          <a:xfrm>
            <a:off x="502920" y="4800600"/>
            <a:ext cx="5852160" cy="1097280"/>
          </a:xfrm>
          <a:prstGeom prst="roundRect">
            <a:avLst>
              <a:gd name="adj" fmla="val 7500"/>
            </a:avLst>
          </a:prstGeom>
          <a:solidFill>
            <a:srgbClr val="2E2113"/>
          </a:solidFill>
          <a:ln/>
        </p:spPr>
      </p:sp>
      <p:sp>
        <p:nvSpPr>
          <p:cNvPr id="48" name="Text 46"/>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49" name="Text 47"/>
          <p:cNvSpPr/>
          <p:nvPr/>
        </p:nvSpPr>
        <p:spPr>
          <a:xfrm>
            <a:off x="6675120" y="2194560"/>
            <a:ext cx="4983480" cy="1280160"/>
          </a:xfrm>
          <a:prstGeom prst="rect">
            <a:avLst/>
          </a:prstGeom>
          <a:noFill/>
          <a:ln/>
        </p:spPr>
        <p:txBody>
          <a:bodyPr wrap="square" lIns="0" tIns="0" rIns="0" bIns="0" rtlCol="0" anchor="t"/>
          <a:lstStyle/>
          <a:p>
            <a:pPr indent="0" marL="0">
              <a:buNone/>
            </a:pPr>
            <a:r>
              <a:rPr lang="en-US" sz="1600" dirty="0">
                <a:solidFill>
                  <a:srgbClr val="F4ECDF"/>
                </a:solidFill>
                <a:latin typeface="Georgia" pitchFamily="34" charset="0"/>
                <a:ea typeface="Georgia" pitchFamily="34" charset="-122"/>
                <a:cs typeface="Georgia" pitchFamily="34" charset="-120"/>
              </a:rPr>
              <a:t>SUPERWOOD carbon estimates are based on the LCA developed by Professor Ming Hu, University of Notre Dame.</a:t>
            </a:r>
            <a:endParaRPr lang="en-US" sz="1600" dirty="0"/>
          </a:p>
        </p:txBody>
      </p:sp>
      <p:sp>
        <p:nvSpPr>
          <p:cNvPr id="50" name="Text 48"/>
          <p:cNvSpPr/>
          <p:nvPr/>
        </p:nvSpPr>
        <p:spPr>
          <a:xfrm>
            <a:off x="9948672" y="6199632"/>
            <a:ext cx="1371600" cy="201168"/>
          </a:xfrm>
          <a:prstGeom prst="rect">
            <a:avLst/>
          </a:prstGeom>
          <a:noFill/>
          <a:ln/>
        </p:spPr>
        <p:txBody>
          <a:bodyPr wrap="square" lIns="0" tIns="0" rIns="0" bIns="0" rtlCol="0" anchor="ctr"/>
          <a:lstStyle/>
          <a:p>
            <a:pPr algn="r" indent="0" marL="0">
              <a:buNone/>
            </a:pPr>
            <a:r>
              <a:rPr lang="en-US" sz="700" i="1" dirty="0">
                <a:solidFill>
                  <a:srgbClr val="9D8D76"/>
                </a:solidFill>
                <a:latin typeface="Calibri" pitchFamily="34" charset="0"/>
                <a:ea typeface="Calibri" pitchFamily="34" charset="-122"/>
                <a:cs typeface="Calibri" pitchFamily="34" charset="-120"/>
              </a:rPr>
              <a:t>Note 12</a:t>
            </a:r>
            <a:endParaRPr lang="en-US" sz="7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Notes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NOTES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Notes and sources</a:t>
            </a:r>
            <a:endParaRPr lang="en-US" sz="3000" dirty="0"/>
          </a:p>
        </p:txBody>
      </p:sp>
      <p:sp>
        <p:nvSpPr>
          <p:cNvPr id="6" name="Text 4"/>
          <p:cNvSpPr/>
          <p:nvPr/>
        </p:nvSpPr>
        <p:spPr>
          <a:xfrm>
            <a:off x="502920" y="1783080"/>
            <a:ext cx="5394960" cy="4480560"/>
          </a:xfrm>
          <a:prstGeom prst="rect">
            <a:avLst/>
          </a:prstGeom>
          <a:noFill/>
          <a:ln/>
        </p:spPr>
        <p:txBody>
          <a:bodyPr wrap="square" lIns="0" tIns="0" rIns="0" bIns="0" rtlCol="0" anchor="t"/>
          <a:lstStyle/>
          <a:p>
            <a:pPr indent="0" marL="0">
              <a:buNone/>
            </a:pPr>
            <a:r>
              <a:rPr lang="en-US" sz="850" b="1" dirty="0">
                <a:solidFill>
                  <a:srgbClr val="E2B877"/>
                </a:solidFill>
                <a:latin typeface="Calibri" pitchFamily="34" charset="0"/>
                <a:ea typeface="Calibri" pitchFamily="34" charset="-122"/>
                <a:cs typeface="Calibri" pitchFamily="34" charset="-120"/>
              </a:rPr>
              <a:t>1  </a:t>
            </a:r>
            <a:pPr indent="0" marL="0">
              <a:buNone/>
            </a:pPr>
            <a:r>
              <a:rPr lang="en-US" sz="850" b="1" dirty="0">
                <a:solidFill>
                  <a:srgbClr val="F4ECDF"/>
                </a:solidFill>
                <a:latin typeface="Calibri" pitchFamily="34" charset="0"/>
                <a:ea typeface="Calibri" pitchFamily="34" charset="-122"/>
                <a:cs typeface="Calibri" pitchFamily="34" charset="-120"/>
              </a:rPr>
              <a:t>Slide 2 · We help data centers decarbonize and improve their impact on communities, while they accelerate SUPERWOOD's journey from premium skins into structural applications</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a:p>
            <a:pPr indent="0" marL="0">
              <a:buNone/>
            </a:pPr>
            <a:r>
              <a:rPr lang="en-US" sz="850" b="1" dirty="0">
                <a:solidFill>
                  <a:srgbClr val="E2B877"/>
                </a:solidFill>
                <a:latin typeface="Calibri" pitchFamily="34" charset="0"/>
                <a:ea typeface="Calibri" pitchFamily="34" charset="-122"/>
                <a:cs typeface="Calibri" pitchFamily="34" charset="-120"/>
              </a:rPr>
              <a:t>2  </a:t>
            </a:r>
            <a:pPr indent="0" marL="0">
              <a:buNone/>
            </a:pPr>
            <a:r>
              <a:rPr lang="en-US" sz="850" b="1" dirty="0">
                <a:solidFill>
                  <a:srgbClr val="F4ECDF"/>
                </a:solidFill>
                <a:latin typeface="Calibri" pitchFamily="34" charset="0"/>
                <a:ea typeface="Calibri" pitchFamily="34" charset="-122"/>
                <a:cs typeface="Calibri" pitchFamily="34" charset="-120"/>
              </a:rPr>
              <a:t>Slide 3 · Data center construction is growing dramatically</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2026 estimated from the January to July pace;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a:p>
            <a:pPr indent="0" marL="0">
              <a:buNone/>
            </a:pPr>
            <a:r>
              <a:rPr lang="en-US" sz="850" b="1" dirty="0">
                <a:solidFill>
                  <a:srgbClr val="E2B877"/>
                </a:solidFill>
                <a:latin typeface="Calibri" pitchFamily="34" charset="0"/>
                <a:ea typeface="Calibri" pitchFamily="34" charset="-122"/>
                <a:cs typeface="Calibri" pitchFamily="34" charset="-120"/>
              </a:rPr>
              <a:t>3  </a:t>
            </a:r>
            <a:pPr indent="0" marL="0">
              <a:buNone/>
            </a:pPr>
            <a:r>
              <a:rPr lang="en-US" sz="850" b="1" dirty="0">
                <a:solidFill>
                  <a:srgbClr val="F4ECDF"/>
                </a:solidFill>
                <a:latin typeface="Calibri" pitchFamily="34" charset="0"/>
                <a:ea typeface="Calibri" pitchFamily="34" charset="-122"/>
                <a:cs typeface="Calibri" pitchFamily="34" charset="-120"/>
              </a:rPr>
              <a:t>Slide 4 · Resulting in supply chain challenges</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Lead times: Wood Mackenzie 2026 survey as reported by POWER and Data Center Knowledge. Aluminum: Federal Register, Final 2025 List of Critical Minerals (Nov 2025). Steel shortage: what customers report to InventWood. Tariffs: Congressional Research Service IN12519; Construction Dive on the full-value rule, 2026.</a:t>
            </a:r>
            <a:endParaRPr lang="en-US" sz="850" dirty="0"/>
          </a:p>
          <a:p>
            <a:pPr indent="0" marL="0">
              <a:buNone/>
            </a:pPr>
            <a:r>
              <a:rPr lang="en-US" sz="850" b="1" dirty="0">
                <a:solidFill>
                  <a:srgbClr val="E2B877"/>
                </a:solidFill>
                <a:latin typeface="Calibri" pitchFamily="34" charset="0"/>
                <a:ea typeface="Calibri" pitchFamily="34" charset="-122"/>
                <a:cs typeface="Calibri" pitchFamily="34" charset="-120"/>
              </a:rPr>
              <a:t>4  </a:t>
            </a:r>
            <a:pPr indent="0" marL="0">
              <a:buNone/>
            </a:pPr>
            <a:r>
              <a:rPr lang="en-US" sz="850" b="1" dirty="0">
                <a:solidFill>
                  <a:srgbClr val="F4ECDF"/>
                </a:solidFill>
                <a:latin typeface="Calibri" pitchFamily="34" charset="0"/>
                <a:ea typeface="Calibri" pitchFamily="34" charset="-122"/>
                <a:cs typeface="Calibri" pitchFamily="34" charset="-120"/>
              </a:rPr>
              <a:t>Slide 5 · And communities are pushing back</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a:p>
            <a:pPr indent="0" marL="0">
              <a:buNone/>
            </a:pPr>
            <a:r>
              <a:rPr lang="en-US" sz="850" b="1" dirty="0">
                <a:solidFill>
                  <a:srgbClr val="E2B877"/>
                </a:solidFill>
                <a:latin typeface="Calibri" pitchFamily="34" charset="0"/>
                <a:ea typeface="Calibri" pitchFamily="34" charset="-122"/>
                <a:cs typeface="Calibri" pitchFamily="34" charset="-120"/>
              </a:rPr>
              <a:t>5  </a:t>
            </a:r>
            <a:pPr indent="0" marL="0">
              <a:buNone/>
            </a:pPr>
            <a:r>
              <a:rPr lang="en-US" sz="850" b="1" dirty="0">
                <a:solidFill>
                  <a:srgbClr val="F4ECDF"/>
                </a:solidFill>
                <a:latin typeface="Calibri" pitchFamily="34" charset="0"/>
                <a:ea typeface="Calibri" pitchFamily="34" charset="-122"/>
                <a:cs typeface="Calibri" pitchFamily="34" charset="-120"/>
              </a:rPr>
              <a:t>Slide 6 · Hyperscalers are already building structures with wood. We turbocharge wood.</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a:p>
            <a:pPr indent="0" marL="0">
              <a:buNone/>
            </a:pPr>
            <a:r>
              <a:rPr lang="en-US" sz="850" b="1" dirty="0">
                <a:solidFill>
                  <a:srgbClr val="E2B877"/>
                </a:solidFill>
                <a:latin typeface="Calibri" pitchFamily="34" charset="0"/>
                <a:ea typeface="Calibri" pitchFamily="34" charset="-122"/>
                <a:cs typeface="Calibri" pitchFamily="34" charset="-120"/>
              </a:rPr>
              <a:t>6  </a:t>
            </a:r>
            <a:pPr indent="0" marL="0">
              <a:buNone/>
            </a:pPr>
            <a:r>
              <a:rPr lang="en-US" sz="850" b="1" dirty="0">
                <a:solidFill>
                  <a:srgbClr val="F4ECDF"/>
                </a:solidFill>
                <a:latin typeface="Calibri" pitchFamily="34" charset="0"/>
                <a:ea typeface="Calibri" pitchFamily="34" charset="-122"/>
                <a:cs typeface="Calibri" pitchFamily="34" charset="-120"/>
              </a:rPr>
              <a:t>Slide 7 · 50–80% of a data center’s building and contents are steel</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Concrete: footprint bottom-up with moderate soils (slab, footings, pads, paving, yard mats; the published 500–1,000 m³/MW intensity is the upper comparison).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850" dirty="0"/>
          </a:p>
        </p:txBody>
      </p:sp>
      <p:sp>
        <p:nvSpPr>
          <p:cNvPr id="7" name="Text 5"/>
          <p:cNvSpPr/>
          <p:nvPr/>
        </p:nvSpPr>
        <p:spPr>
          <a:xfrm>
            <a:off x="6263640" y="1783080"/>
            <a:ext cx="5394960" cy="4480560"/>
          </a:xfrm>
          <a:prstGeom prst="rect">
            <a:avLst/>
          </a:prstGeom>
          <a:noFill/>
          <a:ln/>
        </p:spPr>
        <p:txBody>
          <a:bodyPr wrap="square" lIns="0" tIns="0" rIns="0" bIns="0" rtlCol="0" anchor="t"/>
          <a:lstStyle/>
          <a:p>
            <a:pPr indent="0" marL="0">
              <a:buNone/>
            </a:pPr>
            <a:r>
              <a:rPr lang="en-US" sz="850" b="1" dirty="0">
                <a:solidFill>
                  <a:srgbClr val="E2B877"/>
                </a:solidFill>
                <a:latin typeface="Calibri" pitchFamily="34" charset="0"/>
                <a:ea typeface="Calibri" pitchFamily="34" charset="-122"/>
                <a:cs typeface="Calibri" pitchFamily="34" charset="-120"/>
              </a:rPr>
              <a:t>7  </a:t>
            </a:r>
            <a:pPr indent="0" marL="0">
              <a:buNone/>
            </a:pPr>
            <a:r>
              <a:rPr lang="en-US" sz="850" b="1" dirty="0">
                <a:solidFill>
                  <a:srgbClr val="F4ECDF"/>
                </a:solidFill>
                <a:latin typeface="Calibri" pitchFamily="34" charset="0"/>
                <a:ea typeface="Calibri" pitchFamily="34" charset="-122"/>
                <a:cs typeface="Calibri" pitchFamily="34" charset="-120"/>
              </a:rPr>
              <a:t>Slide 8 · Just one data center can consume the entire output of a SUPERMILL</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Company estimate from the slide 6 model, low–high scenarios, moderate soils;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850" dirty="0"/>
          </a:p>
          <a:p>
            <a:pPr indent="0" marL="0">
              <a:buNone/>
            </a:pPr>
            <a:r>
              <a:rPr lang="en-US" sz="850" b="1" dirty="0">
                <a:solidFill>
                  <a:srgbClr val="E2B877"/>
                </a:solidFill>
                <a:latin typeface="Calibri" pitchFamily="34" charset="0"/>
                <a:ea typeface="Calibri" pitchFamily="34" charset="-122"/>
                <a:cs typeface="Calibri" pitchFamily="34" charset="-120"/>
              </a:rPr>
              <a:t>8  </a:t>
            </a:r>
            <a:pPr indent="0" marL="0">
              <a:buNone/>
            </a:pPr>
            <a:r>
              <a:rPr lang="en-US" sz="850" b="1" dirty="0">
                <a:solidFill>
                  <a:srgbClr val="F4ECDF"/>
                </a:solidFill>
                <a:latin typeface="Calibri" pitchFamily="34" charset="0"/>
                <a:ea typeface="Calibri" pitchFamily="34" charset="-122"/>
                <a:cs typeface="Calibri" pitchFamily="34" charset="-120"/>
              </a:rPr>
              <a:t>Slide 9 · SUPERWOOD’s properties are a great fit for data centers</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a:p>
            <a:pPr indent="0" marL="0">
              <a:buNone/>
            </a:pPr>
            <a:r>
              <a:rPr lang="en-US" sz="850" b="1" dirty="0">
                <a:solidFill>
                  <a:srgbClr val="E2B877"/>
                </a:solidFill>
                <a:latin typeface="Calibri" pitchFamily="34" charset="0"/>
                <a:ea typeface="Calibri" pitchFamily="34" charset="-122"/>
                <a:cs typeface="Calibri" pitchFamily="34" charset="-120"/>
              </a:rPr>
              <a:t>9  </a:t>
            </a:r>
            <a:pPr indent="0" marL="0">
              <a:buNone/>
            </a:pPr>
            <a:r>
              <a:rPr lang="en-US" sz="850" b="1" dirty="0">
                <a:solidFill>
                  <a:srgbClr val="F4ECDF"/>
                </a:solidFill>
                <a:latin typeface="Calibri" pitchFamily="34" charset="0"/>
                <a:ea typeface="Calibri" pitchFamily="34" charset="-122"/>
                <a:cs typeface="Calibri" pitchFamily="34" charset="-120"/>
              </a:rPr>
              <a:t>Slide 10 · Enabling data centers that are faster to build, lighter, reconfigurable and relocatable</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a:p>
            <a:pPr indent="0" marL="0">
              <a:buNone/>
            </a:pPr>
            <a:r>
              <a:rPr lang="en-US" sz="850" b="1" dirty="0">
                <a:solidFill>
                  <a:srgbClr val="E2B877"/>
                </a:solidFill>
                <a:latin typeface="Calibri" pitchFamily="34" charset="0"/>
                <a:ea typeface="Calibri" pitchFamily="34" charset="-122"/>
                <a:cs typeface="Calibri" pitchFamily="34" charset="-120"/>
              </a:rPr>
              <a:t>10  </a:t>
            </a:r>
            <a:pPr indent="0" marL="0">
              <a:buNone/>
            </a:pPr>
            <a:r>
              <a:rPr lang="en-US" sz="850" b="1" dirty="0">
                <a:solidFill>
                  <a:srgbClr val="F4ECDF"/>
                </a:solidFill>
                <a:latin typeface="Calibri" pitchFamily="34" charset="0"/>
                <a:ea typeface="Calibri" pitchFamily="34" charset="-122"/>
                <a:cs typeface="Calibri" pitchFamily="34" charset="-120"/>
              </a:rPr>
              <a:t>Slide 15 · We’re engaging thoughtfully and deeply with customers</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Next steps undated. Published backup for Microsoft and Meta on the next slide.</a:t>
            </a:r>
            <a:endParaRPr lang="en-US" sz="850" dirty="0"/>
          </a:p>
          <a:p>
            <a:pPr indent="0" marL="0">
              <a:buNone/>
            </a:pPr>
            <a:r>
              <a:rPr lang="en-US" sz="850" b="1" dirty="0">
                <a:solidFill>
                  <a:srgbClr val="E2B877"/>
                </a:solidFill>
                <a:latin typeface="Calibri" pitchFamily="34" charset="0"/>
                <a:ea typeface="Calibri" pitchFamily="34" charset="-122"/>
                <a:cs typeface="Calibri" pitchFamily="34" charset="-120"/>
              </a:rPr>
              <a:t>11  </a:t>
            </a:r>
            <a:pPr indent="0" marL="0">
              <a:buNone/>
            </a:pPr>
            <a:r>
              <a:rPr lang="en-US" sz="850" b="1" dirty="0">
                <a:solidFill>
                  <a:srgbClr val="F4ECDF"/>
                </a:solidFill>
                <a:latin typeface="Calibri" pitchFamily="34" charset="0"/>
                <a:ea typeface="Calibri" pitchFamily="34" charset="-122"/>
                <a:cs typeface="Calibri" pitchFamily="34" charset="-120"/>
              </a:rPr>
              <a:t>Slide 17 · We’ll build on the data center opportunity to springboard us into much larger markets</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Market sizes are company estimates from the SUPERMILLS Investor Overview; steel and concrete figures are global annual market estimates (ready-mix concrete only).</a:t>
            </a:r>
            <a:endParaRPr lang="en-US" sz="850" dirty="0"/>
          </a:p>
          <a:p>
            <a:pPr indent="0" marL="0">
              <a:buNone/>
            </a:pPr>
            <a:r>
              <a:rPr lang="en-US" sz="850" b="1" dirty="0">
                <a:solidFill>
                  <a:srgbClr val="E2B877"/>
                </a:solidFill>
                <a:latin typeface="Calibri" pitchFamily="34" charset="0"/>
                <a:ea typeface="Calibri" pitchFamily="34" charset="-122"/>
                <a:cs typeface="Calibri" pitchFamily="34" charset="-120"/>
              </a:rPr>
              <a:t>12  </a:t>
            </a:r>
            <a:pPr indent="0" marL="0">
              <a:buNone/>
            </a:pPr>
            <a:r>
              <a:rPr lang="en-US" sz="850" b="1" dirty="0">
                <a:solidFill>
                  <a:srgbClr val="F4ECDF"/>
                </a:solidFill>
                <a:latin typeface="Calibri" pitchFamily="34" charset="0"/>
                <a:ea typeface="Calibri" pitchFamily="34" charset="-122"/>
                <a:cs typeface="Calibri" pitchFamily="34" charset="-120"/>
              </a:rPr>
              <a:t>Slide 19 · Embodied carbon: LCA based on SUPERMILL TWO projections</a:t>
            </a:r>
            <a:endParaRPr lang="en-US" sz="850" dirty="0"/>
          </a:p>
          <a:p>
            <a:pPr indent="0" marL="0">
              <a:spcAft>
                <a:spcPts val="1000"/>
              </a:spcAft>
              <a:buNone/>
            </a:pPr>
            <a:r>
              <a:rPr lang="en-US" sz="850" dirty="0">
                <a:solidFill>
                  <a:srgbClr val="CDBFA9"/>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2026-09-06T18:13:58Z</dcterms:created>
  <dcterms:modified xsi:type="dcterms:W3CDTF">2026-09-06T18:13:58Z</dcterms:modified>
</cp:coreProperties>
</file>