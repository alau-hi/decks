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100" dirty="0">
                <a:solidFill>
                  <a:srgbClr val="F4ECDF"/>
                </a:solidFill>
                <a:latin typeface="Georgia" pitchFamily="34" charset="0"/>
                <a:ea typeface="Georgia" pitchFamily="34" charset="-122"/>
                <a:cs typeface="Georgia" pitchFamily="34" charset="-120"/>
              </a:rPr>
              <a:t>Neighbors object to what they </a:t>
            </a:r>
            <a:pPr indent="0" marL="0">
              <a:buNone/>
            </a:pPr>
            <a:r>
              <a:rPr lang="en-US" sz="2100" i="1" dirty="0">
                <a:solidFill>
                  <a:srgbClr val="E2B877"/>
                </a:solidFill>
                <a:latin typeface="Georgia" pitchFamily="34" charset="0"/>
                <a:ea typeface="Georgia" pitchFamily="34" charset="-122"/>
                <a:cs typeface="Georgia" pitchFamily="34" charset="-120"/>
              </a:rPr>
              <a:t>see</a:t>
            </a:r>
            <a:pPr indent="0" marL="0">
              <a:buNone/>
            </a:pPr>
            <a:r>
              <a:rPr lang="en-US" sz="2100" dirty="0">
                <a:solidFill>
                  <a:srgbClr val="F4ECDF"/>
                </a:solidFill>
                <a:latin typeface="Georgia" pitchFamily="34" charset="0"/>
                <a:ea typeface="Georgia" pitchFamily="34" charset="-122"/>
                <a:cs typeface="Georgia" pitchFamily="34" charset="-120"/>
              </a:rPr>
              <a:t> and what they </a:t>
            </a:r>
            <a:pPr indent="0" marL="0">
              <a:buNone/>
            </a:pPr>
            <a:r>
              <a:rPr lang="en-US" sz="2100" i="1" dirty="0">
                <a:solidFill>
                  <a:srgbClr val="E2B877"/>
                </a:solidFill>
                <a:latin typeface="Georgia" pitchFamily="34" charset="0"/>
                <a:ea typeface="Georgia" pitchFamily="34" charset="-122"/>
                <a:cs typeface="Georgia" pitchFamily="34" charset="-120"/>
              </a:rPr>
              <a:t>hear</a:t>
            </a:r>
            <a:pPr indent="0" marL="0">
              <a:buNone/>
            </a:pPr>
            <a:r>
              <a:rPr lang="en-US" sz="2100" dirty="0">
                <a:solidFill>
                  <a:srgbClr val="F4ECDF"/>
                </a:solidFill>
                <a:latin typeface="Georgia" pitchFamily="34" charset="0"/>
                <a:ea typeface="Georgia" pitchFamily="34" charset="-122"/>
                <a:cs typeface="Georgia" pitchFamily="34" charset="-120"/>
              </a:rPr>
              <a:t>. Local rules now regulate both, and both are things a building can fix.</a:t>
            </a:r>
            <a:endParaRPr lang="en-US" sz="21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THE TWO COMPLAINTS ABOUT THE BUILDING ITSELF</a:t>
            </a:r>
            <a:endParaRPr lang="en-US" sz="900" dirty="0"/>
          </a:p>
        </p:txBody>
      </p:sp>
      <p:sp>
        <p:nvSpPr>
          <p:cNvPr id="7" name="Shape 5"/>
          <p:cNvSpPr/>
          <p:nvPr/>
        </p:nvSpPr>
        <p:spPr>
          <a:xfrm>
            <a:off x="502920" y="2276856"/>
            <a:ext cx="128016" cy="128016"/>
          </a:xfrm>
          <a:prstGeom prst="ellipse">
            <a:avLst/>
          </a:prstGeom>
          <a:solidFill>
            <a:srgbClr val="E2B877"/>
          </a:solidFill>
          <a:ln/>
        </p:spPr>
      </p:sp>
      <p:sp>
        <p:nvSpPr>
          <p:cNvPr id="8" name="Text 6"/>
          <p:cNvSpPr/>
          <p:nvPr/>
        </p:nvSpPr>
        <p:spPr>
          <a:xfrm>
            <a:off x="795528" y="2194560"/>
            <a:ext cx="630936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Aesthetics: windowless boxes on farmland</a:t>
            </a:r>
            <a:endParaRPr lang="en-US" sz="1250" dirty="0"/>
          </a:p>
        </p:txBody>
      </p:sp>
      <p:sp>
        <p:nvSpPr>
          <p:cNvPr id="9" name="Text 7"/>
          <p:cNvSpPr/>
          <p:nvPr/>
        </p:nvSpPr>
        <p:spPr>
          <a:xfrm>
            <a:off x="795528" y="2487168"/>
            <a:ext cx="6309360" cy="91440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Data halls, substations and generator yards land next to subdivisions and on open land. Counties answer with 500–1,000 ft setbacks, design standards, screening and landscaping requirements, and hearings where the building's appearance is argued. SUPERWOOD: facades, fences and screens that read as architecture, not industry, and a lower-carbon building to say so with.</a:t>
            </a:r>
            <a:endParaRPr lang="en-US" sz="950" dirty="0"/>
          </a:p>
        </p:txBody>
      </p:sp>
      <p:sp>
        <p:nvSpPr>
          <p:cNvPr id="10" name="Shape 8"/>
          <p:cNvSpPr/>
          <p:nvPr/>
        </p:nvSpPr>
        <p:spPr>
          <a:xfrm>
            <a:off x="502920" y="3511296"/>
            <a:ext cx="128016" cy="128016"/>
          </a:xfrm>
          <a:prstGeom prst="ellipse">
            <a:avLst/>
          </a:prstGeom>
          <a:solidFill>
            <a:srgbClr val="E2B877"/>
          </a:solidFill>
          <a:ln/>
        </p:spPr>
      </p:sp>
      <p:sp>
        <p:nvSpPr>
          <p:cNvPr id="11" name="Text 9"/>
          <p:cNvSpPr/>
          <p:nvPr/>
        </p:nvSpPr>
        <p:spPr>
          <a:xfrm>
            <a:off x="795528" y="3429000"/>
            <a:ext cx="630936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Noise: the hum that carries</a:t>
            </a:r>
            <a:endParaRPr lang="en-US" sz="1250" dirty="0"/>
          </a:p>
        </p:txBody>
      </p:sp>
      <p:sp>
        <p:nvSpPr>
          <p:cNvPr id="12" name="Text 10"/>
          <p:cNvSpPr/>
          <p:nvPr/>
        </p:nvSpPr>
        <p:spPr>
          <a:xfrm>
            <a:off x="795528" y="3721608"/>
            <a:ext cx="6309360" cy="91440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Fan walls, chillers and monthly generator testing produce steady low-frequency noise that travels well beyond the fence line. New ordinances set decibel limits at the property line, require staggered generator testing, and call for sound-reducing design and buffering. SUPERWOOD: acoustic screens and barriers that damp sound and vibration and look good doing it.</a:t>
            </a:r>
            <a:endParaRPr lang="en-US" sz="950" dirty="0"/>
          </a:p>
        </p:txBody>
      </p:sp>
      <p:sp>
        <p:nvSpPr>
          <p:cNvPr id="13" name="Shape 11"/>
          <p:cNvSpPr/>
          <p:nvPr/>
        </p:nvSpPr>
        <p:spPr>
          <a:xfrm>
            <a:off x="502920" y="4709160"/>
            <a:ext cx="6583680" cy="1188720"/>
          </a:xfrm>
          <a:prstGeom prst="roundRect">
            <a:avLst>
              <a:gd name="adj" fmla="val 6923"/>
            </a:avLst>
          </a:prstGeom>
          <a:solidFill>
            <a:srgbClr val="261A0F"/>
          </a:solidFill>
          <a:ln/>
        </p:spPr>
      </p:sp>
      <p:sp>
        <p:nvSpPr>
          <p:cNvPr id="14" name="Text 12"/>
          <p:cNvSpPr/>
          <p:nvPr/>
        </p:nvSpPr>
        <p:spPr>
          <a:xfrm>
            <a:off x="704088" y="4800600"/>
            <a:ext cx="621792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Why it matters to us</a:t>
            </a:r>
            <a:endParaRPr lang="en-US" sz="1150" dirty="0"/>
          </a:p>
        </p:txBody>
      </p:sp>
      <p:sp>
        <p:nvSpPr>
          <p:cNvPr id="15" name="Text 13"/>
          <p:cNvSpPr/>
          <p:nvPr/>
        </p:nvSpPr>
        <p:spPr>
          <a:xfrm>
            <a:off x="704088" y="5074920"/>
            <a:ext cx="6217920" cy="7772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Entitlement is where hyperscalers now lose time. Facades, screens and fences a community accepts are a schedule argument, not decoration. Power, water and rates drive much of the opposition too; those are outside our scope.</a:t>
            </a:r>
            <a:endParaRPr lang="en-US" sz="950" dirty="0"/>
          </a:p>
        </p:txBody>
      </p:sp>
      <p:sp>
        <p:nvSpPr>
          <p:cNvPr id="16" name="Text 14"/>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BIG THE PUSHBACK HAS BECOME</a:t>
            </a:r>
            <a:endParaRPr lang="en-US" sz="900" dirty="0"/>
          </a:p>
        </p:txBody>
      </p:sp>
      <p:sp>
        <p:nvSpPr>
          <p:cNvPr id="17" name="Shape 15"/>
          <p:cNvSpPr/>
          <p:nvPr/>
        </p:nvSpPr>
        <p:spPr>
          <a:xfrm>
            <a:off x="7315200" y="2194560"/>
            <a:ext cx="4343400" cy="1737360"/>
          </a:xfrm>
          <a:prstGeom prst="roundRect">
            <a:avLst>
              <a:gd name="adj" fmla="val 4737"/>
            </a:avLst>
          </a:prstGeom>
          <a:solidFill>
            <a:srgbClr val="2E2113"/>
          </a:solidFill>
          <a:ln/>
        </p:spPr>
      </p:sp>
      <p:sp>
        <p:nvSpPr>
          <p:cNvPr id="18" name="Text 16"/>
          <p:cNvSpPr/>
          <p:nvPr/>
        </p:nvSpPr>
        <p:spPr>
          <a:xfrm>
            <a:off x="7516368" y="2322576"/>
            <a:ext cx="3941064" cy="41148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50" dirty="0"/>
          </a:p>
        </p:txBody>
      </p:sp>
      <p:sp>
        <p:nvSpPr>
          <p:cNvPr id="19" name="Text 17"/>
          <p:cNvSpPr/>
          <p:nvPr/>
        </p:nvSpPr>
        <p:spPr>
          <a:xfrm>
            <a:off x="7516368" y="2761488"/>
            <a:ext cx="3941064" cy="109728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January to March 2026: as much as in all of 2025. 833 active opposition groups in 49 states, more than double the count at the end of 2025.</a:t>
            </a:r>
            <a:endParaRPr lang="en-US" sz="950" dirty="0"/>
          </a:p>
        </p:txBody>
      </p:sp>
      <p:sp>
        <p:nvSpPr>
          <p:cNvPr id="20" name="Shape 18"/>
          <p:cNvSpPr/>
          <p:nvPr/>
        </p:nvSpPr>
        <p:spPr>
          <a:xfrm>
            <a:off x="7315200" y="4069080"/>
            <a:ext cx="4343400" cy="1737360"/>
          </a:xfrm>
          <a:prstGeom prst="roundRect">
            <a:avLst>
              <a:gd name="adj" fmla="val 4737"/>
            </a:avLst>
          </a:prstGeom>
          <a:solidFill>
            <a:srgbClr val="2E2113"/>
          </a:solidFill>
          <a:ln/>
        </p:spPr>
      </p:sp>
      <p:sp>
        <p:nvSpPr>
          <p:cNvPr id="21" name="Text 19"/>
          <p:cNvSpPr/>
          <p:nvPr/>
        </p:nvSpPr>
        <p:spPr>
          <a:xfrm>
            <a:off x="7516368" y="4197096"/>
            <a:ext cx="3941064" cy="41148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What new local rules ask for</a:t>
            </a:r>
            <a:endParaRPr lang="en-US" sz="1150" dirty="0"/>
          </a:p>
        </p:txBody>
      </p:sp>
      <p:sp>
        <p:nvSpPr>
          <p:cNvPr id="22" name="Text 20"/>
          <p:cNvSpPr/>
          <p:nvPr/>
        </p:nvSpPr>
        <p:spPr>
          <a:xfrm>
            <a:off x="7516368" y="4636008"/>
            <a:ext cx="3941064" cy="109728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Henry County, Virginia, August 2026: rezoning plus a special-use permit, 1,000 ft setbacks, a 50 dBA noise limit. Virginia's 500 ft setback is becoming the reference. Calvert County, Maryland: use standards for setbacks, design and noise, with buffering and staggered generator testing named as mitigation.</a:t>
            </a:r>
            <a:endParaRPr lang="en-US" sz="950" dirty="0"/>
          </a:p>
        </p:txBody>
      </p:sp>
      <p:sp>
        <p:nvSpPr>
          <p:cNvPr id="23" name="Text 21"/>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75 projects, ~$130B, 833 groups, 49 states. Ordinances: Virginia HB 153 (500 ft); Henry County, VA, Aug 2026 (1,000 ft, 50 dBA, closed-loop cooling); Calvert County, MD zoning ordinance and moratorium, Aug 2026. Issue descriptions are general reporting, not a ranked survey; electricity rates and water are the other leading objections and are not addressed by SUPERWOOD.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FIT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2026-09-05T14:36:05Z</dcterms:created>
  <dcterms:modified xsi:type="dcterms:W3CDTF">2026-09-05T14:36:05Z</dcterms:modified>
</cp:coreProperties>
</file>