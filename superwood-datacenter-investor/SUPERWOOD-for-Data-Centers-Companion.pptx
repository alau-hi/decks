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https://news.microsoft.com/source/features/sustainability/microsoft-builds-first-datacenters-with-wood-to-slash-carbon-emissions/ — two Northern Virginia datacenters with CLT floor panels on a steel frame, about 35% less embodied carbon than conventional steel construction and 65% less than precast; Gensler; Thornton Tomasetti project page https://www.thorntontomasetti.com/project/microsoft-mass-timber-data-centers. Meta: Meta Sustainability, 31 Jul 2025, https://sustainability.atmeta.com/blog/2025/07/31/meta-pilots-mass-timber-for-more-sustainable-data-center-construction/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1</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Growth</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2</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 · PUSHBACK</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Challenged by Communities</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331720"/>
          </a:xfrm>
          <a:prstGeom prst="roundRect">
            <a:avLst>
              <a:gd name="adj" fmla="val 3529"/>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051560"/>
          </a:xfrm>
          <a:prstGeom prst="rect">
            <a:avLst/>
          </a:prstGeom>
        </p:spPr>
      </p:pic>
      <p:sp>
        <p:nvSpPr>
          <p:cNvPr id="9" name="Text 6"/>
          <p:cNvSpPr/>
          <p:nvPr/>
        </p:nvSpPr>
        <p:spPr>
          <a:xfrm>
            <a:off x="777240" y="297180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136392"/>
            <a:ext cx="4892040" cy="329184"/>
          </a:xfrm>
          <a:prstGeom prst="rect">
            <a:avLst/>
          </a:prstGeom>
          <a:noFill/>
          <a:ln/>
        </p:spPr>
        <p:txBody>
          <a:bodyPr wrap="square" lIns="0" tIns="0" rIns="0" bIns="0" rtlCol="0" anchor="ctr"/>
          <a:lstStyle/>
          <a:p>
            <a:pPr indent="0" marL="0">
              <a:buNone/>
            </a:pPr>
            <a:r>
              <a:rPr lang="en-US" sz="1400" dirty="0">
                <a:solidFill>
                  <a:srgbClr val="F4ECDF"/>
                </a:solidFill>
                <a:latin typeface="Georgia" pitchFamily="34" charset="0"/>
                <a:ea typeface="Georgia" pitchFamily="34" charset="-122"/>
                <a:cs typeface="Georgia" pitchFamily="34" charset="-120"/>
              </a:rPr>
              <a:t>Aesthetics</a:t>
            </a:r>
            <a:endParaRPr lang="en-US" sz="1400" dirty="0"/>
          </a:p>
        </p:txBody>
      </p:sp>
      <p:sp>
        <p:nvSpPr>
          <p:cNvPr id="11" name="Text 8"/>
          <p:cNvSpPr/>
          <p:nvPr/>
        </p:nvSpPr>
        <p:spPr>
          <a:xfrm>
            <a:off x="777240" y="3456432"/>
            <a:ext cx="4892040" cy="274320"/>
          </a:xfrm>
          <a:prstGeom prst="rect">
            <a:avLst/>
          </a:prstGeom>
          <a:noFill/>
          <a:ln/>
        </p:spPr>
        <p:txBody>
          <a:bodyPr wrap="square" lIns="0" tIns="0" rIns="0" bIns="0" rtlCol="0" anchor="t"/>
          <a:lstStyle/>
          <a:p>
            <a:pPr indent="0" marL="0">
              <a:buNone/>
            </a:pPr>
            <a:r>
              <a:rPr lang="en-US" sz="90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00" dirty="0"/>
          </a:p>
        </p:txBody>
      </p:sp>
      <p:sp>
        <p:nvSpPr>
          <p:cNvPr id="12" name="Shape 9"/>
          <p:cNvSpPr/>
          <p:nvPr/>
        </p:nvSpPr>
        <p:spPr>
          <a:xfrm>
            <a:off x="777240" y="3776472"/>
            <a:ext cx="4892040" cy="10973"/>
          </a:xfrm>
          <a:prstGeom prst="rect">
            <a:avLst/>
          </a:prstGeom>
          <a:solidFill>
            <a:srgbClr val="3A2B1A"/>
          </a:solidFill>
          <a:ln/>
        </p:spPr>
      </p:sp>
      <p:sp>
        <p:nvSpPr>
          <p:cNvPr id="13" name="Text 10"/>
          <p:cNvSpPr/>
          <p:nvPr/>
        </p:nvSpPr>
        <p:spPr>
          <a:xfrm>
            <a:off x="777240" y="382219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95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331720"/>
          </a:xfrm>
          <a:prstGeom prst="roundRect">
            <a:avLst>
              <a:gd name="adj" fmla="val 3529"/>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051560"/>
          </a:xfrm>
          <a:prstGeom prst="rect">
            <a:avLst/>
          </a:prstGeom>
        </p:spPr>
      </p:pic>
      <p:sp>
        <p:nvSpPr>
          <p:cNvPr id="16" name="Text 12"/>
          <p:cNvSpPr/>
          <p:nvPr/>
        </p:nvSpPr>
        <p:spPr>
          <a:xfrm>
            <a:off x="6492240" y="297180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136392"/>
            <a:ext cx="4892040" cy="329184"/>
          </a:xfrm>
          <a:prstGeom prst="rect">
            <a:avLst/>
          </a:prstGeom>
          <a:noFill/>
          <a:ln/>
        </p:spPr>
        <p:txBody>
          <a:bodyPr wrap="square" lIns="0" tIns="0" rIns="0" bIns="0" rtlCol="0" anchor="ctr"/>
          <a:lstStyle/>
          <a:p>
            <a:pPr indent="0" marL="0">
              <a:buNone/>
            </a:pPr>
            <a:r>
              <a:rPr lang="en-US" sz="1400" dirty="0">
                <a:solidFill>
                  <a:srgbClr val="F4ECDF"/>
                </a:solidFill>
                <a:latin typeface="Georgia" pitchFamily="34" charset="0"/>
                <a:ea typeface="Georgia" pitchFamily="34" charset="-122"/>
                <a:cs typeface="Georgia" pitchFamily="34" charset="-120"/>
              </a:rPr>
              <a:t>Noise</a:t>
            </a:r>
            <a:endParaRPr lang="en-US" sz="1400" dirty="0"/>
          </a:p>
        </p:txBody>
      </p:sp>
      <p:sp>
        <p:nvSpPr>
          <p:cNvPr id="18" name="Text 14"/>
          <p:cNvSpPr/>
          <p:nvPr/>
        </p:nvSpPr>
        <p:spPr>
          <a:xfrm>
            <a:off x="6492240" y="3456432"/>
            <a:ext cx="4892040" cy="274320"/>
          </a:xfrm>
          <a:prstGeom prst="rect">
            <a:avLst/>
          </a:prstGeom>
          <a:noFill/>
          <a:ln/>
        </p:spPr>
        <p:txBody>
          <a:bodyPr wrap="square" lIns="0" tIns="0" rIns="0" bIns="0" rtlCol="0" anchor="t"/>
          <a:lstStyle/>
          <a:p>
            <a:pPr indent="0" marL="0">
              <a:buNone/>
            </a:pPr>
            <a:r>
              <a:rPr lang="en-US" sz="90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00" dirty="0"/>
          </a:p>
        </p:txBody>
      </p:sp>
      <p:sp>
        <p:nvSpPr>
          <p:cNvPr id="19" name="Shape 15"/>
          <p:cNvSpPr/>
          <p:nvPr/>
        </p:nvSpPr>
        <p:spPr>
          <a:xfrm>
            <a:off x="6492240" y="3776472"/>
            <a:ext cx="4892040" cy="10973"/>
          </a:xfrm>
          <a:prstGeom prst="rect">
            <a:avLst/>
          </a:prstGeom>
          <a:solidFill>
            <a:srgbClr val="3A2B1A"/>
          </a:solidFill>
          <a:ln/>
        </p:spPr>
      </p:sp>
      <p:sp>
        <p:nvSpPr>
          <p:cNvPr id="20" name="Text 16"/>
          <p:cNvSpPr/>
          <p:nvPr/>
        </p:nvSpPr>
        <p:spPr>
          <a:xfrm>
            <a:off x="6492240" y="382219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95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1330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434840"/>
            <a:ext cx="27432" cy="640080"/>
          </a:xfrm>
          <a:prstGeom prst="rect">
            <a:avLst/>
          </a:prstGeom>
          <a:solidFill>
            <a:srgbClr val="CDA165"/>
          </a:solidFill>
          <a:ln/>
        </p:spPr>
      </p:sp>
      <p:sp>
        <p:nvSpPr>
          <p:cNvPr id="23" name="Text 19"/>
          <p:cNvSpPr/>
          <p:nvPr/>
        </p:nvSpPr>
        <p:spPr>
          <a:xfrm>
            <a:off x="685800" y="443484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474573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434840"/>
            <a:ext cx="27432" cy="640080"/>
          </a:xfrm>
          <a:prstGeom prst="rect">
            <a:avLst/>
          </a:prstGeom>
          <a:solidFill>
            <a:srgbClr val="CDA165"/>
          </a:solidFill>
          <a:ln/>
        </p:spPr>
      </p:sp>
      <p:sp>
        <p:nvSpPr>
          <p:cNvPr id="26" name="Text 22"/>
          <p:cNvSpPr/>
          <p:nvPr/>
        </p:nvSpPr>
        <p:spPr>
          <a:xfrm>
            <a:off x="6400800" y="443484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474573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257800"/>
            <a:ext cx="11155680" cy="640080"/>
          </a:xfrm>
          <a:prstGeom prst="rect">
            <a:avLst/>
          </a:prstGeom>
          <a:noFill/>
          <a:ln/>
        </p:spPr>
        <p:txBody>
          <a:bodyPr wrap="square" lIns="0" tIns="0" rIns="0" bIns="0" rtlCol="0" anchor="ctr"/>
          <a:lstStyle/>
          <a:p>
            <a:pPr indent="0" marL="0">
              <a:buNone/>
            </a:pPr>
            <a:r>
              <a:rPr lang="en-US" sz="2100" dirty="0">
                <a:solidFill>
                  <a:srgbClr val="F4ECDF"/>
                </a:solidFill>
                <a:latin typeface="Georgia" pitchFamily="34" charset="0"/>
                <a:ea typeface="Georgia" pitchFamily="34" charset="-122"/>
                <a:cs typeface="Georgia" pitchFamily="34" charset="-120"/>
              </a:rPr>
              <a:t>We help with these two. </a:t>
            </a:r>
            <a:pPr indent="0" marL="0">
              <a:buNone/>
            </a:pPr>
            <a:r>
              <a:rPr lang="en-US" sz="2100" i="1" dirty="0">
                <a:solidFill>
                  <a:srgbClr val="E2B877"/>
                </a:solidFill>
                <a:latin typeface="Georgia" pitchFamily="34" charset="0"/>
                <a:ea typeface="Georgia" pitchFamily="34" charset="-122"/>
                <a:cs typeface="Georgia" pitchFamily="34" charset="-120"/>
              </a:rPr>
              <a:t>We can go much further</a:t>
            </a:r>
            <a:pPr indent="0" marL="0">
              <a:buNone/>
            </a:pPr>
            <a:r>
              <a:rPr lang="en-US" sz="21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2100" dirty="0"/>
          </a:p>
        </p:txBody>
      </p:sp>
      <p:sp>
        <p:nvSpPr>
          <p:cNvPr id="29" name="Text 25"/>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3</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 · MASS TIMBER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4</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5</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25,000–296,000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449513" y="4791456"/>
            <a:ext cx="2444420"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0.8–9.4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6</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7</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8</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Products that need only straightforward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Customers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CUSTOMERS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9</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Customers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CUSTOMERS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10</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Notes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NOTES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Notes and sources</a:t>
            </a:r>
            <a:endParaRPr lang="en-US" sz="3000" dirty="0"/>
          </a:p>
        </p:txBody>
      </p:sp>
      <p:sp>
        <p:nvSpPr>
          <p:cNvPr id="6" name="Text 4"/>
          <p:cNvSpPr/>
          <p:nvPr/>
        </p:nvSpPr>
        <p:spPr>
          <a:xfrm>
            <a:off x="502920" y="1783080"/>
            <a:ext cx="5394960" cy="4480560"/>
          </a:xfrm>
          <a:prstGeom prst="rect">
            <a:avLst/>
          </a:prstGeom>
          <a:noFill/>
          <a:ln/>
        </p:spPr>
        <p:txBody>
          <a:bodyPr wrap="square" lIns="0" tIns="0" rIns="0" bIns="0" rtlCol="0" anchor="t"/>
          <a:lstStyle/>
          <a:p>
            <a:pPr indent="0" marL="0">
              <a:buNone/>
            </a:pPr>
            <a:r>
              <a:rPr lang="en-US" sz="850" b="1" dirty="0">
                <a:solidFill>
                  <a:srgbClr val="E2B877"/>
                </a:solidFill>
                <a:latin typeface="Calibri" pitchFamily="34" charset="0"/>
                <a:ea typeface="Calibri" pitchFamily="34" charset="-122"/>
                <a:cs typeface="Calibri" pitchFamily="34" charset="-120"/>
              </a:rPr>
              <a:t>1  </a:t>
            </a:r>
            <a:pPr indent="0" marL="0">
              <a:buNone/>
            </a:pPr>
            <a:r>
              <a:rPr lang="en-US" sz="850" b="1" dirty="0">
                <a:solidFill>
                  <a:srgbClr val="F4ECDF"/>
                </a:solidFill>
                <a:latin typeface="Calibri" pitchFamily="34" charset="0"/>
                <a:ea typeface="Calibri" pitchFamily="34" charset="-122"/>
                <a:cs typeface="Calibri" pitchFamily="34" charset="-120"/>
              </a:rPr>
              <a:t>Slide 2 · We help data centers decarbonize and improve their impact on communities, while they accelerate SUPERWOOD's journey from premium skins into structural applications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2  </a:t>
            </a:r>
            <a:pPr indent="0" marL="0">
              <a:buNone/>
            </a:pPr>
            <a:r>
              <a:rPr lang="en-US" sz="850" b="1" dirty="0">
                <a:solidFill>
                  <a:srgbClr val="F4ECDF"/>
                </a:solidFill>
                <a:latin typeface="Calibri" pitchFamily="34" charset="0"/>
                <a:ea typeface="Calibri" pitchFamily="34" charset="-122"/>
                <a:cs typeface="Calibri" pitchFamily="34" charset="-120"/>
              </a:rPr>
              <a:t>Slide 3 · Industry Growth</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3  </a:t>
            </a:r>
            <a:pPr indent="0" marL="0">
              <a:buNone/>
            </a:pPr>
            <a:r>
              <a:rPr lang="en-US" sz="850" b="1" dirty="0">
                <a:solidFill>
                  <a:srgbClr val="F4ECDF"/>
                </a:solidFill>
                <a:latin typeface="Calibri" pitchFamily="34" charset="0"/>
                <a:ea typeface="Calibri" pitchFamily="34" charset="-122"/>
                <a:cs typeface="Calibri" pitchFamily="34" charset="-120"/>
              </a:rPr>
              <a:t>Slide 4 · Industry Challenged by Communities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4  </a:t>
            </a:r>
            <a:pPr indent="0" marL="0">
              <a:buNone/>
            </a:pPr>
            <a:r>
              <a:rPr lang="en-US" sz="850" b="1" dirty="0">
                <a:solidFill>
                  <a:srgbClr val="F4ECDF"/>
                </a:solidFill>
                <a:latin typeface="Calibri" pitchFamily="34" charset="0"/>
                <a:ea typeface="Calibri" pitchFamily="34" charset="-122"/>
                <a:cs typeface="Calibri" pitchFamily="34" charset="-120"/>
              </a:rPr>
              <a:t>Slide 5 · Hyperscalers are already building structures with wood. We turbocharge wood.</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5  </a:t>
            </a:r>
            <a:pPr indent="0" marL="0">
              <a:buNone/>
            </a:pPr>
            <a:r>
              <a:rPr lang="en-US" sz="850" b="1" dirty="0">
                <a:solidFill>
                  <a:srgbClr val="F4ECDF"/>
                </a:solidFill>
                <a:latin typeface="Calibri" pitchFamily="34" charset="0"/>
                <a:ea typeface="Calibri" pitchFamily="34" charset="-122"/>
                <a:cs typeface="Calibri" pitchFamily="34" charset="-120"/>
              </a:rPr>
              <a:t>Slide 6 · What a 1 GW data center is made of</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Concrete: footprint bottom-up with moderate soils (slab, footings, pads, paving, yard mats; the published 500–1,000 m³/MW intensity is the upper comparison).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7" name="Text 5"/>
          <p:cNvSpPr/>
          <p:nvPr/>
        </p:nvSpPr>
        <p:spPr>
          <a:xfrm>
            <a:off x="6263640" y="1783080"/>
            <a:ext cx="5394960" cy="4480560"/>
          </a:xfrm>
          <a:prstGeom prst="rect">
            <a:avLst/>
          </a:prstGeom>
          <a:noFill/>
          <a:ln/>
        </p:spPr>
        <p:txBody>
          <a:bodyPr wrap="square" lIns="0" tIns="0" rIns="0" bIns="0" rtlCol="0" anchor="t"/>
          <a:lstStyle/>
          <a:p>
            <a:pPr indent="0" marL="0">
              <a:buNone/>
            </a:pPr>
            <a:r>
              <a:rPr lang="en-US" sz="850" b="1" dirty="0">
                <a:solidFill>
                  <a:srgbClr val="E2B877"/>
                </a:solidFill>
                <a:latin typeface="Calibri" pitchFamily="34" charset="0"/>
                <a:ea typeface="Calibri" pitchFamily="34" charset="-122"/>
                <a:cs typeface="Calibri" pitchFamily="34" charset="-120"/>
              </a:rPr>
              <a:t>6  </a:t>
            </a:r>
            <a:pPr indent="0" marL="0">
              <a:buNone/>
            </a:pPr>
            <a:r>
              <a:rPr lang="en-US" sz="850" b="1" dirty="0">
                <a:solidFill>
                  <a:srgbClr val="F4ECDF"/>
                </a:solidFill>
                <a:latin typeface="Calibri" pitchFamily="34" charset="0"/>
                <a:ea typeface="Calibri" pitchFamily="34" charset="-122"/>
                <a:cs typeface="Calibri" pitchFamily="34" charset="-120"/>
              </a:rPr>
              <a:t>Slide 7 · Just one data center can consume the entire output of a SUPERMILL</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Company estimate from the slide 6 model, low–high scenarios, moderate soils;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7  </a:t>
            </a:r>
            <a:pPr indent="0" marL="0">
              <a:buNone/>
            </a:pPr>
            <a:r>
              <a:rPr lang="en-US" sz="850" b="1" dirty="0">
                <a:solidFill>
                  <a:srgbClr val="F4ECDF"/>
                </a:solidFill>
                <a:latin typeface="Calibri" pitchFamily="34" charset="0"/>
                <a:ea typeface="Calibri" pitchFamily="34" charset="-122"/>
                <a:cs typeface="Calibri" pitchFamily="34" charset="-120"/>
              </a:rPr>
              <a:t>Slide 8 · Properties that matter in a data center</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8  </a:t>
            </a:r>
            <a:pPr indent="0" marL="0">
              <a:buNone/>
            </a:pPr>
            <a:r>
              <a:rPr lang="en-US" sz="850" b="1" dirty="0">
                <a:solidFill>
                  <a:srgbClr val="F4ECDF"/>
                </a:solidFill>
                <a:latin typeface="Calibri" pitchFamily="34" charset="0"/>
                <a:ea typeface="Calibri" pitchFamily="34" charset="-122"/>
                <a:cs typeface="Calibri" pitchFamily="34" charset="-120"/>
              </a:rPr>
              <a:t>Slide 9 · Faster to build: lighter, prefabricated, reconfigurable</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9  </a:t>
            </a:r>
            <a:pPr indent="0" marL="0">
              <a:buNone/>
            </a:pPr>
            <a:r>
              <a:rPr lang="en-US" sz="850" b="1" dirty="0">
                <a:solidFill>
                  <a:srgbClr val="F4ECDF"/>
                </a:solidFill>
                <a:latin typeface="Calibri" pitchFamily="34" charset="0"/>
                <a:ea typeface="Calibri" pitchFamily="34" charset="-122"/>
                <a:cs typeface="Calibri" pitchFamily="34" charset="-120"/>
              </a:rPr>
              <a:t>Slide 14 · Customer engagement</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Next steps undated. Published backup for Microsoft and Meta on the next slide.</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10  </a:t>
            </a:r>
            <a:pPr indent="0" marL="0">
              <a:buNone/>
            </a:pPr>
            <a:r>
              <a:rPr lang="en-US" sz="850" b="1" dirty="0">
                <a:solidFill>
                  <a:srgbClr val="F4ECDF"/>
                </a:solidFill>
                <a:latin typeface="Calibri" pitchFamily="34" charset="0"/>
                <a:ea typeface="Calibri" pitchFamily="34" charset="-122"/>
                <a:cs typeface="Calibri" pitchFamily="34" charset="-120"/>
              </a:rPr>
              <a:t>Slide 16 · Embodied carbon: LCA based on SUPERMILL TWO projections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2026-09-06T17:39:51Z</dcterms:created>
  <dcterms:modified xsi:type="dcterms:W3CDTF">2026-09-06T17:39:51Z</dcterms:modified>
</cp:coreProperties>
</file>