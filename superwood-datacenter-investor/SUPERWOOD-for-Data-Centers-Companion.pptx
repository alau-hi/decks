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500" dirty="0">
                <a:solidFill>
                  <a:srgbClr val="F4ECDF"/>
                </a:solidFill>
                <a:latin typeface="Georgia" pitchFamily="34" charset="0"/>
                <a:ea typeface="Georgia" pitchFamily="34" charset="-122"/>
                <a:cs typeface="Georgia" pitchFamily="34" charset="-120"/>
              </a:rPr>
              <a:t>Community pushback now blocks or delays more data center projects than ever.</a:t>
            </a:r>
            <a:endParaRPr lang="en-US" sz="2500" dirty="0"/>
          </a:p>
        </p:txBody>
      </p:sp>
      <p:sp>
        <p:nvSpPr>
          <p:cNvPr id="6" name="Shape 4"/>
          <p:cNvSpPr/>
          <p:nvPr/>
        </p:nvSpPr>
        <p:spPr>
          <a:xfrm>
            <a:off x="502920" y="1783080"/>
            <a:ext cx="5440680" cy="2788920"/>
          </a:xfrm>
          <a:prstGeom prst="roundRect">
            <a:avLst>
              <a:gd name="adj" fmla="val 2951"/>
            </a:avLst>
          </a:prstGeom>
          <a:solidFill>
            <a:srgbClr val="261A0F"/>
          </a:solidFill>
          <a:ln/>
        </p:spPr>
      </p:sp>
      <p:pic>
        <p:nvPicPr>
          <p:cNvPr id="7" name="Image 0" descr="prep/tiles/tile_fence_security.jpg">    </p:cNvPr>
          <p:cNvPicPr>
            <a:picLocks noChangeAspect="1"/>
          </p:cNvPicPr>
          <p:nvPr/>
        </p:nvPicPr>
        <p:blipFill>
          <a:blip r:embed="rId1"/>
          <a:srcRect l="0" r="0" t="0" b="0"/>
          <a:stretch/>
        </p:blipFill>
        <p:spPr>
          <a:xfrm>
            <a:off x="502920" y="1783080"/>
            <a:ext cx="5440680" cy="1417320"/>
          </a:xfrm>
          <a:prstGeom prst="rect">
            <a:avLst/>
          </a:prstGeom>
        </p:spPr>
      </p:pic>
      <p:sp>
        <p:nvSpPr>
          <p:cNvPr id="8" name="Text 5"/>
          <p:cNvSpPr/>
          <p:nvPr/>
        </p:nvSpPr>
        <p:spPr>
          <a:xfrm>
            <a:off x="777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9" name="Text 6"/>
          <p:cNvSpPr/>
          <p:nvPr/>
        </p:nvSpPr>
        <p:spPr>
          <a:xfrm>
            <a:off x="777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Aesthetics</a:t>
            </a:r>
            <a:endParaRPr lang="en-US" sz="1700" dirty="0"/>
          </a:p>
        </p:txBody>
      </p:sp>
      <p:sp>
        <p:nvSpPr>
          <p:cNvPr id="10" name="Text 7"/>
          <p:cNvSpPr/>
          <p:nvPr/>
        </p:nvSpPr>
        <p:spPr>
          <a:xfrm>
            <a:off x="777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Windowless boxes on farmland. Counties answer with setbacks and design standards.</a:t>
            </a:r>
            <a:endParaRPr lang="en-US" sz="950" dirty="0"/>
          </a:p>
        </p:txBody>
      </p:sp>
      <p:sp>
        <p:nvSpPr>
          <p:cNvPr id="11" name="Shape 8"/>
          <p:cNvSpPr/>
          <p:nvPr/>
        </p:nvSpPr>
        <p:spPr>
          <a:xfrm>
            <a:off x="777240" y="4142232"/>
            <a:ext cx="4892040" cy="10973"/>
          </a:xfrm>
          <a:prstGeom prst="rect">
            <a:avLst/>
          </a:prstGeom>
          <a:solidFill>
            <a:srgbClr val="3A2B1A"/>
          </a:solidFill>
          <a:ln/>
        </p:spPr>
      </p:sp>
      <p:sp>
        <p:nvSpPr>
          <p:cNvPr id="12" name="Text 9"/>
          <p:cNvSpPr/>
          <p:nvPr/>
        </p:nvSpPr>
        <p:spPr>
          <a:xfrm>
            <a:off x="777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Facades, fences and screens that read as architecture.</a:t>
            </a:r>
            <a:endParaRPr lang="en-US" sz="750" dirty="0"/>
          </a:p>
        </p:txBody>
      </p:sp>
      <p:sp>
        <p:nvSpPr>
          <p:cNvPr id="13" name="Shape 10"/>
          <p:cNvSpPr/>
          <p:nvPr/>
        </p:nvSpPr>
        <p:spPr>
          <a:xfrm>
            <a:off x="6217920" y="1783080"/>
            <a:ext cx="5440680" cy="2788920"/>
          </a:xfrm>
          <a:prstGeom prst="roundRect">
            <a:avLst>
              <a:gd name="adj" fmla="val 2951"/>
            </a:avLst>
          </a:prstGeom>
          <a:solidFill>
            <a:srgbClr val="261A0F"/>
          </a:solidFill>
          <a:ln/>
        </p:spPr>
      </p:sp>
      <p:pic>
        <p:nvPicPr>
          <p:cNvPr id="14" name="Image 1" descr="prep/tiles/tile_fanbox.jpg">    </p:cNvPr>
          <p:cNvPicPr>
            <a:picLocks noChangeAspect="1"/>
          </p:cNvPicPr>
          <p:nvPr/>
        </p:nvPicPr>
        <p:blipFill>
          <a:blip r:embed="rId2"/>
          <a:srcRect l="0" r="0" t="0" b="0"/>
          <a:stretch/>
        </p:blipFill>
        <p:spPr>
          <a:xfrm>
            <a:off x="6217920" y="1783080"/>
            <a:ext cx="5440680" cy="1417320"/>
          </a:xfrm>
          <a:prstGeom prst="rect">
            <a:avLst/>
          </a:prstGeom>
        </p:spPr>
      </p:pic>
      <p:sp>
        <p:nvSpPr>
          <p:cNvPr id="15" name="Text 11"/>
          <p:cNvSpPr/>
          <p:nvPr/>
        </p:nvSpPr>
        <p:spPr>
          <a:xfrm>
            <a:off x="6492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16" name="Text 12"/>
          <p:cNvSpPr/>
          <p:nvPr/>
        </p:nvSpPr>
        <p:spPr>
          <a:xfrm>
            <a:off x="6492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Noise</a:t>
            </a:r>
            <a:endParaRPr lang="en-US" sz="1700" dirty="0"/>
          </a:p>
        </p:txBody>
      </p:sp>
      <p:sp>
        <p:nvSpPr>
          <p:cNvPr id="17" name="Text 13"/>
          <p:cNvSpPr/>
          <p:nvPr/>
        </p:nvSpPr>
        <p:spPr>
          <a:xfrm>
            <a:off x="6492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Fans, chillers, generator tests. Property-line decibel limits are spreading.</a:t>
            </a:r>
            <a:endParaRPr lang="en-US" sz="950" dirty="0"/>
          </a:p>
        </p:txBody>
      </p:sp>
      <p:sp>
        <p:nvSpPr>
          <p:cNvPr id="18" name="Shape 14"/>
          <p:cNvSpPr/>
          <p:nvPr/>
        </p:nvSpPr>
        <p:spPr>
          <a:xfrm>
            <a:off x="6492240" y="4142232"/>
            <a:ext cx="4892040" cy="10973"/>
          </a:xfrm>
          <a:prstGeom prst="rect">
            <a:avLst/>
          </a:prstGeom>
          <a:solidFill>
            <a:srgbClr val="3A2B1A"/>
          </a:solidFill>
          <a:ln/>
        </p:spPr>
      </p:sp>
      <p:sp>
        <p:nvSpPr>
          <p:cNvPr id="19" name="Text 15"/>
          <p:cNvSpPr/>
          <p:nvPr/>
        </p:nvSpPr>
        <p:spPr>
          <a:xfrm>
            <a:off x="6492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Acoustic screens and barriers; quieter fan enclosures and ductwork.</a:t>
            </a:r>
            <a:endParaRPr lang="en-US" sz="750" dirty="0"/>
          </a:p>
        </p:txBody>
      </p:sp>
      <p:sp>
        <p:nvSpPr>
          <p:cNvPr id="20" name="Text 16"/>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1" name="Shape 17"/>
          <p:cNvSpPr/>
          <p:nvPr/>
        </p:nvSpPr>
        <p:spPr>
          <a:xfrm>
            <a:off x="502920" y="4846320"/>
            <a:ext cx="27432" cy="640080"/>
          </a:xfrm>
          <a:prstGeom prst="rect">
            <a:avLst/>
          </a:prstGeom>
          <a:solidFill>
            <a:srgbClr val="CDA165"/>
          </a:solidFill>
          <a:ln/>
        </p:spPr>
      </p:sp>
      <p:sp>
        <p:nvSpPr>
          <p:cNvPr id="22" name="Text 18"/>
          <p:cNvSpPr/>
          <p:nvPr/>
        </p:nvSpPr>
        <p:spPr>
          <a:xfrm>
            <a:off x="685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100" dirty="0"/>
          </a:p>
        </p:txBody>
      </p:sp>
      <p:sp>
        <p:nvSpPr>
          <p:cNvPr id="23" name="Text 19"/>
          <p:cNvSpPr/>
          <p:nvPr/>
        </p:nvSpPr>
        <p:spPr>
          <a:xfrm>
            <a:off x="685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Q1 2026, as much as all of 2025. 833 opposition groups in 49 states.</a:t>
            </a:r>
            <a:endParaRPr lang="en-US" sz="900" dirty="0"/>
          </a:p>
        </p:txBody>
      </p:sp>
      <p:sp>
        <p:nvSpPr>
          <p:cNvPr id="24" name="Shape 20"/>
          <p:cNvSpPr/>
          <p:nvPr/>
        </p:nvSpPr>
        <p:spPr>
          <a:xfrm>
            <a:off x="6217920" y="4846320"/>
            <a:ext cx="27432" cy="640080"/>
          </a:xfrm>
          <a:prstGeom prst="rect">
            <a:avLst/>
          </a:prstGeom>
          <a:solidFill>
            <a:srgbClr val="CDA165"/>
          </a:solidFill>
          <a:ln/>
        </p:spPr>
      </p:sp>
      <p:sp>
        <p:nvSpPr>
          <p:cNvPr id="25" name="Text 21"/>
          <p:cNvSpPr/>
          <p:nvPr/>
        </p:nvSpPr>
        <p:spPr>
          <a:xfrm>
            <a:off x="6400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Rules are following</a:t>
            </a:r>
            <a:endParaRPr lang="en-US" sz="1100" dirty="0"/>
          </a:p>
        </p:txBody>
      </p:sp>
      <p:sp>
        <p:nvSpPr>
          <p:cNvPr id="26" name="Text 22"/>
          <p:cNvSpPr/>
          <p:nvPr/>
        </p:nvSpPr>
        <p:spPr>
          <a:xfrm>
            <a:off x="6400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Henry County, Virginia: 1,000 ft setbacks, 50 dBA at the property line.</a:t>
            </a:r>
            <a:endParaRPr lang="en-US" sz="900" dirty="0"/>
          </a:p>
        </p:txBody>
      </p:sp>
      <p:sp>
        <p:nvSpPr>
          <p:cNvPr id="27" name="Text 23"/>
          <p:cNvSpPr/>
          <p:nvPr/>
        </p:nvSpPr>
        <p:spPr>
          <a:xfrm>
            <a:off x="502920" y="5577840"/>
            <a:ext cx="11155680" cy="411480"/>
          </a:xfrm>
          <a:prstGeom prst="rect">
            <a:avLst/>
          </a:prstGeom>
          <a:noFill/>
          <a:ln/>
        </p:spPr>
        <p:txBody>
          <a:bodyPr wrap="square" lIns="0" tIns="0" rIns="0" bIns="0" rtlCol="0" anchor="ctr"/>
          <a:lstStyle/>
          <a:p>
            <a:pPr indent="0" marL="0">
              <a:buNone/>
            </a:pPr>
            <a:r>
              <a:rPr lang="en-US" sz="1500" dirty="0">
                <a:solidFill>
                  <a:srgbClr val="F4ECDF"/>
                </a:solidFill>
                <a:latin typeface="Georgia" pitchFamily="34" charset="0"/>
                <a:ea typeface="Georgia" pitchFamily="34" charset="-122"/>
                <a:cs typeface="Georgia" pitchFamily="34" charset="-120"/>
              </a:rPr>
              <a:t>We help with these two. </a:t>
            </a:r>
            <a:pPr indent="0" marL="0">
              <a:buNone/>
            </a:pPr>
            <a:r>
              <a:rPr lang="en-US" sz="1500" i="1" dirty="0">
                <a:solidFill>
                  <a:srgbClr val="E2B877"/>
                </a:solidFill>
                <a:latin typeface="Georgia" pitchFamily="34" charset="0"/>
                <a:ea typeface="Georgia" pitchFamily="34" charset="-122"/>
                <a:cs typeface="Georgia" pitchFamily="34" charset="-120"/>
              </a:rPr>
              <a:t>We can go much further</a:t>
            </a:r>
            <a:pPr indent="0" marL="0">
              <a:buNone/>
            </a:pPr>
            <a:r>
              <a:rPr lang="en-US" sz="1500" dirty="0">
                <a:solidFill>
                  <a:srgbClr val="F4ECDF"/>
                </a:solidFill>
                <a:latin typeface="Georgia" pitchFamily="34" charset="0"/>
                <a:ea typeface="Georgia" pitchFamily="34" charset="-122"/>
                <a:cs typeface="Georgia" pitchFamily="34" charset="-120"/>
              </a:rPr>
              <a:t>: into the structure of the building and what is inside it.</a:t>
            </a:r>
            <a:endParaRPr lang="en-US" sz="1500" dirty="0"/>
          </a:p>
        </p:txBody>
      </p:sp>
      <p:sp>
        <p:nvSpPr>
          <p:cNvPr id="28" name="Text 24"/>
          <p:cNvSpPr/>
          <p:nvPr/>
        </p:nvSpPr>
        <p:spPr>
          <a:xfrm>
            <a:off x="502920" y="6144768"/>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385893"/>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385893"/>
          </a:xfrm>
          <a:prstGeom prst="rect">
            <a:avLst/>
          </a:prstGeom>
        </p:spPr>
      </p:pic>
      <p:sp>
        <p:nvSpPr>
          <p:cNvPr id="10" name="Text 6"/>
          <p:cNvSpPr/>
          <p:nvPr/>
        </p:nvSpPr>
        <p:spPr>
          <a:xfrm>
            <a:off x="502920" y="5671893"/>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1" name="Text 7"/>
          <p:cNvSpPr/>
          <p:nvPr/>
        </p:nvSpPr>
        <p:spPr>
          <a:xfrm>
            <a:off x="502920" y="5982789"/>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2" name="Text 8"/>
          <p:cNvSpPr/>
          <p:nvPr/>
        </p:nvSpPr>
        <p:spPr>
          <a:xfrm>
            <a:off x="6126480" y="5671893"/>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two-thirds of everything estimated, including the steel inside the equipment</a:t>
            </a:r>
            <a:endParaRPr lang="en-US" sz="1300" dirty="0"/>
          </a:p>
        </p:txBody>
      </p:sp>
      <p:sp>
        <p:nvSpPr>
          <p:cNvPr id="13" name="Text 9"/>
          <p:cNvSpPr/>
          <p:nvPr/>
        </p:nvSpPr>
        <p:spPr>
          <a:xfrm>
            <a:off x="6126480" y="5982789"/>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Building materials alone are about 60% steel at the global-average factor, about a third with recycled steel. The steel and plastics in electrical, mechanical and IT equipment add roughly 250,000 tons CO₂e.</a:t>
            </a:r>
            <a:endParaRPr lang="en-US" sz="1000" dirty="0"/>
          </a:p>
        </p:txBody>
      </p:sp>
      <p:sp>
        <p:nvSpPr>
          <p:cNvPr id="14"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carbon is valued on each row's steel, concrete and plastic content (material split per component: estimates, analyses/material_split.json; polymers at an average 3.0 kg CO₂e/kg); copper, aluminum, electronics, water, gypsum and wood not valued.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3,500–18,000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40970"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0.1–0.6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16,000–65,000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70570" y="4078224"/>
            <a:ext cx="451104"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0.5–2.1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58,000–362,000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87578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Prefabricated building envelopes</a:t>
            </a:r>
            <a:endParaRPr lang="en-US" sz="1800" dirty="0"/>
          </a:p>
        </p:txBody>
      </p:sp>
      <p:sp>
        <p:nvSpPr>
          <p:cNvPr id="8" name="Text 6"/>
          <p:cNvSpPr/>
          <p:nvPr/>
        </p:nvSpPr>
        <p:spPr>
          <a:xfrm>
            <a:off x="77724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9" name="Text 7"/>
          <p:cNvSpPr/>
          <p:nvPr/>
        </p:nvSpPr>
        <p:spPr>
          <a:xfrm>
            <a:off x="77724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0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Foundations, slabs and paving</a:t>
            </a:r>
            <a:endParaRPr lang="en-US" sz="1800" dirty="0"/>
          </a:p>
        </p:txBody>
      </p:sp>
      <p:sp>
        <p:nvSpPr>
          <p:cNvPr id="12" name="Text 10"/>
          <p:cNvSpPr/>
          <p:nvPr/>
        </p:nvSpPr>
        <p:spPr>
          <a:xfrm>
            <a:off x="644652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3" name="Text 11"/>
          <p:cNvSpPr/>
          <p:nvPr/>
        </p:nvSpPr>
        <p:spPr>
          <a:xfrm>
            <a:off x="644652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0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engineers, Vancouver</a:t>
            </a:r>
            <a:endParaRPr lang="en-US" sz="750" dirty="0"/>
          </a:p>
        </p:txBody>
      </p:sp>
      <p:sp>
        <p:nvSpPr>
          <p:cNvPr id="52" name="Text 49"/>
          <p:cNvSpPr/>
          <p:nvPr/>
        </p:nvSpPr>
        <p:spPr>
          <a:xfrm>
            <a:off x="525780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Timber Engineering</a:t>
            </a:r>
            <a:endParaRPr lang="en-US" sz="1000" dirty="0"/>
          </a:p>
        </p:txBody>
      </p:sp>
      <p:sp>
        <p:nvSpPr>
          <p:cNvPr id="53" name="Text 50"/>
          <p:cNvSpPr/>
          <p:nvPr/>
        </p:nvSpPr>
        <p:spPr>
          <a:xfrm>
            <a:off x="525780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engineering</a:t>
            </a:r>
            <a:endParaRPr lang="en-US" sz="750" dirty="0"/>
          </a:p>
        </p:txBody>
      </p:sp>
      <p:pic>
        <p:nvPicPr>
          <p:cNvPr id="54" name="Image 1" descr="prep/logo_hitt.png">    </p:cNvPr>
          <p:cNvPicPr>
            <a:picLocks noChangeAspect="1"/>
          </p:cNvPicPr>
          <p:nvPr/>
        </p:nvPicPr>
        <p:blipFill>
          <a:blip r:embed="rId2"/>
          <a:stretch>
            <a:fillRect/>
          </a:stretch>
        </p:blipFill>
        <p:spPr>
          <a:xfrm>
            <a:off x="7406640" y="5888736"/>
            <a:ext cx="683362" cy="173736"/>
          </a:xfrm>
          <a:prstGeom prst="rect">
            <a:avLst/>
          </a:prstGeom>
        </p:spPr>
      </p:pic>
      <p:sp>
        <p:nvSpPr>
          <p:cNvPr id="55" name="Text 51"/>
          <p:cNvSpPr/>
          <p:nvPr/>
        </p:nvSpPr>
        <p:spPr>
          <a:xfrm>
            <a:off x="740664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pic>
        <p:nvPicPr>
          <p:cNvPr id="56" name="Image 2" descr="prep/logo_turner.png">    </p:cNvPr>
          <p:cNvPicPr>
            <a:picLocks noChangeAspect="1"/>
          </p:cNvPicPr>
          <p:nvPr/>
        </p:nvPicPr>
        <p:blipFill>
          <a:blip r:embed="rId3"/>
          <a:stretch>
            <a:fillRect/>
          </a:stretch>
        </p:blipFill>
        <p:spPr>
          <a:xfrm>
            <a:off x="9555480" y="5888736"/>
            <a:ext cx="592703" cy="173736"/>
          </a:xfrm>
          <a:prstGeom prst="rect">
            <a:avLst/>
          </a:prstGeom>
        </p:spPr>
      </p:pic>
      <p:sp>
        <p:nvSpPr>
          <p:cNvPr id="57" name="Text 52"/>
          <p:cNvSpPr/>
          <p:nvPr/>
        </p:nvSpPr>
        <p:spPr>
          <a:xfrm>
            <a:off x="955548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LCA based on SUPERMILL TWO projections</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560070" cy="256032"/>
          </a:xfrm>
          <a:prstGeom prst="rect">
            <a:avLst/>
          </a:prstGeom>
          <a:solidFill>
            <a:srgbClr val="A0714E">
              <a:alpha val="45000"/>
            </a:srgbClr>
          </a:solidFill>
          <a:ln/>
        </p:spPr>
      </p:sp>
      <p:sp>
        <p:nvSpPr>
          <p:cNvPr id="16" name="Shape 14"/>
          <p:cNvSpPr/>
          <p:nvPr/>
        </p:nvSpPr>
        <p:spPr>
          <a:xfrm>
            <a:off x="1623060" y="3291840"/>
            <a:ext cx="0" cy="329184"/>
          </a:xfrm>
          <a:prstGeom prst="line">
            <a:avLst/>
          </a:prstGeom>
          <a:noFill/>
          <a:ln w="9525">
            <a:solidFill>
              <a:srgbClr val="CDBFA9"/>
            </a:solidFill>
            <a:prstDash val="solid"/>
          </a:ln>
        </p:spPr>
      </p:sp>
      <p:sp>
        <p:nvSpPr>
          <p:cNvPr id="17" name="Text 15"/>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18" name="Text 16"/>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replacement by weight, projected: emissions right, carbon storage left</a:t>
            </a:r>
            <a:endParaRPr lang="en-US" sz="1000" dirty="0"/>
          </a:p>
        </p:txBody>
      </p:sp>
      <p:sp>
        <p:nvSpPr>
          <p:cNvPr id="19" name="Shape 17"/>
          <p:cNvSpPr/>
          <p:nvPr/>
        </p:nvSpPr>
        <p:spPr>
          <a:xfrm>
            <a:off x="502920" y="4197096"/>
            <a:ext cx="4480560" cy="256032"/>
          </a:xfrm>
          <a:prstGeom prst="rect">
            <a:avLst/>
          </a:prstGeom>
          <a:solidFill>
            <a:srgbClr val="3A2B1A"/>
          </a:solidFill>
          <a:ln/>
        </p:spPr>
      </p:sp>
      <p:sp>
        <p:nvSpPr>
          <p:cNvPr id="20" name="Shape 18"/>
          <p:cNvSpPr/>
          <p:nvPr/>
        </p:nvSpPr>
        <p:spPr>
          <a:xfrm>
            <a:off x="1623060" y="4197096"/>
            <a:ext cx="186690" cy="256032"/>
          </a:xfrm>
          <a:prstGeom prst="rect">
            <a:avLst/>
          </a:prstGeom>
          <a:solidFill>
            <a:srgbClr val="8FB356"/>
          </a:solidFill>
          <a:ln/>
        </p:spPr>
      </p:sp>
      <p:sp>
        <p:nvSpPr>
          <p:cNvPr id="21" name="Shape 19"/>
          <p:cNvSpPr/>
          <p:nvPr/>
        </p:nvSpPr>
        <p:spPr>
          <a:xfrm>
            <a:off x="1809750" y="4197096"/>
            <a:ext cx="186690" cy="256032"/>
          </a:xfrm>
          <a:prstGeom prst="rect">
            <a:avLst/>
          </a:prstGeom>
          <a:solidFill>
            <a:srgbClr val="8FB356">
              <a:alpha val="45000"/>
            </a:srgbClr>
          </a:solidFill>
          <a:ln/>
        </p:spPr>
      </p:sp>
      <p:sp>
        <p:nvSpPr>
          <p:cNvPr id="22" name="Shape 20"/>
          <p:cNvSpPr/>
          <p:nvPr/>
        </p:nvSpPr>
        <p:spPr>
          <a:xfrm>
            <a:off x="1436370" y="4197096"/>
            <a:ext cx="186690" cy="256032"/>
          </a:xfrm>
          <a:prstGeom prst="rect">
            <a:avLst/>
          </a:prstGeom>
          <a:solidFill>
            <a:srgbClr val="5EA9A2"/>
          </a:solidFill>
          <a:ln/>
        </p:spPr>
      </p:sp>
      <p:sp>
        <p:nvSpPr>
          <p:cNvPr id="23" name="Shape 21"/>
          <p:cNvSpPr/>
          <p:nvPr/>
        </p:nvSpPr>
        <p:spPr>
          <a:xfrm>
            <a:off x="689610" y="4197096"/>
            <a:ext cx="746760" cy="256032"/>
          </a:xfrm>
          <a:prstGeom prst="rect">
            <a:avLst/>
          </a:prstGeom>
          <a:solidFill>
            <a:srgbClr val="5EA9A2">
              <a:alpha val="45000"/>
            </a:srgbClr>
          </a:solidFill>
          <a:ln/>
        </p:spPr>
      </p:sp>
      <p:sp>
        <p:nvSpPr>
          <p:cNvPr id="24" name="Shape 22"/>
          <p:cNvSpPr/>
          <p:nvPr/>
        </p:nvSpPr>
        <p:spPr>
          <a:xfrm>
            <a:off x="1623060" y="4160520"/>
            <a:ext cx="0" cy="329184"/>
          </a:xfrm>
          <a:prstGeom prst="line">
            <a:avLst/>
          </a:prstGeom>
          <a:noFill/>
          <a:ln w="9525">
            <a:solidFill>
              <a:srgbClr val="CDBFA9"/>
            </a:solidFill>
            <a:prstDash val="solid"/>
          </a:ln>
        </p:spPr>
      </p:sp>
      <p:sp>
        <p:nvSpPr>
          <p:cNvPr id="25" name="Text 23"/>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26" name="Shape 24"/>
          <p:cNvSpPr/>
          <p:nvPr/>
        </p:nvSpPr>
        <p:spPr>
          <a:xfrm>
            <a:off x="502920" y="4800600"/>
            <a:ext cx="5852160" cy="1097280"/>
          </a:xfrm>
          <a:prstGeom prst="roundRect">
            <a:avLst>
              <a:gd name="adj" fmla="val 7500"/>
            </a:avLst>
          </a:prstGeom>
          <a:solidFill>
            <a:srgbClr val="2E2113"/>
          </a:solidFill>
          <a:ln/>
        </p:spPr>
      </p:sp>
      <p:sp>
        <p:nvSpPr>
          <p:cNvPr id="27" name="Text 25"/>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28" name="Shape 26"/>
          <p:cNvSpPr/>
          <p:nvPr/>
        </p:nvSpPr>
        <p:spPr>
          <a:xfrm>
            <a:off x="6675120" y="1783080"/>
            <a:ext cx="4983480" cy="4114800"/>
          </a:xfrm>
          <a:prstGeom prst="roundRect">
            <a:avLst>
              <a:gd name="adj" fmla="val 2000"/>
            </a:avLst>
          </a:prstGeom>
          <a:solidFill>
            <a:srgbClr val="261A0F"/>
          </a:solidFill>
          <a:ln/>
        </p:spPr>
      </p:sp>
      <p:sp>
        <p:nvSpPr>
          <p:cNvPr id="29" name="Text 27"/>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30" name="Text 28"/>
          <p:cNvSpPr/>
          <p:nvPr/>
        </p:nvSpPr>
        <p:spPr>
          <a:xfrm>
            <a:off x="6903720" y="2240280"/>
            <a:ext cx="4572000" cy="28346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SUPERWOOD needed: 0.25–0.33 tons per ton of steel replaced — a 3:1 to 4:1 average replacement by weight, to be engineering-stamped per element.</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SUPERWOOD manufacturing emissions: 0.25–0.33 tons × 0.5 = about 0.1–0.2 tons CO₂e per ton of steel substituted.</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average steel (1.8 tons CO₂e): a reduction of 89–94%.</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recycled steel (0.4–0.7 tons CO₂e): a reduction of 50–86%.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Carbon stored in the SUPERWOOD: 0.25–0.33 tons × 0.5–1.5 = 0.1–0.5 tons CO₂e per ton of steel replaced, biogenic, reported separately.</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950" dirty="0"/>
          </a:p>
        </p:txBody>
      </p:sp>
      <p:sp>
        <p:nvSpPr>
          <p:cNvPr id="31" name="Text 29"/>
          <p:cNvSpPr/>
          <p:nvPr/>
        </p:nvSpPr>
        <p:spPr>
          <a:xfrm>
            <a:off x="6903720" y="5120640"/>
            <a:ext cx="4572000" cy="68580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32" name="Text 30"/>
          <p:cNvSpPr/>
          <p:nvPr/>
        </p:nvSpPr>
        <p:spPr>
          <a:xfrm>
            <a:off x="502920" y="6035040"/>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3:1 to 4:1 by weight (0.25–0.33 kg SUPERWOOD per kg steel): company assumption. Reductions are arithmetic on these inputs.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2026-09-06T01:31:03Z</dcterms:created>
  <dcterms:modified xsi:type="dcterms:W3CDTF">2026-09-06T01:31:03Z</dcterms:modified>
</cp:coreProperties>
</file>