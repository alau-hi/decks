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and racks alone are two to seven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Hyperscalers are already building with wood. We </a:t>
            </a:r>
            <a:pPr indent="0" marL="0">
              <a:buNone/>
            </a:pPr>
            <a:r>
              <a:rPr lang="en-US" sz="2700" i="1" dirty="0">
                <a:solidFill>
                  <a:srgbClr val="E2B877"/>
                </a:solidFill>
                <a:latin typeface="Georgia" pitchFamily="34" charset="0"/>
                <a:ea typeface="Georgia" pitchFamily="34" charset="-122"/>
                <a:cs typeface="Georgia" pitchFamily="34" charset="-120"/>
              </a:rPr>
              <a:t>turbocharge</a:t>
            </a:r>
            <a:pPr indent="0" marL="0">
              <a:buNone/>
            </a:pPr>
            <a:r>
              <a:rPr lang="en-US" sz="2700" dirty="0">
                <a:solidFill>
                  <a:srgbClr val="F4ECDF"/>
                </a:solidFill>
                <a:latin typeface="Georgia" pitchFamily="34" charset="0"/>
                <a:ea typeface="Georgia" pitchFamily="34" charset="-122"/>
                <a:cs typeface="Georgia" pitchFamily="34" charset="-120"/>
              </a:rPr>
              <a:t> wood.</a:t>
            </a:r>
            <a:endParaRPr lang="en-US" sz="2700" dirty="0"/>
          </a:p>
        </p:txBody>
      </p:sp>
      <p:sp>
        <p:nvSpPr>
          <p:cNvPr id="6" name="Text 4"/>
          <p:cNvSpPr/>
          <p:nvPr/>
        </p:nvSpPr>
        <p:spPr>
          <a:xfrm>
            <a:off x="502920" y="1783080"/>
            <a:ext cx="420624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7" name="Shape 5"/>
          <p:cNvSpPr/>
          <p:nvPr/>
        </p:nvSpPr>
        <p:spPr>
          <a:xfrm>
            <a:off x="502920" y="2103120"/>
            <a:ext cx="4206240" cy="1783080"/>
          </a:xfrm>
          <a:prstGeom prst="roundRect">
            <a:avLst>
              <a:gd name="adj" fmla="val 4615"/>
            </a:avLst>
          </a:prstGeom>
          <a:solidFill>
            <a:srgbClr val="2E2113"/>
          </a:solidFill>
          <a:ln/>
        </p:spPr>
      </p:sp>
      <p:pic>
        <p:nvPicPr>
          <p:cNvPr id="8" name="Image 0" descr="prep/logo_microsoft.png">    </p:cNvPr>
          <p:cNvPicPr>
            <a:picLocks noChangeAspect="1"/>
          </p:cNvPicPr>
          <p:nvPr/>
        </p:nvPicPr>
        <p:blipFill>
          <a:blip r:embed="rId1"/>
          <a:stretch>
            <a:fillRect/>
          </a:stretch>
        </p:blipFill>
        <p:spPr>
          <a:xfrm>
            <a:off x="731520" y="2286000"/>
            <a:ext cx="1457757" cy="310896"/>
          </a:xfrm>
          <a:prstGeom prst="rect">
            <a:avLst/>
          </a:prstGeom>
        </p:spPr>
      </p:pic>
      <p:sp>
        <p:nvSpPr>
          <p:cNvPr id="9" name="Text 6"/>
          <p:cNvSpPr/>
          <p:nvPr/>
        </p:nvSpPr>
        <p:spPr>
          <a:xfrm>
            <a:off x="731520" y="2724912"/>
            <a:ext cx="3749040" cy="91440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Two Northern Virginia datacenters with cross-laminated timber floor panels on a steel frame: an estimated 35% embodied-carbon reduction vs. conventional steel construction and 65% vs. precast concrete. Design by Gensler; structural engineering by Thornton Tomasetti.</a:t>
            </a:r>
            <a:endParaRPr lang="en-US" sz="950" dirty="0"/>
          </a:p>
        </p:txBody>
      </p:sp>
      <p:sp>
        <p:nvSpPr>
          <p:cNvPr id="10" name="Text 7"/>
          <p:cNvSpPr/>
          <p:nvPr/>
        </p:nvSpPr>
        <p:spPr>
          <a:xfrm>
            <a:off x="731520" y="3611880"/>
            <a:ext cx="3749040" cy="228600"/>
          </a:xfrm>
          <a:prstGeom prst="rect">
            <a:avLst/>
          </a:prstGeom>
          <a:noFill/>
          <a:ln/>
        </p:spPr>
        <p:txBody>
          <a:bodyPr wrap="square" lIns="0" tIns="0" rIns="0" bIns="0" rtlCol="0" anchor="ctr"/>
          <a:lstStyle/>
          <a:p>
            <a:pPr indent="0" marL="0">
              <a:buNone/>
            </a:pPr>
            <a:r>
              <a:rPr lang="en-US" sz="800" i="1" dirty="0">
                <a:solidFill>
                  <a:srgbClr val="9D8D76"/>
                </a:solidFill>
                <a:latin typeface="Calibri" pitchFamily="34" charset="0"/>
                <a:ea typeface="Calibri" pitchFamily="34" charset="-122"/>
                <a:cs typeface="Calibri" pitchFamily="34" charset="-120"/>
              </a:rPr>
              <a:t>Microsoft Source, Nov 2024</a:t>
            </a:r>
            <a:endParaRPr lang="en-US" sz="800" dirty="0"/>
          </a:p>
        </p:txBody>
      </p:sp>
      <p:sp>
        <p:nvSpPr>
          <p:cNvPr id="11" name="Shape 8"/>
          <p:cNvSpPr/>
          <p:nvPr/>
        </p:nvSpPr>
        <p:spPr>
          <a:xfrm>
            <a:off x="502920" y="4023360"/>
            <a:ext cx="4206240" cy="1783080"/>
          </a:xfrm>
          <a:prstGeom prst="roundRect">
            <a:avLst>
              <a:gd name="adj" fmla="val 4615"/>
            </a:avLst>
          </a:prstGeom>
          <a:solidFill>
            <a:srgbClr val="2E2113"/>
          </a:solidFill>
          <a:ln/>
        </p:spPr>
      </p:sp>
      <p:pic>
        <p:nvPicPr>
          <p:cNvPr id="12" name="Image 1" descr="prep/logo_meta.png">    </p:cNvPr>
          <p:cNvPicPr>
            <a:picLocks noChangeAspect="1"/>
          </p:cNvPicPr>
          <p:nvPr/>
        </p:nvPicPr>
        <p:blipFill>
          <a:blip r:embed="rId2"/>
          <a:stretch>
            <a:fillRect/>
          </a:stretch>
        </p:blipFill>
        <p:spPr>
          <a:xfrm>
            <a:off x="731520" y="4206240"/>
            <a:ext cx="1543086" cy="310896"/>
          </a:xfrm>
          <a:prstGeom prst="rect">
            <a:avLst/>
          </a:prstGeom>
        </p:spPr>
      </p:pic>
      <p:sp>
        <p:nvSpPr>
          <p:cNvPr id="13" name="Text 9"/>
          <p:cNvSpPr/>
          <p:nvPr/>
        </p:nvSpPr>
        <p:spPr>
          <a:xfrm>
            <a:off x="731520" y="4645152"/>
            <a:ext cx="3749040" cy="91440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Piloting mass timber for data-center administrative buildings: first completed 2025 at Aiken, South Carolina (DPR, SmartLam); projects under way in Cheyenne, Wyoming and Montgomery, Alabama; about a 41% reduction in the embodied carbon of the materials substituted.</a:t>
            </a:r>
            <a:endParaRPr lang="en-US" sz="950" dirty="0"/>
          </a:p>
        </p:txBody>
      </p:sp>
      <p:sp>
        <p:nvSpPr>
          <p:cNvPr id="14" name="Text 10"/>
          <p:cNvSpPr/>
          <p:nvPr/>
        </p:nvSpPr>
        <p:spPr>
          <a:xfrm>
            <a:off x="731520" y="5532120"/>
            <a:ext cx="3749040" cy="228600"/>
          </a:xfrm>
          <a:prstGeom prst="rect">
            <a:avLst/>
          </a:prstGeom>
          <a:noFill/>
          <a:ln/>
        </p:spPr>
        <p:txBody>
          <a:bodyPr wrap="square" lIns="0" tIns="0" rIns="0" bIns="0" rtlCol="0" anchor="ctr"/>
          <a:lstStyle/>
          <a:p>
            <a:pPr indent="0" marL="0">
              <a:buNone/>
            </a:pPr>
            <a:r>
              <a:rPr lang="en-US" sz="800" i="1" dirty="0">
                <a:solidFill>
                  <a:srgbClr val="9D8D76"/>
                </a:solidFill>
                <a:latin typeface="Calibri" pitchFamily="34" charset="0"/>
                <a:ea typeface="Calibri" pitchFamily="34" charset="-122"/>
                <a:cs typeface="Calibri" pitchFamily="34" charset="-120"/>
              </a:rPr>
              <a:t>Meta Sustainability, 31 Jul 2025</a:t>
            </a:r>
            <a:endParaRPr lang="en-US" sz="800" dirty="0"/>
          </a:p>
        </p:txBody>
      </p:sp>
      <p:sp>
        <p:nvSpPr>
          <p:cNvPr id="15" name="Text 11"/>
          <p:cNvSpPr/>
          <p:nvPr/>
        </p:nvSpPr>
        <p:spPr>
          <a:xfrm>
            <a:off x="4983480" y="1783080"/>
            <a:ext cx="6675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WHAT SUPERWOOD ADDS TO THE WOOD THEY ALREADY USE</a:t>
            </a:r>
            <a:endParaRPr lang="en-US" sz="900" dirty="0"/>
          </a:p>
        </p:txBody>
      </p:sp>
      <p:pic>
        <p:nvPicPr>
          <p:cNvPr id="16" name="Image 2" descr="prep/beam_glulam.jpg">    </p:cNvPr>
          <p:cNvPicPr>
            <a:picLocks noChangeAspect="1"/>
          </p:cNvPicPr>
          <p:nvPr/>
        </p:nvPicPr>
        <p:blipFill>
          <a:blip r:embed="rId3"/>
          <a:srcRect l="0" r="0" t="0" b="0"/>
          <a:stretch/>
        </p:blipFill>
        <p:spPr>
          <a:xfrm>
            <a:off x="4983480" y="2103120"/>
            <a:ext cx="2133600" cy="1188720"/>
          </a:xfrm>
          <a:prstGeom prst="rect">
            <a:avLst/>
          </a:prstGeom>
        </p:spPr>
      </p:pic>
      <p:sp>
        <p:nvSpPr>
          <p:cNvPr id="17" name="Text 12"/>
          <p:cNvSpPr/>
          <p:nvPr/>
        </p:nvSpPr>
        <p:spPr>
          <a:xfrm>
            <a:off x="4983480" y="3328416"/>
            <a:ext cx="2133600" cy="329184"/>
          </a:xfrm>
          <a:prstGeom prst="rect">
            <a:avLst/>
          </a:prstGeom>
          <a:noFill/>
          <a:ln/>
        </p:spPr>
        <p:txBody>
          <a:bodyPr wrap="square" lIns="0" tIns="0" rIns="0" bIns="0" rtlCol="0" anchor="t"/>
          <a:lstStyle/>
          <a:p>
            <a:pPr algn="ctr" indent="0" marL="0">
              <a:buNone/>
            </a:pPr>
            <a:r>
              <a:rPr lang="en-US" sz="850" i="1" dirty="0">
                <a:solidFill>
                  <a:srgbClr val="9D8D76"/>
                </a:solidFill>
                <a:latin typeface="Calibri" pitchFamily="34" charset="0"/>
                <a:ea typeface="Calibri" pitchFamily="34" charset="-122"/>
                <a:cs typeface="Calibri" pitchFamily="34" charset="-120"/>
              </a:rPr>
              <a:t>Glulam beam — mass timber today</a:t>
            </a:r>
            <a:endParaRPr lang="en-US" sz="850" dirty="0"/>
          </a:p>
        </p:txBody>
      </p:sp>
      <p:pic>
        <p:nvPicPr>
          <p:cNvPr id="18" name="Image 3" descr="prep/beam_hybrid.jpg">    </p:cNvPr>
          <p:cNvPicPr>
            <a:picLocks noChangeAspect="1"/>
          </p:cNvPicPr>
          <p:nvPr/>
        </p:nvPicPr>
        <p:blipFill>
          <a:blip r:embed="rId4"/>
          <a:srcRect l="0" r="0" t="0" b="0"/>
          <a:stretch/>
        </p:blipFill>
        <p:spPr>
          <a:xfrm>
            <a:off x="7254240" y="2103120"/>
            <a:ext cx="2133600" cy="1188720"/>
          </a:xfrm>
          <a:prstGeom prst="rect">
            <a:avLst/>
          </a:prstGeom>
        </p:spPr>
      </p:pic>
      <p:sp>
        <p:nvSpPr>
          <p:cNvPr id="19" name="Text 13"/>
          <p:cNvSpPr/>
          <p:nvPr/>
        </p:nvSpPr>
        <p:spPr>
          <a:xfrm>
            <a:off x="725424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SUPERWOOD hybrid beam — outer laminations on glulam</a:t>
            </a:r>
            <a:endParaRPr lang="en-US" sz="850" dirty="0"/>
          </a:p>
        </p:txBody>
      </p:sp>
      <p:pic>
        <p:nvPicPr>
          <p:cNvPr id="20" name="Image 4" descr="prep/beam_thin.jpg">    </p:cNvPr>
          <p:cNvPicPr>
            <a:picLocks noChangeAspect="1"/>
          </p:cNvPicPr>
          <p:nvPr/>
        </p:nvPicPr>
        <p:blipFill>
          <a:blip r:embed="rId5"/>
          <a:srcRect l="0" r="0" t="0" b="0"/>
          <a:stretch/>
        </p:blipFill>
        <p:spPr>
          <a:xfrm>
            <a:off x="9525000" y="2103120"/>
            <a:ext cx="2133600" cy="1188720"/>
          </a:xfrm>
          <a:prstGeom prst="rect">
            <a:avLst/>
          </a:prstGeom>
        </p:spPr>
      </p:pic>
      <p:sp>
        <p:nvSpPr>
          <p:cNvPr id="21" name="Text 14"/>
          <p:cNvSpPr/>
          <p:nvPr/>
        </p:nvSpPr>
        <p:spPr>
          <a:xfrm>
            <a:off x="952500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Thin SUPERWOOD beam — steel-like sections</a:t>
            </a:r>
            <a:endParaRPr lang="en-US" sz="850" dirty="0"/>
          </a:p>
        </p:txBody>
      </p:sp>
      <p:sp>
        <p:nvSpPr>
          <p:cNvPr id="22" name="Text 15"/>
          <p:cNvSpPr/>
          <p:nvPr/>
        </p:nvSpPr>
        <p:spPr>
          <a:xfrm>
            <a:off x="4983480" y="3703320"/>
            <a:ext cx="1280160" cy="329184"/>
          </a:xfrm>
          <a:prstGeom prst="rect">
            <a:avLst/>
          </a:prstGeom>
          <a:noFill/>
          <a:ln/>
        </p:spPr>
        <p:txBody>
          <a:bodyPr wrap="square" lIns="0" tIns="0" rIns="0" bIns="0" rtlCol="0" anchor="t"/>
          <a:lstStyle/>
          <a:p>
            <a:pPr indent="0" marL="0">
              <a:buNone/>
            </a:pPr>
            <a:endParaRPr lang="en-US" sz="800" dirty="0"/>
          </a:p>
        </p:txBody>
      </p:sp>
      <p:sp>
        <p:nvSpPr>
          <p:cNvPr id="23" name="Text 16"/>
          <p:cNvSpPr/>
          <p:nvPr/>
        </p:nvSpPr>
        <p:spPr>
          <a:xfrm>
            <a:off x="6355080" y="370332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4" name="Text 17"/>
          <p:cNvSpPr/>
          <p:nvPr/>
        </p:nvSpPr>
        <p:spPr>
          <a:xfrm>
            <a:off x="8412480" y="370332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5" name="Shape 18"/>
          <p:cNvSpPr/>
          <p:nvPr/>
        </p:nvSpPr>
        <p:spPr>
          <a:xfrm>
            <a:off x="4983480" y="4009644"/>
            <a:ext cx="6675120" cy="10973"/>
          </a:xfrm>
          <a:prstGeom prst="rect">
            <a:avLst/>
          </a:prstGeom>
          <a:solidFill>
            <a:srgbClr val="3A2B1A"/>
          </a:solidFill>
          <a:ln/>
        </p:spPr>
      </p:sp>
      <p:sp>
        <p:nvSpPr>
          <p:cNvPr id="26" name="Text 19"/>
          <p:cNvSpPr/>
          <p:nvPr/>
        </p:nvSpPr>
        <p:spPr>
          <a:xfrm>
            <a:off x="4983480" y="405536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7" name="Text 20"/>
          <p:cNvSpPr/>
          <p:nvPr/>
        </p:nvSpPr>
        <p:spPr>
          <a:xfrm>
            <a:off x="6355080" y="405536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8" name="Text 21"/>
          <p:cNvSpPr/>
          <p:nvPr/>
        </p:nvSpPr>
        <p:spPr>
          <a:xfrm>
            <a:off x="8412480" y="405536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29" name="Shape 22"/>
          <p:cNvSpPr/>
          <p:nvPr/>
        </p:nvSpPr>
        <p:spPr>
          <a:xfrm>
            <a:off x="4983480" y="4361688"/>
            <a:ext cx="6675120" cy="10973"/>
          </a:xfrm>
          <a:prstGeom prst="rect">
            <a:avLst/>
          </a:prstGeom>
          <a:solidFill>
            <a:srgbClr val="3A2B1A"/>
          </a:solidFill>
          <a:ln/>
        </p:spPr>
      </p:sp>
      <p:sp>
        <p:nvSpPr>
          <p:cNvPr id="30" name="Text 23"/>
          <p:cNvSpPr/>
          <p:nvPr/>
        </p:nvSpPr>
        <p:spPr>
          <a:xfrm>
            <a:off x="4983480" y="44074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1" name="Text 24"/>
          <p:cNvSpPr/>
          <p:nvPr/>
        </p:nvSpPr>
        <p:spPr>
          <a:xfrm>
            <a:off x="6355080" y="44074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2" name="Text 25"/>
          <p:cNvSpPr/>
          <p:nvPr/>
        </p:nvSpPr>
        <p:spPr>
          <a:xfrm>
            <a:off x="8412480" y="44074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3" name="Shape 26"/>
          <p:cNvSpPr/>
          <p:nvPr/>
        </p:nvSpPr>
        <p:spPr>
          <a:xfrm>
            <a:off x="4983480" y="4713732"/>
            <a:ext cx="6675120" cy="10973"/>
          </a:xfrm>
          <a:prstGeom prst="rect">
            <a:avLst/>
          </a:prstGeom>
          <a:solidFill>
            <a:srgbClr val="3A2B1A"/>
          </a:solidFill>
          <a:ln/>
        </p:spPr>
      </p:sp>
      <p:sp>
        <p:nvSpPr>
          <p:cNvPr id="34" name="Text 27"/>
          <p:cNvSpPr/>
          <p:nvPr/>
        </p:nvSpPr>
        <p:spPr>
          <a:xfrm>
            <a:off x="4983480" y="475945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5" name="Text 28"/>
          <p:cNvSpPr/>
          <p:nvPr/>
        </p:nvSpPr>
        <p:spPr>
          <a:xfrm>
            <a:off x="6355080" y="475945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6" name="Text 29"/>
          <p:cNvSpPr/>
          <p:nvPr/>
        </p:nvSpPr>
        <p:spPr>
          <a:xfrm>
            <a:off x="8412480" y="475945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7" name="Shape 30"/>
          <p:cNvSpPr/>
          <p:nvPr/>
        </p:nvSpPr>
        <p:spPr>
          <a:xfrm>
            <a:off x="4983480" y="5065776"/>
            <a:ext cx="6675120" cy="10973"/>
          </a:xfrm>
          <a:prstGeom prst="rect">
            <a:avLst/>
          </a:prstGeom>
          <a:solidFill>
            <a:srgbClr val="3A2B1A"/>
          </a:solidFill>
          <a:ln/>
        </p:spPr>
      </p:sp>
      <p:sp>
        <p:nvSpPr>
          <p:cNvPr id="38" name="Text 31"/>
          <p:cNvSpPr/>
          <p:nvPr/>
        </p:nvSpPr>
        <p:spPr>
          <a:xfrm>
            <a:off x="4983480" y="511149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39" name="Text 32"/>
          <p:cNvSpPr/>
          <p:nvPr/>
        </p:nvSpPr>
        <p:spPr>
          <a:xfrm>
            <a:off x="6355080" y="511149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40" name="Text 33"/>
          <p:cNvSpPr/>
          <p:nvPr/>
        </p:nvSpPr>
        <p:spPr>
          <a:xfrm>
            <a:off x="8412480" y="511149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1" name="Shape 34"/>
          <p:cNvSpPr/>
          <p:nvPr/>
        </p:nvSpPr>
        <p:spPr>
          <a:xfrm>
            <a:off x="4983480" y="5417820"/>
            <a:ext cx="6675120" cy="10973"/>
          </a:xfrm>
          <a:prstGeom prst="rect">
            <a:avLst/>
          </a:prstGeom>
          <a:solidFill>
            <a:srgbClr val="3A2B1A"/>
          </a:solidFill>
          <a:ln/>
        </p:spPr>
      </p:sp>
      <p:sp>
        <p:nvSpPr>
          <p:cNvPr id="42" name="Text 35"/>
          <p:cNvSpPr/>
          <p:nvPr/>
        </p:nvSpPr>
        <p:spPr>
          <a:xfrm>
            <a:off x="4983480" y="546354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3" name="Text 36"/>
          <p:cNvSpPr/>
          <p:nvPr/>
        </p:nvSpPr>
        <p:spPr>
          <a:xfrm>
            <a:off x="6355080" y="546354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4" name="Text 37"/>
          <p:cNvSpPr/>
          <p:nvPr/>
        </p:nvSpPr>
        <p:spPr>
          <a:xfrm>
            <a:off x="8412480" y="546354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5" name="Shape 38"/>
          <p:cNvSpPr/>
          <p:nvPr/>
        </p:nvSpPr>
        <p:spPr>
          <a:xfrm>
            <a:off x="4983480" y="5769864"/>
            <a:ext cx="6675120" cy="10973"/>
          </a:xfrm>
          <a:prstGeom prst="rect">
            <a:avLst/>
          </a:prstGeom>
          <a:solidFill>
            <a:srgbClr val="3A2B1A"/>
          </a:solidFill>
          <a:ln/>
        </p:spPr>
      </p:sp>
      <p:sp>
        <p:nvSpPr>
          <p:cNvPr id="46" name="Text 39"/>
          <p:cNvSpPr/>
          <p:nvPr/>
        </p:nvSpPr>
        <p:spPr>
          <a:xfrm>
            <a:off x="4983480" y="581558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7" name="Text 40"/>
          <p:cNvSpPr/>
          <p:nvPr/>
        </p:nvSpPr>
        <p:spPr>
          <a:xfrm>
            <a:off x="6355080" y="581558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8" name="Text 41"/>
          <p:cNvSpPr/>
          <p:nvPr/>
        </p:nvSpPr>
        <p:spPr>
          <a:xfrm>
            <a:off x="8412480" y="581558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49" name="Text 42"/>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are the companies' marks, used to identify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120640" cy="314553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5120640" cy="3145536"/>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5074920"/>
            <a:ext cx="11155680" cy="267931"/>
          </a:xfrm>
          <a:prstGeom prst="rect">
            <a:avLst/>
          </a:prstGeom>
        </p:spPr>
      </p:pic>
      <p:sp>
        <p:nvSpPr>
          <p:cNvPr id="11" name="Text 6"/>
          <p:cNvSpPr/>
          <p:nvPr/>
        </p:nvSpPr>
        <p:spPr>
          <a:xfrm>
            <a:off x="50292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150" dirty="0"/>
          </a:p>
        </p:txBody>
      </p:sp>
      <p:sp>
        <p:nvSpPr>
          <p:cNvPr id="12" name="Text 7"/>
          <p:cNvSpPr/>
          <p:nvPr/>
        </p:nvSpPr>
        <p:spPr>
          <a:xfrm>
            <a:off x="50292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Structure, envelope and contents — frame, roof, skins, platforms, racks, enclosures, equipment. Skins, screens, fences and racks now; platforms and barriers next; frame and roofs as structure; server boxes eventually — the electronics never.</a:t>
            </a:r>
            <a:endParaRPr lang="en-US" sz="850" dirty="0"/>
          </a:p>
        </p:txBody>
      </p:sp>
      <p:sp>
        <p:nvSpPr>
          <p:cNvPr id="13" name="Text 8"/>
          <p:cNvSpPr/>
          <p:nvPr/>
        </p:nvSpPr>
        <p:spPr>
          <a:xfrm>
            <a:off x="612648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150" dirty="0"/>
          </a:p>
        </p:txBody>
      </p:sp>
      <p:sp>
        <p:nvSpPr>
          <p:cNvPr id="14" name="Text 9"/>
          <p:cNvSpPr/>
          <p:nvPr/>
        </p:nvSpPr>
        <p:spPr>
          <a:xfrm>
            <a:off x="612648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85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 racks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5.3–17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1.8–5.7 kt (2.1–6.6M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2.1–6.6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platforms, barriers, doors</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10–25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2.9–15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0.1–0.5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foundations, server boxes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1,002–2,089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58–363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1.9–12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rebar, and server enclosures at 40% of IT mass — estimate; electronics excluded).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613954" y="2331720"/>
            <a:ext cx="1371600" cy="1371600"/>
          </a:xfrm>
          <a:prstGeom prst="rect">
            <a:avLst/>
          </a:prstGeom>
        </p:spPr>
      </p:pic>
      <p:sp>
        <p:nvSpPr>
          <p:cNvPr id="8" name="Text 5"/>
          <p:cNvSpPr/>
          <p:nvPr/>
        </p:nvSpPr>
        <p:spPr>
          <a:xfrm>
            <a:off x="548640" y="3794760"/>
            <a:ext cx="1502229" cy="822960"/>
          </a:xfrm>
          <a:prstGeom prst="rect">
            <a:avLst/>
          </a:prstGeom>
          <a:noFill/>
          <a:ln/>
        </p:spPr>
        <p:txBody>
          <a:bodyPr wrap="square" lIns="0" tIns="0" rIns="0" bIns="0" rtlCol="0" anchor="t"/>
          <a:lstStyle/>
          <a:p>
            <a:pPr algn="ctr" indent="0" marL="0">
              <a:buNone/>
            </a:pPr>
            <a:r>
              <a:rPr lang="en-US" sz="1000" dirty="0">
                <a:solidFill>
                  <a:srgbClr val="CDBFA9"/>
                </a:solidFill>
                <a:latin typeface="Calibri" pitchFamily="34" charset="0"/>
                <a:ea typeface="Calibri" pitchFamily="34" charset="-122"/>
                <a:cs typeface="Calibri" pitchFamily="34" charset="-120"/>
              </a:rPr>
              <a:t>Facades, cladding &amp; rain screens</a:t>
            </a:r>
            <a:endParaRPr lang="en-US" sz="1000" dirty="0"/>
          </a:p>
        </p:txBody>
      </p:sp>
      <p:pic>
        <p:nvPicPr>
          <p:cNvPr id="9" name="Image 1" descr="prep/tiles/tile_lobby.jpg">    </p:cNvPr>
          <p:cNvPicPr>
            <a:picLocks noChangeAspect="1"/>
          </p:cNvPicPr>
          <p:nvPr/>
        </p:nvPicPr>
        <p:blipFill>
          <a:blip r:embed="rId2"/>
          <a:stretch>
            <a:fillRect/>
          </a:stretch>
        </p:blipFill>
        <p:spPr>
          <a:xfrm>
            <a:off x="2207623" y="2331720"/>
            <a:ext cx="1371600" cy="1371600"/>
          </a:xfrm>
          <a:prstGeom prst="rect">
            <a:avLst/>
          </a:prstGeom>
        </p:spPr>
      </p:pic>
      <p:sp>
        <p:nvSpPr>
          <p:cNvPr id="10" name="Text 6"/>
          <p:cNvSpPr/>
          <p:nvPr/>
        </p:nvSpPr>
        <p:spPr>
          <a:xfrm>
            <a:off x="2142309" y="3794760"/>
            <a:ext cx="1502229" cy="822960"/>
          </a:xfrm>
          <a:prstGeom prst="rect">
            <a:avLst/>
          </a:prstGeom>
          <a:noFill/>
          <a:ln/>
        </p:spPr>
        <p:txBody>
          <a:bodyPr wrap="square" lIns="0" tIns="0" rIns="0" bIns="0" rtlCol="0" anchor="t"/>
          <a:lstStyle/>
          <a:p>
            <a:pPr algn="ctr" indent="0" marL="0">
              <a:buNone/>
            </a:pPr>
            <a:r>
              <a:rPr lang="en-US" sz="1000" dirty="0">
                <a:solidFill>
                  <a:srgbClr val="CDBFA9"/>
                </a:solidFill>
                <a:latin typeface="Calibri" pitchFamily="34" charset="0"/>
                <a:ea typeface="Calibri" pitchFamily="34" charset="-122"/>
                <a:cs typeface="Calibri" pitchFamily="34" charset="-120"/>
              </a:rPr>
              <a:t>Biophilic interiors for office space</a:t>
            </a:r>
            <a:endParaRPr lang="en-US" sz="1000" dirty="0"/>
          </a:p>
        </p:txBody>
      </p:sp>
      <p:pic>
        <p:nvPicPr>
          <p:cNvPr id="11" name="Image 2" descr="prep/tiles/tile_louvers2.jpg">    </p:cNvPr>
          <p:cNvPicPr>
            <a:picLocks noChangeAspect="1"/>
          </p:cNvPicPr>
          <p:nvPr/>
        </p:nvPicPr>
        <p:blipFill>
          <a:blip r:embed="rId3"/>
          <a:stretch>
            <a:fillRect/>
          </a:stretch>
        </p:blipFill>
        <p:spPr>
          <a:xfrm>
            <a:off x="3801291" y="2331720"/>
            <a:ext cx="1371600" cy="1371600"/>
          </a:xfrm>
          <a:prstGeom prst="rect">
            <a:avLst/>
          </a:prstGeom>
        </p:spPr>
      </p:pic>
      <p:sp>
        <p:nvSpPr>
          <p:cNvPr id="12" name="Text 7"/>
          <p:cNvSpPr/>
          <p:nvPr/>
        </p:nvSpPr>
        <p:spPr>
          <a:xfrm>
            <a:off x="3735977" y="3794760"/>
            <a:ext cx="1502229" cy="822960"/>
          </a:xfrm>
          <a:prstGeom prst="rect">
            <a:avLst/>
          </a:prstGeom>
          <a:noFill/>
          <a:ln/>
        </p:spPr>
        <p:txBody>
          <a:bodyPr wrap="square" lIns="0" tIns="0" rIns="0" bIns="0" rtlCol="0" anchor="t"/>
          <a:lstStyle/>
          <a:p>
            <a:pPr algn="ctr" indent="0" marL="0">
              <a:buNone/>
            </a:pPr>
            <a:r>
              <a:rPr lang="en-US" sz="1000" dirty="0">
                <a:solidFill>
                  <a:srgbClr val="CDBFA9"/>
                </a:solidFill>
                <a:latin typeface="Calibri" pitchFamily="34" charset="0"/>
                <a:ea typeface="Calibri" pitchFamily="34" charset="-122"/>
                <a:cs typeface="Calibri" pitchFamily="34" charset="-120"/>
              </a:rPr>
              <a:t>Louvers &amp; equipment screening</a:t>
            </a:r>
            <a:endParaRPr lang="en-US" sz="1000" dirty="0"/>
          </a:p>
        </p:txBody>
      </p:sp>
      <p:pic>
        <p:nvPicPr>
          <p:cNvPr id="13" name="Image 3" descr="prep/tiles/tile_fence_staff.jpg">    </p:cNvPr>
          <p:cNvPicPr>
            <a:picLocks noChangeAspect="1"/>
          </p:cNvPicPr>
          <p:nvPr/>
        </p:nvPicPr>
        <p:blipFill>
          <a:blip r:embed="rId4"/>
          <a:stretch>
            <a:fillRect/>
          </a:stretch>
        </p:blipFill>
        <p:spPr>
          <a:xfrm>
            <a:off x="5394960" y="2331720"/>
            <a:ext cx="1371600" cy="1371600"/>
          </a:xfrm>
          <a:prstGeom prst="rect">
            <a:avLst/>
          </a:prstGeom>
        </p:spPr>
      </p:pic>
      <p:sp>
        <p:nvSpPr>
          <p:cNvPr id="14" name="Text 8"/>
          <p:cNvSpPr/>
          <p:nvPr/>
        </p:nvSpPr>
        <p:spPr>
          <a:xfrm>
            <a:off x="5329646" y="3794760"/>
            <a:ext cx="1502229" cy="822960"/>
          </a:xfrm>
          <a:prstGeom prst="rect">
            <a:avLst/>
          </a:prstGeom>
          <a:noFill/>
          <a:ln/>
        </p:spPr>
        <p:txBody>
          <a:bodyPr wrap="square" lIns="0" tIns="0" rIns="0" bIns="0" rtlCol="0" anchor="t"/>
          <a:lstStyle/>
          <a:p>
            <a:pPr algn="ctr" indent="0" marL="0">
              <a:buNone/>
            </a:pPr>
            <a:r>
              <a:rPr lang="en-US" sz="1000" dirty="0">
                <a:solidFill>
                  <a:srgbClr val="CDBFA9"/>
                </a:solidFill>
                <a:latin typeface="Calibri" pitchFamily="34" charset="0"/>
                <a:ea typeface="Calibri" pitchFamily="34" charset="-122"/>
                <a:cs typeface="Calibri" pitchFamily="34" charset="-120"/>
              </a:rPr>
              <a:t>Fencing for staff outdoor spaces</a:t>
            </a:r>
            <a:endParaRPr lang="en-US" sz="1000" dirty="0"/>
          </a:p>
        </p:txBody>
      </p:sp>
      <p:pic>
        <p:nvPicPr>
          <p:cNvPr id="15" name="Image 4" descr="prep/tiles/tile_fence_security.jpg">    </p:cNvPr>
          <p:cNvPicPr>
            <a:picLocks noChangeAspect="1"/>
          </p:cNvPicPr>
          <p:nvPr/>
        </p:nvPicPr>
        <p:blipFill>
          <a:blip r:embed="rId5"/>
          <a:stretch>
            <a:fillRect/>
          </a:stretch>
        </p:blipFill>
        <p:spPr>
          <a:xfrm>
            <a:off x="6988629" y="2331720"/>
            <a:ext cx="1371600" cy="1371600"/>
          </a:xfrm>
          <a:prstGeom prst="rect">
            <a:avLst/>
          </a:prstGeom>
        </p:spPr>
      </p:pic>
      <p:sp>
        <p:nvSpPr>
          <p:cNvPr id="16" name="Text 9"/>
          <p:cNvSpPr/>
          <p:nvPr/>
        </p:nvSpPr>
        <p:spPr>
          <a:xfrm>
            <a:off x="6923314" y="3794760"/>
            <a:ext cx="1502229" cy="822960"/>
          </a:xfrm>
          <a:prstGeom prst="rect">
            <a:avLst/>
          </a:prstGeom>
          <a:noFill/>
          <a:ln/>
        </p:spPr>
        <p:txBody>
          <a:bodyPr wrap="square" lIns="0" tIns="0" rIns="0" bIns="0" rtlCol="0" anchor="t"/>
          <a:lstStyle/>
          <a:p>
            <a:pPr algn="ctr" indent="0" marL="0">
              <a:buNone/>
            </a:pPr>
            <a:r>
              <a:rPr lang="en-US" sz="100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00" dirty="0"/>
          </a:p>
        </p:txBody>
      </p:sp>
      <p:pic>
        <p:nvPicPr>
          <p:cNvPr id="17" name="Image 5" descr="prep/tiles/tile_rackocp.jpg">    </p:cNvPr>
          <p:cNvPicPr>
            <a:picLocks noChangeAspect="1"/>
          </p:cNvPicPr>
          <p:nvPr/>
        </p:nvPicPr>
        <p:blipFill>
          <a:blip r:embed="rId6"/>
          <a:stretch>
            <a:fillRect/>
          </a:stretch>
        </p:blipFill>
        <p:spPr>
          <a:xfrm>
            <a:off x="8582297" y="2331720"/>
            <a:ext cx="1371600" cy="1371600"/>
          </a:xfrm>
          <a:prstGeom prst="rect">
            <a:avLst/>
          </a:prstGeom>
        </p:spPr>
      </p:pic>
      <p:sp>
        <p:nvSpPr>
          <p:cNvPr id="18" name="Text 10"/>
          <p:cNvSpPr/>
          <p:nvPr/>
        </p:nvSpPr>
        <p:spPr>
          <a:xfrm>
            <a:off x="8516983" y="3794760"/>
            <a:ext cx="1502229" cy="822960"/>
          </a:xfrm>
          <a:prstGeom prst="rect">
            <a:avLst/>
          </a:prstGeom>
          <a:noFill/>
          <a:ln/>
        </p:spPr>
        <p:txBody>
          <a:bodyPr wrap="square" lIns="0" tIns="0" rIns="0" bIns="0" rtlCol="0" anchor="t"/>
          <a:lstStyle/>
          <a:p>
            <a:pPr algn="ctr" indent="0" marL="0">
              <a:buNone/>
            </a:pPr>
            <a:r>
              <a:rPr lang="en-US" sz="1000" dirty="0">
                <a:solidFill>
                  <a:srgbClr val="CDBFA9"/>
                </a:solidFill>
                <a:latin typeface="Calibri" pitchFamily="34" charset="0"/>
                <a:ea typeface="Calibri" pitchFamily="34" charset="-122"/>
                <a:cs typeface="Calibri" pitchFamily="34" charset="-120"/>
              </a:rPr>
              <a:t>Racks &amp; equipment supports</a:t>
            </a:r>
            <a:endParaRPr lang="en-US" sz="1000" dirty="0"/>
          </a:p>
        </p:txBody>
      </p:sp>
      <p:pic>
        <p:nvPicPr>
          <p:cNvPr id="19" name="Image 6" descr="prep/tiles/tile_doorkick.jpg">    </p:cNvPr>
          <p:cNvPicPr>
            <a:picLocks noChangeAspect="1"/>
          </p:cNvPicPr>
          <p:nvPr/>
        </p:nvPicPr>
        <p:blipFill>
          <a:blip r:embed="rId7"/>
          <a:stretch>
            <a:fillRect/>
          </a:stretch>
        </p:blipFill>
        <p:spPr>
          <a:xfrm>
            <a:off x="10175966" y="2331720"/>
            <a:ext cx="1371600" cy="1371600"/>
          </a:xfrm>
          <a:prstGeom prst="rect">
            <a:avLst/>
          </a:prstGeom>
        </p:spPr>
      </p:pic>
      <p:sp>
        <p:nvSpPr>
          <p:cNvPr id="20" name="Text 11"/>
          <p:cNvSpPr/>
          <p:nvPr/>
        </p:nvSpPr>
        <p:spPr>
          <a:xfrm>
            <a:off x="10110651" y="3794760"/>
            <a:ext cx="1502229" cy="822960"/>
          </a:xfrm>
          <a:prstGeom prst="rect">
            <a:avLst/>
          </a:prstGeom>
          <a:noFill/>
          <a:ln/>
        </p:spPr>
        <p:txBody>
          <a:bodyPr wrap="square" lIns="0" tIns="0" rIns="0" bIns="0" rtlCol="0" anchor="t"/>
          <a:lstStyle/>
          <a:p>
            <a:pPr algn="ctr" indent="0" marL="0">
              <a:buNone/>
            </a:pPr>
            <a:r>
              <a:rPr lang="en-US" sz="1000" dirty="0">
                <a:solidFill>
                  <a:srgbClr val="CDBFA9"/>
                </a:solidFill>
                <a:latin typeface="Calibri" pitchFamily="34" charset="0"/>
                <a:ea typeface="Calibri" pitchFamily="34" charset="-122"/>
                <a:cs typeface="Calibri" pitchFamily="34" charset="-120"/>
              </a:rPr>
              <a:t>Trim, door kicks &amp; sub-framing</a:t>
            </a:r>
            <a:endParaRPr lang="en-US" sz="1000" dirty="0"/>
          </a:p>
        </p:txBody>
      </p:sp>
      <p:sp>
        <p:nvSpPr>
          <p:cNvPr id="21" name="Shape 12"/>
          <p:cNvSpPr/>
          <p:nvPr/>
        </p:nvSpPr>
        <p:spPr>
          <a:xfrm>
            <a:off x="502920" y="4846320"/>
            <a:ext cx="11155680" cy="1051560"/>
          </a:xfrm>
          <a:prstGeom prst="roundRect">
            <a:avLst>
              <a:gd name="adj" fmla="val 7826"/>
            </a:avLst>
          </a:prstGeom>
          <a:solidFill>
            <a:srgbClr val="261A0F"/>
          </a:solidFill>
          <a:ln/>
        </p:spPr>
      </p:sp>
      <p:sp>
        <p:nvSpPr>
          <p:cNvPr id="22"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Racks are steel we can replace today. And they are the near-term projects our hyperscaler customers asked for: facades, biophilic office interiors, staff-area fencing, security fencing around critical outdoor infrastructure.</a:t>
            </a:r>
            <a:endParaRPr lang="en-US" sz="1100" dirty="0"/>
          </a:p>
        </p:txBody>
      </p:sp>
      <p:sp>
        <p:nvSpPr>
          <p:cNvPr id="23" name="Text 14"/>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701040" y="1920240"/>
            <a:ext cx="1463040" cy="1463040"/>
          </a:xfrm>
          <a:prstGeom prst="rect">
            <a:avLst/>
          </a:prstGeom>
        </p:spPr>
      </p:pic>
      <p:sp>
        <p:nvSpPr>
          <p:cNvPr id="7" name="Text 4"/>
          <p:cNvSpPr/>
          <p:nvPr/>
        </p:nvSpPr>
        <p:spPr>
          <a:xfrm>
            <a:off x="54864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Acoustic barrier walls &amp; equipment screens</a:t>
            </a:r>
            <a:endParaRPr lang="en-US" sz="1100" dirty="0"/>
          </a:p>
        </p:txBody>
      </p:sp>
      <p:sp>
        <p:nvSpPr>
          <p:cNvPr id="8" name="Text 5"/>
          <p:cNvSpPr/>
          <p:nvPr/>
        </p:nvSpPr>
        <p:spPr>
          <a:xfrm>
            <a:off x="54864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560320" y="1920240"/>
            <a:ext cx="1463040" cy="1463040"/>
          </a:xfrm>
          <a:prstGeom prst="rect">
            <a:avLst/>
          </a:prstGeom>
        </p:spPr>
      </p:pic>
      <p:sp>
        <p:nvSpPr>
          <p:cNvPr id="11" name="Text 7"/>
          <p:cNvSpPr/>
          <p:nvPr/>
        </p:nvSpPr>
        <p:spPr>
          <a:xfrm>
            <a:off x="240792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Walkways &amp; platforms</a:t>
            </a:r>
            <a:endParaRPr lang="en-US" sz="1100" dirty="0"/>
          </a:p>
        </p:txBody>
      </p:sp>
      <p:sp>
        <p:nvSpPr>
          <p:cNvPr id="12" name="Text 8"/>
          <p:cNvSpPr/>
          <p:nvPr/>
        </p:nvSpPr>
        <p:spPr>
          <a:xfrm>
            <a:off x="240792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40792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4419600" y="1920240"/>
            <a:ext cx="1463040" cy="1463040"/>
          </a:xfrm>
          <a:prstGeom prst="rect">
            <a:avLst/>
          </a:prstGeom>
        </p:spPr>
      </p:pic>
      <p:sp>
        <p:nvSpPr>
          <p:cNvPr id="15" name="Text 10"/>
          <p:cNvSpPr/>
          <p:nvPr/>
        </p:nvSpPr>
        <p:spPr>
          <a:xfrm>
            <a:off x="426720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Railings</a:t>
            </a:r>
            <a:endParaRPr lang="en-US" sz="1100" dirty="0"/>
          </a:p>
        </p:txBody>
      </p:sp>
      <p:sp>
        <p:nvSpPr>
          <p:cNvPr id="16" name="Text 11"/>
          <p:cNvSpPr/>
          <p:nvPr/>
        </p:nvSpPr>
        <p:spPr>
          <a:xfrm>
            <a:off x="426720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426720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6278880" y="1920240"/>
            <a:ext cx="1463040" cy="1463040"/>
          </a:xfrm>
          <a:prstGeom prst="rect">
            <a:avLst/>
          </a:prstGeom>
        </p:spPr>
      </p:pic>
      <p:sp>
        <p:nvSpPr>
          <p:cNvPr id="19" name="Text 13"/>
          <p:cNvSpPr/>
          <p:nvPr/>
        </p:nvSpPr>
        <p:spPr>
          <a:xfrm>
            <a:off x="612648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20" name="Text 14"/>
          <p:cNvSpPr/>
          <p:nvPr/>
        </p:nvSpPr>
        <p:spPr>
          <a:xfrm>
            <a:off x="612648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612648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8138160" y="1920240"/>
            <a:ext cx="1463040" cy="1463040"/>
          </a:xfrm>
          <a:prstGeom prst="rect">
            <a:avLst/>
          </a:prstGeom>
        </p:spPr>
      </p:pic>
      <p:sp>
        <p:nvSpPr>
          <p:cNvPr id="23" name="Text 16"/>
          <p:cNvSpPr/>
          <p:nvPr/>
        </p:nvSpPr>
        <p:spPr>
          <a:xfrm>
            <a:off x="798576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Interior doors &amp; door protection</a:t>
            </a:r>
            <a:endParaRPr lang="en-US" sz="1100" dirty="0"/>
          </a:p>
        </p:txBody>
      </p:sp>
      <p:sp>
        <p:nvSpPr>
          <p:cNvPr id="24" name="Text 17"/>
          <p:cNvSpPr/>
          <p:nvPr/>
        </p:nvSpPr>
        <p:spPr>
          <a:xfrm>
            <a:off x="798576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798576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9997440" y="1920240"/>
            <a:ext cx="1463040" cy="1463040"/>
          </a:xfrm>
          <a:prstGeom prst="rect">
            <a:avLst/>
          </a:prstGeom>
        </p:spPr>
      </p:pic>
      <p:sp>
        <p:nvSpPr>
          <p:cNvPr id="27" name="Text 19"/>
          <p:cNvSpPr/>
          <p:nvPr/>
        </p:nvSpPr>
        <p:spPr>
          <a:xfrm>
            <a:off x="984504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Equipment backplanes</a:t>
            </a:r>
            <a:endParaRPr lang="en-US" sz="1100" dirty="0"/>
          </a:p>
        </p:txBody>
      </p:sp>
      <p:sp>
        <p:nvSpPr>
          <p:cNvPr id="28" name="Text 20"/>
          <p:cNvSpPr/>
          <p:nvPr/>
        </p:nvSpPr>
        <p:spPr>
          <a:xfrm>
            <a:off x="984504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984504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sp>
        <p:nvSpPr>
          <p:cNvPr id="30" name="Shape 22"/>
          <p:cNvSpPr/>
          <p:nvPr/>
        </p:nvSpPr>
        <p:spPr>
          <a:xfrm>
            <a:off x="502920" y="5029200"/>
            <a:ext cx="11155680" cy="777240"/>
          </a:xfrm>
          <a:prstGeom prst="roundRect">
            <a:avLst>
              <a:gd name="adj" fmla="val 10588"/>
            </a:avLst>
          </a:prstGeom>
          <a:solidFill>
            <a:srgbClr val="261A0F"/>
          </a:solidFill>
          <a:ln/>
        </p:spPr>
      </p:sp>
      <p:sp>
        <p:nvSpPr>
          <p:cNvPr id="31" name="Text 23"/>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2" name="Text 24"/>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ship now; enclosures for servers and equipment follow — the electronics stay</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and racks alone are two to seven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2026-09-04T21:33:27Z</dcterms:created>
  <dcterms:modified xsi:type="dcterms:W3CDTF">2026-09-04T21:33:27Z</dcterms:modified>
</cp:coreProperties>
</file>