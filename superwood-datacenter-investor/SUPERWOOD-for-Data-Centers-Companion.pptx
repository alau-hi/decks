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Community pushback now blocks or delays more data center projects than ever. We help with two of the complaints, </a:t>
            </a:r>
            <a:pPr indent="0" marL="0">
              <a:buNone/>
            </a:pPr>
            <a:r>
              <a:rPr lang="en-US" sz="2300" i="1" dirty="0">
                <a:solidFill>
                  <a:srgbClr val="E2B877"/>
                </a:solidFill>
                <a:latin typeface="Georgia" pitchFamily="34" charset="0"/>
                <a:ea typeface="Georgia" pitchFamily="34" charset="-122"/>
                <a:cs typeface="Georgia" pitchFamily="34" charset="-120"/>
              </a:rPr>
              <a:t>and can go much further</a:t>
            </a:r>
            <a:pPr indent="0" marL="0">
              <a:buNone/>
            </a:pPr>
            <a:r>
              <a:rPr lang="en-US" sz="2300" dirty="0">
                <a:solidFill>
                  <a:srgbClr val="F4ECDF"/>
                </a:solidFill>
                <a:latin typeface="Georgia" pitchFamily="34" charset="0"/>
                <a:ea typeface="Georgia" pitchFamily="34" charset="-122"/>
                <a:cs typeface="Georgia" pitchFamily="34" charset="-120"/>
              </a:rPr>
              <a:t>.</a:t>
            </a:r>
            <a:endParaRPr lang="en-US" sz="2300" dirty="0"/>
          </a:p>
        </p:txBody>
      </p:sp>
      <p:sp>
        <p:nvSpPr>
          <p:cNvPr id="6" name="Text 4"/>
          <p:cNvSpPr/>
          <p:nvPr/>
        </p:nvSpPr>
        <p:spPr>
          <a:xfrm>
            <a:off x="502920" y="1920240"/>
            <a:ext cx="658368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WHERE WE HELP TODAY</a:t>
            </a:r>
            <a:endParaRPr lang="en-US" sz="900" dirty="0"/>
          </a:p>
        </p:txBody>
      </p:sp>
      <p:sp>
        <p:nvSpPr>
          <p:cNvPr id="7" name="Shape 5"/>
          <p:cNvSpPr/>
          <p:nvPr/>
        </p:nvSpPr>
        <p:spPr>
          <a:xfrm>
            <a:off x="502920" y="2423160"/>
            <a:ext cx="128016" cy="128016"/>
          </a:xfrm>
          <a:prstGeom prst="ellipse">
            <a:avLst/>
          </a:prstGeom>
          <a:solidFill>
            <a:srgbClr val="E2B877"/>
          </a:solidFill>
          <a:ln/>
        </p:spPr>
      </p:sp>
      <p:sp>
        <p:nvSpPr>
          <p:cNvPr id="8" name="Text 6"/>
          <p:cNvSpPr/>
          <p:nvPr/>
        </p:nvSpPr>
        <p:spPr>
          <a:xfrm>
            <a:off x="795528" y="233172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Aesthetics</a:t>
            </a:r>
            <a:endParaRPr lang="en-US" sz="1400" dirty="0"/>
          </a:p>
        </p:txBody>
      </p:sp>
      <p:sp>
        <p:nvSpPr>
          <p:cNvPr id="9" name="Text 7"/>
          <p:cNvSpPr/>
          <p:nvPr/>
        </p:nvSpPr>
        <p:spPr>
          <a:xfrm>
            <a:off x="795528" y="2679192"/>
            <a:ext cx="6309360" cy="45720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Windowless boxes on farmland. Counties answer with 500–1,000 ft setbacks and design standards.</a:t>
            </a:r>
            <a:endParaRPr lang="en-US" sz="1100" dirty="0"/>
          </a:p>
        </p:txBody>
      </p:sp>
      <p:sp>
        <p:nvSpPr>
          <p:cNvPr id="10" name="Text 8"/>
          <p:cNvSpPr/>
          <p:nvPr/>
        </p:nvSpPr>
        <p:spPr>
          <a:xfrm>
            <a:off x="795528" y="315468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facades, fences and screens that read as architecture.</a:t>
            </a:r>
            <a:endParaRPr lang="en-US" sz="1100" dirty="0"/>
          </a:p>
        </p:txBody>
      </p:sp>
      <p:sp>
        <p:nvSpPr>
          <p:cNvPr id="11" name="Shape 9"/>
          <p:cNvSpPr/>
          <p:nvPr/>
        </p:nvSpPr>
        <p:spPr>
          <a:xfrm>
            <a:off x="502920" y="3749040"/>
            <a:ext cx="128016" cy="128016"/>
          </a:xfrm>
          <a:prstGeom prst="ellipse">
            <a:avLst/>
          </a:prstGeom>
          <a:solidFill>
            <a:srgbClr val="E2B877"/>
          </a:solidFill>
          <a:ln/>
        </p:spPr>
      </p:sp>
      <p:sp>
        <p:nvSpPr>
          <p:cNvPr id="12" name="Text 10"/>
          <p:cNvSpPr/>
          <p:nvPr/>
        </p:nvSpPr>
        <p:spPr>
          <a:xfrm>
            <a:off x="795528" y="365760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Noise</a:t>
            </a:r>
            <a:endParaRPr lang="en-US" sz="1400" dirty="0"/>
          </a:p>
        </p:txBody>
      </p:sp>
      <p:sp>
        <p:nvSpPr>
          <p:cNvPr id="13" name="Text 11"/>
          <p:cNvSpPr/>
          <p:nvPr/>
        </p:nvSpPr>
        <p:spPr>
          <a:xfrm>
            <a:off x="795528" y="4005072"/>
            <a:ext cx="6309360" cy="45720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Fan walls, chillers and generator tests hum past the fence line. Ordinances now set decibel limits at the property line.</a:t>
            </a:r>
            <a:endParaRPr lang="en-US" sz="1100" dirty="0"/>
          </a:p>
        </p:txBody>
      </p:sp>
      <p:sp>
        <p:nvSpPr>
          <p:cNvPr id="14" name="Text 12"/>
          <p:cNvSpPr/>
          <p:nvPr/>
        </p:nvSpPr>
        <p:spPr>
          <a:xfrm>
            <a:off x="795528" y="448056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acoustic screens and barriers; potentially sound-damping ductwork and fan enclosures at the source.</a:t>
            </a:r>
            <a:endParaRPr lang="en-US" sz="1100" dirty="0"/>
          </a:p>
        </p:txBody>
      </p:sp>
      <p:sp>
        <p:nvSpPr>
          <p:cNvPr id="15" name="Shape 13"/>
          <p:cNvSpPr/>
          <p:nvPr/>
        </p:nvSpPr>
        <p:spPr>
          <a:xfrm>
            <a:off x="502920" y="4983480"/>
            <a:ext cx="6583680" cy="914400"/>
          </a:xfrm>
          <a:prstGeom prst="roundRect">
            <a:avLst>
              <a:gd name="adj" fmla="val 9000"/>
            </a:avLst>
          </a:prstGeom>
          <a:solidFill>
            <a:srgbClr val="261A0F"/>
          </a:solidFill>
          <a:ln/>
        </p:spPr>
      </p:sp>
      <p:sp>
        <p:nvSpPr>
          <p:cNvPr id="16" name="Text 14"/>
          <p:cNvSpPr/>
          <p:nvPr/>
        </p:nvSpPr>
        <p:spPr>
          <a:xfrm>
            <a:off x="731520" y="5047488"/>
            <a:ext cx="6217920" cy="27432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Where we can go much further</a:t>
            </a:r>
            <a:endParaRPr lang="en-US" sz="1250" dirty="0"/>
          </a:p>
        </p:txBody>
      </p:sp>
      <p:sp>
        <p:nvSpPr>
          <p:cNvPr id="17" name="Text 15"/>
          <p:cNvSpPr/>
          <p:nvPr/>
        </p:nvSpPr>
        <p:spPr>
          <a:xfrm>
            <a:off x="731520" y="5340096"/>
            <a:ext cx="6217920" cy="54864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Into the structure of the buildings and what is inside them: trusses, floors, enclosures, racks. Wood is already emerging in data center structures. Power, water and rates are outside our scope.</a:t>
            </a:r>
            <a:endParaRPr lang="en-US" sz="1050" dirty="0"/>
          </a:p>
        </p:txBody>
      </p:sp>
      <p:sp>
        <p:nvSpPr>
          <p:cNvPr id="18" name="Text 16"/>
          <p:cNvSpPr/>
          <p:nvPr/>
        </p:nvSpPr>
        <p:spPr>
          <a:xfrm>
            <a:off x="7315200" y="1920240"/>
            <a:ext cx="43891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STRONG THE PUSHBACK IS</a:t>
            </a:r>
            <a:endParaRPr lang="en-US" sz="900" dirty="0"/>
          </a:p>
        </p:txBody>
      </p:sp>
      <p:sp>
        <p:nvSpPr>
          <p:cNvPr id="19" name="Shape 17"/>
          <p:cNvSpPr/>
          <p:nvPr/>
        </p:nvSpPr>
        <p:spPr>
          <a:xfrm>
            <a:off x="7315200" y="2331720"/>
            <a:ext cx="4343400" cy="1554480"/>
          </a:xfrm>
          <a:prstGeom prst="roundRect">
            <a:avLst>
              <a:gd name="adj" fmla="val 5294"/>
            </a:avLst>
          </a:prstGeom>
          <a:solidFill>
            <a:srgbClr val="2E2113"/>
          </a:solidFill>
          <a:ln/>
        </p:spPr>
      </p:sp>
      <p:sp>
        <p:nvSpPr>
          <p:cNvPr id="20" name="Text 18"/>
          <p:cNvSpPr/>
          <p:nvPr/>
        </p:nvSpPr>
        <p:spPr>
          <a:xfrm>
            <a:off x="7543800" y="2496312"/>
            <a:ext cx="3886200" cy="54864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250" dirty="0"/>
          </a:p>
        </p:txBody>
      </p:sp>
      <p:sp>
        <p:nvSpPr>
          <p:cNvPr id="21" name="Text 19"/>
          <p:cNvSpPr/>
          <p:nvPr/>
        </p:nvSpPr>
        <p:spPr>
          <a:xfrm>
            <a:off x="7543800" y="3108960"/>
            <a:ext cx="3886200" cy="7315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January to March 2026, as much as in all of 2025. 833 opposition groups in 49 states.</a:t>
            </a:r>
            <a:endParaRPr lang="en-US" sz="1050" dirty="0"/>
          </a:p>
        </p:txBody>
      </p:sp>
      <p:sp>
        <p:nvSpPr>
          <p:cNvPr id="22" name="Shape 20"/>
          <p:cNvSpPr/>
          <p:nvPr/>
        </p:nvSpPr>
        <p:spPr>
          <a:xfrm>
            <a:off x="7315200" y="4023360"/>
            <a:ext cx="4343400" cy="1554480"/>
          </a:xfrm>
          <a:prstGeom prst="roundRect">
            <a:avLst>
              <a:gd name="adj" fmla="val 5294"/>
            </a:avLst>
          </a:prstGeom>
          <a:solidFill>
            <a:srgbClr val="2E2113"/>
          </a:solidFill>
          <a:ln/>
        </p:spPr>
      </p:sp>
      <p:sp>
        <p:nvSpPr>
          <p:cNvPr id="23" name="Text 21"/>
          <p:cNvSpPr/>
          <p:nvPr/>
        </p:nvSpPr>
        <p:spPr>
          <a:xfrm>
            <a:off x="7543800" y="4187952"/>
            <a:ext cx="3886200" cy="54864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Rules are following</a:t>
            </a:r>
            <a:endParaRPr lang="en-US" sz="1250" dirty="0"/>
          </a:p>
        </p:txBody>
      </p:sp>
      <p:sp>
        <p:nvSpPr>
          <p:cNvPr id="24" name="Text 22"/>
          <p:cNvSpPr/>
          <p:nvPr/>
        </p:nvSpPr>
        <p:spPr>
          <a:xfrm>
            <a:off x="7543800" y="4800600"/>
            <a:ext cx="3886200" cy="7315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Henry County, Virginia: 1,000 ft setbacks, 50 dBA at the property line. Virginia's 500 ft setback is becoming the reference.</a:t>
            </a:r>
            <a:endParaRPr lang="en-US" sz="1050" dirty="0"/>
          </a:p>
        </p:txBody>
      </p:sp>
      <p:sp>
        <p:nvSpPr>
          <p:cNvPr id="25" name="Text 23"/>
          <p:cNvSpPr/>
          <p:nvPr/>
        </p:nvSpPr>
        <p:spPr>
          <a:xfrm>
            <a:off x="502920" y="6144768"/>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4937760" cy="3033195"/>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4937760" cy="3033195"/>
          </a:xfrm>
          <a:prstGeom prst="rect">
            <a:avLst/>
          </a:prstGeom>
        </p:spPr>
      </p:pic>
      <p:pic>
        <p:nvPicPr>
          <p:cNvPr id="10" name="Image 2" descr="prep/charts/campus_legend.png">    </p:cNvPr>
          <p:cNvPicPr>
            <a:picLocks noChangeAspect="1"/>
          </p:cNvPicPr>
          <p:nvPr/>
        </p:nvPicPr>
        <p:blipFill>
          <a:blip r:embed="rId3"/>
          <a:stretch>
            <a:fillRect/>
          </a:stretch>
        </p:blipFill>
        <p:spPr>
          <a:xfrm>
            <a:off x="502920" y="4962579"/>
            <a:ext cx="11155680" cy="267931"/>
          </a:xfrm>
          <a:prstGeom prst="rect">
            <a:avLst/>
          </a:prstGeom>
        </p:spPr>
      </p:pic>
      <p:sp>
        <p:nvSpPr>
          <p:cNvPr id="11" name="Text 6"/>
          <p:cNvSpPr/>
          <p:nvPr/>
        </p:nvSpPr>
        <p:spPr>
          <a:xfrm>
            <a:off x="50292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2" name="Text 7"/>
          <p:cNvSpPr/>
          <p:nvPr/>
        </p:nvSpPr>
        <p:spPr>
          <a:xfrm>
            <a:off x="50292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3" name="Text 8"/>
          <p:cNvSpPr/>
          <p:nvPr/>
        </p:nvSpPr>
        <p:spPr>
          <a:xfrm>
            <a:off x="612648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60% of the building materials</a:t>
            </a:r>
            <a:endParaRPr lang="en-US" sz="1300" dirty="0"/>
          </a:p>
        </p:txBody>
      </p:sp>
      <p:sp>
        <p:nvSpPr>
          <p:cNvPr id="14" name="Text 9"/>
          <p:cNvSpPr/>
          <p:nvPr/>
        </p:nvSpPr>
        <p:spPr>
          <a:xfrm>
            <a:off x="612648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At the global-average steel factor; about a third with recycled steel. The steel above the slab alone carries roughly 37% of the building materials' embodied carbon — the share SUPERWOOD addresses in the immediate, soon and medium-term horizons.</a:t>
            </a:r>
            <a:endParaRPr lang="en-US" sz="1000" dirty="0"/>
          </a:p>
        </p:txBody>
      </p:sp>
      <p:sp>
        <p:nvSpPr>
          <p:cNvPr id="15"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equipment embodied carbon not estimated.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3,500–18,000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40970"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0.1–0.6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16,000–65,000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70570" y="4078224"/>
            <a:ext cx="451104"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0.5–2.1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58,000–362,000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87578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1.8–12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biophilic.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(5+ years):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Prefabricated building envelopes</a:t>
            </a:r>
            <a:endParaRPr lang="en-US" sz="1500" dirty="0"/>
          </a:p>
        </p:txBody>
      </p:sp>
      <p:sp>
        <p:nvSpPr>
          <p:cNvPr id="8" name="Text 6"/>
          <p:cNvSpPr/>
          <p:nvPr/>
        </p:nvSpPr>
        <p:spPr>
          <a:xfrm>
            <a:off x="77724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150" dirty="0"/>
          </a:p>
        </p:txBody>
      </p:sp>
      <p:sp>
        <p:nvSpPr>
          <p:cNvPr id="9" name="Text 7"/>
          <p:cNvSpPr/>
          <p:nvPr/>
        </p:nvSpPr>
        <p:spPr>
          <a:xfrm>
            <a:off x="77724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Foundations, slabs and paving</a:t>
            </a:r>
            <a:endParaRPr lang="en-US" sz="1500" dirty="0"/>
          </a:p>
        </p:txBody>
      </p:sp>
      <p:sp>
        <p:nvSpPr>
          <p:cNvPr id="12" name="Text 10"/>
          <p:cNvSpPr/>
          <p:nvPr/>
        </p:nvSpPr>
        <p:spPr>
          <a:xfrm>
            <a:off x="644652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150" dirty="0"/>
          </a:p>
        </p:txBody>
      </p:sp>
      <p:sp>
        <p:nvSpPr>
          <p:cNvPr id="13" name="Text 11"/>
          <p:cNvSpPr/>
          <p:nvPr/>
        </p:nvSpPr>
        <p:spPr>
          <a:xfrm>
            <a:off x="644652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Data center equipment builder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2377440" cy="530352"/>
          </a:xfrm>
          <a:prstGeom prst="rect">
            <a:avLst/>
          </a:prstGeom>
          <a:noFill/>
          <a:ln/>
        </p:spPr>
        <p:txBody>
          <a:bodyPr wrap="square" lIns="0" tIns="0" rIns="0" bIns="0" rtlCol="0" anchor="ctr"/>
          <a:lstStyle/>
          <a:p>
            <a:pPr indent="0" marL="0">
              <a:buNone/>
            </a:pPr>
            <a:r>
              <a:rPr lang="en-US" sz="800" b="1" spc="150" kern="0" dirty="0">
                <a:solidFill>
                  <a:srgbClr val="CDA165"/>
                </a:solidFill>
                <a:latin typeface="Calibri" pitchFamily="34" charset="0"/>
                <a:ea typeface="Calibri" pitchFamily="34" charset="-122"/>
                <a:cs typeface="Calibri" pitchFamily="34" charset="-120"/>
              </a:rPr>
              <a:t>ENGINEERING AND CONSTRUCTION COLLABORATORS</a:t>
            </a:r>
            <a:endParaRPr lang="en-US" sz="800" dirty="0"/>
          </a:p>
        </p:txBody>
      </p:sp>
      <p:pic>
        <p:nvPicPr>
          <p:cNvPr id="50" name="Image 0" descr="prep/logo_fastepp.png">    </p:cNvPr>
          <p:cNvPicPr>
            <a:picLocks noChangeAspect="1"/>
          </p:cNvPicPr>
          <p:nvPr/>
        </p:nvPicPr>
        <p:blipFill>
          <a:blip r:embed="rId1"/>
          <a:stretch>
            <a:fillRect/>
          </a:stretch>
        </p:blipFill>
        <p:spPr>
          <a:xfrm>
            <a:off x="3108960" y="5888736"/>
            <a:ext cx="847493" cy="173736"/>
          </a:xfrm>
          <a:prstGeom prst="rect">
            <a:avLst/>
          </a:prstGeom>
        </p:spPr>
      </p:pic>
      <p:sp>
        <p:nvSpPr>
          <p:cNvPr id="51" name="Text 48"/>
          <p:cNvSpPr/>
          <p:nvPr/>
        </p:nvSpPr>
        <p:spPr>
          <a:xfrm>
            <a:off x="310896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engineers, Vancouver</a:t>
            </a:r>
            <a:endParaRPr lang="en-US" sz="750" dirty="0"/>
          </a:p>
        </p:txBody>
      </p:sp>
      <p:sp>
        <p:nvSpPr>
          <p:cNvPr id="52" name="Text 49"/>
          <p:cNvSpPr/>
          <p:nvPr/>
        </p:nvSpPr>
        <p:spPr>
          <a:xfrm>
            <a:off x="5257800" y="5852160"/>
            <a:ext cx="2011680" cy="246888"/>
          </a:xfrm>
          <a:prstGeom prst="rect">
            <a:avLst/>
          </a:prstGeom>
          <a:noFill/>
          <a:ln/>
        </p:spPr>
        <p:txBody>
          <a:bodyPr wrap="square" lIns="0" tIns="0" rIns="0" bIns="0" rtlCol="0" anchor="ctr"/>
          <a:lstStyle/>
          <a:p>
            <a:pPr indent="0" marL="0">
              <a:buNone/>
            </a:pPr>
            <a:r>
              <a:rPr lang="en-US" sz="1000" b="1" dirty="0">
                <a:solidFill>
                  <a:srgbClr val="F4ECDF"/>
                </a:solidFill>
                <a:latin typeface="Calibri" pitchFamily="34" charset="0"/>
                <a:ea typeface="Calibri" pitchFamily="34" charset="-122"/>
                <a:cs typeface="Calibri" pitchFamily="34" charset="-120"/>
              </a:rPr>
              <a:t>Timber Engineering</a:t>
            </a:r>
            <a:endParaRPr lang="en-US" sz="1000" dirty="0"/>
          </a:p>
        </p:txBody>
      </p:sp>
      <p:sp>
        <p:nvSpPr>
          <p:cNvPr id="53" name="Text 50"/>
          <p:cNvSpPr/>
          <p:nvPr/>
        </p:nvSpPr>
        <p:spPr>
          <a:xfrm>
            <a:off x="525780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engineering</a:t>
            </a:r>
            <a:endParaRPr lang="en-US" sz="750" dirty="0"/>
          </a:p>
        </p:txBody>
      </p:sp>
      <p:pic>
        <p:nvPicPr>
          <p:cNvPr id="54" name="Image 1" descr="prep/logo_hitt.png">    </p:cNvPr>
          <p:cNvPicPr>
            <a:picLocks noChangeAspect="1"/>
          </p:cNvPicPr>
          <p:nvPr/>
        </p:nvPicPr>
        <p:blipFill>
          <a:blip r:embed="rId2"/>
          <a:stretch>
            <a:fillRect/>
          </a:stretch>
        </p:blipFill>
        <p:spPr>
          <a:xfrm>
            <a:off x="7406640" y="5888736"/>
            <a:ext cx="683362" cy="173736"/>
          </a:xfrm>
          <a:prstGeom prst="rect">
            <a:avLst/>
          </a:prstGeom>
        </p:spPr>
      </p:pic>
      <p:sp>
        <p:nvSpPr>
          <p:cNvPr id="55" name="Text 51"/>
          <p:cNvSpPr/>
          <p:nvPr/>
        </p:nvSpPr>
        <p:spPr>
          <a:xfrm>
            <a:off x="740664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pic>
        <p:nvPicPr>
          <p:cNvPr id="56" name="Image 2" descr="prep/logo_turner.png">    </p:cNvPr>
          <p:cNvPicPr>
            <a:picLocks noChangeAspect="1"/>
          </p:cNvPicPr>
          <p:nvPr/>
        </p:nvPicPr>
        <p:blipFill>
          <a:blip r:embed="rId3"/>
          <a:stretch>
            <a:fillRect/>
          </a:stretch>
        </p:blipFill>
        <p:spPr>
          <a:xfrm>
            <a:off x="9555480" y="5888736"/>
            <a:ext cx="592703" cy="173736"/>
          </a:xfrm>
          <a:prstGeom prst="rect">
            <a:avLst/>
          </a:prstGeom>
        </p:spPr>
      </p:pic>
      <p:sp>
        <p:nvSpPr>
          <p:cNvPr id="57" name="Text 52"/>
          <p:cNvSpPr/>
          <p:nvPr/>
        </p:nvSpPr>
        <p:spPr>
          <a:xfrm>
            <a:off x="955548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sp>
        <p:nvSpPr>
          <p:cNvPr id="58" name="Text 53"/>
          <p:cNvSpPr/>
          <p:nvPr/>
        </p:nvSpPr>
        <p:spPr>
          <a:xfrm>
            <a:off x="502920" y="6373368"/>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20C07">
              <a:alpha val="55000"/>
            </a:srgbClr>
          </a:solidFill>
          <a:ln/>
        </p:spPr>
      </p:sp>
      <p:sp>
        <p:nvSpPr>
          <p:cNvPr id="3" name="Text 1"/>
          <p:cNvSpPr/>
          <p:nvPr/>
        </p:nvSpPr>
        <p:spPr>
          <a:xfrm>
            <a:off x="502920" y="548640"/>
            <a:ext cx="54864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VISION</a:t>
            </a:r>
            <a:endParaRPr lang="en-US" sz="1200" dirty="0"/>
          </a:p>
        </p:txBody>
      </p:sp>
      <p:sp>
        <p:nvSpPr>
          <p:cNvPr id="4" name="Text 2"/>
          <p:cNvSpPr/>
          <p:nvPr/>
        </p:nvSpPr>
        <p:spPr>
          <a:xfrm>
            <a:off x="502920" y="914400"/>
            <a:ext cx="11155680" cy="146304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Can the world's data centers be </a:t>
            </a:r>
            <a:pPr indent="0" marL="0">
              <a:buNone/>
            </a:pPr>
            <a:r>
              <a:rPr lang="en-US" sz="4000" i="1" dirty="0">
                <a:solidFill>
                  <a:srgbClr val="E2B877"/>
                </a:solidFill>
                <a:latin typeface="Georgia" pitchFamily="34" charset="0"/>
                <a:ea typeface="Georgia" pitchFamily="34" charset="-122"/>
                <a:cs typeface="Georgia" pitchFamily="34" charset="-120"/>
              </a:rPr>
              <a:t>big, beautiful carbon sinks</a:t>
            </a:r>
            <a:pPr indent="0" marL="0">
              <a:buNone/>
            </a:pPr>
            <a:r>
              <a:rPr lang="en-US" sz="4000" dirty="0">
                <a:solidFill>
                  <a:srgbClr val="F4ECDF"/>
                </a:solidFill>
                <a:latin typeface="Georgia" pitchFamily="34" charset="0"/>
                <a:ea typeface="Georgia" pitchFamily="34" charset="-122"/>
                <a:cs typeface="Georgia" pitchFamily="34" charset="-120"/>
              </a:rPr>
              <a:t>?</a:t>
            </a:r>
            <a:endParaRPr lang="en-US" sz="4000" dirty="0"/>
          </a:p>
        </p:txBody>
      </p:sp>
      <p:sp>
        <p:nvSpPr>
          <p:cNvPr id="5" name="Shape 3"/>
          <p:cNvSpPr/>
          <p:nvPr/>
        </p:nvSpPr>
        <p:spPr>
          <a:xfrm>
            <a:off x="502920" y="3977640"/>
            <a:ext cx="3611880" cy="1965960"/>
          </a:xfrm>
          <a:prstGeom prst="roundRect">
            <a:avLst>
              <a:gd name="adj" fmla="val 4186"/>
            </a:avLst>
          </a:prstGeom>
          <a:solidFill>
            <a:srgbClr val="1A1209">
              <a:alpha val="85000"/>
            </a:srgbClr>
          </a:solidFill>
          <a:ln/>
        </p:spPr>
      </p:sp>
      <p:sp>
        <p:nvSpPr>
          <p:cNvPr id="6" name="Text 4"/>
          <p:cNvSpPr/>
          <p:nvPr/>
        </p:nvSpPr>
        <p:spPr>
          <a:xfrm>
            <a:off x="7772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Big</a:t>
            </a:r>
            <a:endParaRPr lang="en-US" sz="2200" dirty="0"/>
          </a:p>
        </p:txBody>
      </p:sp>
      <p:sp>
        <p:nvSpPr>
          <p:cNvPr id="7" name="Text 5"/>
          <p:cNvSpPr/>
          <p:nvPr/>
        </p:nvSpPr>
        <p:spPr>
          <a:xfrm>
            <a:off x="7772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A gigawatt data center is millions of square feet of skins and screens and tens of thousands of tons of structure — and hyperscalers build one data center after another to one design.</a:t>
            </a:r>
            <a:endParaRPr lang="en-US" sz="1100" dirty="0"/>
          </a:p>
        </p:txBody>
      </p:sp>
      <p:sp>
        <p:nvSpPr>
          <p:cNvPr id="8" name="Shape 6"/>
          <p:cNvSpPr/>
          <p:nvPr/>
        </p:nvSpPr>
        <p:spPr>
          <a:xfrm>
            <a:off x="4274820" y="3977640"/>
            <a:ext cx="3611880" cy="1965960"/>
          </a:xfrm>
          <a:prstGeom prst="roundRect">
            <a:avLst>
              <a:gd name="adj" fmla="val 4186"/>
            </a:avLst>
          </a:prstGeom>
          <a:solidFill>
            <a:srgbClr val="1A1209">
              <a:alpha val="85000"/>
            </a:srgbClr>
          </a:solidFill>
          <a:ln/>
        </p:spPr>
      </p:sp>
      <p:sp>
        <p:nvSpPr>
          <p:cNvPr id="9" name="Text 7"/>
          <p:cNvSpPr/>
          <p:nvPr/>
        </p:nvSpPr>
        <p:spPr>
          <a:xfrm>
            <a:off x="45491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Beautiful</a:t>
            </a:r>
            <a:endParaRPr lang="en-US" sz="2200" dirty="0"/>
          </a:p>
        </p:txBody>
      </p:sp>
      <p:sp>
        <p:nvSpPr>
          <p:cNvPr id="10" name="Text 8"/>
          <p:cNvSpPr/>
          <p:nvPr/>
        </p:nvSpPr>
        <p:spPr>
          <a:xfrm>
            <a:off x="45491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Warm, quiet, biophilic exteriors and interiors that ease community and planning approval.</a:t>
            </a:r>
            <a:endParaRPr lang="en-US" sz="1100" dirty="0"/>
          </a:p>
        </p:txBody>
      </p:sp>
      <p:sp>
        <p:nvSpPr>
          <p:cNvPr id="11" name="Shape 9"/>
          <p:cNvSpPr/>
          <p:nvPr/>
        </p:nvSpPr>
        <p:spPr>
          <a:xfrm>
            <a:off x="8046720" y="3977640"/>
            <a:ext cx="3611880" cy="1965960"/>
          </a:xfrm>
          <a:prstGeom prst="roundRect">
            <a:avLst>
              <a:gd name="adj" fmla="val 4186"/>
            </a:avLst>
          </a:prstGeom>
          <a:solidFill>
            <a:srgbClr val="1A1209">
              <a:alpha val="85000"/>
            </a:srgbClr>
          </a:solidFill>
          <a:ln/>
        </p:spPr>
      </p:sp>
      <p:sp>
        <p:nvSpPr>
          <p:cNvPr id="12" name="Text 10"/>
          <p:cNvSpPr/>
          <p:nvPr/>
        </p:nvSpPr>
        <p:spPr>
          <a:xfrm>
            <a:off x="83210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Carbon sinks</a:t>
            </a:r>
            <a:endParaRPr lang="en-US" sz="2200" dirty="0"/>
          </a:p>
        </p:txBody>
      </p:sp>
      <p:sp>
        <p:nvSpPr>
          <p:cNvPr id="13" name="Text 11"/>
          <p:cNvSpPr/>
          <p:nvPr/>
        </p:nvSpPr>
        <p:spPr>
          <a:xfrm>
            <a:off x="83210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Built from a material that stores about 1.3 kg CO₂e of biogenic carbon per kg and displaces the steel that carries most of the building materials' embodied carbon.</a:t>
            </a:r>
            <a:endParaRPr lang="en-US" sz="1100" dirty="0"/>
          </a:p>
        </p:txBody>
      </p:sp>
      <p:sp>
        <p:nvSpPr>
          <p:cNvPr id="14" name="Text 12"/>
          <p:cNvSpPr/>
          <p:nvPr/>
        </p:nvSpPr>
        <p:spPr>
          <a:xfrm>
            <a:off x="502920" y="6080760"/>
            <a:ext cx="11155680" cy="411480"/>
          </a:xfrm>
          <a:prstGeom prst="rect">
            <a:avLst/>
          </a:prstGeom>
          <a:noFill/>
          <a:ln/>
        </p:spPr>
        <p:txBody>
          <a:bodyPr wrap="square" lIns="0" tIns="0" rIns="0" bIns="0" rtlCol="0" anchor="t"/>
          <a:lstStyle/>
          <a:p>
            <a:pPr indent="0" marL="0">
              <a:buNone/>
            </a:pPr>
            <a:r>
              <a:rPr lang="en-US" sz="850" i="1" dirty="0">
                <a:solidFill>
                  <a:srgbClr val="CDBFA9"/>
                </a:solidFill>
                <a:latin typeface="Calibri" pitchFamily="34" charset="0"/>
                <a:ea typeface="Calibri" pitchFamily="34" charset="-122"/>
                <a:cs typeface="Calibri" pitchFamily="34" charset="-120"/>
              </a:rPr>
              <a:t>Whether a building nets out as a store of carbon depends on the LCA (under way with Prof. Ming Hu, University of Notre Dame), on what steel and concrete SUPERWOOD displaces, and on end-of-life accounting. The next slide gives the numbers and their basis. Concept rendering.</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CDBFA9"/>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a projection until the LCA is complete</a:t>
            </a:r>
            <a:endParaRPr lang="en-US" sz="2700" dirty="0"/>
          </a:p>
        </p:txBody>
      </p:sp>
      <p:sp>
        <p:nvSpPr>
          <p:cNvPr id="6" name="Text 4"/>
          <p:cNvSpPr/>
          <p:nvPr/>
        </p:nvSpPr>
        <p:spPr>
          <a:xfrm>
            <a:off x="502920" y="178308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PER KG OF MATERIAL, CRADLE TO GATE</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global average (BF-BOF)</a:t>
            </a:r>
            <a:endParaRPr lang="en-US" sz="1050" dirty="0"/>
          </a:p>
        </p:txBody>
      </p:sp>
      <p:sp>
        <p:nvSpPr>
          <p:cNvPr id="8" name="Shape 6"/>
          <p:cNvSpPr/>
          <p:nvPr/>
        </p:nvSpPr>
        <p:spPr>
          <a:xfrm>
            <a:off x="502920" y="2459736"/>
            <a:ext cx="4754880" cy="274320"/>
          </a:xfrm>
          <a:prstGeom prst="rect">
            <a:avLst/>
          </a:prstGeom>
          <a:solidFill>
            <a:srgbClr val="3A2B1A"/>
          </a:solidFill>
          <a:ln/>
        </p:spPr>
      </p:sp>
      <p:sp>
        <p:nvSpPr>
          <p:cNvPr id="9" name="Shape 7"/>
          <p:cNvSpPr/>
          <p:nvPr/>
        </p:nvSpPr>
        <p:spPr>
          <a:xfrm>
            <a:off x="502920" y="2459736"/>
            <a:ext cx="4754880" cy="274320"/>
          </a:xfrm>
          <a:prstGeom prst="rect">
            <a:avLst/>
          </a:prstGeom>
          <a:solidFill>
            <a:srgbClr val="C9706B"/>
          </a:solidFill>
          <a:ln/>
        </p:spPr>
      </p:sp>
      <p:sp>
        <p:nvSpPr>
          <p:cNvPr id="10" name="Text 8"/>
          <p:cNvSpPr/>
          <p:nvPr/>
        </p:nvSpPr>
        <p:spPr>
          <a:xfrm>
            <a:off x="5367528" y="242316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1.8 kg</a:t>
            </a:r>
            <a:endParaRPr lang="en-US" sz="1400" dirty="0"/>
          </a:p>
        </p:txBody>
      </p:sp>
      <p:sp>
        <p:nvSpPr>
          <p:cNvPr id="11" name="Text 9"/>
          <p:cNvSpPr/>
          <p:nvPr/>
        </p:nvSpPr>
        <p:spPr>
          <a:xfrm>
            <a:off x="502920" y="301752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recycled (EAF)</a:t>
            </a:r>
            <a:endParaRPr lang="en-US" sz="1050" dirty="0"/>
          </a:p>
        </p:txBody>
      </p:sp>
      <p:sp>
        <p:nvSpPr>
          <p:cNvPr id="12" name="Shape 10"/>
          <p:cNvSpPr/>
          <p:nvPr/>
        </p:nvSpPr>
        <p:spPr>
          <a:xfrm>
            <a:off x="502920" y="3328416"/>
            <a:ext cx="4754880" cy="274320"/>
          </a:xfrm>
          <a:prstGeom prst="rect">
            <a:avLst/>
          </a:prstGeom>
          <a:solidFill>
            <a:srgbClr val="3A2B1A"/>
          </a:solidFill>
          <a:ln/>
        </p:spPr>
      </p:sp>
      <p:sp>
        <p:nvSpPr>
          <p:cNvPr id="13" name="Shape 11"/>
          <p:cNvSpPr/>
          <p:nvPr/>
        </p:nvSpPr>
        <p:spPr>
          <a:xfrm>
            <a:off x="502920" y="3328416"/>
            <a:ext cx="1056640" cy="274320"/>
          </a:xfrm>
          <a:prstGeom prst="rect">
            <a:avLst/>
          </a:prstGeom>
          <a:solidFill>
            <a:srgbClr val="A0714E"/>
          </a:solidFill>
          <a:ln/>
        </p:spPr>
      </p:sp>
      <p:sp>
        <p:nvSpPr>
          <p:cNvPr id="14" name="Shape 12"/>
          <p:cNvSpPr/>
          <p:nvPr/>
        </p:nvSpPr>
        <p:spPr>
          <a:xfrm>
            <a:off x="502920" y="3328416"/>
            <a:ext cx="1849120" cy="274320"/>
          </a:xfrm>
          <a:prstGeom prst="rect">
            <a:avLst/>
          </a:prstGeom>
          <a:solidFill>
            <a:srgbClr val="A0714E">
              <a:alpha val="55000"/>
            </a:srgbClr>
          </a:solidFill>
          <a:ln/>
        </p:spPr>
      </p:sp>
      <p:sp>
        <p:nvSpPr>
          <p:cNvPr id="15" name="Text 13"/>
          <p:cNvSpPr/>
          <p:nvPr/>
        </p:nvSpPr>
        <p:spPr>
          <a:xfrm>
            <a:off x="2461768" y="329184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0.4–0.7 kg</a:t>
            </a:r>
            <a:endParaRPr lang="en-US" sz="1400" dirty="0"/>
          </a:p>
        </p:txBody>
      </p:sp>
      <p:sp>
        <p:nvSpPr>
          <p:cNvPr id="16" name="Text 14"/>
          <p:cNvSpPr/>
          <p:nvPr/>
        </p:nvSpPr>
        <p:spPr>
          <a:xfrm>
            <a:off x="502920" y="388620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SUPERWOOD — manufacturing, projected</a:t>
            </a:r>
            <a:endParaRPr lang="en-US" sz="1050" dirty="0"/>
          </a:p>
        </p:txBody>
      </p:sp>
      <p:sp>
        <p:nvSpPr>
          <p:cNvPr id="17" name="Shape 15"/>
          <p:cNvSpPr/>
          <p:nvPr/>
        </p:nvSpPr>
        <p:spPr>
          <a:xfrm>
            <a:off x="502920" y="4197096"/>
            <a:ext cx="4754880" cy="274320"/>
          </a:xfrm>
          <a:prstGeom prst="rect">
            <a:avLst/>
          </a:prstGeom>
          <a:solidFill>
            <a:srgbClr val="3A2B1A"/>
          </a:solidFill>
          <a:ln/>
        </p:spPr>
      </p:sp>
      <p:sp>
        <p:nvSpPr>
          <p:cNvPr id="18" name="Shape 16"/>
          <p:cNvSpPr/>
          <p:nvPr/>
        </p:nvSpPr>
        <p:spPr>
          <a:xfrm>
            <a:off x="502920" y="4197096"/>
            <a:ext cx="1320800" cy="274320"/>
          </a:xfrm>
          <a:prstGeom prst="rect">
            <a:avLst/>
          </a:prstGeom>
          <a:solidFill>
            <a:srgbClr val="8FB356"/>
          </a:solidFill>
          <a:ln/>
        </p:spPr>
      </p:sp>
      <p:sp>
        <p:nvSpPr>
          <p:cNvPr id="19" name="Text 17"/>
          <p:cNvSpPr/>
          <p:nvPr/>
        </p:nvSpPr>
        <p:spPr>
          <a:xfrm>
            <a:off x="1933448" y="416052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0.5 kg</a:t>
            </a:r>
            <a:endParaRPr lang="en-US" sz="1400" dirty="0"/>
          </a:p>
        </p:txBody>
      </p:sp>
      <p:sp>
        <p:nvSpPr>
          <p:cNvPr id="20" name="Shape 18"/>
          <p:cNvSpPr/>
          <p:nvPr/>
        </p:nvSpPr>
        <p:spPr>
          <a:xfrm>
            <a:off x="502920" y="4800600"/>
            <a:ext cx="5852160" cy="1097280"/>
          </a:xfrm>
          <a:prstGeom prst="roundRect">
            <a:avLst>
              <a:gd name="adj" fmla="val 7500"/>
            </a:avLst>
          </a:prstGeom>
          <a:solidFill>
            <a:srgbClr val="2E2113"/>
          </a:solidFill>
          <a:ln/>
        </p:spPr>
      </p:sp>
      <p:sp>
        <p:nvSpPr>
          <p:cNvPr id="21" name="Text 19"/>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about 1.3 kg CO₂e of biogenic carbon per kg. Under EN 15804 it is released again in the end-of-life module, so it nets to zero over the life cycle. The lasting advantage is lower manufacturing emissions, not storage.</a:t>
            </a:r>
            <a:endParaRPr lang="en-US" sz="1000" dirty="0"/>
          </a:p>
        </p:txBody>
      </p:sp>
      <p:sp>
        <p:nvSpPr>
          <p:cNvPr id="22" name="Shape 20"/>
          <p:cNvSpPr/>
          <p:nvPr/>
        </p:nvSpPr>
        <p:spPr>
          <a:xfrm>
            <a:off x="6675120" y="1783080"/>
            <a:ext cx="4983480" cy="4114800"/>
          </a:xfrm>
          <a:prstGeom prst="roundRect">
            <a:avLst>
              <a:gd name="adj" fmla="val 2000"/>
            </a:avLst>
          </a:prstGeom>
          <a:solidFill>
            <a:srgbClr val="261A0F"/>
          </a:solidFill>
          <a:ln/>
        </p:spPr>
      </p:sp>
      <p:sp>
        <p:nvSpPr>
          <p:cNvPr id="23" name="Text 21"/>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24" name="Text 22"/>
          <p:cNvSpPr/>
          <p:nvPr/>
        </p:nvSpPr>
        <p:spPr>
          <a:xfrm>
            <a:off x="6903720" y="2240280"/>
            <a:ext cx="4572000" cy="274320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SUPERWOOD needed: 0.3–0.6 tons per ton of steel replaced (substitution factor, estimate — to be engineering-stamped per element).</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SUPERWOOD manufacturing emissions: 0.3–0.6 tons × 0.5 = 0.15–0.30 tons CO₂e.</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average steel (1.8 tons CO₂e): a reduction of 83–92%.</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recycled steel (0.4–0.7 tons CO₂e): a reduction of 25–79%.</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1050" dirty="0"/>
          </a:p>
        </p:txBody>
      </p:sp>
      <p:sp>
        <p:nvSpPr>
          <p:cNvPr id="25" name="Text 23"/>
          <p:cNvSpPr/>
          <p:nvPr/>
        </p:nvSpPr>
        <p:spPr>
          <a:xfrm>
            <a:off x="6903720" y="5074920"/>
            <a:ext cx="4572000" cy="73152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26" name="Text 24"/>
          <p:cNvSpPr/>
          <p:nvPr/>
        </p:nvSpPr>
        <p:spPr>
          <a:xfrm>
            <a:off x="502920" y="6035040"/>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SUPERWOOD 0.5 kg/kg manufactured and 1.3 kg/kg biogenic: company projections, pre-LCA. Steel 1.8 kg/kg: global BF-BOF average. EAF 0.4–0.7 kg/kg: typical published range for recycled-scrap steel. Substitution factor 0.3–0.6: company estimate. Reductions are arithmetic on these inputs.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2026-09-05T16:20:29Z</dcterms:created>
  <dcterms:modified xsi:type="dcterms:W3CDTF">2026-09-05T16:20:29Z</dcterms:modified>
</cp:coreProperties>
</file>