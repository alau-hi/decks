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03120"/>
            <a:ext cx="5852160" cy="237744"/>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377440"/>
            <a:ext cx="4754880" cy="237744"/>
          </a:xfrm>
          <a:prstGeom prst="rect">
            <a:avLst/>
          </a:prstGeom>
          <a:solidFill>
            <a:srgbClr val="3A2B1A"/>
          </a:solidFill>
          <a:ln/>
        </p:spPr>
      </p:sp>
      <p:sp>
        <p:nvSpPr>
          <p:cNvPr id="9" name="Shape 7"/>
          <p:cNvSpPr/>
          <p:nvPr/>
        </p:nvSpPr>
        <p:spPr>
          <a:xfrm>
            <a:off x="2664229" y="2377440"/>
            <a:ext cx="2593571" cy="237744"/>
          </a:xfrm>
          <a:prstGeom prst="rect">
            <a:avLst/>
          </a:prstGeom>
          <a:solidFill>
            <a:srgbClr val="C9706B"/>
          </a:solidFill>
          <a:ln/>
        </p:spPr>
      </p:sp>
      <p:sp>
        <p:nvSpPr>
          <p:cNvPr id="10" name="Shape 8"/>
          <p:cNvSpPr/>
          <p:nvPr/>
        </p:nvSpPr>
        <p:spPr>
          <a:xfrm>
            <a:off x="2664229" y="2340864"/>
            <a:ext cx="0" cy="310896"/>
          </a:xfrm>
          <a:prstGeom prst="line">
            <a:avLst/>
          </a:prstGeom>
          <a:noFill/>
          <a:ln w="9525">
            <a:solidFill>
              <a:srgbClr val="CDBFA9"/>
            </a:solidFill>
            <a:prstDash val="solid"/>
          </a:ln>
        </p:spPr>
      </p:sp>
      <p:sp>
        <p:nvSpPr>
          <p:cNvPr id="11" name="Text 9"/>
          <p:cNvSpPr/>
          <p:nvPr/>
        </p:nvSpPr>
        <p:spPr>
          <a:xfrm>
            <a:off x="5349240" y="2340864"/>
            <a:ext cx="1280160" cy="310896"/>
          </a:xfrm>
          <a:prstGeom prst="rect">
            <a:avLst/>
          </a:prstGeom>
          <a:noFill/>
          <a:ln/>
        </p:spPr>
        <p:txBody>
          <a:bodyPr wrap="square" lIns="0" tIns="0" rIns="0" bIns="0" rtlCol="0" anchor="ctr"/>
          <a:lstStyle/>
          <a:p>
            <a:pPr algn="l" indent="0" marL="0">
              <a:buNone/>
            </a:pPr>
            <a:r>
              <a:rPr lang="en-US" sz="1300" b="1" dirty="0">
                <a:solidFill>
                  <a:srgbClr val="F4ECDF"/>
                </a:solidFill>
                <a:latin typeface="Georgia" pitchFamily="34" charset="0"/>
                <a:ea typeface="Georgia" pitchFamily="34" charset="-122"/>
                <a:cs typeface="Georgia" pitchFamily="34" charset="-120"/>
              </a:rPr>
              <a:t>1.8 kg</a:t>
            </a:r>
            <a:endParaRPr lang="en-US" sz="1300" dirty="0"/>
          </a:p>
        </p:txBody>
      </p:sp>
      <p:sp>
        <p:nvSpPr>
          <p:cNvPr id="12" name="Text 10"/>
          <p:cNvSpPr/>
          <p:nvPr/>
        </p:nvSpPr>
        <p:spPr>
          <a:xfrm>
            <a:off x="502920" y="2761488"/>
            <a:ext cx="5852160" cy="237744"/>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035808"/>
            <a:ext cx="4754880" cy="237744"/>
          </a:xfrm>
          <a:prstGeom prst="rect">
            <a:avLst/>
          </a:prstGeom>
          <a:solidFill>
            <a:srgbClr val="3A2B1A"/>
          </a:solidFill>
          <a:ln/>
        </p:spPr>
      </p:sp>
      <p:sp>
        <p:nvSpPr>
          <p:cNvPr id="14" name="Shape 12"/>
          <p:cNvSpPr/>
          <p:nvPr/>
        </p:nvSpPr>
        <p:spPr>
          <a:xfrm>
            <a:off x="2664229" y="3035808"/>
            <a:ext cx="576349" cy="237744"/>
          </a:xfrm>
          <a:prstGeom prst="rect">
            <a:avLst/>
          </a:prstGeom>
          <a:solidFill>
            <a:srgbClr val="A0714E"/>
          </a:solidFill>
          <a:ln/>
        </p:spPr>
      </p:sp>
      <p:sp>
        <p:nvSpPr>
          <p:cNvPr id="15" name="Shape 13"/>
          <p:cNvSpPr/>
          <p:nvPr/>
        </p:nvSpPr>
        <p:spPr>
          <a:xfrm>
            <a:off x="3240578" y="3035808"/>
            <a:ext cx="432262" cy="237744"/>
          </a:xfrm>
          <a:prstGeom prst="rect">
            <a:avLst/>
          </a:prstGeom>
          <a:solidFill>
            <a:srgbClr val="A0714E">
              <a:alpha val="45000"/>
            </a:srgbClr>
          </a:solidFill>
          <a:ln/>
        </p:spPr>
      </p:sp>
      <p:sp>
        <p:nvSpPr>
          <p:cNvPr id="16" name="Shape 14"/>
          <p:cNvSpPr/>
          <p:nvPr/>
        </p:nvSpPr>
        <p:spPr>
          <a:xfrm>
            <a:off x="2664229" y="2999232"/>
            <a:ext cx="0" cy="310896"/>
          </a:xfrm>
          <a:prstGeom prst="line">
            <a:avLst/>
          </a:prstGeom>
          <a:noFill/>
          <a:ln w="9525">
            <a:solidFill>
              <a:srgbClr val="CDBFA9"/>
            </a:solidFill>
            <a:prstDash val="solid"/>
          </a:ln>
        </p:spPr>
      </p:sp>
      <p:sp>
        <p:nvSpPr>
          <p:cNvPr id="17" name="Text 15"/>
          <p:cNvSpPr/>
          <p:nvPr/>
        </p:nvSpPr>
        <p:spPr>
          <a:xfrm>
            <a:off x="3764280" y="2999232"/>
            <a:ext cx="1280160" cy="310896"/>
          </a:xfrm>
          <a:prstGeom prst="rect">
            <a:avLst/>
          </a:prstGeom>
          <a:noFill/>
          <a:ln/>
        </p:spPr>
        <p:txBody>
          <a:bodyPr wrap="square" lIns="0" tIns="0" rIns="0" bIns="0" rtlCol="0" anchor="ctr"/>
          <a:lstStyle/>
          <a:p>
            <a:pPr algn="l" indent="0" marL="0">
              <a:buNone/>
            </a:pPr>
            <a:r>
              <a:rPr lang="en-US" sz="1300" b="1" dirty="0">
                <a:solidFill>
                  <a:srgbClr val="F4ECDF"/>
                </a:solidFill>
                <a:latin typeface="Georgia" pitchFamily="34" charset="0"/>
                <a:ea typeface="Georgia" pitchFamily="34" charset="-122"/>
                <a:cs typeface="Georgia" pitchFamily="34" charset="-120"/>
              </a:rPr>
              <a:t>0.4–0.7 kg</a:t>
            </a:r>
            <a:endParaRPr lang="en-US" sz="1300" dirty="0"/>
          </a:p>
        </p:txBody>
      </p:sp>
      <p:sp>
        <p:nvSpPr>
          <p:cNvPr id="18" name="Text 16"/>
          <p:cNvSpPr/>
          <p:nvPr/>
        </p:nvSpPr>
        <p:spPr>
          <a:xfrm>
            <a:off x="502920" y="3419856"/>
            <a:ext cx="5852160" cy="237744"/>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projected</a:t>
            </a:r>
            <a:endParaRPr lang="en-US" sz="1000" dirty="0"/>
          </a:p>
        </p:txBody>
      </p:sp>
      <p:sp>
        <p:nvSpPr>
          <p:cNvPr id="19" name="Shape 17"/>
          <p:cNvSpPr/>
          <p:nvPr/>
        </p:nvSpPr>
        <p:spPr>
          <a:xfrm>
            <a:off x="502920" y="3694176"/>
            <a:ext cx="4754880" cy="237744"/>
          </a:xfrm>
          <a:prstGeom prst="rect">
            <a:avLst/>
          </a:prstGeom>
          <a:solidFill>
            <a:srgbClr val="3A2B1A"/>
          </a:solidFill>
          <a:ln/>
        </p:spPr>
      </p:sp>
      <p:sp>
        <p:nvSpPr>
          <p:cNvPr id="20" name="Shape 18"/>
          <p:cNvSpPr/>
          <p:nvPr/>
        </p:nvSpPr>
        <p:spPr>
          <a:xfrm>
            <a:off x="2664229" y="3694176"/>
            <a:ext cx="144087" cy="237744"/>
          </a:xfrm>
          <a:prstGeom prst="rect">
            <a:avLst/>
          </a:prstGeom>
          <a:solidFill>
            <a:srgbClr val="8FB356"/>
          </a:solidFill>
          <a:ln/>
        </p:spPr>
      </p:sp>
      <p:sp>
        <p:nvSpPr>
          <p:cNvPr id="21" name="Shape 19"/>
          <p:cNvSpPr/>
          <p:nvPr/>
        </p:nvSpPr>
        <p:spPr>
          <a:xfrm>
            <a:off x="2808316" y="3694176"/>
            <a:ext cx="144087" cy="237744"/>
          </a:xfrm>
          <a:prstGeom prst="rect">
            <a:avLst/>
          </a:prstGeom>
          <a:solidFill>
            <a:srgbClr val="8FB356">
              <a:alpha val="45000"/>
            </a:srgbClr>
          </a:solidFill>
          <a:ln/>
        </p:spPr>
      </p:sp>
      <p:sp>
        <p:nvSpPr>
          <p:cNvPr id="22" name="Shape 20"/>
          <p:cNvSpPr/>
          <p:nvPr/>
        </p:nvSpPr>
        <p:spPr>
          <a:xfrm>
            <a:off x="2664229" y="3657600"/>
            <a:ext cx="0" cy="310896"/>
          </a:xfrm>
          <a:prstGeom prst="line">
            <a:avLst/>
          </a:prstGeom>
          <a:noFill/>
          <a:ln w="9525">
            <a:solidFill>
              <a:srgbClr val="CDBFA9"/>
            </a:solidFill>
            <a:prstDash val="solid"/>
          </a:ln>
        </p:spPr>
      </p:sp>
      <p:sp>
        <p:nvSpPr>
          <p:cNvPr id="23" name="Text 21"/>
          <p:cNvSpPr/>
          <p:nvPr/>
        </p:nvSpPr>
        <p:spPr>
          <a:xfrm>
            <a:off x="3043844" y="3657600"/>
            <a:ext cx="1280160" cy="310896"/>
          </a:xfrm>
          <a:prstGeom prst="rect">
            <a:avLst/>
          </a:prstGeom>
          <a:noFill/>
          <a:ln/>
        </p:spPr>
        <p:txBody>
          <a:bodyPr wrap="square" lIns="0" tIns="0" rIns="0" bIns="0" rtlCol="0" anchor="ctr"/>
          <a:lstStyle/>
          <a:p>
            <a:pPr algn="l" indent="0" marL="0">
              <a:buNone/>
            </a:pPr>
            <a:r>
              <a:rPr lang="en-US" sz="1300" b="1" dirty="0">
                <a:solidFill>
                  <a:srgbClr val="F4ECDF"/>
                </a:solidFill>
                <a:latin typeface="Georgia" pitchFamily="34" charset="0"/>
                <a:ea typeface="Georgia" pitchFamily="34" charset="-122"/>
                <a:cs typeface="Georgia" pitchFamily="34" charset="-120"/>
              </a:rPr>
              <a:t>0.1–0.2 kg</a:t>
            </a:r>
            <a:endParaRPr lang="en-US" sz="1300" dirty="0"/>
          </a:p>
        </p:txBody>
      </p:sp>
      <p:sp>
        <p:nvSpPr>
          <p:cNvPr id="24" name="Text 22"/>
          <p:cNvSpPr/>
          <p:nvPr/>
        </p:nvSpPr>
        <p:spPr>
          <a:xfrm>
            <a:off x="502920" y="4078224"/>
            <a:ext cx="5852160" cy="237744"/>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carbon storage, per kg of SUPERWOOD</a:t>
            </a:r>
            <a:endParaRPr lang="en-US" sz="1000" dirty="0"/>
          </a:p>
        </p:txBody>
      </p:sp>
      <p:sp>
        <p:nvSpPr>
          <p:cNvPr id="25" name="Shape 23"/>
          <p:cNvSpPr/>
          <p:nvPr/>
        </p:nvSpPr>
        <p:spPr>
          <a:xfrm>
            <a:off x="502920" y="4352544"/>
            <a:ext cx="4754880" cy="237744"/>
          </a:xfrm>
          <a:prstGeom prst="rect">
            <a:avLst/>
          </a:prstGeom>
          <a:solidFill>
            <a:srgbClr val="3A2B1A"/>
          </a:solidFill>
          <a:ln/>
        </p:spPr>
      </p:sp>
      <p:sp>
        <p:nvSpPr>
          <p:cNvPr id="26" name="Shape 24"/>
          <p:cNvSpPr/>
          <p:nvPr/>
        </p:nvSpPr>
        <p:spPr>
          <a:xfrm>
            <a:off x="1943793" y="4352544"/>
            <a:ext cx="720436" cy="237744"/>
          </a:xfrm>
          <a:prstGeom prst="rect">
            <a:avLst/>
          </a:prstGeom>
          <a:solidFill>
            <a:srgbClr val="5EA9A2"/>
          </a:solidFill>
          <a:ln/>
        </p:spPr>
      </p:sp>
      <p:sp>
        <p:nvSpPr>
          <p:cNvPr id="27" name="Shape 25"/>
          <p:cNvSpPr/>
          <p:nvPr/>
        </p:nvSpPr>
        <p:spPr>
          <a:xfrm>
            <a:off x="502920" y="4352544"/>
            <a:ext cx="1440873" cy="237744"/>
          </a:xfrm>
          <a:prstGeom prst="rect">
            <a:avLst/>
          </a:prstGeom>
          <a:solidFill>
            <a:srgbClr val="5EA9A2">
              <a:alpha val="45000"/>
            </a:srgbClr>
          </a:solidFill>
          <a:ln/>
        </p:spPr>
      </p:sp>
      <p:sp>
        <p:nvSpPr>
          <p:cNvPr id="28" name="Shape 26"/>
          <p:cNvSpPr/>
          <p:nvPr/>
        </p:nvSpPr>
        <p:spPr>
          <a:xfrm>
            <a:off x="2664229" y="4315968"/>
            <a:ext cx="0" cy="310896"/>
          </a:xfrm>
          <a:prstGeom prst="line">
            <a:avLst/>
          </a:prstGeom>
          <a:noFill/>
          <a:ln w="9525">
            <a:solidFill>
              <a:srgbClr val="CDBFA9"/>
            </a:solidFill>
            <a:prstDash val="solid"/>
          </a:ln>
        </p:spPr>
      </p:sp>
      <p:sp>
        <p:nvSpPr>
          <p:cNvPr id="29" name="Text 27"/>
          <p:cNvSpPr/>
          <p:nvPr/>
        </p:nvSpPr>
        <p:spPr>
          <a:xfrm>
            <a:off x="502920" y="4315968"/>
            <a:ext cx="-91440" cy="310896"/>
          </a:xfrm>
          <a:prstGeom prst="rect">
            <a:avLst/>
          </a:prstGeom>
          <a:noFill/>
          <a:ln/>
        </p:spPr>
        <p:txBody>
          <a:bodyPr wrap="square" lIns="0" tIns="0" rIns="0" bIns="0" rtlCol="0" anchor="ctr"/>
          <a:lstStyle/>
          <a:p>
            <a:pPr algn="r" indent="0" marL="0">
              <a:buNone/>
            </a:pPr>
            <a:r>
              <a:rPr lang="en-US" sz="1300" b="1" dirty="0">
                <a:solidFill>
                  <a:srgbClr val="F4ECDF"/>
                </a:solidFill>
                <a:latin typeface="Georgia" pitchFamily="34" charset="0"/>
                <a:ea typeface="Georgia" pitchFamily="34" charset="-122"/>
                <a:cs typeface="Georgia" pitchFamily="34" charset="-120"/>
              </a:rPr>
              <a:t>−0.5 to −1.5 kg</a:t>
            </a:r>
            <a:endParaRPr lang="en-US" sz="1300" dirty="0"/>
          </a:p>
        </p:txBody>
      </p:sp>
      <p:sp>
        <p:nvSpPr>
          <p:cNvPr id="30" name="Shape 28"/>
          <p:cNvSpPr/>
          <p:nvPr/>
        </p:nvSpPr>
        <p:spPr>
          <a:xfrm>
            <a:off x="502920" y="4800600"/>
            <a:ext cx="5852160" cy="1097280"/>
          </a:xfrm>
          <a:prstGeom prst="roundRect">
            <a:avLst>
              <a:gd name="adj" fmla="val 7500"/>
            </a:avLst>
          </a:prstGeom>
          <a:solidFill>
            <a:srgbClr val="2E2113"/>
          </a:solidFill>
          <a:ln/>
        </p:spPr>
      </p:sp>
      <p:sp>
        <p:nvSpPr>
          <p:cNvPr id="31" name="Text 2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as biogenic carbon. Under EN 15804 it is released again in the end-of-life module, so it nets to zero over the life cycle; the lasting advantage is lower manufacturing emissions.</a:t>
            </a:r>
            <a:endParaRPr lang="en-US" sz="1000" dirty="0"/>
          </a:p>
        </p:txBody>
      </p:sp>
      <p:sp>
        <p:nvSpPr>
          <p:cNvPr id="32" name="Shape 30"/>
          <p:cNvSpPr/>
          <p:nvPr/>
        </p:nvSpPr>
        <p:spPr>
          <a:xfrm>
            <a:off x="6675120" y="1783080"/>
            <a:ext cx="4983480" cy="4114800"/>
          </a:xfrm>
          <a:prstGeom prst="roundRect">
            <a:avLst>
              <a:gd name="adj" fmla="val 2000"/>
            </a:avLst>
          </a:prstGeom>
          <a:solidFill>
            <a:srgbClr val="261A0F"/>
          </a:solidFill>
          <a:ln/>
        </p:spPr>
      </p:sp>
      <p:sp>
        <p:nvSpPr>
          <p:cNvPr id="33" name="Text 3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4" name="Text 32"/>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0.15–0.9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5" name="Text 33"/>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6" name="Text 3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0.1–0.2 kg CO₂e per kg of steel substituted and 0.5–1.5 kg/kg biogenic storage: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2026-09-05T16:23:47Z</dcterms:created>
  <dcterms:modified xsi:type="dcterms:W3CDTF">2026-09-05T16:23:47Z</dcterms:modified>
</cp:coreProperties>
</file>