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1.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Community pushback now blocks or delays more data center projects than ever. </a:t>
            </a:r>
            <a:pPr indent="0" marL="0">
              <a:buNone/>
            </a:pPr>
            <a:r>
              <a:rPr lang="en-US" sz="2300" i="1" dirty="0">
                <a:solidFill>
                  <a:srgbClr val="E2B877"/>
                </a:solidFill>
                <a:latin typeface="Georgia" pitchFamily="34" charset="0"/>
                <a:ea typeface="Georgia" pitchFamily="34" charset="-122"/>
                <a:cs typeface="Georgia" pitchFamily="34" charset="-120"/>
              </a:rPr>
              <a:t>Two of the complaints are about the building.</a:t>
            </a:r>
            <a:endParaRPr lang="en-US" sz="2300" dirty="0"/>
          </a:p>
        </p:txBody>
      </p:sp>
      <p:sp>
        <p:nvSpPr>
          <p:cNvPr id="6" name="Text 4"/>
          <p:cNvSpPr/>
          <p:nvPr/>
        </p:nvSpPr>
        <p:spPr>
          <a:xfrm>
            <a:off x="502920" y="192024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DEAL WITH TWO OF THE COMPLAINTS</a:t>
            </a:r>
            <a:endParaRPr lang="en-US" sz="900" dirty="0"/>
          </a:p>
        </p:txBody>
      </p:sp>
      <p:sp>
        <p:nvSpPr>
          <p:cNvPr id="7" name="Shape 5"/>
          <p:cNvSpPr/>
          <p:nvPr/>
        </p:nvSpPr>
        <p:spPr>
          <a:xfrm>
            <a:off x="502920" y="2423160"/>
            <a:ext cx="128016" cy="128016"/>
          </a:xfrm>
          <a:prstGeom prst="ellipse">
            <a:avLst/>
          </a:prstGeom>
          <a:solidFill>
            <a:srgbClr val="E2B877"/>
          </a:solidFill>
          <a:ln/>
        </p:spPr>
      </p:sp>
      <p:sp>
        <p:nvSpPr>
          <p:cNvPr id="8" name="Text 6"/>
          <p:cNvSpPr/>
          <p:nvPr/>
        </p:nvSpPr>
        <p:spPr>
          <a:xfrm>
            <a:off x="795528" y="2331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67919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500–1,000 ft setbacks and design standards.</a:t>
            </a:r>
            <a:endParaRPr lang="en-US" sz="1100" dirty="0"/>
          </a:p>
        </p:txBody>
      </p:sp>
      <p:sp>
        <p:nvSpPr>
          <p:cNvPr id="10" name="Text 8"/>
          <p:cNvSpPr/>
          <p:nvPr/>
        </p:nvSpPr>
        <p:spPr>
          <a:xfrm>
            <a:off x="795528" y="315468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749040"/>
            <a:ext cx="128016" cy="128016"/>
          </a:xfrm>
          <a:prstGeom prst="ellipse">
            <a:avLst/>
          </a:prstGeom>
          <a:solidFill>
            <a:srgbClr val="E2B877"/>
          </a:solidFill>
          <a:ln/>
        </p:spPr>
      </p:sp>
      <p:sp>
        <p:nvSpPr>
          <p:cNvPr id="12" name="Text 10"/>
          <p:cNvSpPr/>
          <p:nvPr/>
        </p:nvSpPr>
        <p:spPr>
          <a:xfrm>
            <a:off x="795528" y="365760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4005072"/>
            <a:ext cx="6309360" cy="45720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 walls, chillers and generator tests hum past the fence line. Ordinances now set decibel limits at the property line.</a:t>
            </a:r>
            <a:endParaRPr lang="en-US" sz="1100" dirty="0"/>
          </a:p>
        </p:txBody>
      </p:sp>
      <p:sp>
        <p:nvSpPr>
          <p:cNvPr id="14" name="Text 12"/>
          <p:cNvSpPr/>
          <p:nvPr/>
        </p:nvSpPr>
        <p:spPr>
          <a:xfrm>
            <a:off x="795528" y="448056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a:t>
            </a:r>
            <a:endParaRPr lang="en-US" sz="1100" dirty="0"/>
          </a:p>
        </p:txBody>
      </p:sp>
      <p:sp>
        <p:nvSpPr>
          <p:cNvPr id="15" name="Shape 13"/>
          <p:cNvSpPr/>
          <p:nvPr/>
        </p:nvSpPr>
        <p:spPr>
          <a:xfrm>
            <a:off x="502920" y="5074920"/>
            <a:ext cx="6583680" cy="640080"/>
          </a:xfrm>
          <a:prstGeom prst="roundRect">
            <a:avLst>
              <a:gd name="adj" fmla="val 12857"/>
            </a:avLst>
          </a:prstGeom>
          <a:solidFill>
            <a:srgbClr val="261A0F"/>
          </a:solidFill>
          <a:ln/>
        </p:spPr>
      </p:sp>
      <p:sp>
        <p:nvSpPr>
          <p:cNvPr id="16" name="Text 14"/>
          <p:cNvSpPr/>
          <p:nvPr/>
        </p:nvSpPr>
        <p:spPr>
          <a:xfrm>
            <a:off x="731520" y="5120640"/>
            <a:ext cx="6217920" cy="54864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Entitlement is where hyperscalers lose time. Power, water and rates are outside our scope.</a:t>
            </a:r>
            <a:endParaRPr lang="en-US" sz="1100" dirty="0"/>
          </a:p>
        </p:txBody>
      </p:sp>
      <p:sp>
        <p:nvSpPr>
          <p:cNvPr id="17" name="Text 15"/>
          <p:cNvSpPr/>
          <p:nvPr/>
        </p:nvSpPr>
        <p:spPr>
          <a:xfrm>
            <a:off x="7315200" y="192024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8" name="Shape 16"/>
          <p:cNvSpPr/>
          <p:nvPr/>
        </p:nvSpPr>
        <p:spPr>
          <a:xfrm>
            <a:off x="7315200" y="2331720"/>
            <a:ext cx="4343400" cy="1554480"/>
          </a:xfrm>
          <a:prstGeom prst="roundRect">
            <a:avLst>
              <a:gd name="adj" fmla="val 5294"/>
            </a:avLst>
          </a:prstGeom>
          <a:solidFill>
            <a:srgbClr val="2E2113"/>
          </a:solidFill>
          <a:ln/>
        </p:spPr>
      </p:sp>
      <p:sp>
        <p:nvSpPr>
          <p:cNvPr id="19" name="Text 17"/>
          <p:cNvSpPr/>
          <p:nvPr/>
        </p:nvSpPr>
        <p:spPr>
          <a:xfrm>
            <a:off x="7543800" y="249631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20" name="Text 18"/>
          <p:cNvSpPr/>
          <p:nvPr/>
        </p:nvSpPr>
        <p:spPr>
          <a:xfrm>
            <a:off x="7543800" y="310896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January to March 2026, as much as in all of 2025. 833 opposition groups in 49 states.</a:t>
            </a:r>
            <a:endParaRPr lang="en-US" sz="1050" dirty="0"/>
          </a:p>
        </p:txBody>
      </p:sp>
      <p:sp>
        <p:nvSpPr>
          <p:cNvPr id="21" name="Shape 19"/>
          <p:cNvSpPr/>
          <p:nvPr/>
        </p:nvSpPr>
        <p:spPr>
          <a:xfrm>
            <a:off x="7315200" y="4023360"/>
            <a:ext cx="4343400" cy="1554480"/>
          </a:xfrm>
          <a:prstGeom prst="roundRect">
            <a:avLst>
              <a:gd name="adj" fmla="val 5294"/>
            </a:avLst>
          </a:prstGeom>
          <a:solidFill>
            <a:srgbClr val="2E2113"/>
          </a:solidFill>
          <a:ln/>
        </p:spPr>
      </p:sp>
      <p:sp>
        <p:nvSpPr>
          <p:cNvPr id="22" name="Text 20"/>
          <p:cNvSpPr/>
          <p:nvPr/>
        </p:nvSpPr>
        <p:spPr>
          <a:xfrm>
            <a:off x="7543800" y="4187952"/>
            <a:ext cx="3886200" cy="54864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3" name="Text 21"/>
          <p:cNvSpPr/>
          <p:nvPr/>
        </p:nvSpPr>
        <p:spPr>
          <a:xfrm>
            <a:off x="7543800" y="4800600"/>
            <a:ext cx="3886200" cy="7315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 Virginia's 500 ft setback is becoming the reference.</a:t>
            </a:r>
            <a:endParaRPr lang="en-US" sz="1050" dirty="0"/>
          </a:p>
        </p:txBody>
      </p:sp>
      <p:sp>
        <p:nvSpPr>
          <p:cNvPr id="24" name="Text 22"/>
          <p:cNvSpPr/>
          <p:nvPr/>
        </p:nvSpPr>
        <p:spPr>
          <a:xfrm>
            <a:off x="502920" y="6144768"/>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FIT</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technical potential with no design or code pathway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How much SUPERWOOD could a 1 GW data center require?</a:t>
            </a:r>
            <a:endParaRPr lang="en-US" sz="2700" dirty="0"/>
          </a:p>
        </p:txBody>
      </p:sp>
      <p:pic>
        <p:nvPicPr>
          <p:cNvPr id="6" name="Image 0" descr="prep/charts/worth.png">    </p:cNvPr>
          <p:cNvPicPr>
            <a:picLocks noChangeAspect="1"/>
          </p:cNvPicPr>
          <p:nvPr/>
        </p:nvPicPr>
        <p:blipFill>
          <a:blip r:embed="rId1"/>
          <a:stretch>
            <a:fillRect/>
          </a:stretch>
        </p:blipFill>
        <p:spPr>
          <a:xfrm>
            <a:off x="502920" y="1965960"/>
            <a:ext cx="4572000" cy="2232837"/>
          </a:xfrm>
          <a:prstGeom prst="rect">
            <a:avLst/>
          </a:prstGeom>
        </p:spPr>
      </p:pic>
      <p:sp>
        <p:nvSpPr>
          <p:cNvPr id="7" name="Text 4"/>
          <p:cNvSpPr/>
          <p:nvPr/>
        </p:nvSpPr>
        <p:spPr>
          <a:xfrm>
            <a:off x="5394960" y="1737360"/>
            <a:ext cx="201168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HORIZON</a:t>
            </a:r>
            <a:endParaRPr lang="en-US" sz="900" dirty="0"/>
          </a:p>
        </p:txBody>
      </p:sp>
      <p:sp>
        <p:nvSpPr>
          <p:cNvPr id="8" name="Text 5"/>
          <p:cNvSpPr/>
          <p:nvPr/>
        </p:nvSpPr>
        <p:spPr>
          <a:xfrm>
            <a:off x="749808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INCUMBENT REPLACED</a:t>
            </a:r>
            <a:endParaRPr lang="en-US" sz="900" dirty="0"/>
          </a:p>
        </p:txBody>
      </p:sp>
      <p:sp>
        <p:nvSpPr>
          <p:cNvPr id="9" name="Text 6"/>
          <p:cNvSpPr/>
          <p:nvPr/>
        </p:nvSpPr>
        <p:spPr>
          <a:xfrm>
            <a:off x="8778240" y="1737360"/>
            <a:ext cx="118872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SUPERWOOD REQUIRED</a:t>
            </a:r>
            <a:endParaRPr lang="en-US" sz="900" dirty="0"/>
          </a:p>
        </p:txBody>
      </p:sp>
      <p:sp>
        <p:nvSpPr>
          <p:cNvPr id="10" name="Text 7"/>
          <p:cNvSpPr/>
          <p:nvPr/>
        </p:nvSpPr>
        <p:spPr>
          <a:xfrm>
            <a:off x="10058400" y="1737360"/>
            <a:ext cx="1600200" cy="457200"/>
          </a:xfrm>
          <a:prstGeom prst="rect">
            <a:avLst/>
          </a:prstGeom>
          <a:noFill/>
          <a:ln/>
        </p:spPr>
        <p:txBody>
          <a:bodyPr wrap="square" lIns="0" tIns="0" rIns="0" bIns="0" rtlCol="0" anchor="b"/>
          <a:lstStyle/>
          <a:p>
            <a:pPr indent="0" marL="0">
              <a:buNone/>
            </a:pPr>
            <a:r>
              <a:rPr lang="en-US" sz="900" b="1" spc="120" kern="0" dirty="0">
                <a:solidFill>
                  <a:srgbClr val="CDA165"/>
                </a:solidFill>
                <a:latin typeface="Calibri" pitchFamily="34" charset="0"/>
                <a:ea typeface="Calibri" pitchFamily="34" charset="-122"/>
                <a:cs typeface="Calibri" pitchFamily="34" charset="-120"/>
              </a:rPr>
              <a:t>PLANT-YEARS</a:t>
            </a:r>
            <a:endParaRPr lang="en-US" sz="900" dirty="0"/>
          </a:p>
        </p:txBody>
      </p:sp>
      <p:sp>
        <p:nvSpPr>
          <p:cNvPr id="11" name="Shape 8"/>
          <p:cNvSpPr/>
          <p:nvPr/>
        </p:nvSpPr>
        <p:spPr>
          <a:xfrm>
            <a:off x="5394960" y="2258568"/>
            <a:ext cx="6263640" cy="10973"/>
          </a:xfrm>
          <a:prstGeom prst="rect">
            <a:avLst/>
          </a:prstGeom>
          <a:solidFill>
            <a:srgbClr val="3A2B1A"/>
          </a:solidFill>
          <a:ln/>
        </p:spPr>
      </p:sp>
      <p:sp>
        <p:nvSpPr>
          <p:cNvPr id="12" name="Text 9"/>
          <p:cNvSpPr/>
          <p:nvPr/>
        </p:nvSpPr>
        <p:spPr>
          <a:xfrm>
            <a:off x="5394960" y="2331720"/>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Immediate — skins, screens, fences</a:t>
            </a:r>
            <a:endParaRPr lang="en-US" sz="1200" dirty="0"/>
          </a:p>
        </p:txBody>
      </p:sp>
      <p:sp>
        <p:nvSpPr>
          <p:cNvPr id="13" name="Text 10"/>
          <p:cNvSpPr/>
          <p:nvPr/>
        </p:nvSpPr>
        <p:spPr>
          <a:xfrm>
            <a:off x="749808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3,300–12,000 tons</a:t>
            </a:r>
            <a:endParaRPr lang="en-US" sz="1150" dirty="0"/>
          </a:p>
        </p:txBody>
      </p:sp>
      <p:sp>
        <p:nvSpPr>
          <p:cNvPr id="14" name="Text 11"/>
          <p:cNvSpPr/>
          <p:nvPr/>
        </p:nvSpPr>
        <p:spPr>
          <a:xfrm>
            <a:off x="8778240" y="2331720"/>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1,200–2,700 tons (1.4–3.1M sf)</a:t>
            </a:r>
            <a:endParaRPr lang="en-US" sz="1150" dirty="0"/>
          </a:p>
        </p:txBody>
      </p:sp>
      <p:sp>
        <p:nvSpPr>
          <p:cNvPr id="15" name="Text 12"/>
          <p:cNvSpPr/>
          <p:nvPr/>
        </p:nvSpPr>
        <p:spPr>
          <a:xfrm>
            <a:off x="10058400" y="2331720"/>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1.4–3.1 yr of SuperMill One</a:t>
            </a:r>
            <a:endParaRPr lang="en-US" sz="1150" dirty="0"/>
          </a:p>
        </p:txBody>
      </p:sp>
      <p:sp>
        <p:nvSpPr>
          <p:cNvPr id="16" name="Shape 13"/>
          <p:cNvSpPr/>
          <p:nvPr/>
        </p:nvSpPr>
        <p:spPr>
          <a:xfrm>
            <a:off x="5394960" y="3008376"/>
            <a:ext cx="6263640" cy="10973"/>
          </a:xfrm>
          <a:prstGeom prst="rect">
            <a:avLst/>
          </a:prstGeom>
          <a:solidFill>
            <a:srgbClr val="3A2B1A"/>
          </a:solidFill>
          <a:ln/>
        </p:spPr>
      </p:sp>
      <p:sp>
        <p:nvSpPr>
          <p:cNvPr id="17" name="Text 14"/>
          <p:cNvSpPr/>
          <p:nvPr/>
        </p:nvSpPr>
        <p:spPr>
          <a:xfrm>
            <a:off x="5394960" y="3081528"/>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Soon — racks, platforms, barriers</a:t>
            </a:r>
            <a:endParaRPr lang="en-US" sz="1200" dirty="0"/>
          </a:p>
        </p:txBody>
      </p:sp>
      <p:sp>
        <p:nvSpPr>
          <p:cNvPr id="18" name="Text 15"/>
          <p:cNvSpPr/>
          <p:nvPr/>
        </p:nvSpPr>
        <p:spPr>
          <a:xfrm>
            <a:off x="749808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12,000–30,000 tons</a:t>
            </a:r>
            <a:endParaRPr lang="en-US" sz="1150" dirty="0"/>
          </a:p>
        </p:txBody>
      </p:sp>
      <p:sp>
        <p:nvSpPr>
          <p:cNvPr id="19" name="Text 16"/>
          <p:cNvSpPr/>
          <p:nvPr/>
        </p:nvSpPr>
        <p:spPr>
          <a:xfrm>
            <a:off x="8778240" y="3081528"/>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3,500–18,000 tons</a:t>
            </a:r>
            <a:endParaRPr lang="en-US" sz="1150" dirty="0"/>
          </a:p>
        </p:txBody>
      </p:sp>
      <p:sp>
        <p:nvSpPr>
          <p:cNvPr id="20" name="Text 17"/>
          <p:cNvSpPr/>
          <p:nvPr/>
        </p:nvSpPr>
        <p:spPr>
          <a:xfrm>
            <a:off x="10058400" y="3081528"/>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0.1–0.6 yr of SuperMill Two</a:t>
            </a:r>
            <a:endParaRPr lang="en-US" sz="1150" dirty="0"/>
          </a:p>
        </p:txBody>
      </p:sp>
      <p:sp>
        <p:nvSpPr>
          <p:cNvPr id="21" name="Shape 18"/>
          <p:cNvSpPr/>
          <p:nvPr/>
        </p:nvSpPr>
        <p:spPr>
          <a:xfrm>
            <a:off x="5394960" y="3758184"/>
            <a:ext cx="6263640" cy="10973"/>
          </a:xfrm>
          <a:prstGeom prst="rect">
            <a:avLst/>
          </a:prstGeom>
          <a:solidFill>
            <a:srgbClr val="3A2B1A"/>
          </a:solidFill>
          <a:ln/>
        </p:spPr>
      </p:sp>
      <p:sp>
        <p:nvSpPr>
          <p:cNvPr id="22" name="Text 19"/>
          <p:cNvSpPr/>
          <p:nvPr/>
        </p:nvSpPr>
        <p:spPr>
          <a:xfrm>
            <a:off x="5394960" y="3831336"/>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Medium term — frame, roofs, enclosures</a:t>
            </a:r>
            <a:endParaRPr lang="en-US" sz="1200" dirty="0"/>
          </a:p>
        </p:txBody>
      </p:sp>
      <p:sp>
        <p:nvSpPr>
          <p:cNvPr id="23" name="Text 20"/>
          <p:cNvSpPr/>
          <p:nvPr/>
        </p:nvSpPr>
        <p:spPr>
          <a:xfrm>
            <a:off x="749808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53,000–108,000 tons</a:t>
            </a:r>
            <a:endParaRPr lang="en-US" sz="1150" dirty="0"/>
          </a:p>
        </p:txBody>
      </p:sp>
      <p:sp>
        <p:nvSpPr>
          <p:cNvPr id="24" name="Text 21"/>
          <p:cNvSpPr/>
          <p:nvPr/>
        </p:nvSpPr>
        <p:spPr>
          <a:xfrm>
            <a:off x="8778240" y="3831336"/>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16,000–65,000 tons</a:t>
            </a:r>
            <a:endParaRPr lang="en-US" sz="1150" dirty="0"/>
          </a:p>
        </p:txBody>
      </p:sp>
      <p:sp>
        <p:nvSpPr>
          <p:cNvPr id="25" name="Text 22"/>
          <p:cNvSpPr/>
          <p:nvPr/>
        </p:nvSpPr>
        <p:spPr>
          <a:xfrm>
            <a:off x="10058400" y="3831336"/>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0.5–2.1 yr of SuperMill Two</a:t>
            </a:r>
            <a:endParaRPr lang="en-US" sz="1150" dirty="0"/>
          </a:p>
        </p:txBody>
      </p:sp>
      <p:sp>
        <p:nvSpPr>
          <p:cNvPr id="26" name="Shape 23"/>
          <p:cNvSpPr/>
          <p:nvPr/>
        </p:nvSpPr>
        <p:spPr>
          <a:xfrm>
            <a:off x="5394960" y="4507992"/>
            <a:ext cx="6263640" cy="10973"/>
          </a:xfrm>
          <a:prstGeom prst="rect">
            <a:avLst/>
          </a:prstGeom>
          <a:solidFill>
            <a:srgbClr val="3A2B1A"/>
          </a:solidFill>
          <a:ln/>
        </p:spPr>
      </p:sp>
      <p:sp>
        <p:nvSpPr>
          <p:cNvPr id="27" name="Text 24"/>
          <p:cNvSpPr/>
          <p:nvPr/>
        </p:nvSpPr>
        <p:spPr>
          <a:xfrm>
            <a:off x="5394960" y="4581144"/>
            <a:ext cx="2011680" cy="64008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Long term — slab, foundations, server boxes</a:t>
            </a:r>
            <a:endParaRPr lang="en-US" sz="1200" dirty="0"/>
          </a:p>
        </p:txBody>
      </p:sp>
      <p:sp>
        <p:nvSpPr>
          <p:cNvPr id="28" name="Text 25"/>
          <p:cNvSpPr/>
          <p:nvPr/>
        </p:nvSpPr>
        <p:spPr>
          <a:xfrm>
            <a:off x="749808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1,002,000–2,089,000 tons</a:t>
            </a:r>
            <a:endParaRPr lang="en-US" sz="1150" dirty="0"/>
          </a:p>
        </p:txBody>
      </p:sp>
      <p:sp>
        <p:nvSpPr>
          <p:cNvPr id="29" name="Text 26"/>
          <p:cNvSpPr/>
          <p:nvPr/>
        </p:nvSpPr>
        <p:spPr>
          <a:xfrm>
            <a:off x="8778240" y="4581144"/>
            <a:ext cx="1188720" cy="640080"/>
          </a:xfrm>
          <a:prstGeom prst="rect">
            <a:avLst/>
          </a:prstGeom>
          <a:noFill/>
          <a:ln/>
        </p:spPr>
        <p:txBody>
          <a:bodyPr wrap="square" lIns="0" tIns="0" rIns="0" bIns="0" rtlCol="0" anchor="t"/>
          <a:lstStyle/>
          <a:p>
            <a:pPr indent="0" marL="0">
              <a:buNone/>
            </a:pPr>
            <a:r>
              <a:rPr lang="en-US" sz="1150" dirty="0">
                <a:solidFill>
                  <a:srgbClr val="CDBFA9"/>
                </a:solidFill>
                <a:latin typeface="Calibri" pitchFamily="34" charset="0"/>
                <a:ea typeface="Calibri" pitchFamily="34" charset="-122"/>
                <a:cs typeface="Calibri" pitchFamily="34" charset="-120"/>
              </a:rPr>
              <a:t>58,000–362,000 tons</a:t>
            </a:r>
            <a:endParaRPr lang="en-US" sz="1150" dirty="0"/>
          </a:p>
        </p:txBody>
      </p:sp>
      <p:sp>
        <p:nvSpPr>
          <p:cNvPr id="30" name="Text 27"/>
          <p:cNvSpPr/>
          <p:nvPr/>
        </p:nvSpPr>
        <p:spPr>
          <a:xfrm>
            <a:off x="10058400" y="4581144"/>
            <a:ext cx="1600200" cy="640080"/>
          </a:xfrm>
          <a:prstGeom prst="rect">
            <a:avLst/>
          </a:prstGeom>
          <a:noFill/>
          <a:ln/>
        </p:spPr>
        <p:txBody>
          <a:bodyPr wrap="square" lIns="0" tIns="0" rIns="0" bIns="0" rtlCol="0" anchor="t"/>
          <a:lstStyle/>
          <a:p>
            <a:pPr indent="0" marL="0">
              <a:buNone/>
            </a:pPr>
            <a:r>
              <a:rPr lang="en-US" sz="1150" b="1" dirty="0">
                <a:solidFill>
                  <a:srgbClr val="E2B877"/>
                </a:solidFill>
                <a:latin typeface="Calibri" pitchFamily="34" charset="0"/>
                <a:ea typeface="Calibri" pitchFamily="34" charset="-122"/>
                <a:cs typeface="Calibri" pitchFamily="34" charset="-120"/>
              </a:rPr>
              <a:t>1.8–12 yr of SuperMill Two</a:t>
            </a:r>
            <a:endParaRPr lang="en-US" sz="1150" dirty="0"/>
          </a:p>
        </p:txBody>
      </p:sp>
      <p:sp>
        <p:nvSpPr>
          <p:cNvPr id="31" name="Shape 28"/>
          <p:cNvSpPr/>
          <p:nvPr/>
        </p:nvSpPr>
        <p:spPr>
          <a:xfrm>
            <a:off x="502920" y="5440680"/>
            <a:ext cx="11155680" cy="640080"/>
          </a:xfrm>
          <a:prstGeom prst="roundRect">
            <a:avLst>
              <a:gd name="adj" fmla="val 12857"/>
            </a:avLst>
          </a:prstGeom>
          <a:solidFill>
            <a:srgbClr val="261A0F"/>
          </a:solidFill>
          <a:ln/>
        </p:spPr>
      </p:sp>
      <p:sp>
        <p:nvSpPr>
          <p:cNvPr id="32" name="Text 29"/>
          <p:cNvSpPr/>
          <p:nvPr/>
        </p:nvSpPr>
        <p:spPr>
          <a:xfrm>
            <a:off x="777240" y="5486400"/>
            <a:ext cx="10607040" cy="548640"/>
          </a:xfrm>
          <a:prstGeom prst="rect">
            <a:avLst/>
          </a:prstGeom>
          <a:noFill/>
          <a:ln/>
        </p:spPr>
        <p:txBody>
          <a:bodyPr wrap="square" lIns="0" tIns="0" rIns="0" bIns="0" rtlCol="0" anchor="ctr"/>
          <a:lstStyle/>
          <a:p>
            <a:pPr indent="0" marL="0">
              <a:buNone/>
            </a:pPr>
            <a:r>
              <a:rPr lang="en-US" sz="1200" b="1" dirty="0">
                <a:solidFill>
                  <a:srgbClr val="E2B877"/>
                </a:solidFill>
                <a:latin typeface="Calibri" pitchFamily="34" charset="0"/>
                <a:ea typeface="Calibri" pitchFamily="34" charset="-122"/>
                <a:cs typeface="Calibri" pitchFamily="34" charset="-120"/>
              </a:rPr>
              <a:t>Two or three gigawatts of data center would take all of SuperMill Two's output for years.  </a:t>
            </a:r>
            <a:pPr indent="0" marL="0">
              <a:buNone/>
            </a:pPr>
            <a:r>
              <a:rPr lang="en-US" sz="1200" dirty="0">
                <a:solidFill>
                  <a:srgbClr val="CDBFA9"/>
                </a:solidFill>
                <a:latin typeface="Calibri" pitchFamily="34" charset="0"/>
                <a:ea typeface="Calibri" pitchFamily="34" charset="-122"/>
                <a:cs typeface="Calibri" pitchFamily="34" charset="-120"/>
              </a:rPr>
              <a:t>A basis-of-design win with one hyperscaler is the demand case for the second mill. It is also the capacity constraint.</a:t>
            </a:r>
            <a:endParaRPr lang="en-US" sz="1200" dirty="0"/>
          </a:p>
        </p:txBody>
      </p:sp>
      <p:sp>
        <p:nvSpPr>
          <p:cNvPr id="33" name="Text 30"/>
          <p:cNvSpPr/>
          <p:nvPr/>
        </p:nvSpPr>
        <p:spPr>
          <a:xfrm>
            <a:off x="502920" y="6144768"/>
            <a:ext cx="11155680" cy="329184"/>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estimate (slide 5 model; low–high scenarios). Incumbent replaced is steel except the long-term row (concrete, rebar, server enclosures at 40% of IT mass — estimate; electronics excluded). SUPERWOOD required uses a 0.3–0.6 steel substitution factor (estimate). Plant output: SuperMill One ≈ 900 tons/yr (1M sf), SuperMill Two ≈ 31,000 tons/yr (36M sf) at 0.87 kg/sf, 1.3 t/m³. Pricing is set per application.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lobby.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 for office space</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barrier.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Acoustic barrier walls &amp; equipment screens</a:t>
            </a:r>
            <a:endParaRPr lang="en-US" sz="1050" dirty="0"/>
          </a:p>
        </p:txBody>
      </p:sp>
      <p:sp>
        <p:nvSpPr>
          <p:cNvPr id="8" name="Text 5"/>
          <p:cNvSpPr/>
          <p:nvPr/>
        </p:nvSpPr>
        <p:spPr>
          <a:xfrm>
            <a:off x="548640"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9" name="Text 6"/>
          <p:cNvSpPr/>
          <p:nvPr/>
        </p:nvSpPr>
        <p:spPr>
          <a:xfrm>
            <a:off x="548640"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Acoustic performance data</a:t>
            </a:r>
            <a:endParaRPr lang="en-US" sz="950" dirty="0"/>
          </a:p>
        </p:txBody>
      </p:sp>
      <p:pic>
        <p:nvPicPr>
          <p:cNvPr id="10"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11" name="Text 7"/>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sp>
        <p:nvSpPr>
          <p:cNvPr id="12" name="Text 8"/>
          <p:cNvSpPr/>
          <p:nvPr/>
        </p:nvSpPr>
        <p:spPr>
          <a:xfrm>
            <a:off x="2142309"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3" name="Text 9"/>
          <p:cNvSpPr/>
          <p:nvPr/>
        </p:nvSpPr>
        <p:spPr>
          <a:xfrm>
            <a:off x="2142309"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and connection data</a:t>
            </a:r>
            <a:endParaRPr lang="en-US" sz="950" dirty="0"/>
          </a:p>
        </p:txBody>
      </p:sp>
      <p:pic>
        <p:nvPicPr>
          <p:cNvPr id="14"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5" name="Text 10"/>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sp>
        <p:nvSpPr>
          <p:cNvPr id="16" name="Text 11"/>
          <p:cNvSpPr/>
          <p:nvPr/>
        </p:nvSpPr>
        <p:spPr>
          <a:xfrm>
            <a:off x="3735977"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17" name="Text 12"/>
          <p:cNvSpPr/>
          <p:nvPr/>
        </p:nvSpPr>
        <p:spPr>
          <a:xfrm>
            <a:off x="3735977"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Load testing to code</a:t>
            </a:r>
            <a:endParaRPr lang="en-US" sz="950" dirty="0"/>
          </a:p>
        </p:txBody>
      </p:sp>
      <p:pic>
        <p:nvPicPr>
          <p:cNvPr id="18"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9" name="Text 13"/>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sp>
        <p:nvSpPr>
          <p:cNvPr id="20" name="Text 14"/>
          <p:cNvSpPr/>
          <p:nvPr/>
        </p:nvSpPr>
        <p:spPr>
          <a:xfrm>
            <a:off x="5329646"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1" name="Text 15"/>
          <p:cNvSpPr/>
          <p:nvPr/>
        </p:nvSpPr>
        <p:spPr>
          <a:xfrm>
            <a:off x="5329646"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Thermal and structural data</a:t>
            </a:r>
            <a:endParaRPr lang="en-US" sz="950" dirty="0"/>
          </a:p>
        </p:txBody>
      </p:sp>
      <p:pic>
        <p:nvPicPr>
          <p:cNvPr id="22"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23" name="Text 16"/>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sp>
        <p:nvSpPr>
          <p:cNvPr id="24" name="Text 17"/>
          <p:cNvSpPr/>
          <p:nvPr/>
        </p:nvSpPr>
        <p:spPr>
          <a:xfrm>
            <a:off x="6923314"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5" name="Text 18"/>
          <p:cNvSpPr/>
          <p:nvPr/>
        </p:nvSpPr>
        <p:spPr>
          <a:xfrm>
            <a:off x="6923314"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Listing for rated openings</a:t>
            </a:r>
            <a:endParaRPr lang="en-US" sz="950" dirty="0"/>
          </a:p>
        </p:txBody>
      </p:sp>
      <p:pic>
        <p:nvPicPr>
          <p:cNvPr id="2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27" name="Text 1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sp>
        <p:nvSpPr>
          <p:cNvPr id="28" name="Text 20"/>
          <p:cNvSpPr/>
          <p:nvPr/>
        </p:nvSpPr>
        <p:spPr>
          <a:xfrm>
            <a:off x="8516983"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29" name="Text 21"/>
          <p:cNvSpPr/>
          <p:nvPr/>
        </p:nvSpPr>
        <p:spPr>
          <a:xfrm>
            <a:off x="8516983"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Electrical-room listing</a:t>
            </a:r>
            <a:endParaRPr lang="en-US" sz="950" dirty="0"/>
          </a:p>
        </p:txBody>
      </p:sp>
      <p:pic>
        <p:nvPicPr>
          <p:cNvPr id="30"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31" name="Text 22"/>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32" name="Text 23"/>
          <p:cNvSpPr/>
          <p:nvPr/>
        </p:nvSpPr>
        <p:spPr>
          <a:xfrm>
            <a:off x="10110651" y="4005072"/>
            <a:ext cx="1502229" cy="201168"/>
          </a:xfrm>
          <a:prstGeom prst="rect">
            <a:avLst/>
          </a:prstGeom>
          <a:noFill/>
          <a:ln/>
        </p:spPr>
        <p:txBody>
          <a:bodyPr wrap="square" lIns="0" tIns="0" rIns="0" bIns="0" rtlCol="0" anchor="ctr"/>
          <a:lstStyle/>
          <a:p>
            <a:pPr algn="ctr" indent="0" marL="0">
              <a:buNone/>
            </a:pPr>
            <a:r>
              <a:rPr lang="en-US" sz="800" b="1" spc="150" kern="0" dirty="0">
                <a:solidFill>
                  <a:srgbClr val="CDA165"/>
                </a:solidFill>
                <a:latin typeface="Calibri" pitchFamily="34" charset="0"/>
                <a:ea typeface="Calibri" pitchFamily="34" charset="-122"/>
                <a:cs typeface="Calibri" pitchFamily="34" charset="-120"/>
              </a:rPr>
              <a:t>WHAT IT NEEDS</a:t>
            </a:r>
            <a:endParaRPr lang="en-US" sz="800" dirty="0"/>
          </a:p>
        </p:txBody>
      </p:sp>
      <p:sp>
        <p:nvSpPr>
          <p:cNvPr id="33" name="Text 24"/>
          <p:cNvSpPr/>
          <p:nvPr/>
        </p:nvSpPr>
        <p:spPr>
          <a:xfrm>
            <a:off x="10110651" y="4224528"/>
            <a:ext cx="1502229" cy="548640"/>
          </a:xfrm>
          <a:prstGeom prst="rect">
            <a:avLst/>
          </a:prstGeom>
          <a:noFill/>
          <a:ln/>
        </p:spPr>
        <p:txBody>
          <a:bodyPr wrap="square" lIns="0" tIns="0" rIns="0" bIns="0" rtlCol="0" anchor="t"/>
          <a:lstStyle/>
          <a:p>
            <a:pPr algn="ctr" indent="0" marL="0">
              <a:buNone/>
            </a:pPr>
            <a:r>
              <a:rPr lang="en-US" sz="950" dirty="0">
                <a:solidFill>
                  <a:srgbClr val="9D8D76"/>
                </a:solidFill>
                <a:latin typeface="Calibri" pitchFamily="34" charset="0"/>
                <a:ea typeface="Calibri" pitchFamily="34" charset="-122"/>
                <a:cs typeface="Calibri" pitchFamily="34" charset="-120"/>
              </a:rPr>
              <a:t>A few months of design and load-data development</a:t>
            </a:r>
            <a:endParaRPr lang="en-US" sz="950" dirty="0"/>
          </a:p>
        </p:txBody>
      </p:sp>
      <p:sp>
        <p:nvSpPr>
          <p:cNvPr id="34" name="Shape 25"/>
          <p:cNvSpPr/>
          <p:nvPr/>
        </p:nvSpPr>
        <p:spPr>
          <a:xfrm>
            <a:off x="502920" y="5029200"/>
            <a:ext cx="11155680" cy="777240"/>
          </a:xfrm>
          <a:prstGeom prst="roundRect">
            <a:avLst>
              <a:gd name="adj" fmla="val 10588"/>
            </a:avLst>
          </a:prstGeom>
          <a:solidFill>
            <a:srgbClr val="261A0F"/>
          </a:solidFill>
          <a:ln/>
        </p:spPr>
      </p:sp>
      <p:sp>
        <p:nvSpPr>
          <p:cNvPr id="35" name="Text 26"/>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36" name="Text 27"/>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pic>
        <p:nvPicPr>
          <p:cNvPr id="8" name="Image 0" descr="prep/tiles/tile_truss2.jpg">    </p:cNvPr>
          <p:cNvPicPr>
            <a:picLocks noChangeAspect="1"/>
          </p:cNvPicPr>
          <p:nvPr/>
        </p:nvPicPr>
        <p:blipFill>
          <a:blip r:embed="rId1"/>
          <a:stretch>
            <a:fillRect/>
          </a:stretch>
        </p:blipFill>
        <p:spPr>
          <a:xfrm>
            <a:off x="777240" y="2240280"/>
            <a:ext cx="1371600" cy="1371600"/>
          </a:xfrm>
          <a:prstGeom prst="rect">
            <a:avLst/>
          </a:prstGeom>
        </p:spPr>
      </p:pic>
      <p:sp>
        <p:nvSpPr>
          <p:cNvPr id="9" name="Text 6"/>
          <p:cNvSpPr/>
          <p:nvPr/>
        </p:nvSpPr>
        <p:spPr>
          <a:xfrm>
            <a:off x="2331720" y="2240280"/>
            <a:ext cx="2651760" cy="2743200"/>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000" dirty="0"/>
          </a:p>
          <a:p>
            <a:pPr indent="0" marL="0">
              <a:buNone/>
            </a:pPr>
            <a:endParaRPr lang="en-US" sz="1000" dirty="0"/>
          </a:p>
          <a:p>
            <a:pPr indent="0" marL="0">
              <a:buNone/>
            </a:pPr>
            <a:r>
              <a:rPr lang="en-US" sz="10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000" dirty="0"/>
          </a:p>
        </p:txBody>
      </p:sp>
      <p:sp>
        <p:nvSpPr>
          <p:cNvPr id="10"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1" name="Image 1" descr="prep/tiles/tile_mullion2.jpg">    </p:cNvPr>
          <p:cNvPicPr>
            <a:picLocks noChangeAspect="1"/>
          </p:cNvPicPr>
          <p:nvPr/>
        </p:nvPicPr>
        <p:blipFill>
          <a:blip r:embed="rId2"/>
          <a:stretch>
            <a:fillRect/>
          </a:stretch>
        </p:blipFill>
        <p:spPr>
          <a:xfrm>
            <a:off x="5029200" y="2240280"/>
            <a:ext cx="1143000" cy="1143000"/>
          </a:xfrm>
          <a:prstGeom prst="rect">
            <a:avLst/>
          </a:prstGeom>
        </p:spPr>
      </p:pic>
      <p:sp>
        <p:nvSpPr>
          <p:cNvPr id="12"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3"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4" name="Image 2" descr="prep/tiles/tile_truss2.jpg">    </p:cNvPr>
          <p:cNvPicPr>
            <a:picLocks noChangeAspect="1"/>
          </p:cNvPicPr>
          <p:nvPr/>
        </p:nvPicPr>
        <p:blipFill>
          <a:blip r:embed="rId3"/>
          <a:stretch>
            <a:fillRect/>
          </a:stretch>
        </p:blipFill>
        <p:spPr>
          <a:xfrm>
            <a:off x="8412480" y="2240280"/>
            <a:ext cx="1143000" cy="1143000"/>
          </a:xfrm>
          <a:prstGeom prst="rect">
            <a:avLst/>
          </a:prstGeom>
        </p:spPr>
      </p:pic>
      <p:sp>
        <p:nvSpPr>
          <p:cNvPr id="15"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6"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7" name="Image 3" descr="prep/tiles/tile_clt.jpg">    </p:cNvPr>
          <p:cNvPicPr>
            <a:picLocks noChangeAspect="1"/>
          </p:cNvPicPr>
          <p:nvPr/>
        </p:nvPicPr>
        <p:blipFill>
          <a:blip r:embed="rId4"/>
          <a:stretch>
            <a:fillRect/>
          </a:stretch>
        </p:blipFill>
        <p:spPr>
          <a:xfrm>
            <a:off x="5029200" y="3657600"/>
            <a:ext cx="1143000" cy="1143000"/>
          </a:xfrm>
          <a:prstGeom prst="rect">
            <a:avLst/>
          </a:prstGeom>
        </p:spPr>
      </p:pic>
      <p:sp>
        <p:nvSpPr>
          <p:cNvPr id="18"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9"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Thin, far stronger panels through the mass-timber product route</a:t>
            </a:r>
            <a:endParaRPr lang="en-US" sz="900" dirty="0"/>
          </a:p>
        </p:txBody>
      </p:sp>
      <p:pic>
        <p:nvPicPr>
          <p:cNvPr id="20" name="Image 4" descr="prep/tiles/tile_rackocp.jpg">    </p:cNvPr>
          <p:cNvPicPr>
            <a:picLocks noChangeAspect="1"/>
          </p:cNvPicPr>
          <p:nvPr/>
        </p:nvPicPr>
        <p:blipFill>
          <a:blip r:embed="rId5"/>
          <a:stretch>
            <a:fillRect/>
          </a:stretch>
        </p:blipFill>
        <p:spPr>
          <a:xfrm>
            <a:off x="8412480" y="3657600"/>
            <a:ext cx="1143000" cy="1143000"/>
          </a:xfrm>
          <a:prstGeom prst="rect">
            <a:avLst/>
          </a:prstGeom>
        </p:spPr>
      </p:pic>
      <p:sp>
        <p:nvSpPr>
          <p:cNvPr id="21"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2"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3" name="Shape 16"/>
          <p:cNvSpPr/>
          <p:nvPr/>
        </p:nvSpPr>
        <p:spPr>
          <a:xfrm>
            <a:off x="502920" y="5212080"/>
            <a:ext cx="11155680" cy="822960"/>
          </a:xfrm>
          <a:prstGeom prst="roundRect">
            <a:avLst>
              <a:gd name="adj" fmla="val 10000"/>
            </a:avLst>
          </a:prstGeom>
          <a:solidFill>
            <a:srgbClr val="261A0F"/>
          </a:solidFill>
          <a:ln/>
        </p:spPr>
      </p:sp>
      <p:sp>
        <p:nvSpPr>
          <p:cNvPr id="24"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5"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2011680"/>
            <a:ext cx="5486400" cy="2377440"/>
          </a:xfrm>
          <a:prstGeom prst="roundRect">
            <a:avLst>
              <a:gd name="adj" fmla="val 3462"/>
            </a:avLst>
          </a:prstGeom>
          <a:solidFill>
            <a:srgbClr val="2E2113"/>
          </a:solidFill>
          <a:ln/>
        </p:spPr>
      </p:sp>
      <p:sp>
        <p:nvSpPr>
          <p:cNvPr id="7" name="Text 5"/>
          <p:cNvSpPr/>
          <p:nvPr/>
        </p:nvSpPr>
        <p:spPr>
          <a:xfrm>
            <a:off x="77724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Shape 7"/>
          <p:cNvSpPr/>
          <p:nvPr/>
        </p:nvSpPr>
        <p:spPr>
          <a:xfrm>
            <a:off x="6172200" y="2011680"/>
            <a:ext cx="5486400" cy="2377440"/>
          </a:xfrm>
          <a:prstGeom prst="roundRect">
            <a:avLst>
              <a:gd name="adj" fmla="val 3462"/>
            </a:avLst>
          </a:prstGeom>
          <a:solidFill>
            <a:srgbClr val="2E2113"/>
          </a:solidFill>
          <a:ln/>
        </p:spPr>
      </p:sp>
      <p:sp>
        <p:nvSpPr>
          <p:cNvPr id="10" name="Text 8"/>
          <p:cNvSpPr/>
          <p:nvPr/>
        </p:nvSpPr>
        <p:spPr>
          <a:xfrm>
            <a:off x="6446520" y="224028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1" name="Text 9"/>
          <p:cNvSpPr/>
          <p:nvPr/>
        </p:nvSpPr>
        <p:spPr>
          <a:xfrm>
            <a:off x="6446520" y="2697480"/>
            <a:ext cx="4937760" cy="155448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2" name="Shape 10"/>
          <p:cNvSpPr/>
          <p:nvPr/>
        </p:nvSpPr>
        <p:spPr>
          <a:xfrm>
            <a:off x="502920" y="5623560"/>
            <a:ext cx="11155680" cy="548640"/>
          </a:xfrm>
          <a:prstGeom prst="roundRect">
            <a:avLst>
              <a:gd name="adj" fmla="val 15000"/>
            </a:avLst>
          </a:prstGeom>
          <a:solidFill>
            <a:srgbClr val="2E2113"/>
          </a:solidFill>
          <a:ln/>
        </p:spPr>
      </p:sp>
      <p:sp>
        <p:nvSpPr>
          <p:cNvPr id="13" name="Text 11"/>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 · Wooden Data Center</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Equipment and modular data-center builders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10607040" cy="530352"/>
          </a:xfrm>
          <a:prstGeom prst="rect">
            <a:avLst/>
          </a:prstGeom>
          <a:noFill/>
          <a:ln/>
        </p:spPr>
        <p:txBody>
          <a:bodyPr wrap="square" lIns="0" tIns="0" rIns="0" bIns="0" rtlCol="0" anchor="ctr"/>
          <a:lstStyle/>
          <a:p>
            <a:pPr indent="0" marL="0">
              <a:buNone/>
            </a:pPr>
            <a:r>
              <a:rPr lang="en-US" sz="850" b="1" spc="150" kern="0" dirty="0">
                <a:solidFill>
                  <a:srgbClr val="CDA165"/>
                </a:solidFill>
                <a:latin typeface="Calibri" pitchFamily="34" charset="0"/>
                <a:ea typeface="Calibri" pitchFamily="34" charset="-122"/>
                <a:cs typeface="Calibri" pitchFamily="34" charset="-120"/>
              </a:rPr>
              <a:t>ENGINEERING AND CONSTRUCTION PARTNERS  </a:t>
            </a:r>
            <a:pPr indent="0" marL="0">
              <a:buNone/>
            </a:pPr>
            <a:r>
              <a:rPr lang="en-US" sz="950" dirty="0">
                <a:solidFill>
                  <a:srgbClr val="F4ECDF"/>
                </a:solidFill>
                <a:latin typeface="Calibri" pitchFamily="34" charset="0"/>
                <a:ea typeface="Calibri" pitchFamily="34" charset="-122"/>
                <a:cs typeface="Calibri" pitchFamily="34" charset="-120"/>
              </a:rPr>
              <a:t>Fast + Epp has run over a thousand small-scale experiments on SUPERWOOD, funded by the Canadian government · Timber Engineering (structural engineering) · HITT and Turner, contractors, are advocates — they build, they do not specify</a:t>
            </a:r>
            <a:endParaRPr lang="en-US" sz="850" dirty="0"/>
          </a:p>
        </p:txBody>
      </p:sp>
      <p:sp>
        <p:nvSpPr>
          <p:cNvPr id="50" name="Text 48"/>
          <p:cNvSpPr/>
          <p:nvPr/>
        </p:nvSpPr>
        <p:spPr>
          <a:xfrm>
            <a:off x="502920" y="6373368"/>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20C07">
              <a:alpha val="55000"/>
            </a:srgbClr>
          </a:solidFill>
          <a:ln/>
        </p:spPr>
      </p:sp>
      <p:sp>
        <p:nvSpPr>
          <p:cNvPr id="3" name="Text 1"/>
          <p:cNvSpPr/>
          <p:nvPr/>
        </p:nvSpPr>
        <p:spPr>
          <a:xfrm>
            <a:off x="502920" y="548640"/>
            <a:ext cx="54864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VISION</a:t>
            </a:r>
            <a:endParaRPr lang="en-US" sz="1200" dirty="0"/>
          </a:p>
        </p:txBody>
      </p:sp>
      <p:sp>
        <p:nvSpPr>
          <p:cNvPr id="4" name="Text 2"/>
          <p:cNvSpPr/>
          <p:nvPr/>
        </p:nvSpPr>
        <p:spPr>
          <a:xfrm>
            <a:off x="502920" y="914400"/>
            <a:ext cx="11155680" cy="146304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Can the world's data centers be </a:t>
            </a:r>
            <a:pPr indent="0" marL="0">
              <a:buNone/>
            </a:pPr>
            <a:r>
              <a:rPr lang="en-US" sz="4000" i="1" dirty="0">
                <a:solidFill>
                  <a:srgbClr val="E2B877"/>
                </a:solidFill>
                <a:latin typeface="Georgia" pitchFamily="34" charset="0"/>
                <a:ea typeface="Georgia" pitchFamily="34" charset="-122"/>
                <a:cs typeface="Georgia" pitchFamily="34" charset="-120"/>
              </a:rPr>
              <a:t>big, beautiful carbon sinks</a:t>
            </a:r>
            <a:pPr indent="0" marL="0">
              <a:buNone/>
            </a:pPr>
            <a:r>
              <a:rPr lang="en-US" sz="4000" dirty="0">
                <a:solidFill>
                  <a:srgbClr val="F4ECDF"/>
                </a:solidFill>
                <a:latin typeface="Georgia" pitchFamily="34" charset="0"/>
                <a:ea typeface="Georgia" pitchFamily="34" charset="-122"/>
                <a:cs typeface="Georgia" pitchFamily="34" charset="-120"/>
              </a:rPr>
              <a:t>?</a:t>
            </a:r>
            <a:endParaRPr lang="en-US" sz="4000" dirty="0"/>
          </a:p>
        </p:txBody>
      </p:sp>
      <p:sp>
        <p:nvSpPr>
          <p:cNvPr id="5" name="Shape 3"/>
          <p:cNvSpPr/>
          <p:nvPr/>
        </p:nvSpPr>
        <p:spPr>
          <a:xfrm>
            <a:off x="502920" y="3977640"/>
            <a:ext cx="3611880" cy="1965960"/>
          </a:xfrm>
          <a:prstGeom prst="roundRect">
            <a:avLst>
              <a:gd name="adj" fmla="val 4186"/>
            </a:avLst>
          </a:prstGeom>
          <a:solidFill>
            <a:srgbClr val="1A1209">
              <a:alpha val="85000"/>
            </a:srgbClr>
          </a:solidFill>
          <a:ln/>
        </p:spPr>
      </p:sp>
      <p:sp>
        <p:nvSpPr>
          <p:cNvPr id="6" name="Text 4"/>
          <p:cNvSpPr/>
          <p:nvPr/>
        </p:nvSpPr>
        <p:spPr>
          <a:xfrm>
            <a:off x="7772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Big</a:t>
            </a:r>
            <a:endParaRPr lang="en-US" sz="2200" dirty="0"/>
          </a:p>
        </p:txBody>
      </p:sp>
      <p:sp>
        <p:nvSpPr>
          <p:cNvPr id="7" name="Text 5"/>
          <p:cNvSpPr/>
          <p:nvPr/>
        </p:nvSpPr>
        <p:spPr>
          <a:xfrm>
            <a:off x="7772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A gigawatt data center is millions of square feet of skins and screens and tens of thousands of tons of structure — and hyperscalers build one data center after another to one design.</a:t>
            </a:r>
            <a:endParaRPr lang="en-US" sz="1100" dirty="0"/>
          </a:p>
        </p:txBody>
      </p:sp>
      <p:sp>
        <p:nvSpPr>
          <p:cNvPr id="8" name="Shape 6"/>
          <p:cNvSpPr/>
          <p:nvPr/>
        </p:nvSpPr>
        <p:spPr>
          <a:xfrm>
            <a:off x="4274820" y="3977640"/>
            <a:ext cx="3611880" cy="1965960"/>
          </a:xfrm>
          <a:prstGeom prst="roundRect">
            <a:avLst>
              <a:gd name="adj" fmla="val 4186"/>
            </a:avLst>
          </a:prstGeom>
          <a:solidFill>
            <a:srgbClr val="1A1209">
              <a:alpha val="85000"/>
            </a:srgbClr>
          </a:solidFill>
          <a:ln/>
        </p:spPr>
      </p:sp>
      <p:sp>
        <p:nvSpPr>
          <p:cNvPr id="9" name="Text 7"/>
          <p:cNvSpPr/>
          <p:nvPr/>
        </p:nvSpPr>
        <p:spPr>
          <a:xfrm>
            <a:off x="45491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Beautiful</a:t>
            </a:r>
            <a:endParaRPr lang="en-US" sz="2200" dirty="0"/>
          </a:p>
        </p:txBody>
      </p:sp>
      <p:sp>
        <p:nvSpPr>
          <p:cNvPr id="10" name="Text 8"/>
          <p:cNvSpPr/>
          <p:nvPr/>
        </p:nvSpPr>
        <p:spPr>
          <a:xfrm>
            <a:off x="45491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Warm, quiet, biophilic exteriors and interiors that ease community and planning approval.</a:t>
            </a:r>
            <a:endParaRPr lang="en-US" sz="1100" dirty="0"/>
          </a:p>
        </p:txBody>
      </p:sp>
      <p:sp>
        <p:nvSpPr>
          <p:cNvPr id="11" name="Shape 9"/>
          <p:cNvSpPr/>
          <p:nvPr/>
        </p:nvSpPr>
        <p:spPr>
          <a:xfrm>
            <a:off x="8046720" y="3977640"/>
            <a:ext cx="3611880" cy="1965960"/>
          </a:xfrm>
          <a:prstGeom prst="roundRect">
            <a:avLst>
              <a:gd name="adj" fmla="val 4186"/>
            </a:avLst>
          </a:prstGeom>
          <a:solidFill>
            <a:srgbClr val="1A1209">
              <a:alpha val="85000"/>
            </a:srgbClr>
          </a:solidFill>
          <a:ln/>
        </p:spPr>
      </p:sp>
      <p:sp>
        <p:nvSpPr>
          <p:cNvPr id="12" name="Text 10"/>
          <p:cNvSpPr/>
          <p:nvPr/>
        </p:nvSpPr>
        <p:spPr>
          <a:xfrm>
            <a:off x="8321040" y="4178808"/>
            <a:ext cx="3063240" cy="457200"/>
          </a:xfrm>
          <a:prstGeom prst="rect">
            <a:avLst/>
          </a:prstGeom>
          <a:noFill/>
          <a:ln/>
        </p:spPr>
        <p:txBody>
          <a:bodyPr wrap="square" lIns="0" tIns="0" rIns="0" bIns="0" rtlCol="0" anchor="ctr"/>
          <a:lstStyle/>
          <a:p>
            <a:pPr indent="0" marL="0">
              <a:buNone/>
            </a:pPr>
            <a:r>
              <a:rPr lang="en-US" sz="2200" dirty="0">
                <a:solidFill>
                  <a:srgbClr val="E2B877"/>
                </a:solidFill>
                <a:latin typeface="Georgia" pitchFamily="34" charset="0"/>
                <a:ea typeface="Georgia" pitchFamily="34" charset="-122"/>
                <a:cs typeface="Georgia" pitchFamily="34" charset="-120"/>
              </a:rPr>
              <a:t>Carbon sinks</a:t>
            </a:r>
            <a:endParaRPr lang="en-US" sz="2200" dirty="0"/>
          </a:p>
        </p:txBody>
      </p:sp>
      <p:sp>
        <p:nvSpPr>
          <p:cNvPr id="13" name="Text 11"/>
          <p:cNvSpPr/>
          <p:nvPr/>
        </p:nvSpPr>
        <p:spPr>
          <a:xfrm>
            <a:off x="8321040" y="4709160"/>
            <a:ext cx="3063240" cy="1143000"/>
          </a:xfrm>
          <a:prstGeom prst="rect">
            <a:avLst/>
          </a:prstGeom>
          <a:noFill/>
          <a:ln/>
        </p:spPr>
        <p:txBody>
          <a:bodyPr wrap="square" lIns="0" tIns="0" rIns="0" bIns="0" rtlCol="0" anchor="t"/>
          <a:lstStyle/>
          <a:p>
            <a:pPr indent="0" marL="0">
              <a:buNone/>
            </a:pPr>
            <a:r>
              <a:rPr lang="en-US" sz="1100" dirty="0">
                <a:solidFill>
                  <a:srgbClr val="F4ECDF"/>
                </a:solidFill>
                <a:latin typeface="Calibri" pitchFamily="34" charset="0"/>
                <a:ea typeface="Calibri" pitchFamily="34" charset="-122"/>
                <a:cs typeface="Calibri" pitchFamily="34" charset="-120"/>
              </a:rPr>
              <a:t>Built from a material that stores about 1.3 kg CO₂e of biogenic carbon per kg and displaces the steel that carries most of the building materials' embodied carbon.</a:t>
            </a:r>
            <a:endParaRPr lang="en-US" sz="1100" dirty="0"/>
          </a:p>
        </p:txBody>
      </p:sp>
      <p:sp>
        <p:nvSpPr>
          <p:cNvPr id="14" name="Text 12"/>
          <p:cNvSpPr/>
          <p:nvPr/>
        </p:nvSpPr>
        <p:spPr>
          <a:xfrm>
            <a:off x="502920" y="6080760"/>
            <a:ext cx="11155680" cy="411480"/>
          </a:xfrm>
          <a:prstGeom prst="rect">
            <a:avLst/>
          </a:prstGeom>
          <a:noFill/>
          <a:ln/>
        </p:spPr>
        <p:txBody>
          <a:bodyPr wrap="square" lIns="0" tIns="0" rIns="0" bIns="0" rtlCol="0" anchor="t"/>
          <a:lstStyle/>
          <a:p>
            <a:pPr indent="0" marL="0">
              <a:buNone/>
            </a:pPr>
            <a:r>
              <a:rPr lang="en-US" sz="850" i="1" dirty="0">
                <a:solidFill>
                  <a:srgbClr val="CDBFA9"/>
                </a:solidFill>
                <a:latin typeface="Calibri" pitchFamily="34" charset="0"/>
                <a:ea typeface="Calibri" pitchFamily="34" charset="-122"/>
                <a:cs typeface="Calibri" pitchFamily="34" charset="-120"/>
              </a:rPr>
              <a:t>Whether a building nets out as a store of carbon depends on the LCA (under way with Prof. Ming Hu, University of Notre Dame), on what steel and concrete SUPERWOOD displaces, and on end-of-life accounting. The next slide gives the numbers and their basis. Concept rendering.</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CDBFA9"/>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a projection until the LCA is complete</a:t>
            </a:r>
            <a:endParaRPr lang="en-US" sz="2700" dirty="0"/>
          </a:p>
        </p:txBody>
      </p:sp>
      <p:sp>
        <p:nvSpPr>
          <p:cNvPr id="6" name="Text 4"/>
          <p:cNvSpPr/>
          <p:nvPr/>
        </p:nvSpPr>
        <p:spPr>
          <a:xfrm>
            <a:off x="502920" y="178308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PER KG OF MATERIAL, CRADLE TO GATE</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global average (BF-BOF)</a:t>
            </a:r>
            <a:endParaRPr lang="en-US" sz="1050" dirty="0"/>
          </a:p>
        </p:txBody>
      </p:sp>
      <p:sp>
        <p:nvSpPr>
          <p:cNvPr id="8" name="Shape 6"/>
          <p:cNvSpPr/>
          <p:nvPr/>
        </p:nvSpPr>
        <p:spPr>
          <a:xfrm>
            <a:off x="502920" y="2459736"/>
            <a:ext cx="4754880" cy="274320"/>
          </a:xfrm>
          <a:prstGeom prst="rect">
            <a:avLst/>
          </a:prstGeom>
          <a:solidFill>
            <a:srgbClr val="3A2B1A"/>
          </a:solidFill>
          <a:ln/>
        </p:spPr>
      </p:sp>
      <p:sp>
        <p:nvSpPr>
          <p:cNvPr id="9" name="Shape 7"/>
          <p:cNvSpPr/>
          <p:nvPr/>
        </p:nvSpPr>
        <p:spPr>
          <a:xfrm>
            <a:off x="502920" y="2459736"/>
            <a:ext cx="4754880" cy="274320"/>
          </a:xfrm>
          <a:prstGeom prst="rect">
            <a:avLst/>
          </a:prstGeom>
          <a:solidFill>
            <a:srgbClr val="C9706B"/>
          </a:solidFill>
          <a:ln/>
        </p:spPr>
      </p:sp>
      <p:sp>
        <p:nvSpPr>
          <p:cNvPr id="10" name="Text 8"/>
          <p:cNvSpPr/>
          <p:nvPr/>
        </p:nvSpPr>
        <p:spPr>
          <a:xfrm>
            <a:off x="5367528" y="242316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1.8 kg</a:t>
            </a:r>
            <a:endParaRPr lang="en-US" sz="1400" dirty="0"/>
          </a:p>
        </p:txBody>
      </p:sp>
      <p:sp>
        <p:nvSpPr>
          <p:cNvPr id="11" name="Text 9"/>
          <p:cNvSpPr/>
          <p:nvPr/>
        </p:nvSpPr>
        <p:spPr>
          <a:xfrm>
            <a:off x="502920" y="301752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Steel — recycled (EAF)</a:t>
            </a:r>
            <a:endParaRPr lang="en-US" sz="1050" dirty="0"/>
          </a:p>
        </p:txBody>
      </p:sp>
      <p:sp>
        <p:nvSpPr>
          <p:cNvPr id="12" name="Shape 10"/>
          <p:cNvSpPr/>
          <p:nvPr/>
        </p:nvSpPr>
        <p:spPr>
          <a:xfrm>
            <a:off x="502920" y="3328416"/>
            <a:ext cx="4754880" cy="274320"/>
          </a:xfrm>
          <a:prstGeom prst="rect">
            <a:avLst/>
          </a:prstGeom>
          <a:solidFill>
            <a:srgbClr val="3A2B1A"/>
          </a:solidFill>
          <a:ln/>
        </p:spPr>
      </p:sp>
      <p:sp>
        <p:nvSpPr>
          <p:cNvPr id="13" name="Shape 11"/>
          <p:cNvSpPr/>
          <p:nvPr/>
        </p:nvSpPr>
        <p:spPr>
          <a:xfrm>
            <a:off x="502920" y="3328416"/>
            <a:ext cx="1056640" cy="274320"/>
          </a:xfrm>
          <a:prstGeom prst="rect">
            <a:avLst/>
          </a:prstGeom>
          <a:solidFill>
            <a:srgbClr val="A0714E"/>
          </a:solidFill>
          <a:ln/>
        </p:spPr>
      </p:sp>
      <p:sp>
        <p:nvSpPr>
          <p:cNvPr id="14" name="Shape 12"/>
          <p:cNvSpPr/>
          <p:nvPr/>
        </p:nvSpPr>
        <p:spPr>
          <a:xfrm>
            <a:off x="502920" y="3328416"/>
            <a:ext cx="1849120" cy="274320"/>
          </a:xfrm>
          <a:prstGeom prst="rect">
            <a:avLst/>
          </a:prstGeom>
          <a:solidFill>
            <a:srgbClr val="A0714E">
              <a:alpha val="55000"/>
            </a:srgbClr>
          </a:solidFill>
          <a:ln/>
        </p:spPr>
      </p:sp>
      <p:sp>
        <p:nvSpPr>
          <p:cNvPr id="15" name="Text 13"/>
          <p:cNvSpPr/>
          <p:nvPr/>
        </p:nvSpPr>
        <p:spPr>
          <a:xfrm>
            <a:off x="2461768" y="329184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0.4–0.7 kg</a:t>
            </a:r>
            <a:endParaRPr lang="en-US" sz="1400" dirty="0"/>
          </a:p>
        </p:txBody>
      </p:sp>
      <p:sp>
        <p:nvSpPr>
          <p:cNvPr id="16" name="Text 14"/>
          <p:cNvSpPr/>
          <p:nvPr/>
        </p:nvSpPr>
        <p:spPr>
          <a:xfrm>
            <a:off x="502920" y="3886200"/>
            <a:ext cx="5852160" cy="274320"/>
          </a:xfrm>
          <a:prstGeom prst="rect">
            <a:avLst/>
          </a:prstGeom>
          <a:noFill/>
          <a:ln/>
        </p:spPr>
        <p:txBody>
          <a:bodyPr wrap="square" lIns="0" tIns="0" rIns="0" bIns="0" rtlCol="0" anchor="ctr"/>
          <a:lstStyle/>
          <a:p>
            <a:pPr indent="0" marL="0">
              <a:buNone/>
            </a:pPr>
            <a:r>
              <a:rPr lang="en-US" sz="1050" dirty="0">
                <a:solidFill>
                  <a:srgbClr val="F4ECDF"/>
                </a:solidFill>
                <a:latin typeface="Calibri" pitchFamily="34" charset="0"/>
                <a:ea typeface="Calibri" pitchFamily="34" charset="-122"/>
                <a:cs typeface="Calibri" pitchFamily="34" charset="-120"/>
              </a:rPr>
              <a:t>SUPERWOOD — manufacturing, projected</a:t>
            </a:r>
            <a:endParaRPr lang="en-US" sz="1050" dirty="0"/>
          </a:p>
        </p:txBody>
      </p:sp>
      <p:sp>
        <p:nvSpPr>
          <p:cNvPr id="17" name="Shape 15"/>
          <p:cNvSpPr/>
          <p:nvPr/>
        </p:nvSpPr>
        <p:spPr>
          <a:xfrm>
            <a:off x="502920" y="4197096"/>
            <a:ext cx="4754880" cy="274320"/>
          </a:xfrm>
          <a:prstGeom prst="rect">
            <a:avLst/>
          </a:prstGeom>
          <a:solidFill>
            <a:srgbClr val="3A2B1A"/>
          </a:solidFill>
          <a:ln/>
        </p:spPr>
      </p:sp>
      <p:sp>
        <p:nvSpPr>
          <p:cNvPr id="18" name="Shape 16"/>
          <p:cNvSpPr/>
          <p:nvPr/>
        </p:nvSpPr>
        <p:spPr>
          <a:xfrm>
            <a:off x="502920" y="4197096"/>
            <a:ext cx="1320800" cy="274320"/>
          </a:xfrm>
          <a:prstGeom prst="rect">
            <a:avLst/>
          </a:prstGeom>
          <a:solidFill>
            <a:srgbClr val="8FB356"/>
          </a:solidFill>
          <a:ln/>
        </p:spPr>
      </p:sp>
      <p:sp>
        <p:nvSpPr>
          <p:cNvPr id="19" name="Text 17"/>
          <p:cNvSpPr/>
          <p:nvPr/>
        </p:nvSpPr>
        <p:spPr>
          <a:xfrm>
            <a:off x="1933448" y="4160520"/>
            <a:ext cx="1097280" cy="347472"/>
          </a:xfrm>
          <a:prstGeom prst="rect">
            <a:avLst/>
          </a:prstGeom>
          <a:noFill/>
          <a:ln/>
        </p:spPr>
        <p:txBody>
          <a:bodyPr wrap="square" lIns="0" tIns="0" rIns="0" bIns="0" rtlCol="0" anchor="ctr"/>
          <a:lstStyle/>
          <a:p>
            <a:pPr indent="0" marL="0">
              <a:buNone/>
            </a:pPr>
            <a:r>
              <a:rPr lang="en-US" sz="1400" b="1" dirty="0">
                <a:solidFill>
                  <a:srgbClr val="F4ECDF"/>
                </a:solidFill>
                <a:latin typeface="Georgia" pitchFamily="34" charset="0"/>
                <a:ea typeface="Georgia" pitchFamily="34" charset="-122"/>
                <a:cs typeface="Georgia" pitchFamily="34" charset="-120"/>
              </a:rPr>
              <a:t>0.5 kg</a:t>
            </a:r>
            <a:endParaRPr lang="en-US" sz="1400" dirty="0"/>
          </a:p>
        </p:txBody>
      </p:sp>
      <p:sp>
        <p:nvSpPr>
          <p:cNvPr id="20" name="Shape 18"/>
          <p:cNvSpPr/>
          <p:nvPr/>
        </p:nvSpPr>
        <p:spPr>
          <a:xfrm>
            <a:off x="502920" y="4800600"/>
            <a:ext cx="5852160" cy="1097280"/>
          </a:xfrm>
          <a:prstGeom prst="roundRect">
            <a:avLst>
              <a:gd name="adj" fmla="val 7500"/>
            </a:avLst>
          </a:prstGeom>
          <a:solidFill>
            <a:srgbClr val="2E2113"/>
          </a:solidFill>
          <a:ln/>
        </p:spPr>
      </p:sp>
      <p:sp>
        <p:nvSpPr>
          <p:cNvPr id="21" name="Text 19"/>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about 1.3 kg CO₂e of biogenic carbon per kg. Under EN 15804 it is released again in the end-of-life module, so it nets to zero over the life cycle. The lasting advantage is lower manufacturing emissions, not storage.</a:t>
            </a:r>
            <a:endParaRPr lang="en-US" sz="1000" dirty="0"/>
          </a:p>
        </p:txBody>
      </p:sp>
      <p:sp>
        <p:nvSpPr>
          <p:cNvPr id="22" name="Shape 20"/>
          <p:cNvSpPr/>
          <p:nvPr/>
        </p:nvSpPr>
        <p:spPr>
          <a:xfrm>
            <a:off x="6675120" y="1783080"/>
            <a:ext cx="4983480" cy="4114800"/>
          </a:xfrm>
          <a:prstGeom prst="roundRect">
            <a:avLst>
              <a:gd name="adj" fmla="val 2000"/>
            </a:avLst>
          </a:prstGeom>
          <a:solidFill>
            <a:srgbClr val="261A0F"/>
          </a:solidFill>
          <a:ln/>
        </p:spPr>
      </p:sp>
      <p:sp>
        <p:nvSpPr>
          <p:cNvPr id="23" name="Text 21"/>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24" name="Text 22"/>
          <p:cNvSpPr/>
          <p:nvPr/>
        </p:nvSpPr>
        <p:spPr>
          <a:xfrm>
            <a:off x="6903720" y="2240280"/>
            <a:ext cx="4572000" cy="274320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SUPERWOOD needed: 0.3–0.6 tons per ton of steel replaced (substitution factor, estimate — to be engineering-stamped per element).</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SUPERWOOD manufacturing emissions: 0.3–0.6 tons × 0.5 = 0.15–0.30 tons CO₂e.</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average steel (1.8 tons CO₂e): a reduction of 83–92%.</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Against recycled steel (0.4–0.7 tons CO₂e): a reduction of 25–79%.</a:t>
            </a:r>
            <a:endParaRPr lang="en-US" sz="1050" dirty="0"/>
          </a:p>
          <a:p>
            <a:pPr indent="0" marL="0">
              <a:buNone/>
            </a:pPr>
            <a:endParaRPr lang="en-US" sz="1050" dirty="0"/>
          </a:p>
          <a:p>
            <a:pPr indent="0" marL="0">
              <a:buNone/>
            </a:pPr>
            <a:r>
              <a:rPr lang="en-US" sz="10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1050" dirty="0"/>
          </a:p>
        </p:txBody>
      </p:sp>
      <p:sp>
        <p:nvSpPr>
          <p:cNvPr id="25" name="Text 23"/>
          <p:cNvSpPr/>
          <p:nvPr/>
        </p:nvSpPr>
        <p:spPr>
          <a:xfrm>
            <a:off x="6903720" y="5074920"/>
            <a:ext cx="4572000" cy="73152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26" name="Text 24"/>
          <p:cNvSpPr/>
          <p:nvPr/>
        </p:nvSpPr>
        <p:spPr>
          <a:xfrm>
            <a:off x="502920" y="6035040"/>
            <a:ext cx="11155680" cy="41148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SUPERWOOD 0.5 kg/kg manufactured and 1.3 kg/kg biogenic: company projections, pre-LCA. Steel 1.8 kg/kg: global BF-BOF average. EAF 0.4–0.7 kg/kg: typical published range for recycled-scrap steel. Substitution factor 0.3–0.6: company estimate. Reductions are arithmetic on these inputs.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8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8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2026-09-05T14:53:28Z</dcterms:created>
  <dcterms:modified xsi:type="dcterms:W3CDTF">2026-09-05T14:53:28Z</dcterms:modified>
</cp:coreProperties>
</file>