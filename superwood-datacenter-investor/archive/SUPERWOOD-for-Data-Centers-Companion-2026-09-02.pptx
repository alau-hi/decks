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DBFA9"/>
                </a:solidFill>
                <a:latin typeface="Calibri"/>
              </a:defRPr>
            </a:pPr>
            <a:r>
              <a:rPr sz="1300" b="0" i="0" u="none" strike="noStrike">
                <a:solidFill>
                  <a:srgbClr val="CDBFA9"/>
                </a:solidFill>
                <a:latin typeface="Calibri"/>
              </a:rPr>
              <a:t>Tensile strength (MPa)</a:t>
            </a:r>
          </a:p>
        </c:rich>
      </c:tx>
      <c:layout/>
      <c:overlay val="0"/>
    </c:title>
    <c:autoTitleDeleted val="0"/>
    <c:plotArea>
      <c:layout/>
      <c:barChart>
        <c:barDir val="col"/>
        <c:grouping val="clustered"/>
        <c:varyColors val="0"/>
        <c:ser>
          <c:idx val="0"/>
          <c:order val="0"/>
          <c:tx>
            <c:strRef>
              <c:f>Sheet1!$B$1</c:f>
              <c:strCache>
                <c:ptCount val="1"/>
                <c:pt idx="0">
                  <c:v>Tensile strength (MPa)</c:v>
                </c:pt>
              </c:strCache>
            </c:strRef>
          </c:tx>
          <c:spPr>
            <a:solidFill>
              <a:srgbClr val="E2B877"/>
            </a:solidFill>
            <a:effectLst/>
          </c:spPr>
          <c:invertIfNegative val="0"/>
          <c:dLbls>
            <c:numFmt formatCode="#,##0" sourceLinked="0"/>
            <c:txPr>
              <a:bodyPr/>
              <a:lstStyle/>
              <a:p>
                <a:pPr>
                  <a:defRPr b="0" i="0" strike="noStrike" sz="1200" u="none">
                    <a:solidFill>
                      <a:srgbClr val="F4ECD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SUPERWOOD</c:v>
                  </c:pt>
                  <c:pt idx="1">
                    <c:v>Steel</c:v>
                  </c:pt>
                  <c:pt idx="2">
                    <c:v>Aluminum</c:v>
                  </c:pt>
                </c:lvl>
              </c:multiLvlStrCache>
            </c:multiLvlStrRef>
          </c:cat>
          <c:val>
            <c:numRef>
              <c:f>Sheet1!$B$2:$B$4</c:f>
              <c:numCache>
                <c:formatCode>General</c:formatCode>
                <c:ptCount val="3"/>
                <c:pt idx="0">
                  <c:v>600</c:v>
                </c:pt>
                <c:pt idx="1">
                  <c:v>400</c:v>
                </c:pt>
                <c:pt idx="2">
                  <c:v>310</c:v>
                </c:pt>
              </c:numCache>
            </c:numRef>
          </c:val>
        </c:ser>
        <c:dLbls>
          <c:numFmt formatCode="#,##0" sourceLinked="0"/>
          <c:txPr>
            <a:bodyPr/>
            <a:lstStyle/>
            <a:p>
              <a:pPr>
                <a:defRPr b="0" i="0" strike="noStrike" sz="1200" u="none">
                  <a:solidFill>
                    <a:srgbClr val="F4ECD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4ECDF"/>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3A2B1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D8D7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e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jpg"/><Relationship Id="rId3" Type="http://schemas.openxmlformats.org/officeDocument/2006/relationships/image" Target="../media/image-14-3.jpeg"/><Relationship Id="rId4" Type="http://schemas.openxmlformats.org/officeDocument/2006/relationships/image" Target="../media/image-14-4.jpg"/><Relationship Id="rId5" Type="http://schemas.openxmlformats.org/officeDocument/2006/relationships/image" Target="../media/image-14-5.png"/><Relationship Id="rId6" Type="http://schemas.openxmlformats.org/officeDocument/2006/relationships/image" Target="../media/image-14-6.jp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image" Target="../media/image-18-5.jpg"/><Relationship Id="rId6" Type="http://schemas.openxmlformats.org/officeDocument/2006/relationships/image" Target="../media/image-18-6.jpg"/><Relationship Id="rId7" Type="http://schemas.openxmlformats.org/officeDocument/2006/relationships/image" Target="../media/image-18-7.jp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image" Target="../media/image-19-6.jp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343400"/>
            <a:ext cx="12188952" cy="2514600"/>
          </a:xfrm>
          <a:prstGeom prst="rect">
            <a:avLst/>
          </a:prstGeom>
          <a:solidFill>
            <a:srgbClr val="120C07">
              <a:alpha val="70000"/>
            </a:srgbClr>
          </a:solidFill>
          <a:ln/>
        </p:spPr>
      </p:sp>
      <p:pic>
        <p:nvPicPr>
          <p:cNvPr id="3" name="Image 0" descr="prep/wordmark_cream.png">    </p:cNvPr>
          <p:cNvPicPr>
            <a:picLocks noChangeAspect="1"/>
          </p:cNvPicPr>
          <p:nvPr/>
        </p:nvPicPr>
        <p:blipFill>
          <a:blip r:embed="rId2"/>
          <a:stretch>
            <a:fillRect/>
          </a:stretch>
        </p:blipFill>
        <p:spPr>
          <a:xfrm>
            <a:off x="640080" y="4663440"/>
            <a:ext cx="5669280" cy="906904"/>
          </a:xfrm>
          <a:prstGeom prst="rect">
            <a:avLst/>
          </a:prstGeom>
        </p:spPr>
      </p:pic>
      <p:sp>
        <p:nvSpPr>
          <p:cNvPr id="4" name="Text 1"/>
          <p:cNvSpPr/>
          <p:nvPr/>
        </p:nvSpPr>
        <p:spPr>
          <a:xfrm>
            <a:off x="658368" y="5669280"/>
            <a:ext cx="8229600" cy="548640"/>
          </a:xfrm>
          <a:prstGeom prst="rect">
            <a:avLst/>
          </a:prstGeom>
          <a:noFill/>
          <a:ln/>
        </p:spPr>
        <p:txBody>
          <a:bodyPr wrap="square" lIns="0" tIns="0" rIns="0" bIns="0" rtlCol="0" anchor="ctr"/>
          <a:lstStyle/>
          <a:p>
            <a:pPr indent="0" marL="0">
              <a:buNone/>
            </a:pPr>
            <a:r>
              <a:rPr lang="en-US" sz="2600" i="1" dirty="0">
                <a:solidFill>
                  <a:srgbClr val="E2B877"/>
                </a:solidFill>
                <a:latin typeface="Georgia" pitchFamily="34" charset="0"/>
                <a:ea typeface="Georgia" pitchFamily="34" charset="-122"/>
                <a:cs typeface="Georgia" pitchFamily="34" charset="-120"/>
              </a:rPr>
              <a:t>SUPERWOOD for Data Centers</a:t>
            </a:r>
            <a:endParaRPr lang="en-US" sz="2600" dirty="0"/>
          </a:p>
        </p:txBody>
      </p:sp>
      <p:sp>
        <p:nvSpPr>
          <p:cNvPr id="5" name="Text 2"/>
          <p:cNvSpPr/>
          <p:nvPr/>
        </p:nvSpPr>
        <p:spPr>
          <a:xfrm>
            <a:off x="658368" y="6263640"/>
            <a:ext cx="7315200" cy="320040"/>
          </a:xfrm>
          <a:prstGeom prst="rect">
            <a:avLst/>
          </a:prstGeom>
          <a:noFill/>
          <a:ln/>
        </p:spPr>
        <p:txBody>
          <a:bodyPr wrap="square" lIns="0" tIns="0" rIns="0" bIns="0" rtlCol="0" anchor="ctr"/>
          <a:lstStyle/>
          <a:p>
            <a:pPr indent="0" marL="0">
              <a:buNone/>
            </a:pPr>
            <a:r>
              <a:rPr lang="en-US" sz="1200" dirty="0">
                <a:solidFill>
                  <a:srgbClr val="CDBFA9"/>
                </a:solidFill>
                <a:latin typeface="Calibri" pitchFamily="34" charset="0"/>
                <a:ea typeface="Calibri" pitchFamily="34" charset="-122"/>
                <a:cs typeface="Calibri" pitchFamily="34" charset="-120"/>
              </a:rPr>
              <a:t>Companion to Super Mills America  ·  September 2026</a:t>
            </a:r>
            <a:endParaRPr lang="en-US" sz="1200" dirty="0"/>
          </a:p>
        </p:txBody>
      </p:sp>
      <p:sp>
        <p:nvSpPr>
          <p:cNvPr id="6" name="Text 3"/>
          <p:cNvSpPr/>
          <p:nvPr/>
        </p:nvSpPr>
        <p:spPr>
          <a:xfrm>
            <a:off x="8257032" y="6400800"/>
            <a:ext cx="3291840" cy="274320"/>
          </a:xfrm>
          <a:prstGeom prst="rect">
            <a:avLst/>
          </a:prstGeom>
          <a:noFill/>
          <a:ln/>
        </p:spPr>
        <p:txBody>
          <a:bodyPr wrap="square" lIns="0" tIns="0" rIns="0" bIns="0" rtlCol="0" anchor="ctr"/>
          <a:lstStyle/>
          <a:p>
            <a:pPr algn="r" indent="0" marL="0">
              <a:buNone/>
            </a:pPr>
            <a:r>
              <a:rPr lang="en-US" sz="900" spc="300" kern="0" dirty="0">
                <a:solidFill>
                  <a:srgbClr val="CDBFA9"/>
                </a:solidFill>
                <a:latin typeface="Calibri" pitchFamily="34" charset="0"/>
                <a:ea typeface="Calibri" pitchFamily="34" charset="-122"/>
                <a:cs typeface="Calibri" pitchFamily="34" charset="-120"/>
              </a:rPr>
              <a:t>INVENTWOOD  ·  CONFIDENTIAL</a:t>
            </a:r>
            <a:endParaRPr lang="en-US" sz="900" dirty="0"/>
          </a:p>
        </p:txBody>
      </p:sp>
      <p:sp>
        <p:nvSpPr>
          <p:cNvPr id="7" name="Text 4"/>
          <p:cNvSpPr/>
          <p:nvPr/>
        </p:nvSpPr>
        <p:spPr>
          <a:xfrm>
            <a:off x="10085832" y="228600"/>
            <a:ext cx="1737360" cy="228600"/>
          </a:xfrm>
          <a:prstGeom prst="rect">
            <a:avLst/>
          </a:prstGeom>
          <a:noFill/>
          <a:ln/>
        </p:spPr>
        <p:txBody>
          <a:bodyPr wrap="square" lIns="0" tIns="0" rIns="0" bIns="0" rtlCol="0" anchor="ctr"/>
          <a:lstStyle/>
          <a:p>
            <a:pPr algn="r" indent="0" marL="0">
              <a:buNone/>
            </a:pPr>
            <a:r>
              <a:rPr lang="en-US" sz="800" i="1" dirty="0">
                <a:solidFill>
                  <a:srgbClr val="E8DECB"/>
                </a:solidFill>
                <a:latin typeface="Calibri" pitchFamily="34" charset="0"/>
                <a:ea typeface="Calibri" pitchFamily="34" charset="-122"/>
                <a:cs typeface="Calibri" pitchFamily="34" charset="-120"/>
              </a:rPr>
              <a:t>Concept rendering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OVERVIEW</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What's inside</a:t>
            </a:r>
            <a:endParaRPr lang="en-US" sz="3200" dirty="0"/>
          </a:p>
        </p:txBody>
      </p:sp>
      <p:sp>
        <p:nvSpPr>
          <p:cNvPr id="6" name="Text 4"/>
          <p:cNvSpPr/>
          <p:nvPr/>
        </p:nvSpPr>
        <p:spPr>
          <a:xfrm>
            <a:off x="502920" y="1600200"/>
            <a:ext cx="6949440" cy="457200"/>
          </a:xfrm>
          <a:prstGeom prst="rect">
            <a:avLst/>
          </a:prstGeom>
          <a:noFill/>
          <a:ln/>
        </p:spPr>
        <p:txBody>
          <a:bodyPr wrap="square" lIns="0" tIns="0" rIns="0" bIns="0" rtlCol="0" anchor="ctr"/>
          <a:lstStyle/>
          <a:p>
            <a:pPr indent="0" marL="0">
              <a:buNone/>
            </a:pPr>
            <a:r>
              <a:rPr lang="en-US" sz="1200" i="1" dirty="0">
                <a:solidFill>
                  <a:srgbClr val="9D8D76"/>
                </a:solidFill>
                <a:latin typeface="Calibri" pitchFamily="34" charset="0"/>
                <a:ea typeface="Calibri" pitchFamily="34" charset="-122"/>
                <a:cs typeface="Calibri" pitchFamily="34" charset="-120"/>
              </a:rPr>
              <a:t>The company, the mills, the cost roadmap and the raise are in Super Mills America. This deck covers one application: data centers.</a:t>
            </a:r>
            <a:endParaRPr lang="en-US" sz="1200" dirty="0"/>
          </a:p>
        </p:txBody>
      </p:sp>
      <p:sp>
        <p:nvSpPr>
          <p:cNvPr id="7" name="Text 5"/>
          <p:cNvSpPr/>
          <p:nvPr/>
        </p:nvSpPr>
        <p:spPr>
          <a:xfrm>
            <a:off x="502920" y="2194560"/>
            <a:ext cx="777240" cy="64008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01</a:t>
            </a:r>
            <a:endParaRPr lang="en-US" sz="2600" dirty="0"/>
          </a:p>
        </p:txBody>
      </p:sp>
      <p:sp>
        <p:nvSpPr>
          <p:cNvPr id="8" name="Text 6"/>
          <p:cNvSpPr/>
          <p:nvPr/>
        </p:nvSpPr>
        <p:spPr>
          <a:xfrm>
            <a:off x="1417320" y="2194560"/>
            <a:ext cx="5943600" cy="384048"/>
          </a:xfrm>
          <a:prstGeom prst="rect">
            <a:avLst/>
          </a:prstGeom>
          <a:noFill/>
          <a:ln/>
        </p:spPr>
        <p:txBody>
          <a:bodyPr wrap="square" lIns="0" tIns="0" rIns="0" bIns="0" rtlCol="0" anchor="ctr"/>
          <a:lstStyle/>
          <a:p>
            <a:pPr indent="0" marL="0">
              <a:buNone/>
            </a:pPr>
            <a:r>
              <a:rPr lang="en-US" sz="1750" b="1" dirty="0">
                <a:solidFill>
                  <a:srgbClr val="F4ECDF"/>
                </a:solidFill>
                <a:latin typeface="Calibri" pitchFamily="34" charset="0"/>
                <a:ea typeface="Calibri" pitchFamily="34" charset="-122"/>
                <a:cs typeface="Calibri" pitchFamily="34" charset="-120"/>
              </a:rPr>
              <a:t>Why Data Centers</a:t>
            </a:r>
            <a:endParaRPr lang="en-US" sz="1750" dirty="0"/>
          </a:p>
        </p:txBody>
      </p:sp>
      <p:sp>
        <p:nvSpPr>
          <p:cNvPr id="9" name="Text 7"/>
          <p:cNvSpPr/>
          <p:nvPr/>
        </p:nvSpPr>
        <p:spPr>
          <a:xfrm>
            <a:off x="1417320" y="2578608"/>
            <a:ext cx="5943600" cy="320040"/>
          </a:xfrm>
          <a:prstGeom prst="rect">
            <a:avLst/>
          </a:prstGeom>
          <a:noFill/>
          <a:ln/>
        </p:spPr>
        <p:txBody>
          <a:bodyPr wrap="square" lIns="0" tIns="0" rIns="0" bIns="0" rtlCol="0" anchor="ctr"/>
          <a:lstStyle/>
          <a:p>
            <a:pPr indent="0" marL="0">
              <a:buNone/>
            </a:pPr>
            <a:r>
              <a:rPr lang="en-US" sz="1200" dirty="0">
                <a:solidFill>
                  <a:srgbClr val="9D8D76"/>
                </a:solidFill>
                <a:latin typeface="Calibri" pitchFamily="34" charset="0"/>
                <a:ea typeface="Calibri" pitchFamily="34" charset="-122"/>
                <a:cs typeface="Calibri" pitchFamily="34" charset="-120"/>
              </a:rPr>
              <a:t>Hungry for materials · large offtake · low carbon and community acceptance · the wedge into structural</a:t>
            </a:r>
            <a:endParaRPr lang="en-US" sz="1200" dirty="0"/>
          </a:p>
        </p:txBody>
      </p:sp>
      <p:sp>
        <p:nvSpPr>
          <p:cNvPr id="10" name="Text 8"/>
          <p:cNvSpPr/>
          <p:nvPr/>
        </p:nvSpPr>
        <p:spPr>
          <a:xfrm>
            <a:off x="502920" y="3017520"/>
            <a:ext cx="777240" cy="64008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02</a:t>
            </a:r>
            <a:endParaRPr lang="en-US" sz="2600" dirty="0"/>
          </a:p>
        </p:txBody>
      </p:sp>
      <p:sp>
        <p:nvSpPr>
          <p:cNvPr id="11" name="Text 9"/>
          <p:cNvSpPr/>
          <p:nvPr/>
        </p:nvSpPr>
        <p:spPr>
          <a:xfrm>
            <a:off x="1417320" y="3017520"/>
            <a:ext cx="5943600" cy="384048"/>
          </a:xfrm>
          <a:prstGeom prst="rect">
            <a:avLst/>
          </a:prstGeom>
          <a:noFill/>
          <a:ln/>
        </p:spPr>
        <p:txBody>
          <a:bodyPr wrap="square" lIns="0" tIns="0" rIns="0" bIns="0" rtlCol="0" anchor="ctr"/>
          <a:lstStyle/>
          <a:p>
            <a:pPr indent="0" marL="0">
              <a:buNone/>
            </a:pPr>
            <a:r>
              <a:rPr lang="en-US" sz="1750" b="1" dirty="0">
                <a:solidFill>
                  <a:srgbClr val="F4ECDF"/>
                </a:solidFill>
                <a:latin typeface="Calibri" pitchFamily="34" charset="0"/>
                <a:ea typeface="Calibri" pitchFamily="34" charset="-122"/>
                <a:cs typeface="Calibri" pitchFamily="34" charset="-120"/>
              </a:rPr>
              <a:t>Technology Fit</a:t>
            </a:r>
            <a:endParaRPr lang="en-US" sz="1750" dirty="0"/>
          </a:p>
        </p:txBody>
      </p:sp>
      <p:sp>
        <p:nvSpPr>
          <p:cNvPr id="12" name="Text 10"/>
          <p:cNvSpPr/>
          <p:nvPr/>
        </p:nvSpPr>
        <p:spPr>
          <a:xfrm>
            <a:off x="1417320" y="3401568"/>
            <a:ext cx="5943600" cy="320040"/>
          </a:xfrm>
          <a:prstGeom prst="rect">
            <a:avLst/>
          </a:prstGeom>
          <a:noFill/>
          <a:ln/>
        </p:spPr>
        <p:txBody>
          <a:bodyPr wrap="square" lIns="0" tIns="0" rIns="0" bIns="0" rtlCol="0" anchor="ctr"/>
          <a:lstStyle/>
          <a:p>
            <a:pPr indent="0" marL="0">
              <a:buNone/>
            </a:pPr>
            <a:r>
              <a:rPr lang="en-US" sz="1200" dirty="0">
                <a:solidFill>
                  <a:srgbClr val="9D8D76"/>
                </a:solidFill>
                <a:latin typeface="Calibri" pitchFamily="34" charset="0"/>
                <a:ea typeface="Calibri" pitchFamily="34" charset="-122"/>
                <a:cs typeface="Calibri" pitchFamily="34" charset="-120"/>
              </a:rPr>
              <a:t>How SUPERWOOD is made, what it does, and the standards on the path</a:t>
            </a:r>
            <a:endParaRPr lang="en-US" sz="1200" dirty="0"/>
          </a:p>
        </p:txBody>
      </p:sp>
      <p:sp>
        <p:nvSpPr>
          <p:cNvPr id="13" name="Text 11"/>
          <p:cNvSpPr/>
          <p:nvPr/>
        </p:nvSpPr>
        <p:spPr>
          <a:xfrm>
            <a:off x="502920" y="3840480"/>
            <a:ext cx="777240" cy="64008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03</a:t>
            </a:r>
            <a:endParaRPr lang="en-US" sz="2600" dirty="0"/>
          </a:p>
        </p:txBody>
      </p:sp>
      <p:sp>
        <p:nvSpPr>
          <p:cNvPr id="14" name="Text 12"/>
          <p:cNvSpPr/>
          <p:nvPr/>
        </p:nvSpPr>
        <p:spPr>
          <a:xfrm>
            <a:off x="1417320" y="3840480"/>
            <a:ext cx="5943600" cy="384048"/>
          </a:xfrm>
          <a:prstGeom prst="rect">
            <a:avLst/>
          </a:prstGeom>
          <a:noFill/>
          <a:ln/>
        </p:spPr>
        <p:txBody>
          <a:bodyPr wrap="square" lIns="0" tIns="0" rIns="0" bIns="0" rtlCol="0" anchor="ctr"/>
          <a:lstStyle/>
          <a:p>
            <a:pPr indent="0" marL="0">
              <a:buNone/>
            </a:pPr>
            <a:r>
              <a:rPr lang="en-US" sz="1750" b="1" dirty="0">
                <a:solidFill>
                  <a:srgbClr val="F4ECDF"/>
                </a:solidFill>
                <a:latin typeface="Calibri" pitchFamily="34" charset="0"/>
                <a:ea typeface="Calibri" pitchFamily="34" charset="-122"/>
                <a:cs typeface="Calibri" pitchFamily="34" charset="-120"/>
              </a:rPr>
              <a:t>Impact</a:t>
            </a:r>
            <a:endParaRPr lang="en-US" sz="1750" dirty="0"/>
          </a:p>
        </p:txBody>
      </p:sp>
      <p:sp>
        <p:nvSpPr>
          <p:cNvPr id="15" name="Text 13"/>
          <p:cNvSpPr/>
          <p:nvPr/>
        </p:nvSpPr>
        <p:spPr>
          <a:xfrm>
            <a:off x="1417320" y="4224528"/>
            <a:ext cx="5943600" cy="320040"/>
          </a:xfrm>
          <a:prstGeom prst="rect">
            <a:avLst/>
          </a:prstGeom>
          <a:noFill/>
          <a:ln/>
        </p:spPr>
        <p:txBody>
          <a:bodyPr wrap="square" lIns="0" tIns="0" rIns="0" bIns="0" rtlCol="0" anchor="ctr"/>
          <a:lstStyle/>
          <a:p>
            <a:pPr indent="0" marL="0">
              <a:buNone/>
            </a:pPr>
            <a:r>
              <a:rPr lang="en-US" sz="1200" dirty="0">
                <a:solidFill>
                  <a:srgbClr val="9D8D76"/>
                </a:solidFill>
                <a:latin typeface="Calibri" pitchFamily="34" charset="0"/>
                <a:ea typeface="Calibri" pitchFamily="34" charset="-122"/>
                <a:cs typeface="Calibri" pitchFamily="34" charset="-120"/>
              </a:rPr>
              <a:t>Embodied carbon and circularity — labeled as the projections they are</a:t>
            </a:r>
            <a:endParaRPr lang="en-US" sz="1200" dirty="0"/>
          </a:p>
        </p:txBody>
      </p:sp>
      <p:sp>
        <p:nvSpPr>
          <p:cNvPr id="16" name="Text 14"/>
          <p:cNvSpPr/>
          <p:nvPr/>
        </p:nvSpPr>
        <p:spPr>
          <a:xfrm>
            <a:off x="502920" y="4663440"/>
            <a:ext cx="777240" cy="64008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04</a:t>
            </a:r>
            <a:endParaRPr lang="en-US" sz="2600" dirty="0"/>
          </a:p>
        </p:txBody>
      </p:sp>
      <p:sp>
        <p:nvSpPr>
          <p:cNvPr id="17" name="Text 15"/>
          <p:cNvSpPr/>
          <p:nvPr/>
        </p:nvSpPr>
        <p:spPr>
          <a:xfrm>
            <a:off x="1417320" y="4663440"/>
            <a:ext cx="5943600" cy="384048"/>
          </a:xfrm>
          <a:prstGeom prst="rect">
            <a:avLst/>
          </a:prstGeom>
          <a:noFill/>
          <a:ln/>
        </p:spPr>
        <p:txBody>
          <a:bodyPr wrap="square" lIns="0" tIns="0" rIns="0" bIns="0" rtlCol="0" anchor="ctr"/>
          <a:lstStyle/>
          <a:p>
            <a:pPr indent="0" marL="0">
              <a:buNone/>
            </a:pPr>
            <a:r>
              <a:rPr lang="en-US" sz="1750" b="1" dirty="0">
                <a:solidFill>
                  <a:srgbClr val="F4ECDF"/>
                </a:solidFill>
                <a:latin typeface="Calibri" pitchFamily="34" charset="0"/>
                <a:ea typeface="Calibri" pitchFamily="34" charset="-122"/>
                <a:cs typeface="Calibri" pitchFamily="34" charset="-120"/>
              </a:rPr>
              <a:t>Applications</a:t>
            </a:r>
            <a:endParaRPr lang="en-US" sz="1750" dirty="0"/>
          </a:p>
        </p:txBody>
      </p:sp>
      <p:sp>
        <p:nvSpPr>
          <p:cNvPr id="18" name="Text 16"/>
          <p:cNvSpPr/>
          <p:nvPr/>
        </p:nvSpPr>
        <p:spPr>
          <a:xfrm>
            <a:off x="1417320" y="5047488"/>
            <a:ext cx="5943600" cy="320040"/>
          </a:xfrm>
          <a:prstGeom prst="rect">
            <a:avLst/>
          </a:prstGeom>
          <a:noFill/>
          <a:ln/>
        </p:spPr>
        <p:txBody>
          <a:bodyPr wrap="square" lIns="0" tIns="0" rIns="0" bIns="0" rtlCol="0" anchor="ctr"/>
          <a:lstStyle/>
          <a:p>
            <a:pPr indent="0" marL="0">
              <a:buNone/>
            </a:pPr>
            <a:r>
              <a:rPr lang="en-US" sz="1200" dirty="0">
                <a:solidFill>
                  <a:srgbClr val="9D8D76"/>
                </a:solidFill>
                <a:latin typeface="Calibri" pitchFamily="34" charset="0"/>
                <a:ea typeface="Calibri" pitchFamily="34" charset="-122"/>
                <a:cs typeface="Calibri" pitchFamily="34" charset="-120"/>
              </a:rPr>
              <a:t>Skins and fences now; certification-gated next; structure after</a:t>
            </a:r>
            <a:endParaRPr lang="en-US" sz="1200" dirty="0"/>
          </a:p>
        </p:txBody>
      </p:sp>
      <p:sp>
        <p:nvSpPr>
          <p:cNvPr id="19" name="Text 17"/>
          <p:cNvSpPr/>
          <p:nvPr/>
        </p:nvSpPr>
        <p:spPr>
          <a:xfrm>
            <a:off x="502920" y="5486400"/>
            <a:ext cx="777240" cy="64008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05</a:t>
            </a:r>
            <a:endParaRPr lang="en-US" sz="2600" dirty="0"/>
          </a:p>
        </p:txBody>
      </p:sp>
      <p:sp>
        <p:nvSpPr>
          <p:cNvPr id="20" name="Text 18"/>
          <p:cNvSpPr/>
          <p:nvPr/>
        </p:nvSpPr>
        <p:spPr>
          <a:xfrm>
            <a:off x="1417320" y="5486400"/>
            <a:ext cx="5943600" cy="384048"/>
          </a:xfrm>
          <a:prstGeom prst="rect">
            <a:avLst/>
          </a:prstGeom>
          <a:noFill/>
          <a:ln/>
        </p:spPr>
        <p:txBody>
          <a:bodyPr wrap="square" lIns="0" tIns="0" rIns="0" bIns="0" rtlCol="0" anchor="ctr"/>
          <a:lstStyle/>
          <a:p>
            <a:pPr indent="0" marL="0">
              <a:buNone/>
            </a:pPr>
            <a:r>
              <a:rPr lang="en-US" sz="1750" b="1" dirty="0">
                <a:solidFill>
                  <a:srgbClr val="F4ECDF"/>
                </a:solidFill>
                <a:latin typeface="Calibri" pitchFamily="34" charset="0"/>
                <a:ea typeface="Calibri" pitchFamily="34" charset="-122"/>
                <a:cs typeface="Calibri" pitchFamily="34" charset="-120"/>
              </a:rPr>
              <a:t>Customers</a:t>
            </a:r>
            <a:endParaRPr lang="en-US" sz="1750" dirty="0"/>
          </a:p>
        </p:txBody>
      </p:sp>
      <p:sp>
        <p:nvSpPr>
          <p:cNvPr id="21" name="Text 19"/>
          <p:cNvSpPr/>
          <p:nvPr/>
        </p:nvSpPr>
        <p:spPr>
          <a:xfrm>
            <a:off x="1417320" y="5870448"/>
            <a:ext cx="5943600" cy="320040"/>
          </a:xfrm>
          <a:prstGeom prst="rect">
            <a:avLst/>
          </a:prstGeom>
          <a:noFill/>
          <a:ln/>
        </p:spPr>
        <p:txBody>
          <a:bodyPr wrap="square" lIns="0" tIns="0" rIns="0" bIns="0" rtlCol="0" anchor="ctr"/>
          <a:lstStyle/>
          <a:p>
            <a:pPr indent="0" marL="0">
              <a:buNone/>
            </a:pPr>
            <a:r>
              <a:rPr lang="en-US" sz="1200" dirty="0">
                <a:solidFill>
                  <a:srgbClr val="9D8D76"/>
                </a:solidFill>
                <a:latin typeface="Calibri" pitchFamily="34" charset="0"/>
                <a:ea typeface="Calibri" pitchFamily="34" charset="-122"/>
                <a:cs typeface="Calibri" pitchFamily="34" charset="-120"/>
              </a:rPr>
              <a:t>Microsoft, Meta, Google — and who else is at the table</a:t>
            </a:r>
            <a:endParaRPr lang="en-US" sz="1200" dirty="0"/>
          </a:p>
        </p:txBody>
      </p:sp>
      <p:pic>
        <p:nvPicPr>
          <p:cNvPr id="22" name="Image 0" descr="media/image75.png">    </p:cNvPr>
          <p:cNvPicPr>
            <a:picLocks noChangeAspect="1"/>
          </p:cNvPicPr>
          <p:nvPr/>
        </p:nvPicPr>
        <p:blipFill>
          <a:blip r:embed="rId1"/>
          <a:stretch>
            <a:fillRect/>
          </a:stretch>
        </p:blipFill>
        <p:spPr>
          <a:xfrm>
            <a:off x="7863840" y="2194560"/>
            <a:ext cx="3749040" cy="2400666"/>
          </a:xfrm>
          <a:prstGeom prst="rect">
            <a:avLst/>
          </a:prstGeom>
        </p:spPr>
      </p:pic>
      <p:sp>
        <p:nvSpPr>
          <p:cNvPr id="23" name="Text 20"/>
          <p:cNvSpPr/>
          <p:nvPr/>
        </p:nvSpPr>
        <p:spPr>
          <a:xfrm>
            <a:off x="7863840" y="4663440"/>
            <a:ext cx="3749040" cy="274320"/>
          </a:xfrm>
          <a:prstGeom prst="rect">
            <a:avLst/>
          </a:prstGeom>
          <a:noFill/>
          <a:ln/>
        </p:spPr>
        <p:txBody>
          <a:bodyPr wrap="square" lIns="0" tIns="0" rIns="0" bIns="0" rtlCol="0" anchor="ctr"/>
          <a:lstStyle/>
          <a:p>
            <a:pPr algn="r" indent="0" marL="0">
              <a:buNone/>
            </a:pPr>
            <a:r>
              <a:rPr lang="en-US" sz="950" i="1" dirty="0">
                <a:solidFill>
                  <a:srgbClr val="9D8D76"/>
                </a:solidFill>
                <a:latin typeface="Calibri" pitchFamily="34" charset="0"/>
                <a:ea typeface="Calibri" pitchFamily="34" charset="-122"/>
                <a:cs typeface="Calibri" pitchFamily="34" charset="-120"/>
              </a:rPr>
              <a:t>SUPERWOOD boards</a:t>
            </a:r>
            <a:endParaRPr lang="en-US" sz="9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286000"/>
            <a:ext cx="5486400" cy="320040"/>
          </a:xfrm>
          <a:prstGeom prst="rect">
            <a:avLst/>
          </a:prstGeom>
          <a:noFill/>
          <a:ln/>
        </p:spPr>
        <p:txBody>
          <a:bodyPr wrap="square" lIns="0" tIns="0" rIns="0" bIns="0" rtlCol="0" anchor="ctr"/>
          <a:lstStyle/>
          <a:p>
            <a:pPr indent="0" marL="0">
              <a:buNone/>
            </a:pPr>
            <a:r>
              <a:rPr lang="en-US" sz="1300" b="1" spc="400" kern="0" dirty="0">
                <a:solidFill>
                  <a:srgbClr val="CDA165"/>
                </a:solidFill>
                <a:latin typeface="Calibri" pitchFamily="34" charset="0"/>
                <a:ea typeface="Calibri" pitchFamily="34" charset="-122"/>
                <a:cs typeface="Calibri" pitchFamily="34" charset="-120"/>
              </a:rPr>
              <a:t>SECTION 01</a:t>
            </a:r>
            <a:endParaRPr lang="en-US" sz="1300" dirty="0"/>
          </a:p>
        </p:txBody>
      </p:sp>
      <p:sp>
        <p:nvSpPr>
          <p:cNvPr id="3" name="Text 1"/>
          <p:cNvSpPr/>
          <p:nvPr/>
        </p:nvSpPr>
        <p:spPr>
          <a:xfrm>
            <a:off x="914400" y="2743200"/>
            <a:ext cx="10332720" cy="1005840"/>
          </a:xfrm>
          <a:prstGeom prst="rect">
            <a:avLst/>
          </a:prstGeom>
          <a:noFill/>
          <a:ln/>
        </p:spPr>
        <p:txBody>
          <a:bodyPr wrap="square" lIns="0" tIns="0" rIns="0" bIns="0" rtlCol="0" anchor="ctr"/>
          <a:lstStyle/>
          <a:p>
            <a:pPr indent="0" marL="0">
              <a:buNone/>
            </a:pPr>
            <a:r>
              <a:rPr lang="en-US" sz="4800" dirty="0">
                <a:solidFill>
                  <a:srgbClr val="F4ECDF"/>
                </a:solidFill>
                <a:latin typeface="Georgia" pitchFamily="34" charset="0"/>
                <a:ea typeface="Georgia" pitchFamily="34" charset="-122"/>
                <a:cs typeface="Georgia" pitchFamily="34" charset="-120"/>
              </a:rPr>
              <a:t>Why</a:t>
            </a:r>
            <a:pPr indent="0" marL="0">
              <a:buNone/>
            </a:pPr>
            <a:r>
              <a:rPr lang="en-US" sz="4800" i="1" dirty="0">
                <a:solidFill>
                  <a:srgbClr val="E2B877"/>
                </a:solidFill>
                <a:latin typeface="Georgia" pitchFamily="34" charset="0"/>
                <a:ea typeface="Georgia" pitchFamily="34" charset="-122"/>
                <a:cs typeface="Georgia" pitchFamily="34" charset="-120"/>
              </a:rPr>
              <a:t> Data Centers</a:t>
            </a:r>
            <a:endParaRPr lang="en-US" sz="4800" dirty="0"/>
          </a:p>
        </p:txBody>
      </p:sp>
      <p:sp>
        <p:nvSpPr>
          <p:cNvPr id="4" name="Text 2"/>
          <p:cNvSpPr/>
          <p:nvPr/>
        </p:nvSpPr>
        <p:spPr>
          <a:xfrm>
            <a:off x="914400" y="3886200"/>
            <a:ext cx="8686800" cy="45720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Fast-growing and hungry for materials · large offtake · low carbon and community acceptance · the wedge into structural</a:t>
            </a:r>
            <a:endParaRPr lang="en-US" sz="15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Why Data Centers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WHY DATA CENTERS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Why </a:t>
            </a:r>
            <a:pPr indent="0" marL="0">
              <a:buNone/>
            </a:pPr>
            <a:r>
              <a:rPr lang="en-US" sz="3200" i="1" dirty="0">
                <a:solidFill>
                  <a:srgbClr val="E2B877"/>
                </a:solidFill>
                <a:latin typeface="Georgia" pitchFamily="34" charset="0"/>
                <a:ea typeface="Georgia" pitchFamily="34" charset="-122"/>
                <a:cs typeface="Georgia" pitchFamily="34" charset="-120"/>
              </a:rPr>
              <a:t>data centers</a:t>
            </a:r>
            <a:pPr indent="0" marL="0">
              <a:buNone/>
            </a:pPr>
            <a:r>
              <a:rPr lang="en-US" sz="3200" dirty="0">
                <a:solidFill>
                  <a:srgbClr val="F4ECDF"/>
                </a:solidFill>
                <a:latin typeface="Georgia" pitchFamily="34" charset="0"/>
                <a:ea typeface="Georgia" pitchFamily="34" charset="-122"/>
                <a:cs typeface="Georgia" pitchFamily="34" charset="-120"/>
              </a:rPr>
              <a:t>?</a:t>
            </a:r>
            <a:endParaRPr lang="en-US" sz="3200" dirty="0"/>
          </a:p>
        </p:txBody>
      </p:sp>
      <p:sp>
        <p:nvSpPr>
          <p:cNvPr id="6" name="Shape 4"/>
          <p:cNvSpPr/>
          <p:nvPr/>
        </p:nvSpPr>
        <p:spPr>
          <a:xfrm>
            <a:off x="502920" y="1783080"/>
            <a:ext cx="5486400" cy="1554480"/>
          </a:xfrm>
          <a:prstGeom prst="roundRect">
            <a:avLst>
              <a:gd name="adj" fmla="val 5294"/>
            </a:avLst>
          </a:prstGeom>
          <a:solidFill>
            <a:srgbClr val="261A0F"/>
          </a:solidFill>
          <a:ln/>
        </p:spPr>
      </p:sp>
      <p:sp>
        <p:nvSpPr>
          <p:cNvPr id="7" name="Text 5"/>
          <p:cNvSpPr/>
          <p:nvPr/>
        </p:nvSpPr>
        <p:spPr>
          <a:xfrm>
            <a:off x="731520" y="1947672"/>
            <a:ext cx="685800" cy="54864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01</a:t>
            </a:r>
            <a:endParaRPr lang="en-US" sz="2600" dirty="0"/>
          </a:p>
        </p:txBody>
      </p:sp>
      <p:sp>
        <p:nvSpPr>
          <p:cNvPr id="8" name="Text 6"/>
          <p:cNvSpPr/>
          <p:nvPr/>
        </p:nvSpPr>
        <p:spPr>
          <a:xfrm>
            <a:off x="1417320" y="1947672"/>
            <a:ext cx="4343400" cy="384048"/>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Fast-growing market, hungry for materials</a:t>
            </a:r>
            <a:endParaRPr lang="en-US" sz="1400" dirty="0"/>
          </a:p>
        </p:txBody>
      </p:sp>
      <p:sp>
        <p:nvSpPr>
          <p:cNvPr id="9" name="Text 7"/>
          <p:cNvSpPr/>
          <p:nvPr/>
        </p:nvSpPr>
        <p:spPr>
          <a:xfrm>
            <a:off x="1417320" y="2350008"/>
            <a:ext cx="434340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Construction is backlogged and operators tell us they face a shortage of structural steel. Supply chain and timeline are their first concern — and a domestic material that is lighter to ship and faster to erect answers it directly.</a:t>
            </a:r>
            <a:endParaRPr lang="en-US" sz="1000" dirty="0"/>
          </a:p>
        </p:txBody>
      </p:sp>
      <p:sp>
        <p:nvSpPr>
          <p:cNvPr id="10" name="Shape 8"/>
          <p:cNvSpPr/>
          <p:nvPr/>
        </p:nvSpPr>
        <p:spPr>
          <a:xfrm>
            <a:off x="6172200" y="1783080"/>
            <a:ext cx="5486400" cy="1554480"/>
          </a:xfrm>
          <a:prstGeom prst="roundRect">
            <a:avLst>
              <a:gd name="adj" fmla="val 5294"/>
            </a:avLst>
          </a:prstGeom>
          <a:solidFill>
            <a:srgbClr val="261A0F"/>
          </a:solidFill>
          <a:ln/>
        </p:spPr>
      </p:sp>
      <p:sp>
        <p:nvSpPr>
          <p:cNvPr id="11" name="Text 9"/>
          <p:cNvSpPr/>
          <p:nvPr/>
        </p:nvSpPr>
        <p:spPr>
          <a:xfrm>
            <a:off x="6400800" y="1947672"/>
            <a:ext cx="685800" cy="54864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02</a:t>
            </a:r>
            <a:endParaRPr lang="en-US" sz="2600" dirty="0"/>
          </a:p>
        </p:txBody>
      </p:sp>
      <p:sp>
        <p:nvSpPr>
          <p:cNvPr id="12" name="Text 10"/>
          <p:cNvSpPr/>
          <p:nvPr/>
        </p:nvSpPr>
        <p:spPr>
          <a:xfrm>
            <a:off x="7086600" y="1947672"/>
            <a:ext cx="4343400" cy="384048"/>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Large-volume offtake potential</a:t>
            </a:r>
            <a:endParaRPr lang="en-US" sz="1400" dirty="0"/>
          </a:p>
        </p:txBody>
      </p:sp>
      <p:sp>
        <p:nvSpPr>
          <p:cNvPr id="13" name="Text 11"/>
          <p:cNvSpPr/>
          <p:nvPr/>
        </p:nvSpPr>
        <p:spPr>
          <a:xfrm>
            <a:off x="7086600" y="2350008"/>
            <a:ext cx="434340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Hyperscalers build repeatable campuses to a standard basis of design. One campus envelope program is on the order of SuperMill One's entire annual output; a basis-of-design win is SuperMill Two-scale demand.</a:t>
            </a:r>
            <a:endParaRPr lang="en-US" sz="1000" dirty="0"/>
          </a:p>
        </p:txBody>
      </p:sp>
      <p:sp>
        <p:nvSpPr>
          <p:cNvPr id="14" name="Shape 12"/>
          <p:cNvSpPr/>
          <p:nvPr/>
        </p:nvSpPr>
        <p:spPr>
          <a:xfrm>
            <a:off x="502920" y="3474720"/>
            <a:ext cx="5486400" cy="1554480"/>
          </a:xfrm>
          <a:prstGeom prst="roundRect">
            <a:avLst>
              <a:gd name="adj" fmla="val 5294"/>
            </a:avLst>
          </a:prstGeom>
          <a:solidFill>
            <a:srgbClr val="261A0F"/>
          </a:solidFill>
          <a:ln/>
        </p:spPr>
      </p:sp>
      <p:sp>
        <p:nvSpPr>
          <p:cNvPr id="15" name="Text 13"/>
          <p:cNvSpPr/>
          <p:nvPr/>
        </p:nvSpPr>
        <p:spPr>
          <a:xfrm>
            <a:off x="731520" y="3639312"/>
            <a:ext cx="685800" cy="54864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03</a:t>
            </a:r>
            <a:endParaRPr lang="en-US" sz="2600" dirty="0"/>
          </a:p>
        </p:txBody>
      </p:sp>
      <p:sp>
        <p:nvSpPr>
          <p:cNvPr id="16" name="Text 14"/>
          <p:cNvSpPr/>
          <p:nvPr/>
        </p:nvSpPr>
        <p:spPr>
          <a:xfrm>
            <a:off x="1417320" y="3639312"/>
            <a:ext cx="4343400" cy="384048"/>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Desire for low carbon and community acceptance</a:t>
            </a:r>
            <a:endParaRPr lang="en-US" sz="1400" dirty="0"/>
          </a:p>
        </p:txBody>
      </p:sp>
      <p:sp>
        <p:nvSpPr>
          <p:cNvPr id="17" name="Text 15"/>
          <p:cNvSpPr/>
          <p:nvPr/>
        </p:nvSpPr>
        <p:spPr>
          <a:xfrm>
            <a:off x="1417320" y="4041648"/>
            <a:ext cx="434340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Microsoft and Meta already build data-center structures with mass timber (35% and ~41% embodied-carbon cuts on the elements replaced), reported through EC3 — co-created by our advisor Don Davies. Noise and visual mass drive moratoria; warm, quiet, biophilic exteriors change what the planning commission sees.</a:t>
            </a:r>
            <a:endParaRPr lang="en-US" sz="1000" dirty="0"/>
          </a:p>
        </p:txBody>
      </p:sp>
      <p:sp>
        <p:nvSpPr>
          <p:cNvPr id="18" name="Shape 16"/>
          <p:cNvSpPr/>
          <p:nvPr/>
        </p:nvSpPr>
        <p:spPr>
          <a:xfrm>
            <a:off x="6172200" y="3474720"/>
            <a:ext cx="5486400" cy="1554480"/>
          </a:xfrm>
          <a:prstGeom prst="roundRect">
            <a:avLst>
              <a:gd name="adj" fmla="val 5294"/>
            </a:avLst>
          </a:prstGeom>
          <a:solidFill>
            <a:srgbClr val="261A0F"/>
          </a:solidFill>
          <a:ln/>
        </p:spPr>
      </p:sp>
      <p:sp>
        <p:nvSpPr>
          <p:cNvPr id="19" name="Text 17"/>
          <p:cNvSpPr/>
          <p:nvPr/>
        </p:nvSpPr>
        <p:spPr>
          <a:xfrm>
            <a:off x="6400800" y="3639312"/>
            <a:ext cx="685800" cy="54864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04</a:t>
            </a:r>
            <a:endParaRPr lang="en-US" sz="2600" dirty="0"/>
          </a:p>
        </p:txBody>
      </p:sp>
      <p:sp>
        <p:nvSpPr>
          <p:cNvPr id="20" name="Text 18"/>
          <p:cNvSpPr/>
          <p:nvPr/>
        </p:nvSpPr>
        <p:spPr>
          <a:xfrm>
            <a:off x="7086600" y="3639312"/>
            <a:ext cx="4343400" cy="384048"/>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A wedge into structural — a market hungry for solutions</a:t>
            </a:r>
            <a:endParaRPr lang="en-US" sz="1400" dirty="0"/>
          </a:p>
        </p:txBody>
      </p:sp>
      <p:sp>
        <p:nvSpPr>
          <p:cNvPr id="21" name="Text 19"/>
          <p:cNvSpPr/>
          <p:nvPr/>
        </p:nvSpPr>
        <p:spPr>
          <a:xfrm>
            <a:off x="7086600" y="4041648"/>
            <a:ext cx="434340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Replacing structural steel is the first thing new customers ask about. The mass-timber code pathway lets SUPERWOOD qualify as a new, far stronger species — and what is qualified for a data center is qualified for the broader structural market.</a:t>
            </a:r>
            <a:endParaRPr lang="en-US" sz="1000" dirty="0"/>
          </a:p>
        </p:txBody>
      </p:sp>
      <p:sp>
        <p:nvSpPr>
          <p:cNvPr id="22" name="Text 20"/>
          <p:cNvSpPr/>
          <p:nvPr/>
        </p:nvSpPr>
        <p:spPr>
          <a:xfrm>
            <a:off x="502920" y="5257800"/>
            <a:ext cx="3657600" cy="237744"/>
          </a:xfrm>
          <a:prstGeom prst="rect">
            <a:avLst/>
          </a:prstGeom>
          <a:noFill/>
          <a:ln/>
        </p:spPr>
        <p:txBody>
          <a:bodyPr wrap="square" lIns="0" tIns="0" rIns="0" bIns="0" rtlCol="0" anchor="ctr"/>
          <a:lstStyle/>
          <a:p>
            <a:pPr indent="0" marL="0">
              <a:buNone/>
            </a:pPr>
            <a:r>
              <a:rPr lang="en-US" sz="950" b="1" spc="200" kern="0" dirty="0">
                <a:solidFill>
                  <a:srgbClr val="CDA165"/>
                </a:solidFill>
                <a:latin typeface="Calibri" pitchFamily="34" charset="0"/>
                <a:ea typeface="Calibri" pitchFamily="34" charset="-122"/>
                <a:cs typeface="Calibri" pitchFamily="34" charset="-120"/>
              </a:rPr>
              <a:t>HOW THE WEDGE WORKS</a:t>
            </a:r>
            <a:endParaRPr lang="en-US" sz="950" dirty="0"/>
          </a:p>
        </p:txBody>
      </p:sp>
      <p:sp>
        <p:nvSpPr>
          <p:cNvPr id="23" name="Shape 21"/>
          <p:cNvSpPr/>
          <p:nvPr/>
        </p:nvSpPr>
        <p:spPr>
          <a:xfrm>
            <a:off x="502920" y="5532120"/>
            <a:ext cx="2103120" cy="548640"/>
          </a:xfrm>
          <a:prstGeom prst="roundRect">
            <a:avLst>
              <a:gd name="adj" fmla="val 11667"/>
            </a:avLst>
          </a:prstGeom>
          <a:solidFill>
            <a:srgbClr val="2E2113"/>
          </a:solidFill>
          <a:ln w="9525">
            <a:solidFill>
              <a:srgbClr val="B87D44"/>
            </a:solidFill>
            <a:prstDash val="solid"/>
          </a:ln>
        </p:spPr>
      </p:sp>
      <p:sp>
        <p:nvSpPr>
          <p:cNvPr id="24" name="Text 22"/>
          <p:cNvSpPr/>
          <p:nvPr/>
        </p:nvSpPr>
        <p:spPr>
          <a:xfrm>
            <a:off x="612648" y="5623560"/>
            <a:ext cx="320040" cy="365760"/>
          </a:xfrm>
          <a:prstGeom prst="rect">
            <a:avLst/>
          </a:prstGeom>
          <a:noFill/>
          <a:ln/>
        </p:spPr>
        <p:txBody>
          <a:bodyPr wrap="square" lIns="0" tIns="0" rIns="0" bIns="0" rtlCol="0" anchor="ctr"/>
          <a:lstStyle/>
          <a:p>
            <a:pPr indent="0" marL="0">
              <a:buNone/>
            </a:pPr>
            <a:r>
              <a:rPr lang="en-US" sz="1800" dirty="0">
                <a:solidFill>
                  <a:srgbClr val="B87D44"/>
                </a:solidFill>
                <a:latin typeface="Georgia" pitchFamily="34" charset="0"/>
                <a:ea typeface="Georgia" pitchFamily="34" charset="-122"/>
                <a:cs typeface="Georgia" pitchFamily="34" charset="-120"/>
              </a:rPr>
              <a:t>1</a:t>
            </a:r>
            <a:endParaRPr lang="en-US" sz="1800" dirty="0"/>
          </a:p>
        </p:txBody>
      </p:sp>
      <p:sp>
        <p:nvSpPr>
          <p:cNvPr id="25" name="Text 23"/>
          <p:cNvSpPr/>
          <p:nvPr/>
        </p:nvSpPr>
        <p:spPr>
          <a:xfrm>
            <a:off x="941832" y="5577840"/>
            <a:ext cx="1600200" cy="457200"/>
          </a:xfrm>
          <a:prstGeom prst="rect">
            <a:avLst/>
          </a:prstGeom>
          <a:noFill/>
          <a:ln/>
        </p:spPr>
        <p:txBody>
          <a:bodyPr wrap="square" lIns="0" tIns="0" rIns="0" bIns="0" rtlCol="0" anchor="ctr"/>
          <a:lstStyle/>
          <a:p>
            <a:pPr indent="0" marL="0">
              <a:buNone/>
            </a:pPr>
            <a:r>
              <a:rPr lang="en-US" sz="950" dirty="0">
                <a:solidFill>
                  <a:srgbClr val="F4ECDF"/>
                </a:solidFill>
                <a:latin typeface="Calibri" pitchFamily="34" charset="0"/>
                <a:ea typeface="Calibri" pitchFamily="34" charset="-122"/>
                <a:cs typeface="Calibri" pitchFamily="34" charset="-120"/>
              </a:rPr>
              <a:t>Skins and fences today</a:t>
            </a:r>
            <a:endParaRPr lang="en-US" sz="950" dirty="0"/>
          </a:p>
        </p:txBody>
      </p:sp>
      <p:sp>
        <p:nvSpPr>
          <p:cNvPr id="26" name="Text 24"/>
          <p:cNvSpPr/>
          <p:nvPr/>
        </p:nvSpPr>
        <p:spPr>
          <a:xfrm>
            <a:off x="2587752" y="5605272"/>
            <a:ext cx="182880" cy="411480"/>
          </a:xfrm>
          <a:prstGeom prst="rect">
            <a:avLst/>
          </a:prstGeom>
          <a:noFill/>
          <a:ln/>
        </p:spPr>
        <p:txBody>
          <a:bodyPr wrap="square" lIns="0" tIns="0" rIns="0" bIns="0" rtlCol="0" anchor="ctr"/>
          <a:lstStyle/>
          <a:p>
            <a:pPr indent="0" marL="0">
              <a:buNone/>
            </a:pPr>
            <a:r>
              <a:rPr lang="en-US" sz="1800" dirty="0">
                <a:solidFill>
                  <a:srgbClr val="E2B877"/>
                </a:solidFill>
                <a:latin typeface="Georgia" pitchFamily="34" charset="0"/>
                <a:ea typeface="Georgia" pitchFamily="34" charset="-122"/>
                <a:cs typeface="Georgia" pitchFamily="34" charset="-120"/>
              </a:rPr>
              <a:t>›</a:t>
            </a:r>
            <a:endParaRPr lang="en-US" sz="1800" dirty="0"/>
          </a:p>
        </p:txBody>
      </p:sp>
      <p:sp>
        <p:nvSpPr>
          <p:cNvPr id="27" name="Shape 25"/>
          <p:cNvSpPr/>
          <p:nvPr/>
        </p:nvSpPr>
        <p:spPr>
          <a:xfrm>
            <a:off x="2766060" y="5532120"/>
            <a:ext cx="2103120" cy="548640"/>
          </a:xfrm>
          <a:prstGeom prst="roundRect">
            <a:avLst>
              <a:gd name="adj" fmla="val 11667"/>
            </a:avLst>
          </a:prstGeom>
          <a:solidFill>
            <a:srgbClr val="2E2113"/>
          </a:solidFill>
          <a:ln w="9525">
            <a:solidFill>
              <a:srgbClr val="B87D44"/>
            </a:solidFill>
            <a:prstDash val="solid"/>
          </a:ln>
        </p:spPr>
      </p:sp>
      <p:sp>
        <p:nvSpPr>
          <p:cNvPr id="28" name="Text 26"/>
          <p:cNvSpPr/>
          <p:nvPr/>
        </p:nvSpPr>
        <p:spPr>
          <a:xfrm>
            <a:off x="2875788" y="5623560"/>
            <a:ext cx="320040" cy="365760"/>
          </a:xfrm>
          <a:prstGeom prst="rect">
            <a:avLst/>
          </a:prstGeom>
          <a:noFill/>
          <a:ln/>
        </p:spPr>
        <p:txBody>
          <a:bodyPr wrap="square" lIns="0" tIns="0" rIns="0" bIns="0" rtlCol="0" anchor="ctr"/>
          <a:lstStyle/>
          <a:p>
            <a:pPr indent="0" marL="0">
              <a:buNone/>
            </a:pPr>
            <a:r>
              <a:rPr lang="en-US" sz="1800" dirty="0">
                <a:solidFill>
                  <a:srgbClr val="B87D44"/>
                </a:solidFill>
                <a:latin typeface="Georgia" pitchFamily="34" charset="0"/>
                <a:ea typeface="Georgia" pitchFamily="34" charset="-122"/>
                <a:cs typeface="Georgia" pitchFamily="34" charset="-120"/>
              </a:rPr>
              <a:t>2</a:t>
            </a:r>
            <a:endParaRPr lang="en-US" sz="1800" dirty="0"/>
          </a:p>
        </p:txBody>
      </p:sp>
      <p:sp>
        <p:nvSpPr>
          <p:cNvPr id="29" name="Text 27"/>
          <p:cNvSpPr/>
          <p:nvPr/>
        </p:nvSpPr>
        <p:spPr>
          <a:xfrm>
            <a:off x="3204972" y="5577840"/>
            <a:ext cx="1600200" cy="457200"/>
          </a:xfrm>
          <a:prstGeom prst="rect">
            <a:avLst/>
          </a:prstGeom>
          <a:noFill/>
          <a:ln/>
        </p:spPr>
        <p:txBody>
          <a:bodyPr wrap="square" lIns="0" tIns="0" rIns="0" bIns="0" rtlCol="0" anchor="ctr"/>
          <a:lstStyle/>
          <a:p>
            <a:pPr indent="0" marL="0">
              <a:buNone/>
            </a:pPr>
            <a:r>
              <a:rPr lang="en-US" sz="950" dirty="0">
                <a:solidFill>
                  <a:srgbClr val="F4ECDF"/>
                </a:solidFill>
                <a:latin typeface="Calibri" pitchFamily="34" charset="0"/>
                <a:ea typeface="Calibri" pitchFamily="34" charset="-122"/>
                <a:cs typeface="Calibri" pitchFamily="34" charset="-120"/>
              </a:rPr>
              <a:t>Testing, co-developed with customers</a:t>
            </a:r>
            <a:endParaRPr lang="en-US" sz="950" dirty="0"/>
          </a:p>
        </p:txBody>
      </p:sp>
      <p:sp>
        <p:nvSpPr>
          <p:cNvPr id="30" name="Text 28"/>
          <p:cNvSpPr/>
          <p:nvPr/>
        </p:nvSpPr>
        <p:spPr>
          <a:xfrm>
            <a:off x="4850892" y="5605272"/>
            <a:ext cx="182880" cy="411480"/>
          </a:xfrm>
          <a:prstGeom prst="rect">
            <a:avLst/>
          </a:prstGeom>
          <a:noFill/>
          <a:ln/>
        </p:spPr>
        <p:txBody>
          <a:bodyPr wrap="square" lIns="0" tIns="0" rIns="0" bIns="0" rtlCol="0" anchor="ctr"/>
          <a:lstStyle/>
          <a:p>
            <a:pPr indent="0" marL="0">
              <a:buNone/>
            </a:pPr>
            <a:r>
              <a:rPr lang="en-US" sz="1800" dirty="0">
                <a:solidFill>
                  <a:srgbClr val="E2B877"/>
                </a:solidFill>
                <a:latin typeface="Georgia" pitchFamily="34" charset="0"/>
                <a:ea typeface="Georgia" pitchFamily="34" charset="-122"/>
                <a:cs typeface="Georgia" pitchFamily="34" charset="-120"/>
              </a:rPr>
              <a:t>›</a:t>
            </a:r>
            <a:endParaRPr lang="en-US" sz="1800" dirty="0"/>
          </a:p>
        </p:txBody>
      </p:sp>
      <p:sp>
        <p:nvSpPr>
          <p:cNvPr id="31" name="Shape 29"/>
          <p:cNvSpPr/>
          <p:nvPr/>
        </p:nvSpPr>
        <p:spPr>
          <a:xfrm>
            <a:off x="5029200" y="5532120"/>
            <a:ext cx="2103120" cy="548640"/>
          </a:xfrm>
          <a:prstGeom prst="roundRect">
            <a:avLst>
              <a:gd name="adj" fmla="val 11667"/>
            </a:avLst>
          </a:prstGeom>
          <a:solidFill>
            <a:srgbClr val="2E2113"/>
          </a:solidFill>
          <a:ln w="9525">
            <a:solidFill>
              <a:srgbClr val="B87D44"/>
            </a:solidFill>
            <a:prstDash val="solid"/>
          </a:ln>
        </p:spPr>
      </p:sp>
      <p:sp>
        <p:nvSpPr>
          <p:cNvPr id="32" name="Text 30"/>
          <p:cNvSpPr/>
          <p:nvPr/>
        </p:nvSpPr>
        <p:spPr>
          <a:xfrm>
            <a:off x="5138928" y="5623560"/>
            <a:ext cx="320040" cy="365760"/>
          </a:xfrm>
          <a:prstGeom prst="rect">
            <a:avLst/>
          </a:prstGeom>
          <a:noFill/>
          <a:ln/>
        </p:spPr>
        <p:txBody>
          <a:bodyPr wrap="square" lIns="0" tIns="0" rIns="0" bIns="0" rtlCol="0" anchor="ctr"/>
          <a:lstStyle/>
          <a:p>
            <a:pPr indent="0" marL="0">
              <a:buNone/>
            </a:pPr>
            <a:r>
              <a:rPr lang="en-US" sz="1800" dirty="0">
                <a:solidFill>
                  <a:srgbClr val="B87D44"/>
                </a:solidFill>
                <a:latin typeface="Georgia" pitchFamily="34" charset="0"/>
                <a:ea typeface="Georgia" pitchFamily="34" charset="-122"/>
                <a:cs typeface="Georgia" pitchFamily="34" charset="-120"/>
              </a:rPr>
              <a:t>3</a:t>
            </a:r>
            <a:endParaRPr lang="en-US" sz="1800" dirty="0"/>
          </a:p>
        </p:txBody>
      </p:sp>
      <p:sp>
        <p:nvSpPr>
          <p:cNvPr id="33" name="Text 31"/>
          <p:cNvSpPr/>
          <p:nvPr/>
        </p:nvSpPr>
        <p:spPr>
          <a:xfrm>
            <a:off x="5468112" y="5577840"/>
            <a:ext cx="1600200" cy="457200"/>
          </a:xfrm>
          <a:prstGeom prst="rect">
            <a:avLst/>
          </a:prstGeom>
          <a:noFill/>
          <a:ln/>
        </p:spPr>
        <p:txBody>
          <a:bodyPr wrap="square" lIns="0" tIns="0" rIns="0" bIns="0" rtlCol="0" anchor="ctr"/>
          <a:lstStyle/>
          <a:p>
            <a:pPr indent="0" marL="0">
              <a:buNone/>
            </a:pPr>
            <a:r>
              <a:rPr lang="en-US" sz="950" dirty="0">
                <a:solidFill>
                  <a:srgbClr val="F4ECDF"/>
                </a:solidFill>
                <a:latin typeface="Calibri" pitchFamily="34" charset="0"/>
                <a:ea typeface="Calibri" pitchFamily="34" charset="-122"/>
                <a:cs typeface="Calibri" pitchFamily="34" charset="-120"/>
              </a:rPr>
              <a:t>Structural qualification via the mass-timber pathway</a:t>
            </a:r>
            <a:endParaRPr lang="en-US" sz="950" dirty="0"/>
          </a:p>
        </p:txBody>
      </p:sp>
      <p:sp>
        <p:nvSpPr>
          <p:cNvPr id="34" name="Text 32"/>
          <p:cNvSpPr/>
          <p:nvPr/>
        </p:nvSpPr>
        <p:spPr>
          <a:xfrm>
            <a:off x="7114032" y="5605272"/>
            <a:ext cx="182880" cy="411480"/>
          </a:xfrm>
          <a:prstGeom prst="rect">
            <a:avLst/>
          </a:prstGeom>
          <a:noFill/>
          <a:ln/>
        </p:spPr>
        <p:txBody>
          <a:bodyPr wrap="square" lIns="0" tIns="0" rIns="0" bIns="0" rtlCol="0" anchor="ctr"/>
          <a:lstStyle/>
          <a:p>
            <a:pPr indent="0" marL="0">
              <a:buNone/>
            </a:pPr>
            <a:r>
              <a:rPr lang="en-US" sz="1800" dirty="0">
                <a:solidFill>
                  <a:srgbClr val="E2B877"/>
                </a:solidFill>
                <a:latin typeface="Georgia" pitchFamily="34" charset="0"/>
                <a:ea typeface="Georgia" pitchFamily="34" charset="-122"/>
                <a:cs typeface="Georgia" pitchFamily="34" charset="-120"/>
              </a:rPr>
              <a:t>›</a:t>
            </a:r>
            <a:endParaRPr lang="en-US" sz="1800" dirty="0"/>
          </a:p>
        </p:txBody>
      </p:sp>
      <p:sp>
        <p:nvSpPr>
          <p:cNvPr id="35" name="Shape 33"/>
          <p:cNvSpPr/>
          <p:nvPr/>
        </p:nvSpPr>
        <p:spPr>
          <a:xfrm>
            <a:off x="7292340" y="5532120"/>
            <a:ext cx="2103120" cy="548640"/>
          </a:xfrm>
          <a:prstGeom prst="roundRect">
            <a:avLst>
              <a:gd name="adj" fmla="val 11667"/>
            </a:avLst>
          </a:prstGeom>
          <a:solidFill>
            <a:srgbClr val="2E2113"/>
          </a:solidFill>
          <a:ln w="9525">
            <a:solidFill>
              <a:srgbClr val="B87D44"/>
            </a:solidFill>
            <a:prstDash val="solid"/>
          </a:ln>
        </p:spPr>
      </p:sp>
      <p:sp>
        <p:nvSpPr>
          <p:cNvPr id="36" name="Text 34"/>
          <p:cNvSpPr/>
          <p:nvPr/>
        </p:nvSpPr>
        <p:spPr>
          <a:xfrm>
            <a:off x="7402068" y="5623560"/>
            <a:ext cx="320040" cy="365760"/>
          </a:xfrm>
          <a:prstGeom prst="rect">
            <a:avLst/>
          </a:prstGeom>
          <a:noFill/>
          <a:ln/>
        </p:spPr>
        <p:txBody>
          <a:bodyPr wrap="square" lIns="0" tIns="0" rIns="0" bIns="0" rtlCol="0" anchor="ctr"/>
          <a:lstStyle/>
          <a:p>
            <a:pPr indent="0" marL="0">
              <a:buNone/>
            </a:pPr>
            <a:r>
              <a:rPr lang="en-US" sz="1800" dirty="0">
                <a:solidFill>
                  <a:srgbClr val="B87D44"/>
                </a:solidFill>
                <a:latin typeface="Georgia" pitchFamily="34" charset="0"/>
                <a:ea typeface="Georgia" pitchFamily="34" charset="-122"/>
                <a:cs typeface="Georgia" pitchFamily="34" charset="-120"/>
              </a:rPr>
              <a:t>4</a:t>
            </a:r>
            <a:endParaRPr lang="en-US" sz="1800" dirty="0"/>
          </a:p>
        </p:txBody>
      </p:sp>
      <p:sp>
        <p:nvSpPr>
          <p:cNvPr id="37" name="Text 35"/>
          <p:cNvSpPr/>
          <p:nvPr/>
        </p:nvSpPr>
        <p:spPr>
          <a:xfrm>
            <a:off x="7731252" y="5577840"/>
            <a:ext cx="1600200" cy="457200"/>
          </a:xfrm>
          <a:prstGeom prst="rect">
            <a:avLst/>
          </a:prstGeom>
          <a:noFill/>
          <a:ln/>
        </p:spPr>
        <p:txBody>
          <a:bodyPr wrap="square" lIns="0" tIns="0" rIns="0" bIns="0" rtlCol="0" anchor="ctr"/>
          <a:lstStyle/>
          <a:p>
            <a:pPr indent="0" marL="0">
              <a:buNone/>
            </a:pPr>
            <a:r>
              <a:rPr lang="en-US" sz="950" dirty="0">
                <a:solidFill>
                  <a:srgbClr val="F4ECDF"/>
                </a:solidFill>
                <a:latin typeface="Calibri" pitchFamily="34" charset="0"/>
                <a:ea typeface="Calibri" pitchFamily="34" charset="-122"/>
                <a:cs typeface="Calibri" pitchFamily="34" charset="-120"/>
              </a:rPr>
              <a:t>Written into the basis of design</a:t>
            </a:r>
            <a:endParaRPr lang="en-US" sz="950" dirty="0"/>
          </a:p>
        </p:txBody>
      </p:sp>
      <p:sp>
        <p:nvSpPr>
          <p:cNvPr id="38" name="Text 36"/>
          <p:cNvSpPr/>
          <p:nvPr/>
        </p:nvSpPr>
        <p:spPr>
          <a:xfrm>
            <a:off x="9377172" y="5605272"/>
            <a:ext cx="182880" cy="411480"/>
          </a:xfrm>
          <a:prstGeom prst="rect">
            <a:avLst/>
          </a:prstGeom>
          <a:noFill/>
          <a:ln/>
        </p:spPr>
        <p:txBody>
          <a:bodyPr wrap="square" lIns="0" tIns="0" rIns="0" bIns="0" rtlCol="0" anchor="ctr"/>
          <a:lstStyle/>
          <a:p>
            <a:pPr indent="0" marL="0">
              <a:buNone/>
            </a:pPr>
            <a:r>
              <a:rPr lang="en-US" sz="1800" dirty="0">
                <a:solidFill>
                  <a:srgbClr val="E2B877"/>
                </a:solidFill>
                <a:latin typeface="Georgia" pitchFamily="34" charset="0"/>
                <a:ea typeface="Georgia" pitchFamily="34" charset="-122"/>
                <a:cs typeface="Georgia" pitchFamily="34" charset="-120"/>
              </a:rPr>
              <a:t>›</a:t>
            </a:r>
            <a:endParaRPr lang="en-US" sz="1800" dirty="0"/>
          </a:p>
        </p:txBody>
      </p:sp>
      <p:sp>
        <p:nvSpPr>
          <p:cNvPr id="39" name="Shape 37"/>
          <p:cNvSpPr/>
          <p:nvPr/>
        </p:nvSpPr>
        <p:spPr>
          <a:xfrm>
            <a:off x="9555480" y="5532120"/>
            <a:ext cx="2103120" cy="548640"/>
          </a:xfrm>
          <a:prstGeom prst="roundRect">
            <a:avLst>
              <a:gd name="adj" fmla="val 11667"/>
            </a:avLst>
          </a:prstGeom>
          <a:solidFill>
            <a:srgbClr val="2E2113"/>
          </a:solidFill>
          <a:ln w="19050">
            <a:solidFill>
              <a:srgbClr val="E2B877"/>
            </a:solidFill>
            <a:prstDash val="solid"/>
          </a:ln>
        </p:spPr>
      </p:sp>
      <p:sp>
        <p:nvSpPr>
          <p:cNvPr id="40" name="Text 38"/>
          <p:cNvSpPr/>
          <p:nvPr/>
        </p:nvSpPr>
        <p:spPr>
          <a:xfrm>
            <a:off x="9665208" y="5623560"/>
            <a:ext cx="320040" cy="365760"/>
          </a:xfrm>
          <a:prstGeom prst="rect">
            <a:avLst/>
          </a:prstGeom>
          <a:noFill/>
          <a:ln/>
        </p:spPr>
        <p:txBody>
          <a:bodyPr wrap="square" lIns="0" tIns="0" rIns="0" bIns="0" rtlCol="0" anchor="ctr"/>
          <a:lstStyle/>
          <a:p>
            <a:pPr indent="0" marL="0">
              <a:buNone/>
            </a:pPr>
            <a:r>
              <a:rPr lang="en-US" sz="1800" dirty="0">
                <a:solidFill>
                  <a:srgbClr val="B87D44"/>
                </a:solidFill>
                <a:latin typeface="Georgia" pitchFamily="34" charset="0"/>
                <a:ea typeface="Georgia" pitchFamily="34" charset="-122"/>
                <a:cs typeface="Georgia" pitchFamily="34" charset="-120"/>
              </a:rPr>
              <a:t>5</a:t>
            </a:r>
            <a:endParaRPr lang="en-US" sz="1800" dirty="0"/>
          </a:p>
        </p:txBody>
      </p:sp>
      <p:sp>
        <p:nvSpPr>
          <p:cNvPr id="41" name="Text 39"/>
          <p:cNvSpPr/>
          <p:nvPr/>
        </p:nvSpPr>
        <p:spPr>
          <a:xfrm>
            <a:off x="9994392" y="5577840"/>
            <a:ext cx="1600200" cy="457200"/>
          </a:xfrm>
          <a:prstGeom prst="rect">
            <a:avLst/>
          </a:prstGeom>
          <a:noFill/>
          <a:ln/>
        </p:spPr>
        <p:txBody>
          <a:bodyPr wrap="square" lIns="0" tIns="0" rIns="0" bIns="0" rtlCol="0" anchor="ctr"/>
          <a:lstStyle/>
          <a:p>
            <a:pPr indent="0" marL="0">
              <a:buNone/>
            </a:pPr>
            <a:r>
              <a:rPr lang="en-US" sz="950" dirty="0">
                <a:solidFill>
                  <a:srgbClr val="F4ECDF"/>
                </a:solidFill>
                <a:latin typeface="Calibri" pitchFamily="34" charset="0"/>
                <a:ea typeface="Calibri" pitchFamily="34" charset="-122"/>
                <a:cs typeface="Calibri" pitchFamily="34" charset="-120"/>
              </a:rPr>
              <a:t>SuperMill Two-scale offtake</a:t>
            </a:r>
            <a:endParaRPr lang="en-US" sz="950" dirty="0"/>
          </a:p>
        </p:txBody>
      </p:sp>
      <p:sp>
        <p:nvSpPr>
          <p:cNvPr id="42" name="Text 40"/>
          <p:cNvSpPr/>
          <p:nvPr/>
        </p:nvSpPr>
        <p:spPr>
          <a:xfrm>
            <a:off x="502920" y="6144768"/>
            <a:ext cx="11155680" cy="274320"/>
          </a:xfrm>
          <a:prstGeom prst="rect">
            <a:avLst/>
          </a:prstGeom>
          <a:noFill/>
          <a:ln/>
        </p:spPr>
        <p:txBody>
          <a:bodyPr wrap="square" lIns="0" tIns="0" rIns="0" bIns="0" rtlCol="0" anchor="ctr"/>
          <a:lstStyle/>
          <a:p>
            <a:pPr indent="0" marL="0">
              <a:buNone/>
            </a:pPr>
            <a:r>
              <a:rPr lang="en-US" sz="800" i="1" dirty="0">
                <a:solidFill>
                  <a:srgbClr val="9D8D76"/>
                </a:solidFill>
                <a:latin typeface="Calibri" pitchFamily="34" charset="0"/>
                <a:ea typeface="Calibri" pitchFamily="34" charset="-122"/>
                <a:cs typeface="Calibri" pitchFamily="34" charset="-120"/>
              </a:rPr>
              <a:t>Steel-shortage and backlog statements are what customers report to us (2026). Microsoft: news.microsoft.com, Nov 2024. Meta: sustainability.atmeta.com, Jul 2025. Campus-vs-SuperMill One comparison is a company estimate.</a:t>
            </a:r>
            <a:endParaRPr lang="en-US" sz="8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Why Data Centers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WHY DATA CENTERS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Where SUPERWOOD fits in a campus</a:t>
            </a:r>
            <a:endParaRPr lang="en-US" sz="3200" dirty="0"/>
          </a:p>
        </p:txBody>
      </p:sp>
      <p:sp>
        <p:nvSpPr>
          <p:cNvPr id="6" name="Shape 4"/>
          <p:cNvSpPr/>
          <p:nvPr/>
        </p:nvSpPr>
        <p:spPr>
          <a:xfrm>
            <a:off x="502920" y="1783080"/>
            <a:ext cx="3474720" cy="3657600"/>
          </a:xfrm>
          <a:prstGeom prst="roundRect">
            <a:avLst>
              <a:gd name="adj" fmla="val 2368"/>
            </a:avLst>
          </a:prstGeom>
          <a:solidFill>
            <a:srgbClr val="261A0F"/>
          </a:solidFill>
          <a:ln/>
        </p:spPr>
      </p:sp>
      <p:sp>
        <p:nvSpPr>
          <p:cNvPr id="7" name="Text 5"/>
          <p:cNvSpPr/>
          <p:nvPr/>
        </p:nvSpPr>
        <p:spPr>
          <a:xfrm>
            <a:off x="731520" y="1920240"/>
            <a:ext cx="3108960" cy="274320"/>
          </a:xfrm>
          <a:prstGeom prst="rect">
            <a:avLst/>
          </a:prstGeom>
          <a:noFill/>
          <a:ln/>
        </p:spPr>
        <p:txBody>
          <a:bodyPr wrap="square" lIns="0" tIns="0" rIns="0" bIns="0" rtlCol="0" anchor="ctr"/>
          <a:lstStyle/>
          <a:p>
            <a:pPr indent="0" marL="0">
              <a:buNone/>
            </a:pPr>
            <a:r>
              <a:rPr lang="en-US" sz="1000" b="1" spc="150" kern="0" dirty="0">
                <a:solidFill>
                  <a:srgbClr val="E2B877"/>
                </a:solidFill>
                <a:latin typeface="Calibri" pitchFamily="34" charset="0"/>
                <a:ea typeface="Calibri" pitchFamily="34" charset="-122"/>
                <a:cs typeface="Calibri" pitchFamily="34" charset="-120"/>
              </a:rPr>
              <a:t>NOW · SKINS, SCREENS, FENCES</a:t>
            </a:r>
            <a:endParaRPr lang="en-US" sz="1000" dirty="0"/>
          </a:p>
        </p:txBody>
      </p:sp>
      <p:sp>
        <p:nvSpPr>
          <p:cNvPr id="8" name="Text 6"/>
          <p:cNvSpPr/>
          <p:nvPr/>
        </p:nvSpPr>
        <p:spPr>
          <a:xfrm>
            <a:off x="731520" y="2286000"/>
            <a:ext cx="3063240" cy="306324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Facades, cladding and rain screens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Biophilic interiors for office space</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Louvers and equipment screening</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Fencing for staff outdoor spaces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Security fencing around transformers and outdoor infrastructure</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Equipment backplanes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Trim, door kicks, sub-framing</a:t>
            </a:r>
            <a:endParaRPr lang="en-US" sz="1100" dirty="0"/>
          </a:p>
        </p:txBody>
      </p:sp>
      <p:sp>
        <p:nvSpPr>
          <p:cNvPr id="9" name="Shape 7"/>
          <p:cNvSpPr/>
          <p:nvPr/>
        </p:nvSpPr>
        <p:spPr>
          <a:xfrm>
            <a:off x="4160520" y="1783080"/>
            <a:ext cx="3474720" cy="3657600"/>
          </a:xfrm>
          <a:prstGeom prst="roundRect">
            <a:avLst>
              <a:gd name="adj" fmla="val 2368"/>
            </a:avLst>
          </a:prstGeom>
          <a:solidFill>
            <a:srgbClr val="261A0F"/>
          </a:solidFill>
          <a:ln/>
        </p:spPr>
      </p:sp>
      <p:sp>
        <p:nvSpPr>
          <p:cNvPr id="10" name="Text 8"/>
          <p:cNvSpPr/>
          <p:nvPr/>
        </p:nvSpPr>
        <p:spPr>
          <a:xfrm>
            <a:off x="4389120" y="1920240"/>
            <a:ext cx="3108960" cy="274320"/>
          </a:xfrm>
          <a:prstGeom prst="rect">
            <a:avLst/>
          </a:prstGeom>
          <a:noFill/>
          <a:ln/>
        </p:spPr>
        <p:txBody>
          <a:bodyPr wrap="square" lIns="0" tIns="0" rIns="0" bIns="0" rtlCol="0" anchor="ctr"/>
          <a:lstStyle/>
          <a:p>
            <a:pPr indent="0" marL="0">
              <a:buNone/>
            </a:pPr>
            <a:r>
              <a:rPr lang="en-US" sz="1000" b="1" spc="150" kern="0" dirty="0">
                <a:solidFill>
                  <a:srgbClr val="CDA165"/>
                </a:solidFill>
                <a:latin typeface="Calibri" pitchFamily="34" charset="0"/>
                <a:ea typeface="Calibri" pitchFamily="34" charset="-122"/>
                <a:cs typeface="Calibri" pitchFamily="34" charset="-120"/>
              </a:rPr>
              <a:t>NEXT · STRUCTURE AND CONTENTS</a:t>
            </a:r>
            <a:endParaRPr lang="en-US" sz="1000" dirty="0"/>
          </a:p>
        </p:txBody>
      </p:sp>
      <p:sp>
        <p:nvSpPr>
          <p:cNvPr id="11" name="Text 9"/>
          <p:cNvSpPr/>
          <p:nvPr/>
        </p:nvSpPr>
        <p:spPr>
          <a:xfrm>
            <a:off x="4389120" y="2286000"/>
            <a:ext cx="3063240" cy="3063240"/>
          </a:xfrm>
          <a:prstGeom prst="rect">
            <a:avLst/>
          </a:prstGeom>
          <a:noFill/>
          <a:ln/>
        </p:spPr>
        <p:txBody>
          <a:bodyPr wrap="square" lIns="0" tIns="0" rIns="0" bIns="0" rtlCol="0" anchor="t"/>
          <a:lstStyle/>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Building enclosures and structural components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Joists, deck and roof assemblies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Trusses and long-span members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Platforms, walkways and mezzanines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Racking and equipment supports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Enclosures and separations</a:t>
            </a:r>
            <a:endParaRPr lang="en-US" sz="1100" dirty="0"/>
          </a:p>
          <a:p>
            <a:pPr marL="152400" indent="-152400">
              <a:spcAft>
                <a:spcPts val="700"/>
              </a:spcAft>
              <a:buSzPct val="100000"/>
              <a:buChar char="•"/>
            </a:pPr>
            <a:r>
              <a:rPr lang="en-US" sz="1100" dirty="0">
                <a:solidFill>
                  <a:srgbClr val="CDBFA9"/>
                </a:solidFill>
                <a:latin typeface="Calibri" pitchFamily="34" charset="0"/>
                <a:ea typeface="Calibri" pitchFamily="34" charset="-122"/>
                <a:cs typeface="Calibri" pitchFamily="34" charset="-120"/>
              </a:rPr>
              <a:t>Shells and foundations, longer term</a:t>
            </a:r>
            <a:endParaRPr lang="en-US" sz="1100" dirty="0"/>
          </a:p>
        </p:txBody>
      </p:sp>
      <p:pic>
        <p:nvPicPr>
          <p:cNvPr id="12" name="Image 0" descr="prep/app_shell.jpg">    </p:cNvPr>
          <p:cNvPicPr>
            <a:picLocks noChangeAspect="1"/>
          </p:cNvPicPr>
          <p:nvPr/>
        </p:nvPicPr>
        <p:blipFill>
          <a:blip r:embed="rId1"/>
          <a:srcRect l="0" r="0" t="0" b="0"/>
          <a:stretch/>
        </p:blipFill>
        <p:spPr>
          <a:xfrm>
            <a:off x="7909560" y="1783080"/>
            <a:ext cx="3749040" cy="2514600"/>
          </a:xfrm>
          <a:prstGeom prst="rect">
            <a:avLst/>
          </a:prstGeom>
        </p:spPr>
      </p:pic>
      <p:sp>
        <p:nvSpPr>
          <p:cNvPr id="13" name="Text 10"/>
          <p:cNvSpPr/>
          <p:nvPr/>
        </p:nvSpPr>
        <p:spPr>
          <a:xfrm>
            <a:off x="7909560" y="4343400"/>
            <a:ext cx="3749040" cy="457200"/>
          </a:xfrm>
          <a:prstGeom prst="rect">
            <a:avLst/>
          </a:prstGeom>
          <a:noFill/>
          <a:ln/>
        </p:spPr>
        <p:txBody>
          <a:bodyPr wrap="square" lIns="0" tIns="0" rIns="0" bIns="0" rtlCol="0" anchor="ctr"/>
          <a:lstStyle/>
          <a:p>
            <a:pPr indent="0" marL="0">
              <a:buNone/>
            </a:pPr>
            <a:r>
              <a:rPr lang="en-US" sz="950" i="1" dirty="0">
                <a:solidFill>
                  <a:srgbClr val="9D8D76"/>
                </a:solidFill>
                <a:latin typeface="Calibri" pitchFamily="34" charset="0"/>
                <a:ea typeface="Calibri" pitchFamily="34" charset="-122"/>
                <a:cs typeface="Calibri" pitchFamily="34" charset="-120"/>
              </a:rPr>
              <a:t>Concept rendering — enclosure and structure are the long game; skins and fences ship now.</a:t>
            </a:r>
            <a:endParaRPr lang="en-US" sz="950" dirty="0"/>
          </a:p>
        </p:txBody>
      </p:sp>
      <p:sp>
        <p:nvSpPr>
          <p:cNvPr id="14" name="Shape 11"/>
          <p:cNvSpPr/>
          <p:nvPr/>
        </p:nvSpPr>
        <p:spPr>
          <a:xfrm>
            <a:off x="7909560" y="4892040"/>
            <a:ext cx="3749040" cy="548640"/>
          </a:xfrm>
          <a:prstGeom prst="roundRect">
            <a:avLst>
              <a:gd name="adj" fmla="val 11667"/>
            </a:avLst>
          </a:prstGeom>
          <a:solidFill>
            <a:srgbClr val="2E2113"/>
          </a:solidFill>
          <a:ln/>
        </p:spPr>
      </p:sp>
      <p:sp>
        <p:nvSpPr>
          <p:cNvPr id="15" name="Text 12"/>
          <p:cNvSpPr/>
          <p:nvPr/>
        </p:nvSpPr>
        <p:spPr>
          <a:xfrm>
            <a:off x="8046720" y="4937760"/>
            <a:ext cx="3520440" cy="457200"/>
          </a:xfrm>
          <a:prstGeom prst="rect">
            <a:avLst/>
          </a:prstGeom>
          <a:noFill/>
          <a:ln/>
        </p:spPr>
        <p:txBody>
          <a:bodyPr wrap="square" lIns="0" tIns="0" rIns="0" bIns="0" rtlCol="0" anchor="ctr"/>
          <a:lstStyle/>
          <a:p>
            <a:pPr indent="0" marL="0">
              <a:buNone/>
            </a:pPr>
            <a:r>
              <a:rPr lang="en-US" sz="950" b="1" dirty="0">
                <a:solidFill>
                  <a:srgbClr val="E2B877"/>
                </a:solidFill>
                <a:latin typeface="Calibri" pitchFamily="34" charset="0"/>
                <a:ea typeface="Calibri" pitchFamily="34" charset="-122"/>
                <a:cs typeface="Calibri" pitchFamily="34" charset="-120"/>
              </a:rPr>
              <a:t>Per 10 MW of data center: </a:t>
            </a:r>
            <a:pPr indent="0" marL="0">
              <a:buNone/>
            </a:pPr>
            <a:r>
              <a:rPr lang="en-US" sz="950" dirty="0">
                <a:solidFill>
                  <a:srgbClr val="F4ECDF"/>
                </a:solidFill>
                <a:latin typeface="Calibri" pitchFamily="34" charset="0"/>
                <a:ea typeface="Calibri" pitchFamily="34" charset="-122"/>
                <a:cs typeface="Calibri" pitchFamily="34" charset="-120"/>
              </a:rPr>
              <a:t>500–1,000 t of structural steel and 5,000–10,000 m³ of concrete.</a:t>
            </a:r>
            <a:endParaRPr lang="en-US" sz="950" dirty="0"/>
          </a:p>
        </p:txBody>
      </p:sp>
      <p:sp>
        <p:nvSpPr>
          <p:cNvPr id="16" name="Text 13"/>
          <p:cNvSpPr/>
          <p:nvPr/>
        </p:nvSpPr>
        <p:spPr>
          <a:xfrm>
            <a:off x="502920" y="5669280"/>
            <a:ext cx="11155680" cy="411480"/>
          </a:xfrm>
          <a:prstGeom prst="rect">
            <a:avLst/>
          </a:prstGeom>
          <a:noFill/>
          <a:ln/>
        </p:spPr>
        <p:txBody>
          <a:bodyPr wrap="square" lIns="0" tIns="0" rIns="0" bIns="0" rtlCol="0" anchor="ctr"/>
          <a:lstStyle/>
          <a:p>
            <a:pPr indent="0" marL="0">
              <a:buNone/>
            </a:pPr>
            <a:r>
              <a:rPr lang="en-US" sz="850" i="1" dirty="0">
                <a:solidFill>
                  <a:srgbClr val="9D8D76"/>
                </a:solidFill>
                <a:latin typeface="Calibri" pitchFamily="34" charset="0"/>
                <a:ea typeface="Calibri" pitchFamily="34" charset="-122"/>
                <a:cs typeface="Calibri" pitchFamily="34" charset="-120"/>
              </a:rPr>
              <a:t>Steel and concrete intensities: arXiv 2509.21312 (Sep 2025), citing Hasan et al. 2022 and Sharma et al. 2023 — secondary literature figures, ranges as published.</a:t>
            </a:r>
            <a:endParaRPr lang="en-US" sz="8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286000"/>
            <a:ext cx="5486400" cy="320040"/>
          </a:xfrm>
          <a:prstGeom prst="rect">
            <a:avLst/>
          </a:prstGeom>
          <a:noFill/>
          <a:ln/>
        </p:spPr>
        <p:txBody>
          <a:bodyPr wrap="square" lIns="0" tIns="0" rIns="0" bIns="0" rtlCol="0" anchor="ctr"/>
          <a:lstStyle/>
          <a:p>
            <a:pPr indent="0" marL="0">
              <a:buNone/>
            </a:pPr>
            <a:r>
              <a:rPr lang="en-US" sz="1300" b="1" spc="400" kern="0" dirty="0">
                <a:solidFill>
                  <a:srgbClr val="CDA165"/>
                </a:solidFill>
                <a:latin typeface="Calibri" pitchFamily="34" charset="0"/>
                <a:ea typeface="Calibri" pitchFamily="34" charset="-122"/>
                <a:cs typeface="Calibri" pitchFamily="34" charset="-120"/>
              </a:rPr>
              <a:t>SECTION 02</a:t>
            </a:r>
            <a:endParaRPr lang="en-US" sz="1300" dirty="0"/>
          </a:p>
        </p:txBody>
      </p:sp>
      <p:sp>
        <p:nvSpPr>
          <p:cNvPr id="3" name="Text 1"/>
          <p:cNvSpPr/>
          <p:nvPr/>
        </p:nvSpPr>
        <p:spPr>
          <a:xfrm>
            <a:off x="914400" y="2743200"/>
            <a:ext cx="10332720" cy="1005840"/>
          </a:xfrm>
          <a:prstGeom prst="rect">
            <a:avLst/>
          </a:prstGeom>
          <a:noFill/>
          <a:ln/>
        </p:spPr>
        <p:txBody>
          <a:bodyPr wrap="square" lIns="0" tIns="0" rIns="0" bIns="0" rtlCol="0" anchor="ctr"/>
          <a:lstStyle/>
          <a:p>
            <a:pPr indent="0" marL="0">
              <a:buNone/>
            </a:pPr>
            <a:r>
              <a:rPr lang="en-US" sz="4800" dirty="0">
                <a:solidFill>
                  <a:srgbClr val="F4ECDF"/>
                </a:solidFill>
                <a:latin typeface="Georgia" pitchFamily="34" charset="0"/>
                <a:ea typeface="Georgia" pitchFamily="34" charset="-122"/>
                <a:cs typeface="Georgia" pitchFamily="34" charset="-120"/>
              </a:rPr>
              <a:t>The</a:t>
            </a:r>
            <a:pPr indent="0" marL="0">
              <a:buNone/>
            </a:pPr>
            <a:r>
              <a:rPr lang="en-US" sz="4800" i="1" dirty="0">
                <a:solidFill>
                  <a:srgbClr val="E2B877"/>
                </a:solidFill>
                <a:latin typeface="Georgia" pitchFamily="34" charset="0"/>
                <a:ea typeface="Georgia" pitchFamily="34" charset="-122"/>
                <a:cs typeface="Georgia" pitchFamily="34" charset="-120"/>
              </a:rPr>
              <a:t> Technology</a:t>
            </a:r>
            <a:endParaRPr lang="en-US" sz="4800" dirty="0"/>
          </a:p>
        </p:txBody>
      </p:sp>
      <p:sp>
        <p:nvSpPr>
          <p:cNvPr id="4" name="Text 2"/>
          <p:cNvSpPr/>
          <p:nvPr/>
        </p:nvSpPr>
        <p:spPr>
          <a:xfrm>
            <a:off x="914400" y="3886200"/>
            <a:ext cx="8686800" cy="45720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How SUPERWOOD is made, what it does, and the standards on the path</a:t>
            </a:r>
            <a:endParaRPr lang="en-US" sz="15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Technology</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TECHNOLOGY</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We unlock the power of </a:t>
            </a:r>
            <a:pPr indent="0" marL="0">
              <a:buNone/>
            </a:pPr>
            <a:r>
              <a:rPr lang="en-US" sz="3200" i="1" dirty="0">
                <a:solidFill>
                  <a:srgbClr val="E2B877"/>
                </a:solidFill>
                <a:latin typeface="Georgia" pitchFamily="34" charset="0"/>
                <a:ea typeface="Georgia" pitchFamily="34" charset="-122"/>
                <a:cs typeface="Georgia" pitchFamily="34" charset="-120"/>
              </a:rPr>
              <a:t>cellulose</a:t>
            </a:r>
            <a:endParaRPr lang="en-US" sz="3200" dirty="0"/>
          </a:p>
        </p:txBody>
      </p:sp>
      <p:sp>
        <p:nvSpPr>
          <p:cNvPr id="6" name="Text 4"/>
          <p:cNvSpPr/>
          <p:nvPr/>
        </p:nvSpPr>
        <p:spPr>
          <a:xfrm>
            <a:off x="502920" y="1737360"/>
            <a:ext cx="11155680" cy="411480"/>
          </a:xfrm>
          <a:prstGeom prst="rect">
            <a:avLst/>
          </a:prstGeom>
          <a:noFill/>
          <a:ln/>
        </p:spPr>
        <p:txBody>
          <a:bodyPr wrap="square" lIns="0" tIns="0" rIns="0" bIns="0" rtlCol="0" anchor="ctr"/>
          <a:lstStyle/>
          <a:p>
            <a:pPr indent="0" marL="0">
              <a:buNone/>
            </a:pPr>
            <a:r>
              <a:rPr lang="en-US" sz="1350" dirty="0">
                <a:solidFill>
                  <a:srgbClr val="CDBFA9"/>
                </a:solidFill>
                <a:latin typeface="Calibri" pitchFamily="34" charset="0"/>
                <a:ea typeface="Calibri" pitchFamily="34" charset="-122"/>
                <a:cs typeface="Calibri" pitchFamily="34" charset="-120"/>
              </a:rPr>
              <a:t>Our patented process transforms ordinary wood into SUPERWOOD — an environmentally benign process using chemistry common to food and pulp processing.</a:t>
            </a:r>
            <a:endParaRPr lang="en-US" sz="1350" dirty="0"/>
          </a:p>
        </p:txBody>
      </p:sp>
      <p:sp>
        <p:nvSpPr>
          <p:cNvPr id="7" name="Text 5"/>
          <p:cNvSpPr/>
          <p:nvPr/>
        </p:nvSpPr>
        <p:spPr>
          <a:xfrm>
            <a:off x="502920" y="2331720"/>
            <a:ext cx="3520440" cy="566928"/>
          </a:xfrm>
          <a:prstGeom prst="rect">
            <a:avLst/>
          </a:prstGeom>
          <a:noFill/>
          <a:ln/>
        </p:spPr>
        <p:txBody>
          <a:bodyPr wrap="square" lIns="0" tIns="0" rIns="0" bIns="0" rtlCol="0" anchor="ctr"/>
          <a:lstStyle/>
          <a:p>
            <a:pPr indent="0" marL="0">
              <a:buNone/>
            </a:pPr>
            <a:r>
              <a:rPr lang="en-US" sz="1150" b="1" spc="100" kern="0" dirty="0">
                <a:solidFill>
                  <a:srgbClr val="CDA165"/>
                </a:solidFill>
                <a:latin typeface="Calibri" pitchFamily="34" charset="0"/>
                <a:ea typeface="Calibri" pitchFamily="34" charset="-122"/>
                <a:cs typeface="Calibri" pitchFamily="34" charset="-120"/>
              </a:rPr>
              <a:t>01 · START WITH WOODY FEEDSTOCK</a:t>
            </a:r>
            <a:endParaRPr lang="en-US" sz="1150" dirty="0"/>
          </a:p>
        </p:txBody>
      </p:sp>
      <p:sp>
        <p:nvSpPr>
          <p:cNvPr id="8" name="Text 6"/>
          <p:cNvSpPr/>
          <p:nvPr/>
        </p:nvSpPr>
        <p:spPr>
          <a:xfrm>
            <a:off x="502920" y="2944368"/>
            <a:ext cx="3520440" cy="777240"/>
          </a:xfrm>
          <a:prstGeom prst="rect">
            <a:avLst/>
          </a:prstGeom>
          <a:noFill/>
          <a:ln/>
        </p:spPr>
        <p:txBody>
          <a:bodyPr wrap="square" lIns="0" tIns="0" rIns="0" bIns="0" rtlCol="0" anchor="t"/>
          <a:lstStyle/>
          <a:p>
            <a:pPr indent="0" marL="0">
              <a:buNone/>
            </a:pPr>
            <a:r>
              <a:rPr lang="en-US" sz="1100" dirty="0">
                <a:solidFill>
                  <a:srgbClr val="9D8D76"/>
                </a:solidFill>
                <a:latin typeface="Calibri" pitchFamily="34" charset="0"/>
                <a:ea typeface="Calibri" pitchFamily="34" charset="-122"/>
                <a:cs typeface="Calibri" pitchFamily="34" charset="-120"/>
              </a:rPr>
              <a:t>Hardwoods, softwoods, bamboo, underutilized species, waste wood</a:t>
            </a:r>
            <a:endParaRPr lang="en-US" sz="1100" dirty="0"/>
          </a:p>
        </p:txBody>
      </p:sp>
      <p:pic>
        <p:nvPicPr>
          <p:cNvPr id="9" name="Image 0" descr="prep/feed-timber.jpg">    </p:cNvPr>
          <p:cNvPicPr>
            <a:picLocks noChangeAspect="1"/>
          </p:cNvPicPr>
          <p:nvPr/>
        </p:nvPicPr>
        <p:blipFill>
          <a:blip r:embed="rId1"/>
          <a:srcRect l="0" r="0" t="0" b="0"/>
          <a:stretch/>
        </p:blipFill>
        <p:spPr>
          <a:xfrm>
            <a:off x="502920" y="3794760"/>
            <a:ext cx="3520440" cy="2148840"/>
          </a:xfrm>
          <a:prstGeom prst="rect">
            <a:avLst/>
          </a:prstGeom>
        </p:spPr>
      </p:pic>
      <p:sp>
        <p:nvSpPr>
          <p:cNvPr id="10" name="Text 7"/>
          <p:cNvSpPr/>
          <p:nvPr/>
        </p:nvSpPr>
        <p:spPr>
          <a:xfrm>
            <a:off x="502920" y="6035040"/>
            <a:ext cx="3520440" cy="320040"/>
          </a:xfrm>
          <a:prstGeom prst="rect">
            <a:avLst/>
          </a:prstGeom>
          <a:noFill/>
          <a:ln/>
        </p:spPr>
        <p:txBody>
          <a:bodyPr wrap="square" lIns="0" tIns="0" rIns="0" bIns="0" rtlCol="0" anchor="ctr"/>
          <a:lstStyle/>
          <a:p>
            <a:pPr algn="ctr" indent="0" marL="0">
              <a:buNone/>
            </a:pPr>
            <a:r>
              <a:rPr lang="en-US" sz="950" i="1" dirty="0">
                <a:solidFill>
                  <a:srgbClr val="9D8D76"/>
                </a:solidFill>
                <a:latin typeface="Calibri" pitchFamily="34" charset="0"/>
                <a:ea typeface="Calibri" pitchFamily="34" charset="-122"/>
                <a:cs typeface="Calibri" pitchFamily="34" charset="-120"/>
              </a:rPr>
              <a:t>Before: open cell vessels</a:t>
            </a:r>
            <a:endParaRPr lang="en-US" sz="950" dirty="0"/>
          </a:p>
        </p:txBody>
      </p:sp>
      <p:sp>
        <p:nvSpPr>
          <p:cNvPr id="11" name="Text 8"/>
          <p:cNvSpPr/>
          <p:nvPr/>
        </p:nvSpPr>
        <p:spPr>
          <a:xfrm>
            <a:off x="4032504" y="4572000"/>
            <a:ext cx="320040" cy="457200"/>
          </a:xfrm>
          <a:prstGeom prst="rect">
            <a:avLst/>
          </a:prstGeom>
          <a:noFill/>
          <a:ln/>
        </p:spPr>
        <p:txBody>
          <a:bodyPr wrap="square" lIns="0" tIns="0" rIns="0" bIns="0" rtlCol="0" anchor="ctr"/>
          <a:lstStyle/>
          <a:p>
            <a:pPr indent="0" marL="0">
              <a:buNone/>
            </a:pPr>
            <a:r>
              <a:rPr lang="en-US" sz="2200" dirty="0">
                <a:solidFill>
                  <a:srgbClr val="E2B877"/>
                </a:solidFill>
                <a:latin typeface="Georgia" pitchFamily="34" charset="0"/>
                <a:ea typeface="Georgia" pitchFamily="34" charset="-122"/>
                <a:cs typeface="Georgia" pitchFamily="34" charset="-120"/>
              </a:rPr>
              <a:t>→</a:t>
            </a:r>
            <a:endParaRPr lang="en-US" sz="2200" dirty="0"/>
          </a:p>
        </p:txBody>
      </p:sp>
      <p:sp>
        <p:nvSpPr>
          <p:cNvPr id="12" name="Text 9"/>
          <p:cNvSpPr/>
          <p:nvPr/>
        </p:nvSpPr>
        <p:spPr>
          <a:xfrm>
            <a:off x="4343400" y="2331720"/>
            <a:ext cx="3520440" cy="566928"/>
          </a:xfrm>
          <a:prstGeom prst="rect">
            <a:avLst/>
          </a:prstGeom>
          <a:noFill/>
          <a:ln/>
        </p:spPr>
        <p:txBody>
          <a:bodyPr wrap="square" lIns="0" tIns="0" rIns="0" bIns="0" rtlCol="0" anchor="ctr"/>
          <a:lstStyle/>
          <a:p>
            <a:pPr indent="0" marL="0">
              <a:buNone/>
            </a:pPr>
            <a:r>
              <a:rPr lang="en-US" sz="1150" b="1" spc="100" kern="0" dirty="0">
                <a:solidFill>
                  <a:srgbClr val="CDA165"/>
                </a:solidFill>
                <a:latin typeface="Calibri" pitchFamily="34" charset="0"/>
                <a:ea typeface="Calibri" pitchFamily="34" charset="-122"/>
                <a:cs typeface="Calibri" pitchFamily="34" charset="-120"/>
              </a:rPr>
              <a:t>02 · MOLECULAR RE-ENGINEERING &amp; DENSIFICATION</a:t>
            </a:r>
            <a:endParaRPr lang="en-US" sz="1150" dirty="0"/>
          </a:p>
        </p:txBody>
      </p:sp>
      <p:sp>
        <p:nvSpPr>
          <p:cNvPr id="13" name="Text 10"/>
          <p:cNvSpPr/>
          <p:nvPr/>
        </p:nvSpPr>
        <p:spPr>
          <a:xfrm>
            <a:off x="4343400" y="2944368"/>
            <a:ext cx="3520440" cy="777240"/>
          </a:xfrm>
          <a:prstGeom prst="rect">
            <a:avLst/>
          </a:prstGeom>
          <a:noFill/>
          <a:ln/>
        </p:spPr>
        <p:txBody>
          <a:bodyPr wrap="square" lIns="0" tIns="0" rIns="0" bIns="0" rtlCol="0" anchor="t"/>
          <a:lstStyle/>
          <a:p>
            <a:pPr indent="0" marL="0">
              <a:buNone/>
            </a:pPr>
            <a:r>
              <a:rPr lang="en-US" sz="1100" dirty="0">
                <a:solidFill>
                  <a:srgbClr val="9D8D76"/>
                </a:solidFill>
                <a:latin typeface="Calibri" pitchFamily="34" charset="0"/>
                <a:ea typeface="Calibri" pitchFamily="34" charset="-122"/>
                <a:cs typeface="Calibri" pitchFamily="34" charset="-120"/>
              </a:rPr>
              <a:t>3–4× density increase, elimination of pores and defects, and new hydrogen bonds across fibers</a:t>
            </a:r>
            <a:endParaRPr lang="en-US" sz="1100" dirty="0"/>
          </a:p>
        </p:txBody>
      </p:sp>
      <p:pic>
        <p:nvPicPr>
          <p:cNvPr id="14" name="Image 1" descr="prep/proc-compress.png">    </p:cNvPr>
          <p:cNvPicPr>
            <a:picLocks noChangeAspect="1"/>
          </p:cNvPicPr>
          <p:nvPr/>
        </p:nvPicPr>
        <p:blipFill>
          <a:blip r:embed="rId2"/>
          <a:srcRect l="0" r="0" t="0" b="0"/>
          <a:stretch/>
        </p:blipFill>
        <p:spPr>
          <a:xfrm>
            <a:off x="4343400" y="3794760"/>
            <a:ext cx="3520440" cy="2148840"/>
          </a:xfrm>
          <a:prstGeom prst="rect">
            <a:avLst/>
          </a:prstGeom>
        </p:spPr>
      </p:pic>
      <p:sp>
        <p:nvSpPr>
          <p:cNvPr id="15" name="Text 11"/>
          <p:cNvSpPr/>
          <p:nvPr/>
        </p:nvSpPr>
        <p:spPr>
          <a:xfrm>
            <a:off x="4343400" y="6035040"/>
            <a:ext cx="3520440" cy="320040"/>
          </a:xfrm>
          <a:prstGeom prst="rect">
            <a:avLst/>
          </a:prstGeom>
          <a:noFill/>
          <a:ln/>
        </p:spPr>
        <p:txBody>
          <a:bodyPr wrap="square" lIns="0" tIns="0" rIns="0" bIns="0" rtlCol="0" anchor="ctr"/>
          <a:lstStyle/>
          <a:p>
            <a:pPr algn="ctr" indent="0" marL="0">
              <a:buNone/>
            </a:pPr>
            <a:r>
              <a:rPr lang="en-US" sz="950" i="1" dirty="0">
                <a:solidFill>
                  <a:srgbClr val="CDA165"/>
                </a:solidFill>
                <a:latin typeface="Calibri" pitchFamily="34" charset="0"/>
                <a:ea typeface="Calibri" pitchFamily="34" charset="-122"/>
                <a:cs typeface="Calibri" pitchFamily="34" charset="-120"/>
              </a:rPr>
              <a:t>No added glues · No polymer binders</a:t>
            </a:r>
            <a:endParaRPr lang="en-US" sz="950" dirty="0"/>
          </a:p>
        </p:txBody>
      </p:sp>
      <p:sp>
        <p:nvSpPr>
          <p:cNvPr id="16" name="Text 12"/>
          <p:cNvSpPr/>
          <p:nvPr/>
        </p:nvSpPr>
        <p:spPr>
          <a:xfrm>
            <a:off x="7872984" y="4572000"/>
            <a:ext cx="320040" cy="457200"/>
          </a:xfrm>
          <a:prstGeom prst="rect">
            <a:avLst/>
          </a:prstGeom>
          <a:noFill/>
          <a:ln/>
        </p:spPr>
        <p:txBody>
          <a:bodyPr wrap="square" lIns="0" tIns="0" rIns="0" bIns="0" rtlCol="0" anchor="ctr"/>
          <a:lstStyle/>
          <a:p>
            <a:pPr indent="0" marL="0">
              <a:buNone/>
            </a:pPr>
            <a:r>
              <a:rPr lang="en-US" sz="2200" dirty="0">
                <a:solidFill>
                  <a:srgbClr val="E2B877"/>
                </a:solidFill>
                <a:latin typeface="Georgia" pitchFamily="34" charset="0"/>
                <a:ea typeface="Georgia" pitchFamily="34" charset="-122"/>
                <a:cs typeface="Georgia" pitchFamily="34" charset="-120"/>
              </a:rPr>
              <a:t>→</a:t>
            </a:r>
            <a:endParaRPr lang="en-US" sz="2200" dirty="0"/>
          </a:p>
        </p:txBody>
      </p:sp>
      <p:sp>
        <p:nvSpPr>
          <p:cNvPr id="17" name="Text 13"/>
          <p:cNvSpPr/>
          <p:nvPr/>
        </p:nvSpPr>
        <p:spPr>
          <a:xfrm>
            <a:off x="8183880" y="2331720"/>
            <a:ext cx="3520440" cy="566928"/>
          </a:xfrm>
          <a:prstGeom prst="rect">
            <a:avLst/>
          </a:prstGeom>
          <a:noFill/>
          <a:ln/>
        </p:spPr>
        <p:txBody>
          <a:bodyPr wrap="square" lIns="0" tIns="0" rIns="0" bIns="0" rtlCol="0" anchor="ctr"/>
          <a:lstStyle/>
          <a:p>
            <a:pPr indent="0" marL="0">
              <a:buNone/>
            </a:pPr>
            <a:r>
              <a:rPr lang="en-US" sz="1150" b="1" spc="100" kern="0" dirty="0">
                <a:solidFill>
                  <a:srgbClr val="CDA165"/>
                </a:solidFill>
                <a:latin typeface="Calibri" pitchFamily="34" charset="0"/>
                <a:ea typeface="Calibri" pitchFamily="34" charset="-122"/>
                <a:cs typeface="Calibri" pitchFamily="34" charset="-120"/>
              </a:rPr>
              <a:t>03 · SUPERWOOD</a:t>
            </a:r>
            <a:endParaRPr lang="en-US" sz="1150" dirty="0"/>
          </a:p>
        </p:txBody>
      </p:sp>
      <p:sp>
        <p:nvSpPr>
          <p:cNvPr id="18" name="Text 14"/>
          <p:cNvSpPr/>
          <p:nvPr/>
        </p:nvSpPr>
        <p:spPr>
          <a:xfrm>
            <a:off x="8183880" y="2944368"/>
            <a:ext cx="3520440" cy="777240"/>
          </a:xfrm>
          <a:prstGeom prst="rect">
            <a:avLst/>
          </a:prstGeom>
          <a:noFill/>
          <a:ln/>
        </p:spPr>
        <p:txBody>
          <a:bodyPr wrap="square" lIns="0" tIns="0" rIns="0" bIns="0" rtlCol="0" anchor="t"/>
          <a:lstStyle/>
          <a:p>
            <a:pPr indent="0" marL="0">
              <a:buNone/>
            </a:pPr>
            <a:r>
              <a:rPr lang="en-US" sz="1100" dirty="0">
                <a:solidFill>
                  <a:srgbClr val="9D8D76"/>
                </a:solidFill>
                <a:latin typeface="Calibri" pitchFamily="34" charset="0"/>
                <a:ea typeface="Calibri" pitchFamily="34" charset="-122"/>
                <a:cs typeface="Calibri" pitchFamily="34" charset="-120"/>
              </a:rPr>
              <a:t>Samples more than 50% stronger than A36 steel in tension, at one-sixth the weight</a:t>
            </a:r>
            <a:endParaRPr lang="en-US" sz="1100" dirty="0"/>
          </a:p>
        </p:txBody>
      </p:sp>
      <p:pic>
        <p:nvPicPr>
          <p:cNvPr id="19" name="Image 2" descr="media/image75.png">    </p:cNvPr>
          <p:cNvPicPr>
            <a:picLocks noChangeAspect="1"/>
          </p:cNvPicPr>
          <p:nvPr/>
        </p:nvPicPr>
        <p:blipFill>
          <a:blip r:embed="rId3"/>
          <a:srcRect l="0" r="0" t="0" b="0"/>
          <a:stretch/>
        </p:blipFill>
        <p:spPr>
          <a:xfrm>
            <a:off x="8183880" y="3794760"/>
            <a:ext cx="3520440" cy="2148840"/>
          </a:xfrm>
          <a:prstGeom prst="rect">
            <a:avLst/>
          </a:prstGeom>
        </p:spPr>
      </p:pic>
      <p:sp>
        <p:nvSpPr>
          <p:cNvPr id="20" name="Text 15"/>
          <p:cNvSpPr/>
          <p:nvPr/>
        </p:nvSpPr>
        <p:spPr>
          <a:xfrm>
            <a:off x="8183880" y="6035040"/>
            <a:ext cx="3520440" cy="320040"/>
          </a:xfrm>
          <a:prstGeom prst="rect">
            <a:avLst/>
          </a:prstGeom>
          <a:noFill/>
          <a:ln/>
        </p:spPr>
        <p:txBody>
          <a:bodyPr wrap="square" lIns="0" tIns="0" rIns="0" bIns="0" rtlCol="0" anchor="ctr"/>
          <a:lstStyle/>
          <a:p>
            <a:pPr algn="ctr" indent="0" marL="0">
              <a:buNone/>
            </a:pPr>
            <a:r>
              <a:rPr lang="en-US" sz="950" i="1" dirty="0">
                <a:solidFill>
                  <a:srgbClr val="9D8D76"/>
                </a:solidFill>
                <a:latin typeface="Calibri" pitchFamily="34" charset="0"/>
                <a:ea typeface="Calibri" pitchFamily="34" charset="-122"/>
                <a:cs typeface="Calibri" pitchFamily="34" charset="-120"/>
              </a:rPr>
              <a:t>After: collapsed, interlocking vessels</a:t>
            </a:r>
            <a:endParaRPr lang="en-US" sz="9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Technology</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MATERIAL</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The </a:t>
            </a:r>
            <a:pPr indent="0" marL="0">
              <a:buNone/>
            </a:pPr>
            <a:r>
              <a:rPr lang="en-US" sz="3200" i="1" dirty="0">
                <a:solidFill>
                  <a:srgbClr val="E2B877"/>
                </a:solidFill>
                <a:latin typeface="Georgia" pitchFamily="34" charset="0"/>
                <a:ea typeface="Georgia" pitchFamily="34" charset="-122"/>
                <a:cs typeface="Georgia" pitchFamily="34" charset="-120"/>
              </a:rPr>
              <a:t>strength</a:t>
            </a:r>
            <a:pPr indent="0" marL="0">
              <a:buNone/>
            </a:pPr>
            <a:r>
              <a:rPr lang="en-US" sz="3200" dirty="0">
                <a:solidFill>
                  <a:srgbClr val="F4ECDF"/>
                </a:solidFill>
                <a:latin typeface="Georgia" pitchFamily="34" charset="0"/>
                <a:ea typeface="Georgia" pitchFamily="34" charset="-122"/>
                <a:cs typeface="Georgia" pitchFamily="34" charset="-120"/>
              </a:rPr>
              <a:t> of SUPERWOOD</a:t>
            </a:r>
            <a:endParaRPr lang="en-US" sz="3200" dirty="0"/>
          </a:p>
        </p:txBody>
      </p:sp>
      <p:sp>
        <p:nvSpPr>
          <p:cNvPr id="6" name="Text 4"/>
          <p:cNvSpPr/>
          <p:nvPr/>
        </p:nvSpPr>
        <p:spPr>
          <a:xfrm>
            <a:off x="502920" y="1965960"/>
            <a:ext cx="2743200" cy="685800"/>
          </a:xfrm>
          <a:prstGeom prst="rect">
            <a:avLst/>
          </a:prstGeom>
          <a:noFill/>
          <a:ln/>
        </p:spPr>
        <p:txBody>
          <a:bodyPr wrap="square" lIns="0" tIns="0" rIns="0" bIns="0" rtlCol="0" anchor="ctr"/>
          <a:lstStyle/>
          <a:p>
            <a:pPr indent="0" marL="0">
              <a:buNone/>
            </a:pPr>
            <a:r>
              <a:rPr lang="en-US" sz="3400" dirty="0">
                <a:solidFill>
                  <a:srgbClr val="E2B877"/>
                </a:solidFill>
                <a:latin typeface="Georgia" pitchFamily="34" charset="0"/>
                <a:ea typeface="Georgia" pitchFamily="34" charset="-122"/>
                <a:cs typeface="Georgia" pitchFamily="34" charset="-120"/>
              </a:rPr>
              <a:t>50%+</a:t>
            </a:r>
            <a:endParaRPr lang="en-US" sz="3400" dirty="0"/>
          </a:p>
        </p:txBody>
      </p:sp>
      <p:sp>
        <p:nvSpPr>
          <p:cNvPr id="7" name="Text 5"/>
          <p:cNvSpPr/>
          <p:nvPr/>
        </p:nvSpPr>
        <p:spPr>
          <a:xfrm>
            <a:off x="502920" y="2697480"/>
            <a:ext cx="2468880" cy="640080"/>
          </a:xfrm>
          <a:prstGeom prst="rect">
            <a:avLst/>
          </a:prstGeom>
          <a:noFill/>
          <a:ln/>
        </p:spPr>
        <p:txBody>
          <a:bodyPr wrap="square" lIns="0" tIns="0" rIns="0" bIns="0" rtlCol="0" anchor="ctr"/>
          <a:lstStyle/>
          <a:p>
            <a:pPr indent="0" marL="0">
              <a:buNone/>
            </a:pPr>
            <a:r>
              <a:rPr lang="en-US" sz="1200" dirty="0">
                <a:solidFill>
                  <a:srgbClr val="CDBFA9"/>
                </a:solidFill>
                <a:latin typeface="Calibri" pitchFamily="34" charset="0"/>
                <a:ea typeface="Calibri" pitchFamily="34" charset="-122"/>
                <a:cs typeface="Calibri" pitchFamily="34" charset="-120"/>
              </a:rPr>
              <a:t>stronger than A36 steel in tension — demonstrated in samples</a:t>
            </a:r>
            <a:endParaRPr lang="en-US" sz="1200" dirty="0"/>
          </a:p>
        </p:txBody>
      </p:sp>
      <p:sp>
        <p:nvSpPr>
          <p:cNvPr id="8" name="Text 6"/>
          <p:cNvSpPr/>
          <p:nvPr/>
        </p:nvSpPr>
        <p:spPr>
          <a:xfrm>
            <a:off x="3346704" y="1965960"/>
            <a:ext cx="2743200" cy="685800"/>
          </a:xfrm>
          <a:prstGeom prst="rect">
            <a:avLst/>
          </a:prstGeom>
          <a:noFill/>
          <a:ln/>
        </p:spPr>
        <p:txBody>
          <a:bodyPr wrap="square" lIns="0" tIns="0" rIns="0" bIns="0" rtlCol="0" anchor="ctr"/>
          <a:lstStyle/>
          <a:p>
            <a:pPr indent="0" marL="0">
              <a:buNone/>
            </a:pPr>
            <a:r>
              <a:rPr lang="en-US" sz="3400" dirty="0">
                <a:solidFill>
                  <a:srgbClr val="E2B877"/>
                </a:solidFill>
                <a:latin typeface="Georgia" pitchFamily="34" charset="0"/>
                <a:ea typeface="Georgia" pitchFamily="34" charset="-122"/>
                <a:cs typeface="Georgia" pitchFamily="34" charset="-120"/>
              </a:rPr>
              <a:t>1/6</a:t>
            </a:r>
            <a:endParaRPr lang="en-US" sz="3400" dirty="0"/>
          </a:p>
        </p:txBody>
      </p:sp>
      <p:sp>
        <p:nvSpPr>
          <p:cNvPr id="9" name="Text 7"/>
          <p:cNvSpPr/>
          <p:nvPr/>
        </p:nvSpPr>
        <p:spPr>
          <a:xfrm>
            <a:off x="3346704" y="2697480"/>
            <a:ext cx="2468880" cy="640080"/>
          </a:xfrm>
          <a:prstGeom prst="rect">
            <a:avLst/>
          </a:prstGeom>
          <a:noFill/>
          <a:ln/>
        </p:spPr>
        <p:txBody>
          <a:bodyPr wrap="square" lIns="0" tIns="0" rIns="0" bIns="0" rtlCol="0" anchor="ctr"/>
          <a:lstStyle/>
          <a:p>
            <a:pPr indent="0" marL="0">
              <a:buNone/>
            </a:pPr>
            <a:r>
              <a:rPr lang="en-US" sz="1200" dirty="0">
                <a:solidFill>
                  <a:srgbClr val="CDBFA9"/>
                </a:solidFill>
                <a:latin typeface="Calibri" pitchFamily="34" charset="0"/>
                <a:ea typeface="Calibri" pitchFamily="34" charset="-122"/>
                <a:cs typeface="Calibri" pitchFamily="34" charset="-120"/>
              </a:rPr>
              <a:t>the weight of steel</a:t>
            </a:r>
            <a:endParaRPr lang="en-US" sz="1200" dirty="0"/>
          </a:p>
        </p:txBody>
      </p:sp>
      <p:sp>
        <p:nvSpPr>
          <p:cNvPr id="10" name="Text 8"/>
          <p:cNvSpPr/>
          <p:nvPr/>
        </p:nvSpPr>
        <p:spPr>
          <a:xfrm>
            <a:off x="6190488" y="1965960"/>
            <a:ext cx="2743200" cy="685800"/>
          </a:xfrm>
          <a:prstGeom prst="rect">
            <a:avLst/>
          </a:prstGeom>
          <a:noFill/>
          <a:ln/>
        </p:spPr>
        <p:txBody>
          <a:bodyPr wrap="square" lIns="0" tIns="0" rIns="0" bIns="0" rtlCol="0" anchor="ctr"/>
          <a:lstStyle/>
          <a:p>
            <a:pPr indent="0" marL="0">
              <a:buNone/>
            </a:pPr>
            <a:r>
              <a:rPr lang="en-US" sz="3400" dirty="0">
                <a:solidFill>
                  <a:srgbClr val="E2B877"/>
                </a:solidFill>
                <a:latin typeface="Georgia" pitchFamily="34" charset="0"/>
                <a:ea typeface="Georgia" pitchFamily="34" charset="-122"/>
                <a:cs typeface="Georgia" pitchFamily="34" charset="-120"/>
              </a:rPr>
              <a:t>Up to 10×</a:t>
            </a:r>
            <a:endParaRPr lang="en-US" sz="3400" dirty="0"/>
          </a:p>
        </p:txBody>
      </p:sp>
      <p:sp>
        <p:nvSpPr>
          <p:cNvPr id="11" name="Text 9"/>
          <p:cNvSpPr/>
          <p:nvPr/>
        </p:nvSpPr>
        <p:spPr>
          <a:xfrm>
            <a:off x="6190488" y="2697480"/>
            <a:ext cx="2468880" cy="640080"/>
          </a:xfrm>
          <a:prstGeom prst="rect">
            <a:avLst/>
          </a:prstGeom>
          <a:noFill/>
          <a:ln/>
        </p:spPr>
        <p:txBody>
          <a:bodyPr wrap="square" lIns="0" tIns="0" rIns="0" bIns="0" rtlCol="0" anchor="ctr"/>
          <a:lstStyle/>
          <a:p>
            <a:pPr indent="0" marL="0">
              <a:buNone/>
            </a:pPr>
            <a:r>
              <a:rPr lang="en-US" sz="1200" dirty="0">
                <a:solidFill>
                  <a:srgbClr val="CDBFA9"/>
                </a:solidFill>
                <a:latin typeface="Calibri" pitchFamily="34" charset="0"/>
                <a:ea typeface="Calibri" pitchFamily="34" charset="-122"/>
                <a:cs typeface="Calibri" pitchFamily="34" charset="-120"/>
              </a:rPr>
              <a:t>strength-to-weight ratio of steel</a:t>
            </a:r>
            <a:endParaRPr lang="en-US" sz="1200" dirty="0"/>
          </a:p>
        </p:txBody>
      </p:sp>
      <p:sp>
        <p:nvSpPr>
          <p:cNvPr id="12" name="Text 10"/>
          <p:cNvSpPr/>
          <p:nvPr/>
        </p:nvSpPr>
        <p:spPr>
          <a:xfrm>
            <a:off x="9034272" y="1965960"/>
            <a:ext cx="2743200" cy="685800"/>
          </a:xfrm>
          <a:prstGeom prst="rect">
            <a:avLst/>
          </a:prstGeom>
          <a:noFill/>
          <a:ln/>
        </p:spPr>
        <p:txBody>
          <a:bodyPr wrap="square" lIns="0" tIns="0" rIns="0" bIns="0" rtlCol="0" anchor="ctr"/>
          <a:lstStyle/>
          <a:p>
            <a:pPr indent="0" marL="0">
              <a:buNone/>
            </a:pPr>
            <a:r>
              <a:rPr lang="en-US" sz="3400" dirty="0">
                <a:solidFill>
                  <a:srgbClr val="E2B877"/>
                </a:solidFill>
                <a:latin typeface="Georgia" pitchFamily="34" charset="0"/>
                <a:ea typeface="Georgia" pitchFamily="34" charset="-122"/>
                <a:cs typeface="Georgia" pitchFamily="34" charset="-120"/>
              </a:rPr>
              <a:t>600 MPa</a:t>
            </a:r>
            <a:endParaRPr lang="en-US" sz="3400" dirty="0"/>
          </a:p>
        </p:txBody>
      </p:sp>
      <p:sp>
        <p:nvSpPr>
          <p:cNvPr id="13" name="Text 11"/>
          <p:cNvSpPr/>
          <p:nvPr/>
        </p:nvSpPr>
        <p:spPr>
          <a:xfrm>
            <a:off x="9034272" y="2697480"/>
            <a:ext cx="2468880" cy="640080"/>
          </a:xfrm>
          <a:prstGeom prst="rect">
            <a:avLst/>
          </a:prstGeom>
          <a:noFill/>
          <a:ln/>
        </p:spPr>
        <p:txBody>
          <a:bodyPr wrap="square" lIns="0" tIns="0" rIns="0" bIns="0" rtlCol="0" anchor="ctr"/>
          <a:lstStyle/>
          <a:p>
            <a:pPr indent="0" marL="0">
              <a:buNone/>
            </a:pPr>
            <a:r>
              <a:rPr lang="en-US" sz="1200" dirty="0">
                <a:solidFill>
                  <a:srgbClr val="CDBFA9"/>
                </a:solidFill>
                <a:latin typeface="Calibri" pitchFamily="34" charset="0"/>
                <a:ea typeface="Calibri" pitchFamily="34" charset="-122"/>
                <a:cs typeface="Calibri" pitchFamily="34" charset="-120"/>
              </a:rPr>
              <a:t>in production today; 1,000 MPa demonstrated in the lab</a:t>
            </a:r>
            <a:endParaRPr lang="en-US" sz="1200" dirty="0"/>
          </a:p>
        </p:txBody>
      </p:sp>
      <p:graphicFrame>
        <p:nvGraphicFramePr>
          <p:cNvPr id="14" name="Chart 0" descr=""/>
          <p:cNvGraphicFramePr/>
          <p:nvPr/>
        </p:nvGraphicFramePr>
        <p:xfrm>
          <a:off x="2468880" y="3520440"/>
          <a:ext cx="7223760" cy="260604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2468880" y="6199632"/>
            <a:ext cx="7223760" cy="274320"/>
          </a:xfrm>
          <a:prstGeom prst="rect">
            <a:avLst/>
          </a:prstGeom>
          <a:noFill/>
          <a:ln/>
        </p:spPr>
        <p:txBody>
          <a:bodyPr wrap="square" lIns="0" tIns="0" rIns="0" bIns="0" rtlCol="0" anchor="ctr"/>
          <a:lstStyle/>
          <a:p>
            <a:pPr algn="ctr" indent="0" marL="0">
              <a:buNone/>
            </a:pPr>
            <a:r>
              <a:rPr lang="en-US" sz="900" i="1" dirty="0">
                <a:solidFill>
                  <a:srgbClr val="9D8D76"/>
                </a:solidFill>
                <a:latin typeface="Calibri" pitchFamily="34" charset="0"/>
                <a:ea typeface="Calibri" pitchFamily="34" charset="-122"/>
                <a:cs typeface="Calibri" pitchFamily="34" charset="-120"/>
              </a:rPr>
              <a:t>SUPERWOOD: parallel-to-grain tension, production material. Steel: ASTM A36 structural. Aluminum: 6061-T6. Company test data; design values and methods available on request.</a:t>
            </a:r>
            <a:endParaRPr lang="en-US" sz="9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Technology</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BEYOND STRENGTH</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Properties that matter on a data center campus</a:t>
            </a:r>
            <a:endParaRPr lang="en-US" sz="3200" dirty="0"/>
          </a:p>
        </p:txBody>
      </p:sp>
      <p:pic>
        <p:nvPicPr>
          <p:cNvPr id="6" name="Image 0" descr="prep/prod-board.jpg">    </p:cNvPr>
          <p:cNvPicPr>
            <a:picLocks noChangeAspect="1"/>
          </p:cNvPicPr>
          <p:nvPr/>
        </p:nvPicPr>
        <p:blipFill>
          <a:blip r:embed="rId1"/>
          <a:stretch>
            <a:fillRect/>
          </a:stretch>
        </p:blipFill>
        <p:spPr>
          <a:xfrm>
            <a:off x="502920" y="1783080"/>
            <a:ext cx="3657600" cy="2440305"/>
          </a:xfrm>
          <a:prstGeom prst="rect">
            <a:avLst/>
          </a:prstGeom>
        </p:spPr>
      </p:pic>
      <p:sp>
        <p:nvSpPr>
          <p:cNvPr id="7" name="Text 4"/>
          <p:cNvSpPr/>
          <p:nvPr/>
        </p:nvSpPr>
        <p:spPr>
          <a:xfrm>
            <a:off x="502920" y="4526280"/>
            <a:ext cx="3657600" cy="1737360"/>
          </a:xfrm>
          <a:prstGeom prst="rect">
            <a:avLst/>
          </a:prstGeom>
          <a:noFill/>
          <a:ln/>
        </p:spPr>
        <p:txBody>
          <a:bodyPr wrap="square" lIns="0" tIns="0" rIns="0" bIns="0" rtlCol="0" anchor="t"/>
          <a:lstStyle/>
          <a:p>
            <a:pPr indent="0" marL="0">
              <a:buNone/>
            </a:pPr>
            <a:r>
              <a:rPr lang="en-US" sz="1900" b="1" dirty="0">
                <a:solidFill>
                  <a:srgbClr val="F4ECDF"/>
                </a:solidFill>
                <a:latin typeface="Georgia" pitchFamily="34" charset="0"/>
                <a:ea typeface="Georgia" pitchFamily="34" charset="-122"/>
                <a:cs typeface="Georgia" pitchFamily="34" charset="-120"/>
              </a:rPr>
              <a:t>Stronger than steel.
</a:t>
            </a:r>
            <a:pPr indent="0" marL="0">
              <a:buNone/>
            </a:pPr>
            <a:r>
              <a:rPr lang="en-US" sz="1900" b="1" dirty="0">
                <a:solidFill>
                  <a:srgbClr val="E2B877"/>
                </a:solidFill>
                <a:latin typeface="Georgia" pitchFamily="34" charset="0"/>
                <a:ea typeface="Georgia" pitchFamily="34" charset="-122"/>
                <a:cs typeface="Georgia" pitchFamily="34" charset="-120"/>
              </a:rPr>
              <a:t>One-sixth the weight.
</a:t>
            </a:r>
            <a:pPr indent="0" marL="0">
              <a:buNone/>
            </a:pPr>
            <a:r>
              <a:rPr lang="en-US" sz="1900" b="1" dirty="0">
                <a:solidFill>
                  <a:srgbClr val="F4ECDF"/>
                </a:solidFill>
                <a:latin typeface="Georgia" pitchFamily="34" charset="0"/>
                <a:ea typeface="Georgia" pitchFamily="34" charset="-122"/>
                <a:cs typeface="Georgia" pitchFamily="34" charset="-120"/>
              </a:rPr>
              <a:t>Made from wood, in America.</a:t>
            </a:r>
            <a:endParaRPr lang="en-US" sz="1900" dirty="0"/>
          </a:p>
        </p:txBody>
      </p:sp>
      <p:pic>
        <p:nvPicPr>
          <p:cNvPr id="8" name="Image 1" descr="prep/icon_fire.png">    </p:cNvPr>
          <p:cNvPicPr>
            <a:picLocks noChangeAspect="1"/>
          </p:cNvPicPr>
          <p:nvPr/>
        </p:nvPicPr>
        <p:blipFill>
          <a:blip r:embed="rId2"/>
          <a:stretch>
            <a:fillRect/>
          </a:stretch>
        </p:blipFill>
        <p:spPr>
          <a:xfrm>
            <a:off x="4617720" y="1810512"/>
            <a:ext cx="310896" cy="310896"/>
          </a:xfrm>
          <a:prstGeom prst="rect">
            <a:avLst/>
          </a:prstGeom>
        </p:spPr>
      </p:pic>
      <p:sp>
        <p:nvSpPr>
          <p:cNvPr id="9" name="Text 5"/>
          <p:cNvSpPr/>
          <p:nvPr/>
        </p:nvSpPr>
        <p:spPr>
          <a:xfrm>
            <a:off x="5120640" y="1783080"/>
            <a:ext cx="6583680" cy="256032"/>
          </a:xfrm>
          <a:prstGeom prst="rect">
            <a:avLst/>
          </a:prstGeom>
          <a:noFill/>
          <a:ln/>
        </p:spPr>
        <p:txBody>
          <a:bodyPr wrap="square" lIns="0" tIns="0" rIns="0" bIns="0" rtlCol="0" anchor="ctr"/>
          <a:lstStyle/>
          <a:p>
            <a:pPr indent="0" marL="0">
              <a:buNone/>
            </a:pPr>
            <a:r>
              <a:rPr lang="en-US" sz="1200" b="1" spc="100" kern="0" dirty="0">
                <a:solidFill>
                  <a:srgbClr val="F4ECDF"/>
                </a:solidFill>
                <a:latin typeface="Calibri" pitchFamily="34" charset="0"/>
                <a:ea typeface="Calibri" pitchFamily="34" charset="-122"/>
                <a:cs typeface="Calibri" pitchFamily="34" charset="-120"/>
              </a:rPr>
              <a:t>FIRE RESISTANT</a:t>
            </a:r>
            <a:endParaRPr lang="en-US" sz="1200" dirty="0"/>
          </a:p>
        </p:txBody>
      </p:sp>
      <p:sp>
        <p:nvSpPr>
          <p:cNvPr id="10" name="Text 6"/>
          <p:cNvSpPr/>
          <p:nvPr/>
        </p:nvSpPr>
        <p:spPr>
          <a:xfrm>
            <a:off x="5120640" y="2048256"/>
            <a:ext cx="6583680" cy="365760"/>
          </a:xfrm>
          <a:prstGeom prst="rect">
            <a:avLst/>
          </a:prstGeom>
          <a:noFill/>
          <a:ln/>
        </p:spPr>
        <p:txBody>
          <a:bodyPr wrap="square" lIns="0" tIns="0" rIns="0" bIns="0" rtlCol="0" anchor="ctr"/>
          <a:lstStyle/>
          <a:p>
            <a:pPr indent="0" marL="0">
              <a:buNone/>
            </a:pPr>
            <a:r>
              <a:rPr lang="en-US" sz="950" dirty="0">
                <a:solidFill>
                  <a:srgbClr val="9D8D76"/>
                </a:solidFill>
                <a:latin typeface="Calibri" pitchFamily="34" charset="0"/>
                <a:ea typeface="Calibri" pitchFamily="34" charset="-122"/>
                <a:cs typeface="Calibri" pitchFamily="34" charset="-120"/>
              </a:rPr>
              <a:t>ASTM E84 Class A (surface flame spread) and aerospace standards; dense natural char layer. Assembly ratings: see roadmap</a:t>
            </a:r>
            <a:endParaRPr lang="en-US" sz="950" dirty="0"/>
          </a:p>
        </p:txBody>
      </p:sp>
      <p:pic>
        <p:nvPicPr>
          <p:cNvPr id="11" name="Image 2" descr="prep/icon_shield.png">    </p:cNvPr>
          <p:cNvPicPr>
            <a:picLocks noChangeAspect="1"/>
          </p:cNvPicPr>
          <p:nvPr/>
        </p:nvPicPr>
        <p:blipFill>
          <a:blip r:embed="rId3"/>
          <a:stretch>
            <a:fillRect/>
          </a:stretch>
        </p:blipFill>
        <p:spPr>
          <a:xfrm>
            <a:off x="4617720" y="2468880"/>
            <a:ext cx="310896" cy="310896"/>
          </a:xfrm>
          <a:prstGeom prst="rect">
            <a:avLst/>
          </a:prstGeom>
        </p:spPr>
      </p:pic>
      <p:sp>
        <p:nvSpPr>
          <p:cNvPr id="12" name="Text 7"/>
          <p:cNvSpPr/>
          <p:nvPr/>
        </p:nvSpPr>
        <p:spPr>
          <a:xfrm>
            <a:off x="5120640" y="2441448"/>
            <a:ext cx="6583680" cy="256032"/>
          </a:xfrm>
          <a:prstGeom prst="rect">
            <a:avLst/>
          </a:prstGeom>
          <a:noFill/>
          <a:ln/>
        </p:spPr>
        <p:txBody>
          <a:bodyPr wrap="square" lIns="0" tIns="0" rIns="0" bIns="0" rtlCol="0" anchor="ctr"/>
          <a:lstStyle/>
          <a:p>
            <a:pPr indent="0" marL="0">
              <a:buNone/>
            </a:pPr>
            <a:r>
              <a:rPr lang="en-US" sz="1200" b="1" spc="100" kern="0" dirty="0">
                <a:solidFill>
                  <a:srgbClr val="F4ECDF"/>
                </a:solidFill>
                <a:latin typeface="Calibri" pitchFamily="34" charset="0"/>
                <a:ea typeface="Calibri" pitchFamily="34" charset="-122"/>
                <a:cs typeface="Calibri" pitchFamily="34" charset="-120"/>
              </a:rPr>
              <a:t>DURABLE AND IMPACT RESISTANT</a:t>
            </a:r>
            <a:endParaRPr lang="en-US" sz="1200" dirty="0"/>
          </a:p>
        </p:txBody>
      </p:sp>
      <p:sp>
        <p:nvSpPr>
          <p:cNvPr id="13" name="Text 8"/>
          <p:cNvSpPr/>
          <p:nvPr/>
        </p:nvSpPr>
        <p:spPr>
          <a:xfrm>
            <a:off x="5120640" y="2706624"/>
            <a:ext cx="6583680" cy="365760"/>
          </a:xfrm>
          <a:prstGeom prst="rect">
            <a:avLst/>
          </a:prstGeom>
          <a:noFill/>
          <a:ln/>
        </p:spPr>
        <p:txBody>
          <a:bodyPr wrap="square" lIns="0" tIns="0" rIns="0" bIns="0" rtlCol="0" anchor="ctr"/>
          <a:lstStyle/>
          <a:p>
            <a:pPr indent="0" marL="0">
              <a:buNone/>
            </a:pPr>
            <a:r>
              <a:rPr lang="en-US" sz="950" dirty="0">
                <a:solidFill>
                  <a:srgbClr val="9D8D76"/>
                </a:solidFill>
                <a:latin typeface="Calibri" pitchFamily="34" charset="0"/>
                <a:ea typeface="Calibri" pitchFamily="34" charset="-122"/>
                <a:cs typeface="Calibri" pitchFamily="34" charset="-120"/>
              </a:rPr>
              <a:t>3× more dent-resistant than oak; impact and storm resistant — suited to fences, screens and door protection</a:t>
            </a:r>
            <a:endParaRPr lang="en-US" sz="950" dirty="0"/>
          </a:p>
        </p:txBody>
      </p:sp>
      <p:pic>
        <p:nvPicPr>
          <p:cNvPr id="14" name="Image 3" descr="prep/icon_droplet.png">    </p:cNvPr>
          <p:cNvPicPr>
            <a:picLocks noChangeAspect="1"/>
          </p:cNvPicPr>
          <p:nvPr/>
        </p:nvPicPr>
        <p:blipFill>
          <a:blip r:embed="rId4"/>
          <a:stretch>
            <a:fillRect/>
          </a:stretch>
        </p:blipFill>
        <p:spPr>
          <a:xfrm>
            <a:off x="4617720" y="3127248"/>
            <a:ext cx="310896" cy="310896"/>
          </a:xfrm>
          <a:prstGeom prst="rect">
            <a:avLst/>
          </a:prstGeom>
        </p:spPr>
      </p:pic>
      <p:sp>
        <p:nvSpPr>
          <p:cNvPr id="15" name="Text 9"/>
          <p:cNvSpPr/>
          <p:nvPr/>
        </p:nvSpPr>
        <p:spPr>
          <a:xfrm>
            <a:off x="5120640" y="3099816"/>
            <a:ext cx="6583680" cy="256032"/>
          </a:xfrm>
          <a:prstGeom prst="rect">
            <a:avLst/>
          </a:prstGeom>
          <a:noFill/>
          <a:ln/>
        </p:spPr>
        <p:txBody>
          <a:bodyPr wrap="square" lIns="0" tIns="0" rIns="0" bIns="0" rtlCol="0" anchor="ctr"/>
          <a:lstStyle/>
          <a:p>
            <a:pPr indent="0" marL="0">
              <a:buNone/>
            </a:pPr>
            <a:r>
              <a:rPr lang="en-US" sz="1200" b="1" spc="100" kern="0" dirty="0">
                <a:solidFill>
                  <a:srgbClr val="F4ECDF"/>
                </a:solidFill>
                <a:latin typeface="Calibri" pitchFamily="34" charset="0"/>
                <a:ea typeface="Calibri" pitchFamily="34" charset="-122"/>
                <a:cs typeface="Calibri" pitchFamily="34" charset="-120"/>
              </a:rPr>
              <a:t>RESISTS MOISTURE, PESTS AND ROT</a:t>
            </a:r>
            <a:endParaRPr lang="en-US" sz="1200" dirty="0"/>
          </a:p>
        </p:txBody>
      </p:sp>
      <p:sp>
        <p:nvSpPr>
          <p:cNvPr id="16" name="Text 10"/>
          <p:cNvSpPr/>
          <p:nvPr/>
        </p:nvSpPr>
        <p:spPr>
          <a:xfrm>
            <a:off x="5120640" y="3364992"/>
            <a:ext cx="6583680" cy="365760"/>
          </a:xfrm>
          <a:prstGeom prst="rect">
            <a:avLst/>
          </a:prstGeom>
          <a:noFill/>
          <a:ln/>
        </p:spPr>
        <p:txBody>
          <a:bodyPr wrap="square" lIns="0" tIns="0" rIns="0" bIns="0" rtlCol="0" anchor="ctr"/>
          <a:lstStyle/>
          <a:p>
            <a:pPr indent="0" marL="0">
              <a:buNone/>
            </a:pPr>
            <a:r>
              <a:rPr lang="en-US" sz="950" dirty="0">
                <a:solidFill>
                  <a:srgbClr val="9D8D76"/>
                </a:solidFill>
                <a:latin typeface="Calibri" pitchFamily="34" charset="0"/>
                <a:ea typeface="Calibri" pitchFamily="34" charset="-122"/>
                <a:cs typeface="Calibri" pitchFamily="34" charset="-120"/>
              </a:rPr>
              <a:t>No rust; protects against termites, mold and fungus for exterior and yard use</a:t>
            </a:r>
            <a:endParaRPr lang="en-US" sz="950" dirty="0"/>
          </a:p>
        </p:txBody>
      </p:sp>
      <p:pic>
        <p:nvPicPr>
          <p:cNvPr id="17" name="Image 4" descr="prep/icon_thermo.png">    </p:cNvPr>
          <p:cNvPicPr>
            <a:picLocks noChangeAspect="1"/>
          </p:cNvPicPr>
          <p:nvPr/>
        </p:nvPicPr>
        <p:blipFill>
          <a:blip r:embed="rId5"/>
          <a:stretch>
            <a:fillRect/>
          </a:stretch>
        </p:blipFill>
        <p:spPr>
          <a:xfrm>
            <a:off x="4617720" y="3785616"/>
            <a:ext cx="310896" cy="310896"/>
          </a:xfrm>
          <a:prstGeom prst="rect">
            <a:avLst/>
          </a:prstGeom>
        </p:spPr>
      </p:pic>
      <p:sp>
        <p:nvSpPr>
          <p:cNvPr id="18" name="Text 11"/>
          <p:cNvSpPr/>
          <p:nvPr/>
        </p:nvSpPr>
        <p:spPr>
          <a:xfrm>
            <a:off x="5120640" y="3758184"/>
            <a:ext cx="6583680" cy="256032"/>
          </a:xfrm>
          <a:prstGeom prst="rect">
            <a:avLst/>
          </a:prstGeom>
          <a:noFill/>
          <a:ln/>
        </p:spPr>
        <p:txBody>
          <a:bodyPr wrap="square" lIns="0" tIns="0" rIns="0" bIns="0" rtlCol="0" anchor="ctr"/>
          <a:lstStyle/>
          <a:p>
            <a:pPr indent="0" marL="0">
              <a:buNone/>
            </a:pPr>
            <a:r>
              <a:rPr lang="en-US" sz="1200" b="1" spc="100" kern="0" dirty="0">
                <a:solidFill>
                  <a:srgbClr val="F4ECDF"/>
                </a:solidFill>
                <a:latin typeface="Calibri" pitchFamily="34" charset="0"/>
                <a:ea typeface="Calibri" pitchFamily="34" charset="-122"/>
                <a:cs typeface="Calibri" pitchFamily="34" charset="-120"/>
              </a:rPr>
              <a:t>THERMALLY AND ELECTRICALLY INSULATING</a:t>
            </a:r>
            <a:endParaRPr lang="en-US" sz="1200" dirty="0"/>
          </a:p>
        </p:txBody>
      </p:sp>
      <p:sp>
        <p:nvSpPr>
          <p:cNvPr id="19" name="Text 12"/>
          <p:cNvSpPr/>
          <p:nvPr/>
        </p:nvSpPr>
        <p:spPr>
          <a:xfrm>
            <a:off x="5120640" y="4023360"/>
            <a:ext cx="6583680" cy="365760"/>
          </a:xfrm>
          <a:prstGeom prst="rect">
            <a:avLst/>
          </a:prstGeom>
          <a:noFill/>
          <a:ln/>
        </p:spPr>
        <p:txBody>
          <a:bodyPr wrap="square" lIns="0" tIns="0" rIns="0" bIns="0" rtlCol="0" anchor="ctr"/>
          <a:lstStyle/>
          <a:p>
            <a:pPr indent="0" marL="0">
              <a:buNone/>
            </a:pPr>
            <a:r>
              <a:rPr lang="en-US" sz="950" dirty="0">
                <a:solidFill>
                  <a:srgbClr val="9D8D76"/>
                </a:solidFill>
                <a:latin typeface="Calibri" pitchFamily="34" charset="0"/>
                <a:ea typeface="Calibri" pitchFamily="34" charset="-122"/>
                <a:cs typeface="Calibri" pitchFamily="34" charset="-120"/>
              </a:rPr>
              <a:t>100× better than steel, 400× better than aluminum; non-conductive around electrical infrastructure</a:t>
            </a:r>
            <a:endParaRPr lang="en-US" sz="950" dirty="0"/>
          </a:p>
        </p:txBody>
      </p:sp>
      <p:pic>
        <p:nvPicPr>
          <p:cNvPr id="20" name="Image 5" descr="prep/icon_vibration_cream.png">    </p:cNvPr>
          <p:cNvPicPr>
            <a:picLocks noChangeAspect="1"/>
          </p:cNvPicPr>
          <p:nvPr/>
        </p:nvPicPr>
        <p:blipFill>
          <a:blip r:embed="rId6"/>
          <a:stretch>
            <a:fillRect/>
          </a:stretch>
        </p:blipFill>
        <p:spPr>
          <a:xfrm>
            <a:off x="4617720" y="4443984"/>
            <a:ext cx="310896" cy="310896"/>
          </a:xfrm>
          <a:prstGeom prst="rect">
            <a:avLst/>
          </a:prstGeom>
        </p:spPr>
      </p:pic>
      <p:sp>
        <p:nvSpPr>
          <p:cNvPr id="21" name="Text 13"/>
          <p:cNvSpPr/>
          <p:nvPr/>
        </p:nvSpPr>
        <p:spPr>
          <a:xfrm>
            <a:off x="5120640" y="4416552"/>
            <a:ext cx="6583680" cy="256032"/>
          </a:xfrm>
          <a:prstGeom prst="rect">
            <a:avLst/>
          </a:prstGeom>
          <a:noFill/>
          <a:ln/>
        </p:spPr>
        <p:txBody>
          <a:bodyPr wrap="square" lIns="0" tIns="0" rIns="0" bIns="0" rtlCol="0" anchor="ctr"/>
          <a:lstStyle/>
          <a:p>
            <a:pPr indent="0" marL="0">
              <a:buNone/>
            </a:pPr>
            <a:r>
              <a:rPr lang="en-US" sz="1200" b="1" spc="100" kern="0" dirty="0">
                <a:solidFill>
                  <a:srgbClr val="F4ECDF"/>
                </a:solidFill>
                <a:latin typeface="Calibri" pitchFamily="34" charset="0"/>
                <a:ea typeface="Calibri" pitchFamily="34" charset="-122"/>
                <a:cs typeface="Calibri" pitchFamily="34" charset="-120"/>
              </a:rPr>
              <a:t>SOUND ATTENUATING</a:t>
            </a:r>
            <a:endParaRPr lang="en-US" sz="1200" dirty="0"/>
          </a:p>
        </p:txBody>
      </p:sp>
      <p:sp>
        <p:nvSpPr>
          <p:cNvPr id="22" name="Text 14"/>
          <p:cNvSpPr/>
          <p:nvPr/>
        </p:nvSpPr>
        <p:spPr>
          <a:xfrm>
            <a:off x="5120640" y="4681728"/>
            <a:ext cx="6583680" cy="365760"/>
          </a:xfrm>
          <a:prstGeom prst="rect">
            <a:avLst/>
          </a:prstGeom>
          <a:noFill/>
          <a:ln/>
        </p:spPr>
        <p:txBody>
          <a:bodyPr wrap="square" lIns="0" tIns="0" rIns="0" bIns="0" rtlCol="0" anchor="ctr"/>
          <a:lstStyle/>
          <a:p>
            <a:pPr indent="0" marL="0">
              <a:buNone/>
            </a:pPr>
            <a:r>
              <a:rPr lang="en-US" sz="950" dirty="0">
                <a:solidFill>
                  <a:srgbClr val="9D8D76"/>
                </a:solidFill>
                <a:latin typeface="Calibri" pitchFamily="34" charset="0"/>
                <a:ea typeface="Calibri" pitchFamily="34" charset="-122"/>
                <a:cs typeface="Calibri" pitchFamily="34" charset="-120"/>
              </a:rPr>
              <a:t>Improved damping vs. steel — the basis for acoustic barriers and equipment screens (STC/OITC testing on the roadmap)</a:t>
            </a:r>
            <a:endParaRPr lang="en-US" sz="950" dirty="0"/>
          </a:p>
        </p:txBody>
      </p:sp>
      <p:pic>
        <p:nvPicPr>
          <p:cNvPr id="23" name="Image 6" descr="prep/icon_rf.png">    </p:cNvPr>
          <p:cNvPicPr>
            <a:picLocks noChangeAspect="1"/>
          </p:cNvPicPr>
          <p:nvPr/>
        </p:nvPicPr>
        <p:blipFill>
          <a:blip r:embed="rId7"/>
          <a:stretch>
            <a:fillRect/>
          </a:stretch>
        </p:blipFill>
        <p:spPr>
          <a:xfrm>
            <a:off x="4617720" y="5102352"/>
            <a:ext cx="310896" cy="310896"/>
          </a:xfrm>
          <a:prstGeom prst="rect">
            <a:avLst/>
          </a:prstGeom>
        </p:spPr>
      </p:pic>
      <p:sp>
        <p:nvSpPr>
          <p:cNvPr id="24" name="Text 15"/>
          <p:cNvSpPr/>
          <p:nvPr/>
        </p:nvSpPr>
        <p:spPr>
          <a:xfrm>
            <a:off x="5120640" y="5074920"/>
            <a:ext cx="6583680" cy="256032"/>
          </a:xfrm>
          <a:prstGeom prst="rect">
            <a:avLst/>
          </a:prstGeom>
          <a:noFill/>
          <a:ln/>
        </p:spPr>
        <p:txBody>
          <a:bodyPr wrap="square" lIns="0" tIns="0" rIns="0" bIns="0" rtlCol="0" anchor="ctr"/>
          <a:lstStyle/>
          <a:p>
            <a:pPr indent="0" marL="0">
              <a:buNone/>
            </a:pPr>
            <a:r>
              <a:rPr lang="en-US" sz="1200" b="1" spc="100" kern="0" dirty="0">
                <a:solidFill>
                  <a:srgbClr val="F4ECDF"/>
                </a:solidFill>
                <a:latin typeface="Calibri" pitchFamily="34" charset="0"/>
                <a:ea typeface="Calibri" pitchFamily="34" charset="-122"/>
                <a:cs typeface="Calibri" pitchFamily="34" charset="-120"/>
              </a:rPr>
              <a:t>RF TRANSPARENT</a:t>
            </a:r>
            <a:endParaRPr lang="en-US" sz="1200" dirty="0"/>
          </a:p>
        </p:txBody>
      </p:sp>
      <p:sp>
        <p:nvSpPr>
          <p:cNvPr id="25" name="Text 16"/>
          <p:cNvSpPr/>
          <p:nvPr/>
        </p:nvSpPr>
        <p:spPr>
          <a:xfrm>
            <a:off x="5120640" y="5340096"/>
            <a:ext cx="6583680" cy="365760"/>
          </a:xfrm>
          <a:prstGeom prst="rect">
            <a:avLst/>
          </a:prstGeom>
          <a:noFill/>
          <a:ln/>
        </p:spPr>
        <p:txBody>
          <a:bodyPr wrap="square" lIns="0" tIns="0" rIns="0" bIns="0" rtlCol="0" anchor="ctr"/>
          <a:lstStyle/>
          <a:p>
            <a:pPr indent="0" marL="0">
              <a:buNone/>
            </a:pPr>
            <a:r>
              <a:rPr lang="en-US" sz="950" dirty="0">
                <a:solidFill>
                  <a:srgbClr val="9D8D76"/>
                </a:solidFill>
                <a:latin typeface="Calibri" pitchFamily="34" charset="0"/>
                <a:ea typeface="Calibri" pitchFamily="34" charset="-122"/>
                <a:cs typeface="Calibri" pitchFamily="34" charset="-120"/>
              </a:rPr>
              <a:t>Useful in niches: antenna screening, timing-antenna enclosures, telecom shelters</a:t>
            </a:r>
            <a:endParaRPr lang="en-US" sz="950" dirty="0"/>
          </a:p>
        </p:txBody>
      </p:sp>
      <p:pic>
        <p:nvPicPr>
          <p:cNvPr id="26" name="Image 7" descr="prep/icon_leaf.png">    </p:cNvPr>
          <p:cNvPicPr>
            <a:picLocks noChangeAspect="1"/>
          </p:cNvPicPr>
          <p:nvPr/>
        </p:nvPicPr>
        <p:blipFill>
          <a:blip r:embed="rId8"/>
          <a:stretch>
            <a:fillRect/>
          </a:stretch>
        </p:blipFill>
        <p:spPr>
          <a:xfrm>
            <a:off x="4617720" y="5760720"/>
            <a:ext cx="310896" cy="310896"/>
          </a:xfrm>
          <a:prstGeom prst="rect">
            <a:avLst/>
          </a:prstGeom>
        </p:spPr>
      </p:pic>
      <p:sp>
        <p:nvSpPr>
          <p:cNvPr id="27" name="Text 17"/>
          <p:cNvSpPr/>
          <p:nvPr/>
        </p:nvSpPr>
        <p:spPr>
          <a:xfrm>
            <a:off x="5120640" y="5733288"/>
            <a:ext cx="6583680" cy="256032"/>
          </a:xfrm>
          <a:prstGeom prst="rect">
            <a:avLst/>
          </a:prstGeom>
          <a:noFill/>
          <a:ln/>
        </p:spPr>
        <p:txBody>
          <a:bodyPr wrap="square" lIns="0" tIns="0" rIns="0" bIns="0" rtlCol="0" anchor="ctr"/>
          <a:lstStyle/>
          <a:p>
            <a:pPr indent="0" marL="0">
              <a:buNone/>
            </a:pPr>
            <a:r>
              <a:rPr lang="en-US" sz="1200" b="1" spc="100" kern="0" dirty="0">
                <a:solidFill>
                  <a:srgbClr val="F4ECDF"/>
                </a:solidFill>
                <a:latin typeface="Calibri" pitchFamily="34" charset="0"/>
                <a:ea typeface="Calibri" pitchFamily="34" charset="-122"/>
                <a:cs typeface="Calibri" pitchFamily="34" charset="-120"/>
              </a:rPr>
              <a:t>NATURALLY BEAUTIFUL</a:t>
            </a:r>
            <a:endParaRPr lang="en-US" sz="1200" dirty="0"/>
          </a:p>
        </p:txBody>
      </p:sp>
      <p:sp>
        <p:nvSpPr>
          <p:cNvPr id="28" name="Text 18"/>
          <p:cNvSpPr/>
          <p:nvPr/>
        </p:nvSpPr>
        <p:spPr>
          <a:xfrm>
            <a:off x="5120640" y="5998464"/>
            <a:ext cx="6583680" cy="365760"/>
          </a:xfrm>
          <a:prstGeom prst="rect">
            <a:avLst/>
          </a:prstGeom>
          <a:noFill/>
          <a:ln/>
        </p:spPr>
        <p:txBody>
          <a:bodyPr wrap="square" lIns="0" tIns="0" rIns="0" bIns="0" rtlCol="0" anchor="ctr"/>
          <a:lstStyle/>
          <a:p>
            <a:pPr indent="0" marL="0">
              <a:buNone/>
            </a:pPr>
            <a:r>
              <a:rPr lang="en-US" sz="950" dirty="0">
                <a:solidFill>
                  <a:srgbClr val="9D8D76"/>
                </a:solidFill>
                <a:latin typeface="Calibri" pitchFamily="34" charset="0"/>
                <a:ea typeface="Calibri" pitchFamily="34" charset="-122"/>
                <a:cs typeface="Calibri" pitchFamily="34" charset="-120"/>
              </a:rPr>
              <a:t>The texture, colors and warmth of wood — the biophilic, community-facing surface</a:t>
            </a:r>
            <a:endParaRPr lang="en-US" sz="9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Technology</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CAPABILITIES &amp; CERTIFICATION ROADMAP</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Performance climbs; the code pathway is mapped</a:t>
            </a:r>
            <a:endParaRPr lang="en-US" sz="3200" dirty="0"/>
          </a:p>
        </p:txBody>
      </p:sp>
      <p:sp>
        <p:nvSpPr>
          <p:cNvPr id="6" name="Text 4"/>
          <p:cNvSpPr/>
          <p:nvPr/>
        </p:nvSpPr>
        <p:spPr>
          <a:xfrm>
            <a:off x="3931920" y="1874520"/>
            <a:ext cx="2606040" cy="457200"/>
          </a:xfrm>
          <a:prstGeom prst="rect">
            <a:avLst/>
          </a:prstGeom>
          <a:noFill/>
          <a:ln/>
        </p:spPr>
        <p:txBody>
          <a:bodyPr wrap="square" lIns="0" tIns="0" rIns="0" bIns="0" rtlCol="0" anchor="ctr"/>
          <a:lstStyle/>
          <a:p>
            <a:pPr indent="0" marL="0">
              <a:buNone/>
            </a:pPr>
            <a:r>
              <a:rPr lang="en-US" sz="1050" b="1" spc="150" kern="0" dirty="0">
                <a:solidFill>
                  <a:srgbClr val="CDA165"/>
                </a:solidFill>
                <a:latin typeface="Calibri" pitchFamily="34" charset="0"/>
                <a:ea typeface="Calibri" pitchFamily="34" charset="-122"/>
                <a:cs typeface="Calibri" pitchFamily="34" charset="-120"/>
              </a:rPr>
              <a:t>IMMEDIATE (2025–26)</a:t>
            </a:r>
            <a:endParaRPr lang="en-US" sz="1050" dirty="0"/>
          </a:p>
        </p:txBody>
      </p:sp>
      <p:sp>
        <p:nvSpPr>
          <p:cNvPr id="7" name="Text 5"/>
          <p:cNvSpPr/>
          <p:nvPr/>
        </p:nvSpPr>
        <p:spPr>
          <a:xfrm>
            <a:off x="6675120" y="1874520"/>
            <a:ext cx="2606040" cy="457200"/>
          </a:xfrm>
          <a:prstGeom prst="rect">
            <a:avLst/>
          </a:prstGeom>
          <a:noFill/>
          <a:ln/>
        </p:spPr>
        <p:txBody>
          <a:bodyPr wrap="square" lIns="0" tIns="0" rIns="0" bIns="0" rtlCol="0" anchor="ctr"/>
          <a:lstStyle/>
          <a:p>
            <a:pPr indent="0" marL="0">
              <a:buNone/>
            </a:pPr>
            <a:r>
              <a:rPr lang="en-US" sz="1050" b="1" spc="150" kern="0" dirty="0">
                <a:solidFill>
                  <a:srgbClr val="CDA165"/>
                </a:solidFill>
                <a:latin typeface="Calibri" pitchFamily="34" charset="0"/>
                <a:ea typeface="Calibri" pitchFamily="34" charset="-122"/>
                <a:cs typeface="Calibri" pitchFamily="34" charset="-120"/>
              </a:rPr>
              <a:t>MEDIUM TERM (2027–29)</a:t>
            </a:r>
            <a:endParaRPr lang="en-US" sz="1050" dirty="0"/>
          </a:p>
        </p:txBody>
      </p:sp>
      <p:sp>
        <p:nvSpPr>
          <p:cNvPr id="8" name="Text 6"/>
          <p:cNvSpPr/>
          <p:nvPr/>
        </p:nvSpPr>
        <p:spPr>
          <a:xfrm>
            <a:off x="9418320" y="1874520"/>
            <a:ext cx="2240280" cy="457200"/>
          </a:xfrm>
          <a:prstGeom prst="rect">
            <a:avLst/>
          </a:prstGeom>
          <a:noFill/>
          <a:ln/>
        </p:spPr>
        <p:txBody>
          <a:bodyPr wrap="square" lIns="0" tIns="0" rIns="0" bIns="0" rtlCol="0" anchor="ctr"/>
          <a:lstStyle/>
          <a:p>
            <a:pPr indent="0" marL="0">
              <a:buNone/>
            </a:pPr>
            <a:r>
              <a:rPr lang="en-US" sz="1050" b="1" spc="150" kern="0" dirty="0">
                <a:solidFill>
                  <a:srgbClr val="CDA165"/>
                </a:solidFill>
                <a:latin typeface="Calibri" pitchFamily="34" charset="0"/>
                <a:ea typeface="Calibri" pitchFamily="34" charset="-122"/>
                <a:cs typeface="Calibri" pitchFamily="34" charset="-120"/>
              </a:rPr>
              <a:t>LONG TERM (2030+)</a:t>
            </a:r>
            <a:endParaRPr lang="en-US" sz="1050" dirty="0"/>
          </a:p>
        </p:txBody>
      </p:sp>
      <p:sp>
        <p:nvSpPr>
          <p:cNvPr id="9" name="Shape 7"/>
          <p:cNvSpPr/>
          <p:nvPr/>
        </p:nvSpPr>
        <p:spPr>
          <a:xfrm>
            <a:off x="502920" y="2313432"/>
            <a:ext cx="11155680" cy="18288"/>
          </a:xfrm>
          <a:prstGeom prst="rect">
            <a:avLst/>
          </a:prstGeom>
          <a:solidFill>
            <a:srgbClr val="3A2B1A"/>
          </a:solidFill>
          <a:ln/>
        </p:spPr>
      </p:sp>
      <p:sp>
        <p:nvSpPr>
          <p:cNvPr id="10" name="Text 8"/>
          <p:cNvSpPr/>
          <p:nvPr/>
        </p:nvSpPr>
        <p:spPr>
          <a:xfrm>
            <a:off x="502920" y="2423160"/>
            <a:ext cx="3291840" cy="777240"/>
          </a:xfrm>
          <a:prstGeom prst="rect">
            <a:avLst/>
          </a:prstGeom>
          <a:noFill/>
          <a:ln/>
        </p:spPr>
        <p:txBody>
          <a:bodyPr wrap="square" lIns="0" tIns="0" rIns="0" bIns="0" rtlCol="0" anchor="t"/>
          <a:lstStyle/>
          <a:p>
            <a:pPr indent="0" marL="0">
              <a:buNone/>
            </a:pPr>
            <a:r>
              <a:rPr lang="en-US" sz="1250" b="1" dirty="0">
                <a:solidFill>
                  <a:srgbClr val="F4ECDF"/>
                </a:solidFill>
                <a:latin typeface="Calibri" pitchFamily="34" charset="0"/>
                <a:ea typeface="Calibri" pitchFamily="34" charset="-122"/>
                <a:cs typeface="Calibri" pitchFamily="34" charset="-120"/>
              </a:rPr>
              <a:t>Tensile strength — production</a:t>
            </a:r>
            <a:endParaRPr lang="en-US" sz="1250" dirty="0"/>
          </a:p>
        </p:txBody>
      </p:sp>
      <p:sp>
        <p:nvSpPr>
          <p:cNvPr id="11" name="Text 9"/>
          <p:cNvSpPr/>
          <p:nvPr/>
        </p:nvSpPr>
        <p:spPr>
          <a:xfrm>
            <a:off x="3931920" y="24231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500 MPa</a:t>
            </a:r>
            <a:endParaRPr lang="en-US" sz="1050" dirty="0"/>
          </a:p>
        </p:txBody>
      </p:sp>
      <p:sp>
        <p:nvSpPr>
          <p:cNvPr id="12" name="Text 10"/>
          <p:cNvSpPr/>
          <p:nvPr/>
        </p:nvSpPr>
        <p:spPr>
          <a:xfrm>
            <a:off x="6675120" y="24231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a:t>
            </a:r>
            <a:endParaRPr lang="en-US" sz="1050" dirty="0"/>
          </a:p>
        </p:txBody>
      </p:sp>
      <p:sp>
        <p:nvSpPr>
          <p:cNvPr id="13" name="Text 11"/>
          <p:cNvSpPr/>
          <p:nvPr/>
        </p:nvSpPr>
        <p:spPr>
          <a:xfrm>
            <a:off x="9418320" y="2423160"/>
            <a:ext cx="224028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toward 1,000 MPa</a:t>
            </a:r>
            <a:endParaRPr lang="en-US" sz="1050" dirty="0"/>
          </a:p>
        </p:txBody>
      </p:sp>
      <p:sp>
        <p:nvSpPr>
          <p:cNvPr id="14" name="Shape 12"/>
          <p:cNvSpPr/>
          <p:nvPr/>
        </p:nvSpPr>
        <p:spPr>
          <a:xfrm>
            <a:off x="502920" y="3227832"/>
            <a:ext cx="11155680" cy="18288"/>
          </a:xfrm>
          <a:prstGeom prst="rect">
            <a:avLst/>
          </a:prstGeom>
          <a:solidFill>
            <a:srgbClr val="3A2B1A"/>
          </a:solidFill>
          <a:ln/>
        </p:spPr>
      </p:sp>
      <p:sp>
        <p:nvSpPr>
          <p:cNvPr id="15" name="Text 13"/>
          <p:cNvSpPr/>
          <p:nvPr/>
        </p:nvSpPr>
        <p:spPr>
          <a:xfrm>
            <a:off x="502920" y="3337560"/>
            <a:ext cx="3291840" cy="777240"/>
          </a:xfrm>
          <a:prstGeom prst="rect">
            <a:avLst/>
          </a:prstGeom>
          <a:noFill/>
          <a:ln/>
        </p:spPr>
        <p:txBody>
          <a:bodyPr wrap="square" lIns="0" tIns="0" rIns="0" bIns="0" rtlCol="0" anchor="t"/>
          <a:lstStyle/>
          <a:p>
            <a:pPr indent="0" marL="0">
              <a:buNone/>
            </a:pPr>
            <a:r>
              <a:rPr lang="en-US" sz="1250" b="1" dirty="0">
                <a:solidFill>
                  <a:srgbClr val="F4ECDF"/>
                </a:solidFill>
                <a:latin typeface="Calibri" pitchFamily="34" charset="0"/>
                <a:ea typeface="Calibri" pitchFamily="34" charset="-122"/>
                <a:cs typeface="Calibri" pitchFamily="34" charset="-120"/>
              </a:rPr>
              <a:t>Elastic modulus — production</a:t>
            </a:r>
            <a:endParaRPr lang="en-US" sz="1250" dirty="0"/>
          </a:p>
        </p:txBody>
      </p:sp>
      <p:sp>
        <p:nvSpPr>
          <p:cNvPr id="16" name="Text 14"/>
          <p:cNvSpPr/>
          <p:nvPr/>
        </p:nvSpPr>
        <p:spPr>
          <a:xfrm>
            <a:off x="3931920" y="33375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40 GPa</a:t>
            </a:r>
            <a:endParaRPr lang="en-US" sz="1050" dirty="0"/>
          </a:p>
        </p:txBody>
      </p:sp>
      <p:sp>
        <p:nvSpPr>
          <p:cNvPr id="17" name="Text 15"/>
          <p:cNvSpPr/>
          <p:nvPr/>
        </p:nvSpPr>
        <p:spPr>
          <a:xfrm>
            <a:off x="6675120" y="33375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a:t>
            </a:r>
            <a:endParaRPr lang="en-US" sz="1050" dirty="0"/>
          </a:p>
        </p:txBody>
      </p:sp>
      <p:sp>
        <p:nvSpPr>
          <p:cNvPr id="18" name="Text 16"/>
          <p:cNvSpPr/>
          <p:nvPr/>
        </p:nvSpPr>
        <p:spPr>
          <a:xfrm>
            <a:off x="9418320" y="3337560"/>
            <a:ext cx="224028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toward 80 GPa</a:t>
            </a:r>
            <a:endParaRPr lang="en-US" sz="1050" dirty="0"/>
          </a:p>
        </p:txBody>
      </p:sp>
      <p:sp>
        <p:nvSpPr>
          <p:cNvPr id="19" name="Shape 17"/>
          <p:cNvSpPr/>
          <p:nvPr/>
        </p:nvSpPr>
        <p:spPr>
          <a:xfrm>
            <a:off x="502920" y="4142232"/>
            <a:ext cx="11155680" cy="18288"/>
          </a:xfrm>
          <a:prstGeom prst="rect">
            <a:avLst/>
          </a:prstGeom>
          <a:solidFill>
            <a:srgbClr val="3A2B1A"/>
          </a:solidFill>
          <a:ln/>
        </p:spPr>
      </p:sp>
      <p:sp>
        <p:nvSpPr>
          <p:cNvPr id="20" name="Text 18"/>
          <p:cNvSpPr/>
          <p:nvPr/>
        </p:nvSpPr>
        <p:spPr>
          <a:xfrm>
            <a:off x="502920" y="4251960"/>
            <a:ext cx="3291840" cy="777240"/>
          </a:xfrm>
          <a:prstGeom prst="rect">
            <a:avLst/>
          </a:prstGeom>
          <a:noFill/>
          <a:ln/>
        </p:spPr>
        <p:txBody>
          <a:bodyPr wrap="square" lIns="0" tIns="0" rIns="0" bIns="0" rtlCol="0" anchor="t"/>
          <a:lstStyle/>
          <a:p>
            <a:pPr indent="0" marL="0">
              <a:buNone/>
            </a:pPr>
            <a:r>
              <a:rPr lang="en-US" sz="1250" b="1" dirty="0">
                <a:solidFill>
                  <a:srgbClr val="F4ECDF"/>
                </a:solidFill>
                <a:latin typeface="Calibri" pitchFamily="34" charset="0"/>
                <a:ea typeface="Calibri" pitchFamily="34" charset="-122"/>
                <a:cs typeface="Calibri" pitchFamily="34" charset="-120"/>
              </a:rPr>
              <a:t>Product forms</a:t>
            </a:r>
            <a:endParaRPr lang="en-US" sz="1250" dirty="0"/>
          </a:p>
        </p:txBody>
      </p:sp>
      <p:sp>
        <p:nvSpPr>
          <p:cNvPr id="21" name="Text 19"/>
          <p:cNvSpPr/>
          <p:nvPr/>
        </p:nvSpPr>
        <p:spPr>
          <a:xfrm>
            <a:off x="3931920" y="42519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Boards up to 8" × 16' × 3/8"</a:t>
            </a:r>
            <a:endParaRPr lang="en-US" sz="1050" dirty="0"/>
          </a:p>
        </p:txBody>
      </p:sp>
      <p:sp>
        <p:nvSpPr>
          <p:cNvPr id="22" name="Text 20"/>
          <p:cNvSpPr/>
          <p:nvPr/>
        </p:nvSpPr>
        <p:spPr>
          <a:xfrm>
            <a:off x="6675120" y="42519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Boards + veneers (SuperMill Two)</a:t>
            </a:r>
            <a:endParaRPr lang="en-US" sz="1050" dirty="0"/>
          </a:p>
        </p:txBody>
      </p:sp>
      <p:sp>
        <p:nvSpPr>
          <p:cNvPr id="23" name="Text 21"/>
          <p:cNvSpPr/>
          <p:nvPr/>
        </p:nvSpPr>
        <p:spPr>
          <a:xfrm>
            <a:off x="9418320" y="4251960"/>
            <a:ext cx="224028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Panels &amp; OSB-type products (ChipMill)</a:t>
            </a:r>
            <a:endParaRPr lang="en-US" sz="1050" dirty="0"/>
          </a:p>
        </p:txBody>
      </p:sp>
      <p:sp>
        <p:nvSpPr>
          <p:cNvPr id="24" name="Shape 22"/>
          <p:cNvSpPr/>
          <p:nvPr/>
        </p:nvSpPr>
        <p:spPr>
          <a:xfrm>
            <a:off x="502920" y="5056632"/>
            <a:ext cx="11155680" cy="18288"/>
          </a:xfrm>
          <a:prstGeom prst="rect">
            <a:avLst/>
          </a:prstGeom>
          <a:solidFill>
            <a:srgbClr val="3A2B1A"/>
          </a:solidFill>
          <a:ln/>
        </p:spPr>
      </p:sp>
      <p:sp>
        <p:nvSpPr>
          <p:cNvPr id="25" name="Text 23"/>
          <p:cNvSpPr/>
          <p:nvPr/>
        </p:nvSpPr>
        <p:spPr>
          <a:xfrm>
            <a:off x="502920" y="5166360"/>
            <a:ext cx="3291840" cy="777240"/>
          </a:xfrm>
          <a:prstGeom prst="rect">
            <a:avLst/>
          </a:prstGeom>
          <a:noFill/>
          <a:ln/>
        </p:spPr>
        <p:txBody>
          <a:bodyPr wrap="square" lIns="0" tIns="0" rIns="0" bIns="0" rtlCol="0" anchor="t"/>
          <a:lstStyle/>
          <a:p>
            <a:pPr indent="0" marL="0">
              <a:buNone/>
            </a:pPr>
            <a:r>
              <a:rPr lang="en-US" sz="1250" b="1" dirty="0">
                <a:solidFill>
                  <a:srgbClr val="F4ECDF"/>
                </a:solidFill>
                <a:latin typeface="Calibri" pitchFamily="34" charset="0"/>
                <a:ea typeface="Calibri" pitchFamily="34" charset="-122"/>
                <a:cs typeface="Calibri" pitchFamily="34" charset="-120"/>
              </a:rPr>
              <a:t>Fire &amp; code pathway</a:t>
            </a:r>
            <a:endParaRPr lang="en-US" sz="1250" dirty="0"/>
          </a:p>
        </p:txBody>
      </p:sp>
      <p:sp>
        <p:nvSpPr>
          <p:cNvPr id="26" name="Text 24"/>
          <p:cNvSpPr/>
          <p:nvPr/>
        </p:nvSpPr>
        <p:spPr>
          <a:xfrm>
            <a:off x="3931920" y="51663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ASTM E84 Class A tested. Backplanes: UL 94 (yellow card) — testing not yet started</a:t>
            </a:r>
            <a:endParaRPr lang="en-US" sz="1050" dirty="0"/>
          </a:p>
        </p:txBody>
      </p:sp>
      <p:sp>
        <p:nvSpPr>
          <p:cNvPr id="27" name="Text 25"/>
          <p:cNvSpPr/>
          <p:nvPr/>
        </p:nvSpPr>
        <p:spPr>
          <a:xfrm>
            <a:off x="6675120" y="5166360"/>
            <a:ext cx="260604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Trusses: no fire-resistance requirement. ASTM E119 assemblies and NFPA 285 exterior walls — not yet started</a:t>
            </a:r>
            <a:endParaRPr lang="en-US" sz="1050" dirty="0"/>
          </a:p>
        </p:txBody>
      </p:sp>
      <p:sp>
        <p:nvSpPr>
          <p:cNvPr id="28" name="Text 26"/>
          <p:cNvSpPr/>
          <p:nvPr/>
        </p:nvSpPr>
        <p:spPr>
          <a:xfrm>
            <a:off x="9418320" y="5166360"/>
            <a:ext cx="2240280" cy="77724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FM acceptance and ICC-ES evaluation via the mass-timber qualification pathway</a:t>
            </a:r>
            <a:endParaRPr lang="en-US" sz="1050" dirty="0"/>
          </a:p>
        </p:txBody>
      </p:sp>
      <p:sp>
        <p:nvSpPr>
          <p:cNvPr id="29" name="Text 27"/>
          <p:cNvSpPr/>
          <p:nvPr/>
        </p:nvSpPr>
        <p:spPr>
          <a:xfrm>
            <a:off x="502920" y="6080760"/>
            <a:ext cx="11155680" cy="457200"/>
          </a:xfrm>
          <a:prstGeom prst="rect">
            <a:avLst/>
          </a:prstGeom>
          <a:noFill/>
          <a:ln/>
        </p:spPr>
        <p:txBody>
          <a:bodyPr wrap="square" lIns="0" tIns="0" rIns="0" bIns="0" rtlCol="0" anchor="ctr"/>
          <a:lstStyle/>
          <a:p>
            <a:pPr indent="0" marL="0">
              <a:buNone/>
            </a:pPr>
            <a:r>
              <a:rPr lang="en-US" sz="1000" i="1" dirty="0">
                <a:solidFill>
                  <a:srgbClr val="9D8D76"/>
                </a:solidFill>
                <a:latin typeface="Calibri" pitchFamily="34" charset="0"/>
                <a:ea typeface="Calibri" pitchFamily="34" charset="-122"/>
                <a:cs typeface="Calibri" pitchFamily="34" charset="-120"/>
              </a:rPr>
              <a:t>Lab samples have demonstrated 600+ MPa tensile strength, with pathways to 1,000 MPa and 80 GPa. Certification programs are scoped per application with each customer; none has started yet. Test methods and property data available on request.</a:t>
            </a:r>
            <a:endParaRPr lang="en-US" sz="10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286000"/>
            <a:ext cx="5486400" cy="320040"/>
          </a:xfrm>
          <a:prstGeom prst="rect">
            <a:avLst/>
          </a:prstGeom>
          <a:noFill/>
          <a:ln/>
        </p:spPr>
        <p:txBody>
          <a:bodyPr wrap="square" lIns="0" tIns="0" rIns="0" bIns="0" rtlCol="0" anchor="ctr"/>
          <a:lstStyle/>
          <a:p>
            <a:pPr indent="0" marL="0">
              <a:buNone/>
            </a:pPr>
            <a:r>
              <a:rPr lang="en-US" sz="1300" b="1" spc="400" kern="0" dirty="0">
                <a:solidFill>
                  <a:srgbClr val="CDA165"/>
                </a:solidFill>
                <a:latin typeface="Calibri" pitchFamily="34" charset="0"/>
                <a:ea typeface="Calibri" pitchFamily="34" charset="-122"/>
                <a:cs typeface="Calibri" pitchFamily="34" charset="-120"/>
              </a:rPr>
              <a:t>SECTION 03</a:t>
            </a:r>
            <a:endParaRPr lang="en-US" sz="1300" dirty="0"/>
          </a:p>
        </p:txBody>
      </p:sp>
      <p:sp>
        <p:nvSpPr>
          <p:cNvPr id="3" name="Text 1"/>
          <p:cNvSpPr/>
          <p:nvPr/>
        </p:nvSpPr>
        <p:spPr>
          <a:xfrm>
            <a:off x="914400" y="2743200"/>
            <a:ext cx="10332720" cy="1005840"/>
          </a:xfrm>
          <a:prstGeom prst="rect">
            <a:avLst/>
          </a:prstGeom>
          <a:noFill/>
          <a:ln/>
        </p:spPr>
        <p:txBody>
          <a:bodyPr wrap="square" lIns="0" tIns="0" rIns="0" bIns="0" rtlCol="0" anchor="ctr"/>
          <a:lstStyle/>
          <a:p>
            <a:pPr indent="0" marL="0">
              <a:buNone/>
            </a:pPr>
            <a:r>
              <a:rPr lang="en-US" sz="4800" dirty="0">
                <a:solidFill>
                  <a:srgbClr val="F4ECDF"/>
                </a:solidFill>
                <a:latin typeface="Georgia" pitchFamily="34" charset="0"/>
                <a:ea typeface="Georgia" pitchFamily="34" charset="-122"/>
                <a:cs typeface="Georgia" pitchFamily="34" charset="-120"/>
              </a:rPr>
              <a:t>The</a:t>
            </a:r>
            <a:pPr indent="0" marL="0">
              <a:buNone/>
            </a:pPr>
            <a:r>
              <a:rPr lang="en-US" sz="4800" i="1" dirty="0">
                <a:solidFill>
                  <a:srgbClr val="E2B877"/>
                </a:solidFill>
                <a:latin typeface="Georgia" pitchFamily="34" charset="0"/>
                <a:ea typeface="Georgia" pitchFamily="34" charset="-122"/>
                <a:cs typeface="Georgia" pitchFamily="34" charset="-120"/>
              </a:rPr>
              <a:t> Impact</a:t>
            </a:r>
            <a:endParaRPr lang="en-US" sz="4800" dirty="0"/>
          </a:p>
        </p:txBody>
      </p:sp>
      <p:sp>
        <p:nvSpPr>
          <p:cNvPr id="4" name="Text 2"/>
          <p:cNvSpPr/>
          <p:nvPr/>
        </p:nvSpPr>
        <p:spPr>
          <a:xfrm>
            <a:off x="914400" y="3886200"/>
            <a:ext cx="8686800" cy="45720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Embodied carbon and circularity — labeled as the projections they are</a:t>
            </a:r>
            <a:endParaRPr lang="en-US" sz="15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Impact</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IMPACT · THE VISION</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Can the world's data centers be a </a:t>
            </a:r>
            <a:pPr indent="0" marL="0">
              <a:buNone/>
            </a:pPr>
            <a:r>
              <a:rPr lang="en-US" sz="3000" i="1" dirty="0">
                <a:solidFill>
                  <a:srgbClr val="E2B877"/>
                </a:solidFill>
                <a:latin typeface="Georgia" pitchFamily="34" charset="0"/>
                <a:ea typeface="Georgia" pitchFamily="34" charset="-122"/>
                <a:cs typeface="Georgia" pitchFamily="34" charset="-120"/>
              </a:rPr>
              <a:t>carbon sink</a:t>
            </a:r>
            <a:pPr indent="0" marL="0">
              <a:buNone/>
            </a:pPr>
            <a:r>
              <a:rPr lang="en-US" sz="3000" dirty="0">
                <a:solidFill>
                  <a:srgbClr val="F4ECDF"/>
                </a:solidFill>
                <a:latin typeface="Georgia" pitchFamily="34" charset="0"/>
                <a:ea typeface="Georgia" pitchFamily="34" charset="-122"/>
                <a:cs typeface="Georgia" pitchFamily="34" charset="-120"/>
              </a:rPr>
              <a:t>?</a:t>
            </a:r>
            <a:endParaRPr lang="en-US" sz="3000" dirty="0"/>
          </a:p>
        </p:txBody>
      </p:sp>
      <p:sp>
        <p:nvSpPr>
          <p:cNvPr id="6" name="Text 4"/>
          <p:cNvSpPr/>
          <p:nvPr/>
        </p:nvSpPr>
        <p:spPr>
          <a:xfrm>
            <a:off x="502920" y="1783080"/>
            <a:ext cx="11155680" cy="685800"/>
          </a:xfrm>
          <a:prstGeom prst="rect">
            <a:avLst/>
          </a:prstGeom>
          <a:noFill/>
          <a:ln/>
        </p:spPr>
        <p:txBody>
          <a:bodyPr wrap="square" lIns="0" tIns="0" rIns="0" bIns="0" rtlCol="0" anchor="ctr"/>
          <a:lstStyle/>
          <a:p>
            <a:pPr indent="0" marL="0">
              <a:buNone/>
            </a:pPr>
            <a:r>
              <a:rPr lang="en-US" sz="1400" dirty="0">
                <a:solidFill>
                  <a:srgbClr val="CDBFA9"/>
                </a:solidFill>
                <a:latin typeface="Calibri" pitchFamily="34" charset="0"/>
                <a:ea typeface="Calibri" pitchFamily="34" charset="-122"/>
                <a:cs typeface="Calibri" pitchFamily="34" charset="-120"/>
              </a:rPr>
              <a:t>Data centers are poised for massive growth. We asked: can we build them as long-term stores of carbon rather than massive emitters — and earn the social license to operate and scale? We think this is the way to do it:</a:t>
            </a:r>
            <a:endParaRPr lang="en-US" sz="1400" dirty="0"/>
          </a:p>
        </p:txBody>
      </p:sp>
      <p:sp>
        <p:nvSpPr>
          <p:cNvPr id="7" name="Shape 5"/>
          <p:cNvSpPr/>
          <p:nvPr/>
        </p:nvSpPr>
        <p:spPr>
          <a:xfrm>
            <a:off x="502920" y="2697480"/>
            <a:ext cx="5486400" cy="2011680"/>
          </a:xfrm>
          <a:prstGeom prst="roundRect">
            <a:avLst>
              <a:gd name="adj" fmla="val 4091"/>
            </a:avLst>
          </a:prstGeom>
          <a:solidFill>
            <a:srgbClr val="26301C"/>
          </a:solidFill>
          <a:ln/>
        </p:spPr>
      </p:sp>
      <p:sp>
        <p:nvSpPr>
          <p:cNvPr id="8" name="Text 6"/>
          <p:cNvSpPr/>
          <p:nvPr/>
        </p:nvSpPr>
        <p:spPr>
          <a:xfrm>
            <a:off x="777240" y="2926080"/>
            <a:ext cx="4937760" cy="411480"/>
          </a:xfrm>
          <a:prstGeom prst="rect">
            <a:avLst/>
          </a:prstGeom>
          <a:noFill/>
          <a:ln/>
        </p:spPr>
        <p:txBody>
          <a:bodyPr wrap="square" lIns="0" tIns="0" rIns="0" bIns="0" rtlCol="0" anchor="ctr"/>
          <a:lstStyle/>
          <a:p>
            <a:pPr indent="0" marL="0">
              <a:buNone/>
            </a:pPr>
            <a:r>
              <a:rPr lang="en-US" sz="1700" b="1" dirty="0">
                <a:solidFill>
                  <a:srgbClr val="E2B877"/>
                </a:solidFill>
                <a:latin typeface="Calibri" pitchFamily="34" charset="0"/>
                <a:ea typeface="Calibri" pitchFamily="34" charset="-122"/>
                <a:cs typeface="Calibri" pitchFamily="34" charset="-120"/>
              </a:rPr>
              <a:t>POWERED </a:t>
            </a:r>
            <a:pPr indent="0" marL="0">
              <a:buNone/>
            </a:pPr>
            <a:r>
              <a:rPr lang="en-US" sz="1700" dirty="0">
                <a:solidFill>
                  <a:srgbClr val="F4ECDF"/>
                </a:solidFill>
                <a:latin typeface="Calibri" pitchFamily="34" charset="0"/>
                <a:ea typeface="Calibri" pitchFamily="34" charset="-122"/>
                <a:cs typeface="Calibri" pitchFamily="34" charset="-120"/>
              </a:rPr>
              <a:t>by carbon-free electricity</a:t>
            </a:r>
            <a:endParaRPr lang="en-US" sz="1700" dirty="0"/>
          </a:p>
        </p:txBody>
      </p:sp>
      <p:sp>
        <p:nvSpPr>
          <p:cNvPr id="9" name="Text 7"/>
          <p:cNvSpPr/>
          <p:nvPr/>
        </p:nvSpPr>
        <p:spPr>
          <a:xfrm>
            <a:off x="777240" y="3429000"/>
            <a:ext cx="4937760" cy="1188720"/>
          </a:xfrm>
          <a:prstGeom prst="rect">
            <a:avLst/>
          </a:prstGeom>
          <a:noFill/>
          <a:ln/>
        </p:spPr>
        <p:txBody>
          <a:bodyPr wrap="square" lIns="0" tIns="0" rIns="0" bIns="0" rtlCol="0" anchor="t"/>
          <a:lstStyle/>
          <a:p>
            <a:pPr indent="0" marL="0">
              <a:buNone/>
            </a:pPr>
            <a:r>
              <a:rPr lang="en-US" sz="1250" dirty="0">
                <a:solidFill>
                  <a:srgbClr val="9D8D76"/>
                </a:solidFill>
                <a:latin typeface="Calibri" pitchFamily="34" charset="0"/>
                <a:ea typeface="Calibri" pitchFamily="34" charset="-122"/>
                <a:cs typeface="Calibri" pitchFamily="34" charset="-120"/>
              </a:rPr>
              <a:t>Maximize efficiency and flexibility of load, then power with renewable energy, nuclear, biomass, and potentially BECCS — bio-energy with carbon capture and storage. Serve the grid.</a:t>
            </a:r>
            <a:endParaRPr lang="en-US" sz="1250" dirty="0"/>
          </a:p>
        </p:txBody>
      </p:sp>
      <p:sp>
        <p:nvSpPr>
          <p:cNvPr id="10" name="Shape 8"/>
          <p:cNvSpPr/>
          <p:nvPr/>
        </p:nvSpPr>
        <p:spPr>
          <a:xfrm>
            <a:off x="6172200" y="2697480"/>
            <a:ext cx="5486400" cy="2011680"/>
          </a:xfrm>
          <a:prstGeom prst="roundRect">
            <a:avLst>
              <a:gd name="adj" fmla="val 4091"/>
            </a:avLst>
          </a:prstGeom>
          <a:solidFill>
            <a:srgbClr val="2E2113"/>
          </a:solidFill>
          <a:ln/>
        </p:spPr>
      </p:sp>
      <p:sp>
        <p:nvSpPr>
          <p:cNvPr id="11" name="Text 9"/>
          <p:cNvSpPr/>
          <p:nvPr/>
        </p:nvSpPr>
        <p:spPr>
          <a:xfrm>
            <a:off x="6446520" y="2926080"/>
            <a:ext cx="4937760" cy="411480"/>
          </a:xfrm>
          <a:prstGeom prst="rect">
            <a:avLst/>
          </a:prstGeom>
          <a:noFill/>
          <a:ln/>
        </p:spPr>
        <p:txBody>
          <a:bodyPr wrap="square" lIns="0" tIns="0" rIns="0" bIns="0" rtlCol="0" anchor="ctr"/>
          <a:lstStyle/>
          <a:p>
            <a:pPr indent="0" marL="0">
              <a:buNone/>
            </a:pPr>
            <a:r>
              <a:rPr lang="en-US" sz="1700" b="1" dirty="0">
                <a:solidFill>
                  <a:srgbClr val="E2B877"/>
                </a:solidFill>
                <a:latin typeface="Calibri" pitchFamily="34" charset="0"/>
                <a:ea typeface="Calibri" pitchFamily="34" charset="-122"/>
                <a:cs typeface="Calibri" pitchFamily="34" charset="-120"/>
              </a:rPr>
              <a:t>CONSTRUCTED </a:t>
            </a:r>
            <a:pPr indent="0" marL="0">
              <a:buNone/>
            </a:pPr>
            <a:r>
              <a:rPr lang="en-US" sz="1700" dirty="0">
                <a:solidFill>
                  <a:srgbClr val="F4ECDF"/>
                </a:solidFill>
                <a:latin typeface="Calibri" pitchFamily="34" charset="0"/>
                <a:ea typeface="Calibri" pitchFamily="34" charset="-122"/>
                <a:cs typeface="Calibri" pitchFamily="34" charset="-120"/>
              </a:rPr>
              <a:t>from waste biomaterials</a:t>
            </a:r>
            <a:endParaRPr lang="en-US" sz="1700" dirty="0"/>
          </a:p>
        </p:txBody>
      </p:sp>
      <p:sp>
        <p:nvSpPr>
          <p:cNvPr id="12" name="Text 10"/>
          <p:cNvSpPr/>
          <p:nvPr/>
        </p:nvSpPr>
        <p:spPr>
          <a:xfrm>
            <a:off x="6446520" y="3429000"/>
            <a:ext cx="4937760" cy="1188720"/>
          </a:xfrm>
          <a:prstGeom prst="rect">
            <a:avLst/>
          </a:prstGeom>
          <a:noFill/>
          <a:ln/>
        </p:spPr>
        <p:txBody>
          <a:bodyPr wrap="square" lIns="0" tIns="0" rIns="0" bIns="0" rtlCol="0" anchor="t"/>
          <a:lstStyle/>
          <a:p>
            <a:pPr indent="0" marL="0">
              <a:buNone/>
            </a:pPr>
            <a:r>
              <a:rPr lang="en-US" sz="1250" dirty="0">
                <a:solidFill>
                  <a:srgbClr val="9D8D76"/>
                </a:solidFill>
                <a:latin typeface="Calibri" pitchFamily="34" charset="0"/>
                <a:ea typeface="Calibri" pitchFamily="34" charset="-122"/>
                <a:cs typeface="Calibri" pitchFamily="34" charset="-120"/>
              </a:rPr>
              <a:t>Replace today's carbon-intensive materials with carbon-storing materials — designed for reuse at end of life to maximize lifecycle carbon benefit.</a:t>
            </a:r>
            <a:endParaRPr lang="en-US" sz="1250" dirty="0"/>
          </a:p>
        </p:txBody>
      </p:sp>
      <p:sp>
        <p:nvSpPr>
          <p:cNvPr id="13" name="Shape 11"/>
          <p:cNvSpPr/>
          <p:nvPr/>
        </p:nvSpPr>
        <p:spPr>
          <a:xfrm>
            <a:off x="502920" y="4983480"/>
            <a:ext cx="11155680" cy="868680"/>
          </a:xfrm>
          <a:prstGeom prst="roundRect">
            <a:avLst>
              <a:gd name="adj" fmla="val 9474"/>
            </a:avLst>
          </a:prstGeom>
          <a:solidFill>
            <a:srgbClr val="261A0F"/>
          </a:solidFill>
          <a:ln/>
        </p:spPr>
      </p:sp>
      <p:sp>
        <p:nvSpPr>
          <p:cNvPr id="14" name="Text 12"/>
          <p:cNvSpPr/>
          <p:nvPr/>
        </p:nvSpPr>
        <p:spPr>
          <a:xfrm>
            <a:off x="777240" y="5074920"/>
            <a:ext cx="10607040" cy="685800"/>
          </a:xfrm>
          <a:prstGeom prst="rect">
            <a:avLst/>
          </a:prstGeom>
          <a:noFill/>
          <a:ln/>
        </p:spPr>
        <p:txBody>
          <a:bodyPr wrap="square" lIns="0" tIns="0" rIns="0" bIns="0" rtlCol="0" anchor="ctr"/>
          <a:lstStyle/>
          <a:p>
            <a:pPr indent="0" marL="0">
              <a:buNone/>
            </a:pPr>
            <a:r>
              <a:rPr lang="en-US" sz="1200" b="1" dirty="0">
                <a:solidFill>
                  <a:srgbClr val="E2B877"/>
                </a:solidFill>
                <a:latin typeface="Calibri" pitchFamily="34" charset="0"/>
                <a:ea typeface="Calibri" pitchFamily="34" charset="-122"/>
                <a:cs typeface="Calibri" pitchFamily="34" charset="-120"/>
              </a:rPr>
              <a:t>Steel is the lever, SUPERWOOD is the enabler.  </a:t>
            </a:r>
            <a:pPr indent="0" marL="0">
              <a:buNone/>
            </a:pPr>
            <a:r>
              <a:rPr lang="en-US" sz="1200" dirty="0">
                <a:solidFill>
                  <a:srgbClr val="CDBFA9"/>
                </a:solidFill>
                <a:latin typeface="Calibri" pitchFamily="34" charset="0"/>
                <a:ea typeface="Calibri" pitchFamily="34" charset="-122"/>
                <a:cs typeface="Calibri" pitchFamily="34" charset="-120"/>
              </a:rPr>
              <a:t>Steel sits at nearly every level of a data center — frame, joists and deck, platforms, racking, fences and screens. Replacing it element by element with a carbon-storing material is how the building's embodied ledger moves.</a:t>
            </a:r>
            <a:endParaRPr lang="en-US" sz="12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150C"/>
        </a:solidFill>
      </p:bgPr>
    </p:bg>
    <p:spTree>
      <p:nvGrpSpPr>
        <p:cNvPr id="1" name=""/>
        <p:cNvGrpSpPr/>
        <p:nvPr/>
      </p:nvGrpSpPr>
      <p:grpSpPr>
        <a:xfrm>
          <a:off x="0" y="0"/>
          <a:ext cx="0" cy="0"/>
          <a:chOff x="0" y="0"/>
          <a:chExt cx="0" cy="0"/>
        </a:xfrm>
      </p:grpSpPr>
      <p:pic>
        <p:nvPicPr>
          <p:cNvPr id="2" name="Image 0" descr="prep/tile_mine.jpg">    </p:cNvPr>
          <p:cNvPicPr>
            <a:picLocks noChangeAspect="1"/>
          </p:cNvPicPr>
          <p:nvPr/>
        </p:nvPicPr>
        <p:blipFill>
          <a:blip r:embed="rId1"/>
          <a:srcRect l="0" r="0" t="0" b="0"/>
          <a:stretch/>
        </p:blipFill>
        <p:spPr>
          <a:xfrm>
            <a:off x="0" y="1024128"/>
            <a:ext cx="4343400" cy="1810512"/>
          </a:xfrm>
          <a:prstGeom prst="rect">
            <a:avLst/>
          </a:prstGeom>
        </p:spPr>
      </p:pic>
      <p:pic>
        <p:nvPicPr>
          <p:cNvPr id="3" name="Image 1" descr="media/image65.jpeg">    </p:cNvPr>
          <p:cNvPicPr>
            <a:picLocks noChangeAspect="1"/>
          </p:cNvPicPr>
          <p:nvPr/>
        </p:nvPicPr>
        <p:blipFill>
          <a:blip r:embed="rId2"/>
          <a:srcRect l="0" r="0" t="0" b="0"/>
          <a:stretch/>
        </p:blipFill>
        <p:spPr>
          <a:xfrm>
            <a:off x="7845552" y="1024128"/>
            <a:ext cx="4343400" cy="1810512"/>
          </a:xfrm>
          <a:prstGeom prst="rect">
            <a:avLst/>
          </a:prstGeom>
        </p:spPr>
      </p:pic>
      <p:pic>
        <p:nvPicPr>
          <p:cNvPr id="4" name="Image 2" descr="prep/tile_furnace.jpg">    </p:cNvPr>
          <p:cNvPicPr>
            <a:picLocks noChangeAspect="1"/>
          </p:cNvPicPr>
          <p:nvPr/>
        </p:nvPicPr>
        <p:blipFill>
          <a:blip r:embed="rId3"/>
          <a:srcRect l="0" r="0" t="0" b="0"/>
          <a:stretch/>
        </p:blipFill>
        <p:spPr>
          <a:xfrm>
            <a:off x="0" y="2834640"/>
            <a:ext cx="4343400" cy="1810512"/>
          </a:xfrm>
          <a:prstGeom prst="rect">
            <a:avLst/>
          </a:prstGeom>
        </p:spPr>
      </p:pic>
      <p:pic>
        <p:nvPicPr>
          <p:cNvPr id="5" name="Image 3" descr="prep/factory.jpg">    </p:cNvPr>
          <p:cNvPicPr>
            <a:picLocks noChangeAspect="1"/>
          </p:cNvPicPr>
          <p:nvPr/>
        </p:nvPicPr>
        <p:blipFill>
          <a:blip r:embed="rId4"/>
          <a:srcRect l="0" r="0" t="0" b="0"/>
          <a:stretch/>
        </p:blipFill>
        <p:spPr>
          <a:xfrm>
            <a:off x="7845552" y="2834640"/>
            <a:ext cx="4343400" cy="1810512"/>
          </a:xfrm>
          <a:prstGeom prst="rect">
            <a:avLst/>
          </a:prstGeom>
        </p:spPr>
      </p:pic>
      <p:pic>
        <p:nvPicPr>
          <p:cNvPr id="6" name="Image 4" descr="prep/tile_smoke.jpg">    </p:cNvPr>
          <p:cNvPicPr>
            <a:picLocks noChangeAspect="1"/>
          </p:cNvPicPr>
          <p:nvPr/>
        </p:nvPicPr>
        <p:blipFill>
          <a:blip r:embed="rId5"/>
          <a:srcRect l="0" r="0" t="0" b="0"/>
          <a:stretch/>
        </p:blipFill>
        <p:spPr>
          <a:xfrm>
            <a:off x="0" y="4645152"/>
            <a:ext cx="4343400" cy="1810512"/>
          </a:xfrm>
          <a:prstGeom prst="rect">
            <a:avLst/>
          </a:prstGeom>
        </p:spPr>
      </p:pic>
      <p:pic>
        <p:nvPicPr>
          <p:cNvPr id="7" name="Image 5" descr="media/image111.png">    </p:cNvPr>
          <p:cNvPicPr>
            <a:picLocks noChangeAspect="1"/>
          </p:cNvPicPr>
          <p:nvPr/>
        </p:nvPicPr>
        <p:blipFill>
          <a:blip r:embed="rId6"/>
          <a:srcRect l="0" r="0" t="0" b="0"/>
          <a:stretch/>
        </p:blipFill>
        <p:spPr>
          <a:xfrm>
            <a:off x="7845552" y="4645152"/>
            <a:ext cx="4343400" cy="1810512"/>
          </a:xfrm>
          <a:prstGeom prst="rect">
            <a:avLst/>
          </a:prstGeom>
        </p:spPr>
      </p:pic>
      <p:pic>
        <p:nvPicPr>
          <p:cNvPr id="8" name="Image 6" descr="prep/beam_steel_cut.png">    </p:cNvPr>
          <p:cNvPicPr>
            <a:picLocks noChangeAspect="1"/>
          </p:cNvPicPr>
          <p:nvPr/>
        </p:nvPicPr>
        <p:blipFill>
          <a:blip r:embed="rId7"/>
          <a:stretch>
            <a:fillRect/>
          </a:stretch>
        </p:blipFill>
        <p:spPr>
          <a:xfrm>
            <a:off x="-868680" y="0"/>
            <a:ext cx="3603161" cy="6455664"/>
          </a:xfrm>
          <a:prstGeom prst="rect">
            <a:avLst/>
          </a:prstGeom>
        </p:spPr>
      </p:pic>
      <p:pic>
        <p:nvPicPr>
          <p:cNvPr id="9" name="Image 7" descr="prep/beam_wood_cut.png">    </p:cNvPr>
          <p:cNvPicPr>
            <a:picLocks noChangeAspect="1"/>
          </p:cNvPicPr>
          <p:nvPr/>
        </p:nvPicPr>
        <p:blipFill>
          <a:blip r:embed="rId8"/>
          <a:stretch>
            <a:fillRect/>
          </a:stretch>
        </p:blipFill>
        <p:spPr>
          <a:xfrm>
            <a:off x="9454471" y="0"/>
            <a:ext cx="3603161" cy="6455664"/>
          </a:xfrm>
          <a:prstGeom prst="rect">
            <a:avLst/>
          </a:prstGeom>
        </p:spPr>
      </p:pic>
      <p:sp>
        <p:nvSpPr>
          <p:cNvPr id="10" name="Shape 0"/>
          <p:cNvSpPr/>
          <p:nvPr/>
        </p:nvSpPr>
        <p:spPr>
          <a:xfrm>
            <a:off x="4343400" y="0"/>
            <a:ext cx="3502152" cy="6455664"/>
          </a:xfrm>
          <a:prstGeom prst="rect">
            <a:avLst/>
          </a:prstGeom>
          <a:solidFill>
            <a:srgbClr val="150E08">
              <a:alpha val="90000"/>
            </a:srgbClr>
          </a:solidFill>
          <a:ln/>
        </p:spPr>
      </p:sp>
      <p:sp>
        <p:nvSpPr>
          <p:cNvPr id="11" name="Shape 1"/>
          <p:cNvSpPr/>
          <p:nvPr/>
        </p:nvSpPr>
        <p:spPr>
          <a:xfrm>
            <a:off x="0" y="0"/>
            <a:ext cx="12188952" cy="1024128"/>
          </a:xfrm>
          <a:prstGeom prst="rect">
            <a:avLst/>
          </a:prstGeom>
          <a:solidFill>
            <a:srgbClr val="150E08">
              <a:alpha val="85000"/>
            </a:srgbClr>
          </a:solidFill>
          <a:ln/>
        </p:spPr>
      </p:sp>
      <p:sp>
        <p:nvSpPr>
          <p:cNvPr id="12" name="Text 2"/>
          <p:cNvSpPr/>
          <p:nvPr/>
        </p:nvSpPr>
        <p:spPr>
          <a:xfrm>
            <a:off x="0" y="256032"/>
            <a:ext cx="12188952" cy="566928"/>
          </a:xfrm>
          <a:prstGeom prst="rect">
            <a:avLst/>
          </a:prstGeom>
          <a:noFill/>
          <a:ln/>
        </p:spPr>
        <p:txBody>
          <a:bodyPr wrap="square" lIns="0" tIns="0" rIns="0" bIns="0" rtlCol="0" anchor="ctr"/>
          <a:lstStyle/>
          <a:p>
            <a:pPr algn="ctr" indent="0" marL="0">
              <a:buNone/>
            </a:pPr>
            <a:r>
              <a:rPr lang="en-US" sz="2700" dirty="0">
                <a:solidFill>
                  <a:srgbClr val="F4ECDF"/>
                </a:solidFill>
                <a:latin typeface="Georgia" pitchFamily="34" charset="0"/>
                <a:ea typeface="Georgia" pitchFamily="34" charset="-122"/>
                <a:cs typeface="Georgia" pitchFamily="34" charset="-120"/>
              </a:rPr>
              <a:t>Manufacturing: Steel vs SUPERWOOD</a:t>
            </a:r>
            <a:endParaRPr lang="en-US" sz="2700" dirty="0"/>
          </a:p>
        </p:txBody>
      </p:sp>
      <p:sp>
        <p:nvSpPr>
          <p:cNvPr id="13" name="Text 3"/>
          <p:cNvSpPr/>
          <p:nvPr/>
        </p:nvSpPr>
        <p:spPr>
          <a:xfrm>
            <a:off x="4343400" y="1225296"/>
            <a:ext cx="3502152" cy="384048"/>
          </a:xfrm>
          <a:prstGeom prst="rect">
            <a:avLst/>
          </a:prstGeom>
          <a:noFill/>
          <a:ln/>
        </p:spPr>
        <p:txBody>
          <a:bodyPr wrap="square" lIns="0" tIns="0" rIns="0" bIns="0" rtlCol="0" anchor="ctr"/>
          <a:lstStyle/>
          <a:p>
            <a:pPr algn="ctr" indent="0" marL="0">
              <a:buNone/>
            </a:pPr>
            <a:r>
              <a:rPr lang="en-US" sz="1700" b="1" dirty="0">
                <a:solidFill>
                  <a:srgbClr val="F4ECDF"/>
                </a:solidFill>
                <a:latin typeface="Georgia" pitchFamily="34" charset="0"/>
                <a:ea typeface="Georgia" pitchFamily="34" charset="-122"/>
                <a:cs typeface="Georgia" pitchFamily="34" charset="-120"/>
              </a:rPr>
              <a:t>Raw Material</a:t>
            </a:r>
            <a:endParaRPr lang="en-US" sz="1700" dirty="0"/>
          </a:p>
        </p:txBody>
      </p:sp>
      <p:sp>
        <p:nvSpPr>
          <p:cNvPr id="14" name="Shape 4"/>
          <p:cNvSpPr/>
          <p:nvPr/>
        </p:nvSpPr>
        <p:spPr>
          <a:xfrm>
            <a:off x="6087161" y="1682496"/>
            <a:ext cx="14630" cy="960120"/>
          </a:xfrm>
          <a:prstGeom prst="rect">
            <a:avLst/>
          </a:prstGeom>
          <a:solidFill>
            <a:srgbClr val="5A452E"/>
          </a:solidFill>
          <a:ln/>
        </p:spPr>
      </p:sp>
      <p:sp>
        <p:nvSpPr>
          <p:cNvPr id="15" name="Text 5"/>
          <p:cNvSpPr/>
          <p:nvPr/>
        </p:nvSpPr>
        <p:spPr>
          <a:xfrm>
            <a:off x="4434840" y="1700784"/>
            <a:ext cx="1549908" cy="960120"/>
          </a:xfrm>
          <a:prstGeom prst="rect">
            <a:avLst/>
          </a:prstGeom>
          <a:noFill/>
          <a:ln/>
        </p:spPr>
        <p:txBody>
          <a:bodyPr wrap="square" lIns="0" tIns="0" rIns="0" bIns="0" rtlCol="0" anchor="t"/>
          <a:lstStyle/>
          <a:p>
            <a:pPr algn="ctr" indent="0" marL="0">
              <a:buNone/>
            </a:pPr>
            <a:r>
              <a:rPr lang="en-US" sz="1100" dirty="0">
                <a:solidFill>
                  <a:srgbClr val="CDBFA9"/>
                </a:solidFill>
                <a:latin typeface="Calibri" pitchFamily="34" charset="0"/>
                <a:ea typeface="Calibri" pitchFamily="34" charset="-122"/>
                <a:cs typeface="Calibri" pitchFamily="34" charset="-120"/>
              </a:rPr>
              <a:t>10+ years to develop a mine; highly polluting</a:t>
            </a:r>
            <a:endParaRPr lang="en-US" sz="1100" dirty="0"/>
          </a:p>
        </p:txBody>
      </p:sp>
      <p:sp>
        <p:nvSpPr>
          <p:cNvPr id="16" name="Text 6"/>
          <p:cNvSpPr/>
          <p:nvPr/>
        </p:nvSpPr>
        <p:spPr>
          <a:xfrm>
            <a:off x="6204204" y="1700784"/>
            <a:ext cx="1549908" cy="960120"/>
          </a:xfrm>
          <a:prstGeom prst="rect">
            <a:avLst/>
          </a:prstGeom>
          <a:noFill/>
          <a:ln/>
        </p:spPr>
        <p:txBody>
          <a:bodyPr wrap="square" lIns="0" tIns="0" rIns="0" bIns="0" rtlCol="0" anchor="t"/>
          <a:lstStyle/>
          <a:p>
            <a:pPr algn="ctr" indent="0" marL="0">
              <a:buNone/>
            </a:pPr>
            <a:r>
              <a:rPr lang="en-US" sz="1100" dirty="0">
                <a:solidFill>
                  <a:srgbClr val="CDBFA9"/>
                </a:solidFill>
                <a:latin typeface="Calibri" pitchFamily="34" charset="0"/>
                <a:ea typeface="Calibri" pitchFamily="34" charset="-122"/>
                <a:cs typeface="Calibri" pitchFamily="34" charset="-120"/>
              </a:rPr>
              <a:t>Universal, abundant, regenerative</a:t>
            </a:r>
            <a:endParaRPr lang="en-US" sz="1100" dirty="0"/>
          </a:p>
        </p:txBody>
      </p:sp>
      <p:sp>
        <p:nvSpPr>
          <p:cNvPr id="17" name="Text 7"/>
          <p:cNvSpPr/>
          <p:nvPr/>
        </p:nvSpPr>
        <p:spPr>
          <a:xfrm>
            <a:off x="4343400" y="3035808"/>
            <a:ext cx="3502152" cy="384048"/>
          </a:xfrm>
          <a:prstGeom prst="rect">
            <a:avLst/>
          </a:prstGeom>
          <a:noFill/>
          <a:ln/>
        </p:spPr>
        <p:txBody>
          <a:bodyPr wrap="square" lIns="0" tIns="0" rIns="0" bIns="0" rtlCol="0" anchor="ctr"/>
          <a:lstStyle/>
          <a:p>
            <a:pPr algn="ctr" indent="0" marL="0">
              <a:buNone/>
            </a:pPr>
            <a:r>
              <a:rPr lang="en-US" sz="1700" b="1" dirty="0">
                <a:solidFill>
                  <a:srgbClr val="F4ECDF"/>
                </a:solidFill>
                <a:latin typeface="Georgia" pitchFamily="34" charset="0"/>
                <a:ea typeface="Georgia" pitchFamily="34" charset="-122"/>
                <a:cs typeface="Georgia" pitchFamily="34" charset="-120"/>
              </a:rPr>
              <a:t>Manufacturing</a:t>
            </a:r>
            <a:endParaRPr lang="en-US" sz="1700" dirty="0"/>
          </a:p>
        </p:txBody>
      </p:sp>
      <p:sp>
        <p:nvSpPr>
          <p:cNvPr id="18" name="Shape 8"/>
          <p:cNvSpPr/>
          <p:nvPr/>
        </p:nvSpPr>
        <p:spPr>
          <a:xfrm>
            <a:off x="6087161" y="3493008"/>
            <a:ext cx="14630" cy="960120"/>
          </a:xfrm>
          <a:prstGeom prst="rect">
            <a:avLst/>
          </a:prstGeom>
          <a:solidFill>
            <a:srgbClr val="5A452E"/>
          </a:solidFill>
          <a:ln/>
        </p:spPr>
      </p:sp>
      <p:sp>
        <p:nvSpPr>
          <p:cNvPr id="19" name="Text 9"/>
          <p:cNvSpPr/>
          <p:nvPr/>
        </p:nvSpPr>
        <p:spPr>
          <a:xfrm>
            <a:off x="4434840" y="3511296"/>
            <a:ext cx="1549908" cy="960120"/>
          </a:xfrm>
          <a:prstGeom prst="rect">
            <a:avLst/>
          </a:prstGeom>
          <a:noFill/>
          <a:ln/>
        </p:spPr>
        <p:txBody>
          <a:bodyPr wrap="square" lIns="0" tIns="0" rIns="0" bIns="0" rtlCol="0" anchor="t"/>
          <a:lstStyle/>
          <a:p>
            <a:pPr algn="ctr" indent="0" marL="0">
              <a:buNone/>
            </a:pPr>
            <a:r>
              <a:rPr lang="en-US" sz="1100" dirty="0">
                <a:solidFill>
                  <a:srgbClr val="CDBFA9"/>
                </a:solidFill>
                <a:latin typeface="Calibri" pitchFamily="34" charset="0"/>
                <a:ea typeface="Calibri" pitchFamily="34" charset="-122"/>
                <a:cs typeface="Calibri" pitchFamily="34" charset="-120"/>
              </a:rPr>
              <a:t>Energy intensive (1,800° C)</a:t>
            </a:r>
            <a:endParaRPr lang="en-US" sz="1100" dirty="0"/>
          </a:p>
          <a:p>
            <a:pPr algn="ctr" indent="0" marL="0">
              <a:buNone/>
            </a:pPr>
            <a:r>
              <a:rPr lang="en-US" sz="1100" dirty="0">
                <a:solidFill>
                  <a:srgbClr val="CDBFA9"/>
                </a:solidFill>
                <a:latin typeface="Calibri" pitchFamily="34" charset="0"/>
                <a:ea typeface="Calibri" pitchFamily="34" charset="-122"/>
                <a:cs typeface="Calibri" pitchFamily="34" charset="-120"/>
              </a:rPr>
              <a:t>Capital intensive</a:t>
            </a:r>
            <a:endParaRPr lang="en-US" sz="1100" dirty="0"/>
          </a:p>
        </p:txBody>
      </p:sp>
      <p:sp>
        <p:nvSpPr>
          <p:cNvPr id="20" name="Text 10"/>
          <p:cNvSpPr/>
          <p:nvPr/>
        </p:nvSpPr>
        <p:spPr>
          <a:xfrm>
            <a:off x="6204204" y="3511296"/>
            <a:ext cx="1549908" cy="960120"/>
          </a:xfrm>
          <a:prstGeom prst="rect">
            <a:avLst/>
          </a:prstGeom>
          <a:noFill/>
          <a:ln/>
        </p:spPr>
        <p:txBody>
          <a:bodyPr wrap="square" lIns="0" tIns="0" rIns="0" bIns="0" rtlCol="0" anchor="t"/>
          <a:lstStyle/>
          <a:p>
            <a:pPr algn="ctr" indent="0" marL="0">
              <a:buNone/>
            </a:pPr>
            <a:r>
              <a:rPr lang="en-US" sz="1100" dirty="0">
                <a:solidFill>
                  <a:srgbClr val="CDBFA9"/>
                </a:solidFill>
                <a:latin typeface="Calibri" pitchFamily="34" charset="0"/>
                <a:ea typeface="Calibri" pitchFamily="34" charset="-122"/>
                <a:cs typeface="Calibri" pitchFamily="34" charset="-120"/>
              </a:rPr>
              <a:t>Energy efficient (&lt; 180° C)</a:t>
            </a:r>
            <a:endParaRPr lang="en-US" sz="1100" dirty="0"/>
          </a:p>
          <a:p>
            <a:pPr algn="ctr" indent="0" marL="0">
              <a:buNone/>
            </a:pPr>
            <a:r>
              <a:rPr lang="en-US" sz="1100" dirty="0">
                <a:solidFill>
                  <a:srgbClr val="CDBFA9"/>
                </a:solidFill>
                <a:latin typeface="Calibri" pitchFamily="34" charset="0"/>
                <a:ea typeface="Calibri" pitchFamily="34" charset="-122"/>
                <a:cs typeface="Calibri" pitchFamily="34" charset="-120"/>
              </a:rPr>
              <a:t>Capital efficient</a:t>
            </a:r>
            <a:endParaRPr lang="en-US" sz="1100" dirty="0"/>
          </a:p>
        </p:txBody>
      </p:sp>
      <p:sp>
        <p:nvSpPr>
          <p:cNvPr id="21" name="Text 11"/>
          <p:cNvSpPr/>
          <p:nvPr/>
        </p:nvSpPr>
        <p:spPr>
          <a:xfrm>
            <a:off x="4343400" y="4754880"/>
            <a:ext cx="3502152" cy="384048"/>
          </a:xfrm>
          <a:prstGeom prst="rect">
            <a:avLst/>
          </a:prstGeom>
          <a:noFill/>
          <a:ln/>
        </p:spPr>
        <p:txBody>
          <a:bodyPr wrap="square" lIns="0" tIns="0" rIns="0" bIns="0" rtlCol="0" anchor="ctr"/>
          <a:lstStyle/>
          <a:p>
            <a:pPr algn="ctr" indent="0" marL="0">
              <a:buNone/>
            </a:pPr>
            <a:r>
              <a:rPr lang="en-US" sz="1700" b="1" dirty="0">
                <a:solidFill>
                  <a:srgbClr val="F4ECDF"/>
                </a:solidFill>
                <a:latin typeface="Georgia" pitchFamily="34" charset="0"/>
                <a:ea typeface="Georgia" pitchFamily="34" charset="-122"/>
                <a:cs typeface="Georgia" pitchFamily="34" charset="-120"/>
              </a:rPr>
              <a:t>GHG Emissions — projected</a:t>
            </a:r>
            <a:endParaRPr lang="en-US" sz="1700" dirty="0"/>
          </a:p>
        </p:txBody>
      </p:sp>
      <p:sp>
        <p:nvSpPr>
          <p:cNvPr id="22" name="Shape 12"/>
          <p:cNvSpPr/>
          <p:nvPr/>
        </p:nvSpPr>
        <p:spPr>
          <a:xfrm>
            <a:off x="6087161" y="5157216"/>
            <a:ext cx="14630" cy="658368"/>
          </a:xfrm>
          <a:prstGeom prst="rect">
            <a:avLst/>
          </a:prstGeom>
          <a:solidFill>
            <a:srgbClr val="5A452E"/>
          </a:solidFill>
          <a:ln/>
        </p:spPr>
      </p:sp>
      <p:sp>
        <p:nvSpPr>
          <p:cNvPr id="23" name="Text 13"/>
          <p:cNvSpPr/>
          <p:nvPr/>
        </p:nvSpPr>
        <p:spPr>
          <a:xfrm>
            <a:off x="4434840" y="5120640"/>
            <a:ext cx="1549908" cy="384048"/>
          </a:xfrm>
          <a:prstGeom prst="rect">
            <a:avLst/>
          </a:prstGeom>
          <a:noFill/>
          <a:ln/>
        </p:spPr>
        <p:txBody>
          <a:bodyPr wrap="square" lIns="0" tIns="0" rIns="0" bIns="0" rtlCol="0" anchor="ctr"/>
          <a:lstStyle/>
          <a:p>
            <a:pPr algn="ctr" indent="0" marL="0">
              <a:buNone/>
            </a:pPr>
            <a:r>
              <a:rPr lang="en-US" sz="2200" b="1" dirty="0">
                <a:solidFill>
                  <a:srgbClr val="C9706B"/>
                </a:solidFill>
                <a:latin typeface="Georgia" pitchFamily="34" charset="0"/>
                <a:ea typeface="Georgia" pitchFamily="34" charset="-122"/>
                <a:cs typeface="Georgia" pitchFamily="34" charset="-120"/>
              </a:rPr>
              <a:t>1.8 kg</a:t>
            </a:r>
            <a:endParaRPr lang="en-US" sz="2200" dirty="0"/>
          </a:p>
        </p:txBody>
      </p:sp>
      <p:sp>
        <p:nvSpPr>
          <p:cNvPr id="24" name="Text 14"/>
          <p:cNvSpPr/>
          <p:nvPr/>
        </p:nvSpPr>
        <p:spPr>
          <a:xfrm>
            <a:off x="4434840" y="5504688"/>
            <a:ext cx="1549908" cy="274320"/>
          </a:xfrm>
          <a:prstGeom prst="rect">
            <a:avLst/>
          </a:prstGeom>
          <a:noFill/>
          <a:ln/>
        </p:spPr>
        <p:txBody>
          <a:bodyPr wrap="square" lIns="0" tIns="0" rIns="0" bIns="0" rtlCol="0" anchor="ctr"/>
          <a:lstStyle/>
          <a:p>
            <a:pPr algn="ctr" indent="0" marL="0">
              <a:buNone/>
            </a:pPr>
            <a:r>
              <a:rPr lang="en-US" sz="900" dirty="0">
                <a:solidFill>
                  <a:srgbClr val="CDBFA9"/>
                </a:solidFill>
                <a:latin typeface="Calibri" pitchFamily="34" charset="0"/>
                <a:ea typeface="Calibri" pitchFamily="34" charset="-122"/>
                <a:cs typeface="Calibri" pitchFamily="34" charset="-120"/>
              </a:rPr>
              <a:t>CO₂e per kg of steel (global average)</a:t>
            </a:r>
            <a:endParaRPr lang="en-US" sz="900" dirty="0"/>
          </a:p>
        </p:txBody>
      </p:sp>
      <p:sp>
        <p:nvSpPr>
          <p:cNvPr id="25" name="Text 15"/>
          <p:cNvSpPr/>
          <p:nvPr/>
        </p:nvSpPr>
        <p:spPr>
          <a:xfrm>
            <a:off x="6204204" y="5120640"/>
            <a:ext cx="1549908" cy="384048"/>
          </a:xfrm>
          <a:prstGeom prst="rect">
            <a:avLst/>
          </a:prstGeom>
          <a:noFill/>
          <a:ln/>
        </p:spPr>
        <p:txBody>
          <a:bodyPr wrap="square" lIns="0" tIns="0" rIns="0" bIns="0" rtlCol="0" anchor="ctr"/>
          <a:lstStyle/>
          <a:p>
            <a:pPr algn="ctr" indent="0" marL="0">
              <a:buNone/>
            </a:pPr>
            <a:r>
              <a:rPr lang="en-US" sz="2200" b="1" dirty="0">
                <a:solidFill>
                  <a:srgbClr val="8FB356"/>
                </a:solidFill>
                <a:latin typeface="Georgia" pitchFamily="34" charset="0"/>
                <a:ea typeface="Georgia" pitchFamily="34" charset="-122"/>
                <a:cs typeface="Georgia" pitchFamily="34" charset="-120"/>
              </a:rPr>
              <a:t>0.5 kg</a:t>
            </a:r>
            <a:endParaRPr lang="en-US" sz="2200" dirty="0"/>
          </a:p>
        </p:txBody>
      </p:sp>
      <p:sp>
        <p:nvSpPr>
          <p:cNvPr id="26" name="Text 16"/>
          <p:cNvSpPr/>
          <p:nvPr/>
        </p:nvSpPr>
        <p:spPr>
          <a:xfrm>
            <a:off x="6204204" y="5504688"/>
            <a:ext cx="1549908" cy="329184"/>
          </a:xfrm>
          <a:prstGeom prst="rect">
            <a:avLst/>
          </a:prstGeom>
          <a:noFill/>
          <a:ln/>
        </p:spPr>
        <p:txBody>
          <a:bodyPr wrap="square" lIns="0" tIns="0" rIns="0" bIns="0" rtlCol="0" anchor="ctr"/>
          <a:lstStyle/>
          <a:p>
            <a:pPr algn="ctr" indent="0" marL="0">
              <a:buNone/>
            </a:pPr>
            <a:r>
              <a:rPr lang="en-US" sz="900" dirty="0">
                <a:solidFill>
                  <a:srgbClr val="CDBFA9"/>
                </a:solidFill>
                <a:latin typeface="Calibri" pitchFamily="34" charset="0"/>
                <a:ea typeface="Calibri" pitchFamily="34" charset="-122"/>
                <a:cs typeface="Calibri" pitchFamily="34" charset="-120"/>
              </a:rPr>
              <a:t>CO₂e per kg SUPERWOOD made; 1.3 kg/kg biogenic carbon stored</a:t>
            </a:r>
            <a:endParaRPr lang="en-US" sz="900" dirty="0"/>
          </a:p>
        </p:txBody>
      </p:sp>
      <p:sp>
        <p:nvSpPr>
          <p:cNvPr id="27" name="Text 17"/>
          <p:cNvSpPr/>
          <p:nvPr/>
        </p:nvSpPr>
        <p:spPr>
          <a:xfrm>
            <a:off x="4434840" y="5870448"/>
            <a:ext cx="3319272" cy="502920"/>
          </a:xfrm>
          <a:prstGeom prst="rect">
            <a:avLst/>
          </a:prstGeom>
          <a:noFill/>
          <a:ln/>
        </p:spPr>
        <p:txBody>
          <a:bodyPr wrap="square" lIns="0" tIns="0" rIns="0" bIns="0" rtlCol="0" anchor="t"/>
          <a:lstStyle/>
          <a:p>
            <a:pPr algn="ctr" indent="0" marL="0">
              <a:buNone/>
            </a:pPr>
            <a:r>
              <a:rPr lang="en-US" sz="800" i="1" dirty="0">
                <a:solidFill>
                  <a:srgbClr val="9D8D76"/>
                </a:solidFill>
                <a:latin typeface="Calibri" pitchFamily="34" charset="0"/>
                <a:ea typeface="Calibri" pitchFamily="34" charset="-122"/>
                <a:cs typeface="Calibri" pitchFamily="34" charset="-120"/>
              </a:rPr>
              <a:t>Pre-LCA projections for a full-scale plant; LCA under way with Prof. Ming Hu, University of Notre Dame. Biogenic storage reported separately (released at end of life under EN 15804). Recycled (EAF) steel emits less than the average shown.</a:t>
            </a:r>
            <a:endParaRPr lang="en-US" sz="800" dirty="0"/>
          </a:p>
        </p:txBody>
      </p:sp>
      <p:sp>
        <p:nvSpPr>
          <p:cNvPr id="28" name="Shape 18"/>
          <p:cNvSpPr/>
          <p:nvPr/>
        </p:nvSpPr>
        <p:spPr>
          <a:xfrm>
            <a:off x="0" y="6455664"/>
            <a:ext cx="6094476" cy="402336"/>
          </a:xfrm>
          <a:prstGeom prst="rect">
            <a:avLst/>
          </a:prstGeom>
          <a:solidFill>
            <a:srgbClr val="17100A"/>
          </a:solidFill>
          <a:ln/>
        </p:spPr>
      </p:sp>
      <p:sp>
        <p:nvSpPr>
          <p:cNvPr id="29" name="Shape 19"/>
          <p:cNvSpPr/>
          <p:nvPr/>
        </p:nvSpPr>
        <p:spPr>
          <a:xfrm>
            <a:off x="6094476" y="6455664"/>
            <a:ext cx="6094476" cy="402336"/>
          </a:xfrm>
          <a:prstGeom prst="rect">
            <a:avLst/>
          </a:prstGeom>
          <a:solidFill>
            <a:srgbClr val="261A0F"/>
          </a:solidFill>
          <a:ln/>
        </p:spPr>
      </p:sp>
      <p:sp>
        <p:nvSpPr>
          <p:cNvPr id="30" name="Text 20"/>
          <p:cNvSpPr/>
          <p:nvPr/>
        </p:nvSpPr>
        <p:spPr>
          <a:xfrm>
            <a:off x="0" y="6519672"/>
            <a:ext cx="6094476" cy="274320"/>
          </a:xfrm>
          <a:prstGeom prst="rect">
            <a:avLst/>
          </a:prstGeom>
          <a:noFill/>
          <a:ln/>
        </p:spPr>
        <p:txBody>
          <a:bodyPr wrap="square" lIns="0" tIns="0" rIns="0" bIns="0" rtlCol="0" anchor="ctr"/>
          <a:lstStyle/>
          <a:p>
            <a:pPr algn="ctr" indent="0" marL="0">
              <a:buNone/>
            </a:pPr>
            <a:r>
              <a:rPr lang="en-US" sz="1300" b="1" spc="500" kern="0" dirty="0">
                <a:solidFill>
                  <a:srgbClr val="9D8D76"/>
                </a:solidFill>
                <a:latin typeface="Calibri" pitchFamily="34" charset="0"/>
                <a:ea typeface="Calibri" pitchFamily="34" charset="-122"/>
                <a:cs typeface="Calibri" pitchFamily="34" charset="-120"/>
              </a:rPr>
              <a:t>STEEL</a:t>
            </a:r>
            <a:endParaRPr lang="en-US" sz="1300" dirty="0"/>
          </a:p>
        </p:txBody>
      </p:sp>
      <p:sp>
        <p:nvSpPr>
          <p:cNvPr id="31" name="Text 21"/>
          <p:cNvSpPr/>
          <p:nvPr/>
        </p:nvSpPr>
        <p:spPr>
          <a:xfrm>
            <a:off x="6094476" y="6519672"/>
            <a:ext cx="6094476" cy="274320"/>
          </a:xfrm>
          <a:prstGeom prst="rect">
            <a:avLst/>
          </a:prstGeom>
          <a:noFill/>
          <a:ln/>
        </p:spPr>
        <p:txBody>
          <a:bodyPr wrap="square" lIns="0" tIns="0" rIns="0" bIns="0" rtlCol="0" anchor="ctr"/>
          <a:lstStyle/>
          <a:p>
            <a:pPr algn="ctr" indent="0" marL="0">
              <a:buNone/>
            </a:pPr>
            <a:r>
              <a:rPr lang="en-US" sz="1300" b="1" spc="500" kern="0" dirty="0">
                <a:solidFill>
                  <a:srgbClr val="F4ECDF"/>
                </a:solidFill>
                <a:latin typeface="Calibri" pitchFamily="34" charset="0"/>
                <a:ea typeface="Calibri" pitchFamily="34" charset="-122"/>
                <a:cs typeface="Calibri" pitchFamily="34" charset="-120"/>
              </a:rPr>
              <a:t>SUPERWOOD</a:t>
            </a:r>
            <a:endParaRPr lang="en-US" sz="13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CDBFA9"/>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65760"/>
            <a:ext cx="11155680" cy="1234440"/>
          </a:xfrm>
          <a:prstGeom prst="rect">
            <a:avLst/>
          </a:prstGeom>
          <a:noFill/>
          <a:ln/>
        </p:spPr>
        <p:txBody>
          <a:bodyPr wrap="square" lIns="0" tIns="0" rIns="0" bIns="0" rtlCol="0" anchor="ctr"/>
          <a:lstStyle/>
          <a:p>
            <a:pPr indent="0" marL="0">
              <a:buNone/>
            </a:pPr>
            <a:r>
              <a:rPr lang="en-US" sz="2100" b="1" dirty="0">
                <a:solidFill>
                  <a:srgbClr val="F4ECDF"/>
                </a:solidFill>
                <a:latin typeface="Georgia" pitchFamily="34" charset="0"/>
                <a:ea typeface="Georgia" pitchFamily="34" charset="-122"/>
                <a:cs typeface="Georgia" pitchFamily="34" charset="-120"/>
              </a:rPr>
              <a:t>We create an economic engine powering a healthier planet — with long-term storage in forests, in buildings, and even after the end of life of a building</a:t>
            </a:r>
            <a:endParaRPr lang="en-US" sz="2100" dirty="0"/>
          </a:p>
        </p:txBody>
      </p:sp>
      <p:pic>
        <p:nvPicPr>
          <p:cNvPr id="3" name="Image 0" descr="prep/degraded_land.jpg">    </p:cNvPr>
          <p:cNvPicPr>
            <a:picLocks noChangeAspect="1"/>
          </p:cNvPicPr>
          <p:nvPr/>
        </p:nvPicPr>
        <p:blipFill>
          <a:blip r:embed="rId2"/>
          <a:stretch>
            <a:fillRect/>
          </a:stretch>
        </p:blipFill>
        <p:spPr>
          <a:xfrm>
            <a:off x="502920" y="2103120"/>
            <a:ext cx="1371600" cy="1371600"/>
          </a:xfrm>
          <a:prstGeom prst="rect">
            <a:avLst/>
          </a:prstGeom>
        </p:spPr>
      </p:pic>
      <p:sp>
        <p:nvSpPr>
          <p:cNvPr id="4" name="Text 1"/>
          <p:cNvSpPr/>
          <p:nvPr/>
        </p:nvSpPr>
        <p:spPr>
          <a:xfrm>
            <a:off x="365760" y="3566160"/>
            <a:ext cx="1920240" cy="548640"/>
          </a:xfrm>
          <a:prstGeom prst="rect">
            <a:avLst/>
          </a:prstGeom>
          <a:noFill/>
          <a:ln/>
        </p:spPr>
        <p:txBody>
          <a:bodyPr wrap="square" lIns="0" tIns="0" rIns="0" bIns="0" rtlCol="0" anchor="ctr"/>
          <a:lstStyle/>
          <a:p>
            <a:pPr indent="0" marL="0">
              <a:buNone/>
            </a:pPr>
            <a:r>
              <a:rPr lang="en-US" sz="1050" b="1" dirty="0">
                <a:solidFill>
                  <a:srgbClr val="E2B877"/>
                </a:solidFill>
                <a:latin typeface="Calibri" pitchFamily="34" charset="0"/>
                <a:ea typeface="Calibri" pitchFamily="34" charset="-122"/>
                <a:cs typeface="Calibri" pitchFamily="34" charset="-120"/>
              </a:rPr>
              <a:t>Convert degraded land into healthy forests</a:t>
            </a:r>
            <a:endParaRPr lang="en-US" sz="1050" dirty="0"/>
          </a:p>
        </p:txBody>
      </p:sp>
      <p:sp>
        <p:nvSpPr>
          <p:cNvPr id="5" name="Text 2"/>
          <p:cNvSpPr/>
          <p:nvPr/>
        </p:nvSpPr>
        <p:spPr>
          <a:xfrm>
            <a:off x="365760" y="4160520"/>
            <a:ext cx="1920240" cy="731520"/>
          </a:xfrm>
          <a:prstGeom prst="rect">
            <a:avLst/>
          </a:prstGeom>
          <a:noFill/>
          <a:ln/>
        </p:spPr>
        <p:txBody>
          <a:bodyPr wrap="square" lIns="0" tIns="0" rIns="0" bIns="0" rtlCol="0" anchor="ctr"/>
          <a:lstStyle/>
          <a:p>
            <a:pPr indent="0" marL="0">
              <a:buNone/>
            </a:pPr>
            <a:r>
              <a:rPr lang="en-US" sz="850" dirty="0">
                <a:solidFill>
                  <a:srgbClr val="F4ECDF"/>
                </a:solidFill>
                <a:latin typeface="Calibri" pitchFamily="34" charset="0"/>
                <a:ea typeface="Calibri" pitchFamily="34" charset="-122"/>
                <a:cs typeface="Calibri" pitchFamily="34" charset="-120"/>
              </a:rPr>
              <a:t>Increasing ecosystem diversity and CO₂ removal · storing CO₂ in the biome</a:t>
            </a:r>
            <a:endParaRPr lang="en-US" sz="850" dirty="0"/>
          </a:p>
        </p:txBody>
      </p:sp>
      <p:pic>
        <p:nvPicPr>
          <p:cNvPr id="6" name="Image 1" descr="media/image65.jpeg">    </p:cNvPr>
          <p:cNvPicPr>
            <a:picLocks noChangeAspect="1"/>
          </p:cNvPicPr>
          <p:nvPr/>
        </p:nvPicPr>
        <p:blipFill>
          <a:blip r:embed="rId3"/>
          <a:srcRect l="0" r="0" t="0" b="0"/>
          <a:stretch/>
        </p:blipFill>
        <p:spPr>
          <a:xfrm>
            <a:off x="2331720" y="2743200"/>
            <a:ext cx="1600200" cy="1234440"/>
          </a:xfrm>
          <a:prstGeom prst="rect">
            <a:avLst/>
          </a:prstGeom>
        </p:spPr>
      </p:pic>
      <p:sp>
        <p:nvSpPr>
          <p:cNvPr id="7" name="Shape 3"/>
          <p:cNvSpPr/>
          <p:nvPr/>
        </p:nvSpPr>
        <p:spPr>
          <a:xfrm>
            <a:off x="1920240" y="2834640"/>
            <a:ext cx="365760" cy="274320"/>
          </a:xfrm>
          <a:prstGeom prst="line">
            <a:avLst/>
          </a:prstGeom>
          <a:noFill/>
          <a:ln w="19050">
            <a:solidFill>
              <a:srgbClr val="F4ECDF"/>
            </a:solidFill>
            <a:prstDash val="solid"/>
            <a:tailEnd type="triangle"/>
          </a:ln>
        </p:spPr>
      </p:sp>
      <p:sp>
        <p:nvSpPr>
          <p:cNvPr id="8" name="Shape 4"/>
          <p:cNvSpPr/>
          <p:nvPr/>
        </p:nvSpPr>
        <p:spPr>
          <a:xfrm>
            <a:off x="4343400" y="2697480"/>
            <a:ext cx="1828800" cy="329184"/>
          </a:xfrm>
          <a:prstGeom prst="roundRect">
            <a:avLst>
              <a:gd name="adj" fmla="val 13889"/>
            </a:avLst>
          </a:prstGeom>
          <a:solidFill>
            <a:srgbClr val="E2B877"/>
          </a:solidFill>
          <a:ln/>
        </p:spPr>
      </p:sp>
      <p:sp>
        <p:nvSpPr>
          <p:cNvPr id="9" name="Text 5"/>
          <p:cNvSpPr/>
          <p:nvPr/>
        </p:nvSpPr>
        <p:spPr>
          <a:xfrm>
            <a:off x="4343400" y="2743200"/>
            <a:ext cx="1828800" cy="256032"/>
          </a:xfrm>
          <a:prstGeom prst="rect">
            <a:avLst/>
          </a:prstGeom>
          <a:noFill/>
          <a:ln/>
        </p:spPr>
        <p:txBody>
          <a:bodyPr wrap="square" lIns="0" tIns="0" rIns="0" bIns="0" rtlCol="0" anchor="ctr"/>
          <a:lstStyle/>
          <a:p>
            <a:pPr algn="ctr" indent="0" marL="0">
              <a:buNone/>
            </a:pPr>
            <a:r>
              <a:rPr lang="en-US" sz="1000" b="1" dirty="0">
                <a:solidFill>
                  <a:srgbClr val="1A1209"/>
                </a:solidFill>
                <a:latin typeface="Calibri" pitchFamily="34" charset="0"/>
                <a:ea typeface="Calibri" pitchFamily="34" charset="-122"/>
                <a:cs typeface="Calibri" pitchFamily="34" charset="-120"/>
              </a:rPr>
              <a:t>MAKE SUPERWOOD</a:t>
            </a:r>
            <a:endParaRPr lang="en-US" sz="1000" dirty="0"/>
          </a:p>
        </p:txBody>
      </p:sp>
      <p:pic>
        <p:nvPicPr>
          <p:cNvPr id="10" name="Image 2" descr="prep/prod-board.jpg">    </p:cNvPr>
          <p:cNvPicPr>
            <a:picLocks noChangeAspect="1"/>
          </p:cNvPicPr>
          <p:nvPr/>
        </p:nvPicPr>
        <p:blipFill>
          <a:blip r:embed="rId4"/>
          <a:stretch>
            <a:fillRect/>
          </a:stretch>
        </p:blipFill>
        <p:spPr>
          <a:xfrm>
            <a:off x="4343400" y="3127248"/>
            <a:ext cx="1828800" cy="1220153"/>
          </a:xfrm>
          <a:prstGeom prst="rect">
            <a:avLst/>
          </a:prstGeom>
        </p:spPr>
      </p:pic>
      <p:sp>
        <p:nvSpPr>
          <p:cNvPr id="11" name="Text 6"/>
          <p:cNvSpPr/>
          <p:nvPr/>
        </p:nvSpPr>
        <p:spPr>
          <a:xfrm>
            <a:off x="4251960" y="4434840"/>
            <a:ext cx="2057400" cy="777240"/>
          </a:xfrm>
          <a:prstGeom prst="rect">
            <a:avLst/>
          </a:prstGeom>
          <a:noFill/>
          <a:ln/>
        </p:spPr>
        <p:txBody>
          <a:bodyPr wrap="square" lIns="0" tIns="0" rIns="0" bIns="0" rtlCol="0" anchor="ctr"/>
          <a:lstStyle/>
          <a:p>
            <a:pPr indent="0" marL="0">
              <a:buNone/>
            </a:pPr>
            <a:r>
              <a:rPr lang="en-US" sz="850" dirty="0">
                <a:solidFill>
                  <a:srgbClr val="F4ECDF"/>
                </a:solidFill>
                <a:latin typeface="Calibri" pitchFamily="34" charset="0"/>
                <a:ea typeface="Calibri" pitchFamily="34" charset="-122"/>
                <a:cs typeface="Calibri" pitchFamily="34" charset="-120"/>
              </a:rPr>
              <a:t>Using underutilized or waste wood — replacing highly polluting steel and concrete</a:t>
            </a:r>
            <a:endParaRPr lang="en-US" sz="850" dirty="0"/>
          </a:p>
        </p:txBody>
      </p:sp>
      <p:sp>
        <p:nvSpPr>
          <p:cNvPr id="12" name="Shape 7"/>
          <p:cNvSpPr/>
          <p:nvPr/>
        </p:nvSpPr>
        <p:spPr>
          <a:xfrm flipV="1">
            <a:off x="3977640" y="3200400"/>
            <a:ext cx="338328" cy="91440"/>
          </a:xfrm>
          <a:prstGeom prst="line">
            <a:avLst/>
          </a:prstGeom>
          <a:noFill/>
          <a:ln w="19050">
            <a:solidFill>
              <a:srgbClr val="F4ECDF"/>
            </a:solidFill>
            <a:prstDash val="solid"/>
            <a:tailEnd type="triangle"/>
          </a:ln>
        </p:spPr>
      </p:sp>
      <p:sp>
        <p:nvSpPr>
          <p:cNvPr id="13" name="Shape 8"/>
          <p:cNvSpPr/>
          <p:nvPr/>
        </p:nvSpPr>
        <p:spPr>
          <a:xfrm>
            <a:off x="6355080" y="2057400"/>
            <a:ext cx="1371600" cy="310896"/>
          </a:xfrm>
          <a:prstGeom prst="roundRect">
            <a:avLst>
              <a:gd name="adj" fmla="val 14706"/>
            </a:avLst>
          </a:prstGeom>
          <a:solidFill>
            <a:srgbClr val="8FB356"/>
          </a:solidFill>
          <a:ln/>
        </p:spPr>
      </p:sp>
      <p:sp>
        <p:nvSpPr>
          <p:cNvPr id="14" name="Text 9"/>
          <p:cNvSpPr/>
          <p:nvPr/>
        </p:nvSpPr>
        <p:spPr>
          <a:xfrm>
            <a:off x="6355080" y="2103120"/>
            <a:ext cx="1371600" cy="237744"/>
          </a:xfrm>
          <a:prstGeom prst="rect">
            <a:avLst/>
          </a:prstGeom>
          <a:noFill/>
          <a:ln/>
        </p:spPr>
        <p:txBody>
          <a:bodyPr wrap="square" lIns="0" tIns="0" rIns="0" bIns="0" rtlCol="0" anchor="ctr"/>
          <a:lstStyle/>
          <a:p>
            <a:pPr algn="ctr" indent="0" marL="0">
              <a:buNone/>
            </a:pPr>
            <a:r>
              <a:rPr lang="en-US" sz="950" b="1" dirty="0">
                <a:solidFill>
                  <a:srgbClr val="1A1209"/>
                </a:solidFill>
                <a:latin typeface="Calibri" pitchFamily="34" charset="0"/>
                <a:ea typeface="Calibri" pitchFamily="34" charset="-122"/>
                <a:cs typeface="Calibri" pitchFamily="34" charset="-120"/>
              </a:rPr>
              <a:t>Reuse / recycle</a:t>
            </a:r>
            <a:endParaRPr lang="en-US" sz="950" dirty="0"/>
          </a:p>
        </p:txBody>
      </p:sp>
      <p:sp>
        <p:nvSpPr>
          <p:cNvPr id="15" name="Shape 10"/>
          <p:cNvSpPr/>
          <p:nvPr/>
        </p:nvSpPr>
        <p:spPr>
          <a:xfrm flipH="1">
            <a:off x="6949440" y="2395728"/>
            <a:ext cx="914400" cy="118872"/>
          </a:xfrm>
          <a:prstGeom prst="line">
            <a:avLst/>
          </a:prstGeom>
          <a:noFill/>
          <a:ln w="19050">
            <a:solidFill>
              <a:srgbClr val="F4ECDF"/>
            </a:solidFill>
            <a:prstDash val="solid"/>
            <a:tailEnd type="triangle"/>
          </a:ln>
        </p:spPr>
      </p:sp>
      <p:sp>
        <p:nvSpPr>
          <p:cNvPr id="16" name="Text 11"/>
          <p:cNvSpPr/>
          <p:nvPr/>
        </p:nvSpPr>
        <p:spPr>
          <a:xfrm>
            <a:off x="6949440" y="2606040"/>
            <a:ext cx="2103120" cy="274320"/>
          </a:xfrm>
          <a:prstGeom prst="rect">
            <a:avLst/>
          </a:prstGeom>
          <a:noFill/>
          <a:ln/>
        </p:spPr>
        <p:txBody>
          <a:bodyPr wrap="square" lIns="0" tIns="0" rIns="0" bIns="0" rtlCol="0" anchor="ctr"/>
          <a:lstStyle/>
          <a:p>
            <a:pPr indent="0" marL="0">
              <a:buNone/>
            </a:pPr>
            <a:r>
              <a:rPr lang="en-US" sz="1050" b="1" dirty="0">
                <a:solidFill>
                  <a:srgbClr val="E2B877"/>
                </a:solidFill>
                <a:latin typeface="Calibri" pitchFamily="34" charset="0"/>
                <a:ea typeface="Calibri" pitchFamily="34" charset="-122"/>
                <a:cs typeface="Calibri" pitchFamily="34" charset="-120"/>
              </a:rPr>
              <a:t>Store carbon in beautiful structures</a:t>
            </a:r>
            <a:endParaRPr lang="en-US" sz="1050" dirty="0"/>
          </a:p>
        </p:txBody>
      </p:sp>
      <p:pic>
        <p:nvPicPr>
          <p:cNvPr id="17" name="Image 3" descr="media/image99.png">    </p:cNvPr>
          <p:cNvPicPr>
            <a:picLocks noChangeAspect="1"/>
          </p:cNvPicPr>
          <p:nvPr/>
        </p:nvPicPr>
        <p:blipFill>
          <a:blip r:embed="rId5"/>
          <a:stretch>
            <a:fillRect/>
          </a:stretch>
        </p:blipFill>
        <p:spPr>
          <a:xfrm>
            <a:off x="6949440" y="2926080"/>
            <a:ext cx="2103120" cy="1178900"/>
          </a:xfrm>
          <a:prstGeom prst="rect">
            <a:avLst/>
          </a:prstGeom>
        </p:spPr>
      </p:pic>
      <p:sp>
        <p:nvSpPr>
          <p:cNvPr id="18" name="Text 12"/>
          <p:cNvSpPr/>
          <p:nvPr/>
        </p:nvSpPr>
        <p:spPr>
          <a:xfrm>
            <a:off x="6949440" y="4206240"/>
            <a:ext cx="2103120" cy="548640"/>
          </a:xfrm>
          <a:prstGeom prst="rect">
            <a:avLst/>
          </a:prstGeom>
          <a:noFill/>
          <a:ln/>
        </p:spPr>
        <p:txBody>
          <a:bodyPr wrap="square" lIns="0" tIns="0" rIns="0" bIns="0" rtlCol="0" anchor="ctr"/>
          <a:lstStyle/>
          <a:p>
            <a:pPr indent="0" marL="0">
              <a:buNone/>
            </a:pPr>
            <a:r>
              <a:rPr lang="en-US" sz="850" dirty="0">
                <a:solidFill>
                  <a:srgbClr val="F4ECDF"/>
                </a:solidFill>
                <a:latin typeface="Calibri" pitchFamily="34" charset="0"/>
                <a:ea typeface="Calibri" pitchFamily="34" charset="-122"/>
                <a:cs typeface="Calibri" pitchFamily="34" charset="-120"/>
              </a:rPr>
              <a:t>Sequestering CO₂ in buildings for the life of the structure</a:t>
            </a:r>
            <a:endParaRPr lang="en-US" sz="850" dirty="0"/>
          </a:p>
        </p:txBody>
      </p:sp>
      <p:sp>
        <p:nvSpPr>
          <p:cNvPr id="19" name="Shape 13"/>
          <p:cNvSpPr/>
          <p:nvPr/>
        </p:nvSpPr>
        <p:spPr>
          <a:xfrm>
            <a:off x="6263640" y="3383280"/>
            <a:ext cx="640080" cy="91440"/>
          </a:xfrm>
          <a:prstGeom prst="line">
            <a:avLst/>
          </a:prstGeom>
          <a:noFill/>
          <a:ln w="19050">
            <a:solidFill>
              <a:srgbClr val="F4ECDF"/>
            </a:solidFill>
            <a:prstDash val="solid"/>
            <a:tailEnd type="triangle"/>
          </a:ln>
        </p:spPr>
      </p:sp>
      <p:sp>
        <p:nvSpPr>
          <p:cNvPr id="20" name="Text 14"/>
          <p:cNvSpPr/>
          <p:nvPr/>
        </p:nvSpPr>
        <p:spPr>
          <a:xfrm>
            <a:off x="9464040" y="2880360"/>
            <a:ext cx="2194560" cy="274320"/>
          </a:xfrm>
          <a:prstGeom prst="rect">
            <a:avLst/>
          </a:prstGeom>
          <a:noFill/>
          <a:ln/>
        </p:spPr>
        <p:txBody>
          <a:bodyPr wrap="square" lIns="0" tIns="0" rIns="0" bIns="0" rtlCol="0" anchor="ctr"/>
          <a:lstStyle/>
          <a:p>
            <a:pPr indent="0" marL="0">
              <a:buNone/>
            </a:pPr>
            <a:r>
              <a:rPr lang="en-US" sz="1050" b="1" dirty="0">
                <a:solidFill>
                  <a:srgbClr val="E2B877"/>
                </a:solidFill>
                <a:latin typeface="Calibri" pitchFamily="34" charset="0"/>
                <a:ea typeface="Calibri" pitchFamily="34" charset="-122"/>
                <a:cs typeface="Calibri" pitchFamily="34" charset="-120"/>
              </a:rPr>
              <a:t>Store after life of building</a:t>
            </a:r>
            <a:endParaRPr lang="en-US" sz="1050" dirty="0"/>
          </a:p>
        </p:txBody>
      </p:sp>
      <p:pic>
        <p:nvPicPr>
          <p:cNvPr id="21" name="Image 4" descr="prep/road_cross_section.jpg">    </p:cNvPr>
          <p:cNvPicPr>
            <a:picLocks noChangeAspect="1"/>
          </p:cNvPicPr>
          <p:nvPr/>
        </p:nvPicPr>
        <p:blipFill>
          <a:blip r:embed="rId6"/>
          <a:stretch>
            <a:fillRect/>
          </a:stretch>
        </p:blipFill>
        <p:spPr>
          <a:xfrm>
            <a:off x="9464040" y="3200400"/>
            <a:ext cx="2194560" cy="1224871"/>
          </a:xfrm>
          <a:prstGeom prst="rect">
            <a:avLst/>
          </a:prstGeom>
        </p:spPr>
      </p:pic>
      <p:sp>
        <p:nvSpPr>
          <p:cNvPr id="22" name="Text 15"/>
          <p:cNvSpPr/>
          <p:nvPr/>
        </p:nvSpPr>
        <p:spPr>
          <a:xfrm>
            <a:off x="9464040" y="4526280"/>
            <a:ext cx="2194560" cy="777240"/>
          </a:xfrm>
          <a:prstGeom prst="rect">
            <a:avLst/>
          </a:prstGeom>
          <a:noFill/>
          <a:ln/>
        </p:spPr>
        <p:txBody>
          <a:bodyPr wrap="square" lIns="0" tIns="0" rIns="0" bIns="0" rtlCol="0" anchor="ctr"/>
          <a:lstStyle/>
          <a:p>
            <a:pPr indent="0" marL="0">
              <a:buNone/>
            </a:pPr>
            <a:r>
              <a:rPr lang="en-US" sz="850" dirty="0">
                <a:solidFill>
                  <a:srgbClr val="F4ECDF"/>
                </a:solidFill>
                <a:latin typeface="Calibri" pitchFamily="34" charset="0"/>
                <a:ea typeface="Calibri" pitchFamily="34" charset="-122"/>
                <a:cs typeface="Calibri" pitchFamily="34" charset="-120"/>
              </a:rPr>
              <a:t>In places like foundations or roads — very long-term storage, with a reuse pathway still to be demonstrated</a:t>
            </a:r>
            <a:endParaRPr lang="en-US" sz="850" dirty="0"/>
          </a:p>
        </p:txBody>
      </p:sp>
      <p:sp>
        <p:nvSpPr>
          <p:cNvPr id="23" name="Shape 16"/>
          <p:cNvSpPr/>
          <p:nvPr/>
        </p:nvSpPr>
        <p:spPr>
          <a:xfrm>
            <a:off x="9098280" y="3611880"/>
            <a:ext cx="320040" cy="137160"/>
          </a:xfrm>
          <a:prstGeom prst="line">
            <a:avLst/>
          </a:prstGeom>
          <a:noFill/>
          <a:ln w="19050">
            <a:solidFill>
              <a:srgbClr val="F4ECDF"/>
            </a:solidFill>
            <a:prstDash val="solid"/>
            <a:tailEnd type="triangle"/>
          </a:ln>
        </p:spPr>
      </p:sp>
      <p:sp>
        <p:nvSpPr>
          <p:cNvPr id="24" name="Text 17"/>
          <p:cNvSpPr/>
          <p:nvPr/>
        </p:nvSpPr>
        <p:spPr>
          <a:xfrm>
            <a:off x="9171432" y="6446520"/>
            <a:ext cx="2651760" cy="228600"/>
          </a:xfrm>
          <a:prstGeom prst="rect">
            <a:avLst/>
          </a:prstGeom>
          <a:noFill/>
          <a:ln/>
        </p:spPr>
        <p:txBody>
          <a:bodyPr wrap="square" lIns="0" tIns="0" rIns="0" bIns="0" rtlCol="0" anchor="ctr"/>
          <a:lstStyle/>
          <a:p>
            <a:pPr algn="r" indent="0" marL="0">
              <a:buNone/>
            </a:pPr>
            <a:r>
              <a:rPr lang="en-US" sz="800" i="1" dirty="0">
                <a:solidFill>
                  <a:srgbClr val="CDBFA9"/>
                </a:solidFill>
                <a:latin typeface="Calibri" pitchFamily="34" charset="0"/>
                <a:ea typeface="Calibri" pitchFamily="34" charset="-122"/>
                <a:cs typeface="Calibri" pitchFamily="34" charset="-120"/>
              </a:rPr>
              <a:t>Concept renderings &amp; photography</a:t>
            </a:r>
            <a:endParaRPr lang="en-US" sz="8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CDBFA9"/>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Impact</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IMPACT · FEEDSTOCK</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Flexible, renewable, highly scalable feedstock</a:t>
            </a:r>
            <a:endParaRPr lang="en-US" sz="3200" dirty="0"/>
          </a:p>
        </p:txBody>
      </p:sp>
      <p:sp>
        <p:nvSpPr>
          <p:cNvPr id="6" name="Shape 4"/>
          <p:cNvSpPr/>
          <p:nvPr/>
        </p:nvSpPr>
        <p:spPr>
          <a:xfrm>
            <a:off x="502920" y="1783080"/>
            <a:ext cx="11155680" cy="1051560"/>
          </a:xfrm>
          <a:prstGeom prst="roundRect">
            <a:avLst>
              <a:gd name="adj" fmla="val 7826"/>
            </a:avLst>
          </a:prstGeom>
          <a:solidFill>
            <a:srgbClr val="261A0F"/>
          </a:solidFill>
          <a:ln/>
        </p:spPr>
      </p:sp>
      <p:sp>
        <p:nvSpPr>
          <p:cNvPr id="7" name="Text 5"/>
          <p:cNvSpPr/>
          <p:nvPr/>
        </p:nvSpPr>
        <p:spPr>
          <a:xfrm>
            <a:off x="777240" y="2057400"/>
            <a:ext cx="10607040" cy="548640"/>
          </a:xfrm>
          <a:prstGeom prst="rect">
            <a:avLst/>
          </a:prstGeom>
          <a:noFill/>
          <a:ln/>
        </p:spPr>
        <p:txBody>
          <a:bodyPr wrap="square" lIns="0" tIns="0" rIns="0" bIns="0" rtlCol="0" anchor="ctr"/>
          <a:lstStyle/>
          <a:p>
            <a:pPr indent="0" marL="0">
              <a:buNone/>
            </a:pPr>
            <a:r>
              <a:rPr lang="en-US" sz="1500" b="1" dirty="0">
                <a:solidFill>
                  <a:srgbClr val="E2B877"/>
                </a:solidFill>
                <a:latin typeface="Calibri" pitchFamily="34" charset="0"/>
                <a:ea typeface="Calibri" pitchFamily="34" charset="-122"/>
                <a:cs typeface="Calibri" pitchFamily="34" charset="-120"/>
              </a:rPr>
              <a:t>12.5 million tons per year </a:t>
            </a:r>
            <a:pPr indent="0" marL="0">
              <a:buNone/>
            </a:pPr>
            <a:r>
              <a:rPr lang="en-US" sz="1350" dirty="0">
                <a:solidFill>
                  <a:srgbClr val="F4ECDF"/>
                </a:solidFill>
                <a:latin typeface="Calibri" pitchFamily="34" charset="0"/>
                <a:ea typeface="Calibri" pitchFamily="34" charset="-122"/>
                <a:cs typeface="Calibri" pitchFamily="34" charset="-120"/>
              </a:rPr>
              <a:t>of SUPERWOOD could displace 50% of steel demand in the US — roughly all the steel used in construction.</a:t>
            </a:r>
            <a:endParaRPr lang="en-US" sz="1500" dirty="0"/>
          </a:p>
        </p:txBody>
      </p:sp>
      <p:sp>
        <p:nvSpPr>
          <p:cNvPr id="8" name="Text 6"/>
          <p:cNvSpPr/>
          <p:nvPr/>
        </p:nvSpPr>
        <p:spPr>
          <a:xfrm>
            <a:off x="502920" y="3154680"/>
            <a:ext cx="7315200" cy="292608"/>
          </a:xfrm>
          <a:prstGeom prst="rect">
            <a:avLst/>
          </a:prstGeom>
          <a:noFill/>
          <a:ln/>
        </p:spPr>
        <p:txBody>
          <a:bodyPr wrap="square" lIns="0" tIns="0" rIns="0" bIns="0" rtlCol="0" anchor="ctr"/>
          <a:lstStyle/>
          <a:p>
            <a:pPr indent="0" marL="0">
              <a:buNone/>
            </a:pPr>
            <a:r>
              <a:rPr lang="en-US" sz="1100" b="1" spc="200" kern="0" dirty="0">
                <a:solidFill>
                  <a:srgbClr val="CDA165"/>
                </a:solidFill>
                <a:latin typeface="Calibri" pitchFamily="34" charset="0"/>
                <a:ea typeface="Calibri" pitchFamily="34" charset="-122"/>
                <a:cs typeface="Calibri" pitchFamily="34" charset="-120"/>
              </a:rPr>
              <a:t>EXAMPLES OF EXCESS SUPPLY IN THE US</a:t>
            </a:r>
            <a:endParaRPr lang="en-US" sz="1100" dirty="0"/>
          </a:p>
        </p:txBody>
      </p:sp>
      <p:sp>
        <p:nvSpPr>
          <p:cNvPr id="9" name="Shape 7"/>
          <p:cNvSpPr/>
          <p:nvPr/>
        </p:nvSpPr>
        <p:spPr>
          <a:xfrm>
            <a:off x="502920" y="3611880"/>
            <a:ext cx="5486400" cy="1051560"/>
          </a:xfrm>
          <a:prstGeom prst="roundRect">
            <a:avLst>
              <a:gd name="adj" fmla="val 7826"/>
            </a:avLst>
          </a:prstGeom>
          <a:solidFill>
            <a:srgbClr val="261A0F"/>
          </a:solidFill>
          <a:ln/>
        </p:spPr>
      </p:sp>
      <p:sp>
        <p:nvSpPr>
          <p:cNvPr id="10" name="Text 8"/>
          <p:cNvSpPr/>
          <p:nvPr/>
        </p:nvSpPr>
        <p:spPr>
          <a:xfrm>
            <a:off x="777240" y="3867912"/>
            <a:ext cx="1645920" cy="548640"/>
          </a:xfrm>
          <a:prstGeom prst="rect">
            <a:avLst/>
          </a:prstGeom>
          <a:noFill/>
          <a:ln/>
        </p:spPr>
        <p:txBody>
          <a:bodyPr wrap="square" lIns="0" tIns="0" rIns="0" bIns="0" rtlCol="0" anchor="ctr"/>
          <a:lstStyle/>
          <a:p>
            <a:pPr indent="0" marL="0">
              <a:buNone/>
            </a:pPr>
            <a:r>
              <a:rPr lang="en-US" sz="2000" dirty="0">
                <a:solidFill>
                  <a:srgbClr val="E2B877"/>
                </a:solidFill>
                <a:latin typeface="Georgia" pitchFamily="34" charset="0"/>
                <a:ea typeface="Georgia" pitchFamily="34" charset="-122"/>
                <a:cs typeface="Georgia" pitchFamily="34" charset="-120"/>
              </a:rPr>
              <a:t>167 Mt/yr</a:t>
            </a:r>
            <a:endParaRPr lang="en-US" sz="2000" dirty="0"/>
          </a:p>
        </p:txBody>
      </p:sp>
      <p:sp>
        <p:nvSpPr>
          <p:cNvPr id="11" name="Text 9"/>
          <p:cNvSpPr/>
          <p:nvPr/>
        </p:nvSpPr>
        <p:spPr>
          <a:xfrm>
            <a:off x="2560320" y="3794760"/>
            <a:ext cx="3291840" cy="731520"/>
          </a:xfrm>
          <a:prstGeom prst="rect">
            <a:avLst/>
          </a:prstGeom>
          <a:noFill/>
          <a:ln/>
        </p:spPr>
        <p:txBody>
          <a:bodyPr wrap="square" lIns="0" tIns="0" rIns="0" bIns="0" rtlCol="0" anchor="ctr"/>
          <a:lstStyle/>
          <a:p>
            <a:pPr indent="0" marL="0">
              <a:buNone/>
            </a:pPr>
            <a:r>
              <a:rPr lang="en-US" sz="1150" dirty="0">
                <a:solidFill>
                  <a:srgbClr val="CDBFA9"/>
                </a:solidFill>
                <a:latin typeface="Calibri" pitchFamily="34" charset="0"/>
                <a:ea typeface="Calibri" pitchFamily="34" charset="-122"/>
                <a:cs typeface="Calibri" pitchFamily="34" charset="-120"/>
              </a:rPr>
              <a:t>Forest overburden in Western National Forests</a:t>
            </a:r>
            <a:endParaRPr lang="en-US" sz="1150" dirty="0"/>
          </a:p>
        </p:txBody>
      </p:sp>
      <p:sp>
        <p:nvSpPr>
          <p:cNvPr id="12" name="Shape 10"/>
          <p:cNvSpPr/>
          <p:nvPr/>
        </p:nvSpPr>
        <p:spPr>
          <a:xfrm>
            <a:off x="6172200" y="3611880"/>
            <a:ext cx="5486400" cy="1051560"/>
          </a:xfrm>
          <a:prstGeom prst="roundRect">
            <a:avLst>
              <a:gd name="adj" fmla="val 7826"/>
            </a:avLst>
          </a:prstGeom>
          <a:solidFill>
            <a:srgbClr val="261A0F"/>
          </a:solidFill>
          <a:ln/>
        </p:spPr>
      </p:sp>
      <p:sp>
        <p:nvSpPr>
          <p:cNvPr id="13" name="Text 11"/>
          <p:cNvSpPr/>
          <p:nvPr/>
        </p:nvSpPr>
        <p:spPr>
          <a:xfrm>
            <a:off x="6446520" y="3867912"/>
            <a:ext cx="1645920" cy="548640"/>
          </a:xfrm>
          <a:prstGeom prst="rect">
            <a:avLst/>
          </a:prstGeom>
          <a:noFill/>
          <a:ln/>
        </p:spPr>
        <p:txBody>
          <a:bodyPr wrap="square" lIns="0" tIns="0" rIns="0" bIns="0" rtlCol="0" anchor="ctr"/>
          <a:lstStyle/>
          <a:p>
            <a:pPr indent="0" marL="0">
              <a:buNone/>
            </a:pPr>
            <a:r>
              <a:rPr lang="en-US" sz="2000" dirty="0">
                <a:solidFill>
                  <a:srgbClr val="E2B877"/>
                </a:solidFill>
                <a:latin typeface="Georgia" pitchFamily="34" charset="0"/>
                <a:ea typeface="Georgia" pitchFamily="34" charset="-122"/>
                <a:cs typeface="Georgia" pitchFamily="34" charset="-120"/>
              </a:rPr>
              <a:t>14 Mt/yr</a:t>
            </a:r>
            <a:endParaRPr lang="en-US" sz="2000" dirty="0"/>
          </a:p>
        </p:txBody>
      </p:sp>
      <p:sp>
        <p:nvSpPr>
          <p:cNvPr id="14" name="Text 12"/>
          <p:cNvSpPr/>
          <p:nvPr/>
        </p:nvSpPr>
        <p:spPr>
          <a:xfrm>
            <a:off x="8229600" y="3794760"/>
            <a:ext cx="3291840" cy="731520"/>
          </a:xfrm>
          <a:prstGeom prst="rect">
            <a:avLst/>
          </a:prstGeom>
          <a:noFill/>
          <a:ln/>
        </p:spPr>
        <p:txBody>
          <a:bodyPr wrap="square" lIns="0" tIns="0" rIns="0" bIns="0" rtlCol="0" anchor="ctr"/>
          <a:lstStyle/>
          <a:p>
            <a:pPr indent="0" marL="0">
              <a:buNone/>
            </a:pPr>
            <a:r>
              <a:rPr lang="en-US" sz="1150" dirty="0">
                <a:solidFill>
                  <a:srgbClr val="CDBFA9"/>
                </a:solidFill>
                <a:latin typeface="Calibri" pitchFamily="34" charset="0"/>
                <a:ea typeface="Calibri" pitchFamily="34" charset="-122"/>
                <a:cs typeface="Calibri" pitchFamily="34" charset="-120"/>
              </a:rPr>
              <a:t>Excess capacity in Southern lumber mills</a:t>
            </a:r>
            <a:endParaRPr lang="en-US" sz="1150" dirty="0"/>
          </a:p>
        </p:txBody>
      </p:sp>
      <p:sp>
        <p:nvSpPr>
          <p:cNvPr id="15" name="Shape 13"/>
          <p:cNvSpPr/>
          <p:nvPr/>
        </p:nvSpPr>
        <p:spPr>
          <a:xfrm>
            <a:off x="502920" y="4846320"/>
            <a:ext cx="5486400" cy="1051560"/>
          </a:xfrm>
          <a:prstGeom prst="roundRect">
            <a:avLst>
              <a:gd name="adj" fmla="val 7826"/>
            </a:avLst>
          </a:prstGeom>
          <a:solidFill>
            <a:srgbClr val="261A0F"/>
          </a:solidFill>
          <a:ln/>
        </p:spPr>
      </p:sp>
      <p:sp>
        <p:nvSpPr>
          <p:cNvPr id="16" name="Text 14"/>
          <p:cNvSpPr/>
          <p:nvPr/>
        </p:nvSpPr>
        <p:spPr>
          <a:xfrm>
            <a:off x="777240" y="5102352"/>
            <a:ext cx="1645920" cy="548640"/>
          </a:xfrm>
          <a:prstGeom prst="rect">
            <a:avLst/>
          </a:prstGeom>
          <a:noFill/>
          <a:ln/>
        </p:spPr>
        <p:txBody>
          <a:bodyPr wrap="square" lIns="0" tIns="0" rIns="0" bIns="0" rtlCol="0" anchor="ctr"/>
          <a:lstStyle/>
          <a:p>
            <a:pPr indent="0" marL="0">
              <a:buNone/>
            </a:pPr>
            <a:r>
              <a:rPr lang="en-US" sz="2000" dirty="0">
                <a:solidFill>
                  <a:srgbClr val="E2B877"/>
                </a:solidFill>
                <a:latin typeface="Georgia" pitchFamily="34" charset="0"/>
                <a:ea typeface="Georgia" pitchFamily="34" charset="-122"/>
                <a:cs typeface="Georgia" pitchFamily="34" charset="-120"/>
              </a:rPr>
              <a:t>12 Mt/yr</a:t>
            </a:r>
            <a:endParaRPr lang="en-US" sz="2000" dirty="0"/>
          </a:p>
        </p:txBody>
      </p:sp>
      <p:sp>
        <p:nvSpPr>
          <p:cNvPr id="17" name="Text 15"/>
          <p:cNvSpPr/>
          <p:nvPr/>
        </p:nvSpPr>
        <p:spPr>
          <a:xfrm>
            <a:off x="2560320" y="5029200"/>
            <a:ext cx="3291840" cy="731520"/>
          </a:xfrm>
          <a:prstGeom prst="rect">
            <a:avLst/>
          </a:prstGeom>
          <a:noFill/>
          <a:ln/>
        </p:spPr>
        <p:txBody>
          <a:bodyPr wrap="square" lIns="0" tIns="0" rIns="0" bIns="0" rtlCol="0" anchor="ctr"/>
          <a:lstStyle/>
          <a:p>
            <a:pPr indent="0" marL="0">
              <a:buNone/>
            </a:pPr>
            <a:r>
              <a:rPr lang="en-US" sz="1150" dirty="0">
                <a:solidFill>
                  <a:srgbClr val="CDBFA9"/>
                </a:solidFill>
                <a:latin typeface="Calibri" pitchFamily="34" charset="0"/>
                <a:ea typeface="Calibri" pitchFamily="34" charset="-122"/>
                <a:cs typeface="Calibri" pitchFamily="34" charset="-120"/>
              </a:rPr>
              <a:t>Wood waste sent to landfills</a:t>
            </a:r>
            <a:endParaRPr lang="en-US" sz="1150" dirty="0"/>
          </a:p>
        </p:txBody>
      </p:sp>
      <p:sp>
        <p:nvSpPr>
          <p:cNvPr id="18" name="Shape 16"/>
          <p:cNvSpPr/>
          <p:nvPr/>
        </p:nvSpPr>
        <p:spPr>
          <a:xfrm>
            <a:off x="6172200" y="4846320"/>
            <a:ext cx="5486400" cy="1051560"/>
          </a:xfrm>
          <a:prstGeom prst="roundRect">
            <a:avLst>
              <a:gd name="adj" fmla="val 7826"/>
            </a:avLst>
          </a:prstGeom>
          <a:solidFill>
            <a:srgbClr val="261A0F"/>
          </a:solidFill>
          <a:ln/>
        </p:spPr>
      </p:sp>
      <p:sp>
        <p:nvSpPr>
          <p:cNvPr id="19" name="Text 17"/>
          <p:cNvSpPr/>
          <p:nvPr/>
        </p:nvSpPr>
        <p:spPr>
          <a:xfrm>
            <a:off x="6446520" y="5102352"/>
            <a:ext cx="1645920" cy="548640"/>
          </a:xfrm>
          <a:prstGeom prst="rect">
            <a:avLst/>
          </a:prstGeom>
          <a:noFill/>
          <a:ln/>
        </p:spPr>
        <p:txBody>
          <a:bodyPr wrap="square" lIns="0" tIns="0" rIns="0" bIns="0" rtlCol="0" anchor="ctr"/>
          <a:lstStyle/>
          <a:p>
            <a:pPr indent="0" marL="0">
              <a:buNone/>
            </a:pPr>
            <a:r>
              <a:rPr lang="en-US" sz="2000" dirty="0">
                <a:solidFill>
                  <a:srgbClr val="E2B877"/>
                </a:solidFill>
                <a:latin typeface="Georgia" pitchFamily="34" charset="0"/>
                <a:ea typeface="Georgia" pitchFamily="34" charset="-122"/>
                <a:cs typeface="Georgia" pitchFamily="34" charset="-120"/>
              </a:rPr>
              <a:t>2.5 Mt/yr</a:t>
            </a:r>
            <a:endParaRPr lang="en-US" sz="2000" dirty="0"/>
          </a:p>
        </p:txBody>
      </p:sp>
      <p:sp>
        <p:nvSpPr>
          <p:cNvPr id="20" name="Text 18"/>
          <p:cNvSpPr/>
          <p:nvPr/>
        </p:nvSpPr>
        <p:spPr>
          <a:xfrm>
            <a:off x="8229600" y="5029200"/>
            <a:ext cx="3291840" cy="731520"/>
          </a:xfrm>
          <a:prstGeom prst="rect">
            <a:avLst/>
          </a:prstGeom>
          <a:noFill/>
          <a:ln/>
        </p:spPr>
        <p:txBody>
          <a:bodyPr wrap="square" lIns="0" tIns="0" rIns="0" bIns="0" rtlCol="0" anchor="ctr"/>
          <a:lstStyle/>
          <a:p>
            <a:pPr indent="0" marL="0">
              <a:buNone/>
            </a:pPr>
            <a:r>
              <a:rPr lang="en-US" sz="1150" dirty="0">
                <a:solidFill>
                  <a:srgbClr val="CDBFA9"/>
                </a:solidFill>
                <a:latin typeface="Calibri" pitchFamily="34" charset="0"/>
                <a:ea typeface="Calibri" pitchFamily="34" charset="-122"/>
                <a:cs typeface="Calibri" pitchFamily="34" charset="-120"/>
              </a:rPr>
              <a:t>End-of-life fruit and nut trees</a:t>
            </a:r>
            <a:endParaRPr lang="en-US" sz="1150" dirty="0"/>
          </a:p>
        </p:txBody>
      </p:sp>
      <p:sp>
        <p:nvSpPr>
          <p:cNvPr id="21" name="Text 19"/>
          <p:cNvSpPr/>
          <p:nvPr/>
        </p:nvSpPr>
        <p:spPr>
          <a:xfrm>
            <a:off x="502920" y="6172200"/>
            <a:ext cx="11155680" cy="320040"/>
          </a:xfrm>
          <a:prstGeom prst="rect">
            <a:avLst/>
          </a:prstGeom>
          <a:noFill/>
          <a:ln/>
        </p:spPr>
        <p:txBody>
          <a:bodyPr wrap="square" lIns="0" tIns="0" rIns="0" bIns="0" rtlCol="0" anchor="ctr"/>
          <a:lstStyle/>
          <a:p>
            <a:pPr indent="0" marL="0">
              <a:buNone/>
            </a:pPr>
            <a:r>
              <a:rPr lang="en-US" sz="900" i="1" dirty="0">
                <a:solidFill>
                  <a:srgbClr val="9D8D76"/>
                </a:solidFill>
                <a:latin typeface="Calibri" pitchFamily="34" charset="0"/>
                <a:ea typeface="Calibri" pitchFamily="34" charset="-122"/>
                <a:cs typeface="Calibri" pitchFamily="34" charset="-120"/>
              </a:rPr>
              <a:t>Sources: MDPI Mass Timber Consumption Report; EPA.gov; US Forest Service Sawmill Capacity and Production Report; New Leaf Management Ltd. Consulting.</a:t>
            </a:r>
            <a:endParaRPr lang="en-US" sz="9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286000"/>
            <a:ext cx="5486400" cy="320040"/>
          </a:xfrm>
          <a:prstGeom prst="rect">
            <a:avLst/>
          </a:prstGeom>
          <a:noFill/>
          <a:ln/>
        </p:spPr>
        <p:txBody>
          <a:bodyPr wrap="square" lIns="0" tIns="0" rIns="0" bIns="0" rtlCol="0" anchor="ctr"/>
          <a:lstStyle/>
          <a:p>
            <a:pPr indent="0" marL="0">
              <a:buNone/>
            </a:pPr>
            <a:r>
              <a:rPr lang="en-US" sz="1300" b="1" spc="400" kern="0" dirty="0">
                <a:solidFill>
                  <a:srgbClr val="CDA165"/>
                </a:solidFill>
                <a:latin typeface="Calibri" pitchFamily="34" charset="0"/>
                <a:ea typeface="Calibri" pitchFamily="34" charset="-122"/>
                <a:cs typeface="Calibri" pitchFamily="34" charset="-120"/>
              </a:rPr>
              <a:t>SECTION 04</a:t>
            </a:r>
            <a:endParaRPr lang="en-US" sz="1300" dirty="0"/>
          </a:p>
        </p:txBody>
      </p:sp>
      <p:sp>
        <p:nvSpPr>
          <p:cNvPr id="3" name="Text 1"/>
          <p:cNvSpPr/>
          <p:nvPr/>
        </p:nvSpPr>
        <p:spPr>
          <a:xfrm>
            <a:off x="914400" y="2743200"/>
            <a:ext cx="10332720" cy="1005840"/>
          </a:xfrm>
          <a:prstGeom prst="rect">
            <a:avLst/>
          </a:prstGeom>
          <a:noFill/>
          <a:ln/>
        </p:spPr>
        <p:txBody>
          <a:bodyPr wrap="square" lIns="0" tIns="0" rIns="0" bIns="0" rtlCol="0" anchor="ctr"/>
          <a:lstStyle/>
          <a:p>
            <a:pPr indent="0" marL="0">
              <a:buNone/>
            </a:pPr>
            <a:r>
              <a:rPr lang="en-US" sz="4800" dirty="0">
                <a:solidFill>
                  <a:srgbClr val="F4ECDF"/>
                </a:solidFill>
                <a:latin typeface="Georgia" pitchFamily="34" charset="0"/>
                <a:ea typeface="Georgia" pitchFamily="34" charset="-122"/>
                <a:cs typeface="Georgia" pitchFamily="34" charset="-120"/>
              </a:rPr>
              <a:t>Data Center</a:t>
            </a:r>
            <a:pPr indent="0" marL="0">
              <a:buNone/>
            </a:pPr>
            <a:r>
              <a:rPr lang="en-US" sz="4800" i="1" dirty="0">
                <a:solidFill>
                  <a:srgbClr val="E2B877"/>
                </a:solidFill>
                <a:latin typeface="Georgia" pitchFamily="34" charset="0"/>
                <a:ea typeface="Georgia" pitchFamily="34" charset="-122"/>
                <a:cs typeface="Georgia" pitchFamily="34" charset="-120"/>
              </a:rPr>
              <a:t> Applications</a:t>
            </a:r>
            <a:endParaRPr lang="en-US" sz="4800" dirty="0"/>
          </a:p>
        </p:txBody>
      </p:sp>
      <p:sp>
        <p:nvSpPr>
          <p:cNvPr id="4" name="Text 2"/>
          <p:cNvSpPr/>
          <p:nvPr/>
        </p:nvSpPr>
        <p:spPr>
          <a:xfrm>
            <a:off x="914400" y="3886200"/>
            <a:ext cx="8686800" cy="45720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Skins and fences now; certification-gated next; structure after</a:t>
            </a:r>
            <a:endParaRPr lang="en-US" sz="15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Applications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DATA CENTER APPLICATIONS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Fast, cost-effective, carbon-storing data centers</a:t>
            </a:r>
            <a:endParaRPr lang="en-US" sz="3200" dirty="0"/>
          </a:p>
        </p:txBody>
      </p:sp>
      <p:sp>
        <p:nvSpPr>
          <p:cNvPr id="6" name="Text 4"/>
          <p:cNvSpPr/>
          <p:nvPr/>
        </p:nvSpPr>
        <p:spPr>
          <a:xfrm>
            <a:off x="502920" y="1874520"/>
            <a:ext cx="731520" cy="548640"/>
          </a:xfrm>
          <a:prstGeom prst="rect">
            <a:avLst/>
          </a:prstGeom>
          <a:noFill/>
          <a:ln/>
        </p:spPr>
        <p:txBody>
          <a:bodyPr wrap="square" lIns="0" tIns="0" rIns="0" bIns="0" rtlCol="0" anchor="ctr"/>
          <a:lstStyle/>
          <a:p>
            <a:pPr indent="0" marL="0">
              <a:buNone/>
            </a:pPr>
            <a:r>
              <a:rPr lang="en-US" sz="2400" dirty="0">
                <a:solidFill>
                  <a:srgbClr val="B87D44"/>
                </a:solidFill>
                <a:latin typeface="Georgia" pitchFamily="34" charset="0"/>
                <a:ea typeface="Georgia" pitchFamily="34" charset="-122"/>
                <a:cs typeface="Georgia" pitchFamily="34" charset="-120"/>
              </a:rPr>
              <a:t>01</a:t>
            </a:r>
            <a:endParaRPr lang="en-US" sz="2400" dirty="0"/>
          </a:p>
        </p:txBody>
      </p:sp>
      <p:sp>
        <p:nvSpPr>
          <p:cNvPr id="7" name="Text 5"/>
          <p:cNvSpPr/>
          <p:nvPr/>
        </p:nvSpPr>
        <p:spPr>
          <a:xfrm>
            <a:off x="1325880" y="1874520"/>
            <a:ext cx="5669280" cy="365760"/>
          </a:xfrm>
          <a:prstGeom prst="rect">
            <a:avLst/>
          </a:prstGeom>
          <a:noFill/>
          <a:ln/>
        </p:spPr>
        <p:txBody>
          <a:bodyPr wrap="square" lIns="0" tIns="0" rIns="0" bIns="0" rtlCol="0" anchor="ctr"/>
          <a:lstStyle/>
          <a:p>
            <a:pPr indent="0" marL="0">
              <a:buNone/>
            </a:pPr>
            <a:r>
              <a:rPr lang="en-US" sz="1550" b="1" dirty="0">
                <a:solidFill>
                  <a:srgbClr val="F4ECDF"/>
                </a:solidFill>
                <a:latin typeface="Calibri" pitchFamily="34" charset="0"/>
                <a:ea typeface="Calibri" pitchFamily="34" charset="-122"/>
                <a:cs typeface="Calibri" pitchFamily="34" charset="-120"/>
              </a:rPr>
              <a:t>Faster, easier builds</a:t>
            </a:r>
            <a:endParaRPr lang="en-US" sz="1550" dirty="0"/>
          </a:p>
        </p:txBody>
      </p:sp>
      <p:sp>
        <p:nvSpPr>
          <p:cNvPr id="8" name="Text 6"/>
          <p:cNvSpPr/>
          <p:nvPr/>
        </p:nvSpPr>
        <p:spPr>
          <a:xfrm>
            <a:off x="1325880" y="2240280"/>
            <a:ext cx="5669280" cy="777240"/>
          </a:xfrm>
          <a:prstGeom prst="rect">
            <a:avLst/>
          </a:prstGeom>
          <a:noFill/>
          <a:ln/>
        </p:spPr>
        <p:txBody>
          <a:bodyPr wrap="square" lIns="0" tIns="0" rIns="0" bIns="0" rtlCol="0" anchor="t"/>
          <a:lstStyle/>
          <a:p>
            <a:pPr indent="0" marL="0">
              <a:buNone/>
            </a:pPr>
            <a:r>
              <a:rPr lang="en-US" sz="1100" dirty="0">
                <a:solidFill>
                  <a:srgbClr val="9D8D76"/>
                </a:solidFill>
                <a:latin typeface="Calibri" pitchFamily="34" charset="0"/>
                <a:ea typeface="Calibri" pitchFamily="34" charset="-122"/>
                <a:cs typeface="Calibri" pitchFamily="34" charset="-120"/>
              </a:rPr>
              <a:t>Up to 10× the strength-to-weight ratio of steel — lighter to ship and lift, faster to assemble and disassemble, with a short domestic supply chain.</a:t>
            </a:r>
            <a:endParaRPr lang="en-US" sz="1100" dirty="0"/>
          </a:p>
        </p:txBody>
      </p:sp>
      <p:sp>
        <p:nvSpPr>
          <p:cNvPr id="9" name="Text 7"/>
          <p:cNvSpPr/>
          <p:nvPr/>
        </p:nvSpPr>
        <p:spPr>
          <a:xfrm>
            <a:off x="502920" y="3008376"/>
            <a:ext cx="731520" cy="548640"/>
          </a:xfrm>
          <a:prstGeom prst="rect">
            <a:avLst/>
          </a:prstGeom>
          <a:noFill/>
          <a:ln/>
        </p:spPr>
        <p:txBody>
          <a:bodyPr wrap="square" lIns="0" tIns="0" rIns="0" bIns="0" rtlCol="0" anchor="ctr"/>
          <a:lstStyle/>
          <a:p>
            <a:pPr indent="0" marL="0">
              <a:buNone/>
            </a:pPr>
            <a:r>
              <a:rPr lang="en-US" sz="2400" dirty="0">
                <a:solidFill>
                  <a:srgbClr val="B87D44"/>
                </a:solidFill>
                <a:latin typeface="Georgia" pitchFamily="34" charset="0"/>
                <a:ea typeface="Georgia" pitchFamily="34" charset="-122"/>
                <a:cs typeface="Georgia" pitchFamily="34" charset="-120"/>
              </a:rPr>
              <a:t>02</a:t>
            </a:r>
            <a:endParaRPr lang="en-US" sz="2400" dirty="0"/>
          </a:p>
        </p:txBody>
      </p:sp>
      <p:sp>
        <p:nvSpPr>
          <p:cNvPr id="10" name="Text 8"/>
          <p:cNvSpPr/>
          <p:nvPr/>
        </p:nvSpPr>
        <p:spPr>
          <a:xfrm>
            <a:off x="1325880" y="3008376"/>
            <a:ext cx="5669280" cy="365760"/>
          </a:xfrm>
          <a:prstGeom prst="rect">
            <a:avLst/>
          </a:prstGeom>
          <a:noFill/>
          <a:ln/>
        </p:spPr>
        <p:txBody>
          <a:bodyPr wrap="square" lIns="0" tIns="0" rIns="0" bIns="0" rtlCol="0" anchor="ctr"/>
          <a:lstStyle/>
          <a:p>
            <a:pPr indent="0" marL="0">
              <a:buNone/>
            </a:pPr>
            <a:r>
              <a:rPr lang="en-US" sz="1550" b="1" dirty="0">
                <a:solidFill>
                  <a:srgbClr val="F4ECDF"/>
                </a:solidFill>
                <a:latin typeface="Calibri" pitchFamily="34" charset="0"/>
                <a:ea typeface="Calibri" pitchFamily="34" charset="-122"/>
                <a:cs typeface="Calibri" pitchFamily="34" charset="-120"/>
              </a:rPr>
              <a:t>Safer construction and operations</a:t>
            </a:r>
            <a:endParaRPr lang="en-US" sz="1550" dirty="0"/>
          </a:p>
        </p:txBody>
      </p:sp>
      <p:sp>
        <p:nvSpPr>
          <p:cNvPr id="11" name="Text 9"/>
          <p:cNvSpPr/>
          <p:nvPr/>
        </p:nvSpPr>
        <p:spPr>
          <a:xfrm>
            <a:off x="1325880" y="3374136"/>
            <a:ext cx="5669280" cy="777240"/>
          </a:xfrm>
          <a:prstGeom prst="rect">
            <a:avLst/>
          </a:prstGeom>
          <a:noFill/>
          <a:ln/>
        </p:spPr>
        <p:txBody>
          <a:bodyPr wrap="square" lIns="0" tIns="0" rIns="0" bIns="0" rtlCol="0" anchor="t"/>
          <a:lstStyle/>
          <a:p>
            <a:pPr indent="0" marL="0">
              <a:buNone/>
            </a:pPr>
            <a:r>
              <a:rPr lang="en-US" sz="1100" dirty="0">
                <a:solidFill>
                  <a:srgbClr val="9D8D76"/>
                </a:solidFill>
                <a:latin typeface="Calibri" pitchFamily="34" charset="0"/>
                <a:ea typeface="Calibri" pitchFamily="34" charset="-122"/>
                <a:cs typeface="Calibri" pitchFamily="34" charset="-120"/>
              </a:rPr>
              <a:t>Steel is heavy, sharp, and conductive. SUPERWOOD is one-sixth the weight, without sharp edges, and electrically non-conductive.</a:t>
            </a:r>
            <a:endParaRPr lang="en-US" sz="1100" dirty="0"/>
          </a:p>
        </p:txBody>
      </p:sp>
      <p:sp>
        <p:nvSpPr>
          <p:cNvPr id="12" name="Text 10"/>
          <p:cNvSpPr/>
          <p:nvPr/>
        </p:nvSpPr>
        <p:spPr>
          <a:xfrm>
            <a:off x="502920" y="4142232"/>
            <a:ext cx="731520" cy="548640"/>
          </a:xfrm>
          <a:prstGeom prst="rect">
            <a:avLst/>
          </a:prstGeom>
          <a:noFill/>
          <a:ln/>
        </p:spPr>
        <p:txBody>
          <a:bodyPr wrap="square" lIns="0" tIns="0" rIns="0" bIns="0" rtlCol="0" anchor="ctr"/>
          <a:lstStyle/>
          <a:p>
            <a:pPr indent="0" marL="0">
              <a:buNone/>
            </a:pPr>
            <a:r>
              <a:rPr lang="en-US" sz="2400" dirty="0">
                <a:solidFill>
                  <a:srgbClr val="B87D44"/>
                </a:solidFill>
                <a:latin typeface="Georgia" pitchFamily="34" charset="0"/>
                <a:ea typeface="Georgia" pitchFamily="34" charset="-122"/>
                <a:cs typeface="Georgia" pitchFamily="34" charset="-120"/>
              </a:rPr>
              <a:t>03</a:t>
            </a:r>
            <a:endParaRPr lang="en-US" sz="2400" dirty="0"/>
          </a:p>
        </p:txBody>
      </p:sp>
      <p:sp>
        <p:nvSpPr>
          <p:cNvPr id="13" name="Text 11"/>
          <p:cNvSpPr/>
          <p:nvPr/>
        </p:nvSpPr>
        <p:spPr>
          <a:xfrm>
            <a:off x="1325880" y="4142232"/>
            <a:ext cx="5669280" cy="365760"/>
          </a:xfrm>
          <a:prstGeom prst="rect">
            <a:avLst/>
          </a:prstGeom>
          <a:noFill/>
          <a:ln/>
        </p:spPr>
        <p:txBody>
          <a:bodyPr wrap="square" lIns="0" tIns="0" rIns="0" bIns="0" rtlCol="0" anchor="ctr"/>
          <a:lstStyle/>
          <a:p>
            <a:pPr indent="0" marL="0">
              <a:buNone/>
            </a:pPr>
            <a:r>
              <a:rPr lang="en-US" sz="1550" b="1" dirty="0">
                <a:solidFill>
                  <a:srgbClr val="F4ECDF"/>
                </a:solidFill>
                <a:latin typeface="Calibri" pitchFamily="34" charset="0"/>
                <a:ea typeface="Calibri" pitchFamily="34" charset="-122"/>
                <a:cs typeface="Calibri" pitchFamily="34" charset="-120"/>
              </a:rPr>
              <a:t>Biophilic, community-friendly design</a:t>
            </a:r>
            <a:endParaRPr lang="en-US" sz="1550" dirty="0"/>
          </a:p>
        </p:txBody>
      </p:sp>
      <p:sp>
        <p:nvSpPr>
          <p:cNvPr id="14" name="Text 12"/>
          <p:cNvSpPr/>
          <p:nvPr/>
        </p:nvSpPr>
        <p:spPr>
          <a:xfrm>
            <a:off x="1325880" y="4507992"/>
            <a:ext cx="5669280" cy="777240"/>
          </a:xfrm>
          <a:prstGeom prst="rect">
            <a:avLst/>
          </a:prstGeom>
          <a:noFill/>
          <a:ln/>
        </p:spPr>
        <p:txBody>
          <a:bodyPr wrap="square" lIns="0" tIns="0" rIns="0" bIns="0" rtlCol="0" anchor="t"/>
          <a:lstStyle/>
          <a:p>
            <a:pPr indent="0" marL="0">
              <a:buNone/>
            </a:pPr>
            <a:r>
              <a:rPr lang="en-US" sz="1100" dirty="0">
                <a:solidFill>
                  <a:srgbClr val="9D8D76"/>
                </a:solidFill>
                <a:latin typeface="Calibri" pitchFamily="34" charset="0"/>
                <a:ea typeface="Calibri" pitchFamily="34" charset="-122"/>
                <a:cs typeface="Calibri" pitchFamily="34" charset="-120"/>
              </a:rPr>
              <a:t>Natural beauty and texture that meets industrial-grade demands — a way to humanize hyperscale campuses facing public opposition, inside and out.</a:t>
            </a:r>
            <a:endParaRPr lang="en-US" sz="1100" dirty="0"/>
          </a:p>
        </p:txBody>
      </p:sp>
      <p:sp>
        <p:nvSpPr>
          <p:cNvPr id="15" name="Text 13"/>
          <p:cNvSpPr/>
          <p:nvPr/>
        </p:nvSpPr>
        <p:spPr>
          <a:xfrm>
            <a:off x="502920" y="5276088"/>
            <a:ext cx="731520" cy="548640"/>
          </a:xfrm>
          <a:prstGeom prst="rect">
            <a:avLst/>
          </a:prstGeom>
          <a:noFill/>
          <a:ln/>
        </p:spPr>
        <p:txBody>
          <a:bodyPr wrap="square" lIns="0" tIns="0" rIns="0" bIns="0" rtlCol="0" anchor="ctr"/>
          <a:lstStyle/>
          <a:p>
            <a:pPr indent="0" marL="0">
              <a:buNone/>
            </a:pPr>
            <a:r>
              <a:rPr lang="en-US" sz="2400" dirty="0">
                <a:solidFill>
                  <a:srgbClr val="B87D44"/>
                </a:solidFill>
                <a:latin typeface="Georgia" pitchFamily="34" charset="0"/>
                <a:ea typeface="Georgia" pitchFamily="34" charset="-122"/>
                <a:cs typeface="Georgia" pitchFamily="34" charset="-120"/>
              </a:rPr>
              <a:t>04</a:t>
            </a:r>
            <a:endParaRPr lang="en-US" sz="2400" dirty="0"/>
          </a:p>
        </p:txBody>
      </p:sp>
      <p:sp>
        <p:nvSpPr>
          <p:cNvPr id="16" name="Text 14"/>
          <p:cNvSpPr/>
          <p:nvPr/>
        </p:nvSpPr>
        <p:spPr>
          <a:xfrm>
            <a:off x="1325880" y="5276088"/>
            <a:ext cx="5669280" cy="365760"/>
          </a:xfrm>
          <a:prstGeom prst="rect">
            <a:avLst/>
          </a:prstGeom>
          <a:noFill/>
          <a:ln/>
        </p:spPr>
        <p:txBody>
          <a:bodyPr wrap="square" lIns="0" tIns="0" rIns="0" bIns="0" rtlCol="0" anchor="ctr"/>
          <a:lstStyle/>
          <a:p>
            <a:pPr indent="0" marL="0">
              <a:buNone/>
            </a:pPr>
            <a:r>
              <a:rPr lang="en-US" sz="1550" b="1" dirty="0">
                <a:solidFill>
                  <a:srgbClr val="F4ECDF"/>
                </a:solidFill>
                <a:latin typeface="Calibri" pitchFamily="34" charset="0"/>
                <a:ea typeface="Calibri" pitchFamily="34" charset="-122"/>
                <a:cs typeface="Calibri" pitchFamily="34" charset="-120"/>
              </a:rPr>
              <a:t>Lower embodied carbon per element</a:t>
            </a:r>
            <a:endParaRPr lang="en-US" sz="1550" dirty="0"/>
          </a:p>
        </p:txBody>
      </p:sp>
      <p:sp>
        <p:nvSpPr>
          <p:cNvPr id="17" name="Text 15"/>
          <p:cNvSpPr/>
          <p:nvPr/>
        </p:nvSpPr>
        <p:spPr>
          <a:xfrm>
            <a:off x="1325880" y="5641848"/>
            <a:ext cx="5669280" cy="777240"/>
          </a:xfrm>
          <a:prstGeom prst="rect">
            <a:avLst/>
          </a:prstGeom>
          <a:noFill/>
          <a:ln/>
        </p:spPr>
        <p:txBody>
          <a:bodyPr wrap="square" lIns="0" tIns="0" rIns="0" bIns="0" rtlCol="0" anchor="t"/>
          <a:lstStyle/>
          <a:p>
            <a:pPr indent="0" marL="0">
              <a:buNone/>
            </a:pPr>
            <a:r>
              <a:rPr lang="en-US" sz="1100" dirty="0">
                <a:solidFill>
                  <a:srgbClr val="9D8D76"/>
                </a:solidFill>
                <a:latin typeface="Calibri" pitchFamily="34" charset="0"/>
                <a:ea typeface="Calibri" pitchFamily="34" charset="-122"/>
                <a:cs typeface="Calibri" pitchFamily="34" charset="-120"/>
              </a:rPr>
              <a:t>A bio-based material that stores biogenic carbon and is projected to emit far less in production than steel — verified element by element as the LCA lands.</a:t>
            </a:r>
            <a:endParaRPr lang="en-US" sz="1100" dirty="0"/>
          </a:p>
        </p:txBody>
      </p:sp>
      <p:pic>
        <p:nvPicPr>
          <p:cNvPr id="18" name="Image 0" descr="prep/dc_facade.jpg">    </p:cNvPr>
          <p:cNvPicPr>
            <a:picLocks noChangeAspect="1"/>
          </p:cNvPicPr>
          <p:nvPr/>
        </p:nvPicPr>
        <p:blipFill>
          <a:blip r:embed="rId1"/>
          <a:srcRect l="0" r="0" t="0" b="0"/>
          <a:stretch/>
        </p:blipFill>
        <p:spPr>
          <a:xfrm>
            <a:off x="7406640" y="1874520"/>
            <a:ext cx="4251960" cy="3200400"/>
          </a:xfrm>
          <a:prstGeom prst="rect">
            <a:avLst/>
          </a:prstGeom>
        </p:spPr>
      </p:pic>
      <p:sp>
        <p:nvSpPr>
          <p:cNvPr id="19" name="Text 16"/>
          <p:cNvSpPr/>
          <p:nvPr/>
        </p:nvSpPr>
        <p:spPr>
          <a:xfrm>
            <a:off x="7406640" y="5120640"/>
            <a:ext cx="4251960" cy="457200"/>
          </a:xfrm>
          <a:prstGeom prst="rect">
            <a:avLst/>
          </a:prstGeom>
          <a:noFill/>
          <a:ln/>
        </p:spPr>
        <p:txBody>
          <a:bodyPr wrap="square" lIns="0" tIns="0" rIns="0" bIns="0" rtlCol="0" anchor="ctr"/>
          <a:lstStyle/>
          <a:p>
            <a:pPr indent="0" marL="0">
              <a:buNone/>
            </a:pPr>
            <a:r>
              <a:rPr lang="en-US" sz="1000" i="1" dirty="0">
                <a:solidFill>
                  <a:srgbClr val="9D8D76"/>
                </a:solidFill>
                <a:latin typeface="Calibri" pitchFamily="34" charset="0"/>
                <a:ea typeface="Calibri" pitchFamily="34" charset="-122"/>
                <a:cs typeface="Calibri" pitchFamily="34" charset="-120"/>
              </a:rPr>
              <a:t>Concept rendering — the street-facing view of a campus clad and screened in SUPERWOOD.</a:t>
            </a:r>
            <a:endParaRPr lang="en-US" sz="10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Applications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DATA CENTER APPLICATIONS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Available now — skins, screens, and fences</a:t>
            </a:r>
            <a:endParaRPr lang="en-US" sz="3200" dirty="0"/>
          </a:p>
        </p:txBody>
      </p:sp>
      <p:sp>
        <p:nvSpPr>
          <p:cNvPr id="6" name="Text 4"/>
          <p:cNvSpPr/>
          <p:nvPr/>
        </p:nvSpPr>
        <p:spPr>
          <a:xfrm>
            <a:off x="502920" y="1691640"/>
            <a:ext cx="11155680" cy="365760"/>
          </a:xfrm>
          <a:prstGeom prst="rect">
            <a:avLst/>
          </a:prstGeom>
          <a:noFill/>
          <a:ln/>
        </p:spPr>
        <p:txBody>
          <a:bodyPr wrap="square" lIns="0" tIns="0" rIns="0" bIns="0" rtlCol="0" anchor="ctr"/>
          <a:lstStyle/>
          <a:p>
            <a:pPr indent="0" marL="0">
              <a:buNone/>
            </a:pPr>
            <a:r>
              <a:rPr lang="en-US" sz="1200" dirty="0">
                <a:solidFill>
                  <a:srgbClr val="CDBFA9"/>
                </a:solidFill>
                <a:latin typeface="Calibri" pitchFamily="34" charset="0"/>
                <a:ea typeface="Calibri" pitchFamily="34" charset="-122"/>
                <a:cs typeface="Calibri" pitchFamily="34" charset="-120"/>
              </a:rPr>
              <a:t>Every item below ships from SuperMill One today as boards up to 8" × 16' × 3/8", exterior or interior grade.</a:t>
            </a:r>
            <a:endParaRPr lang="en-US" sz="1200" dirty="0"/>
          </a:p>
        </p:txBody>
      </p:sp>
      <p:pic>
        <p:nvPicPr>
          <p:cNvPr id="7" name="Image 0" descr="prep/tiles/tile_cladding.jpg">    </p:cNvPr>
          <p:cNvPicPr>
            <a:picLocks noChangeAspect="1"/>
          </p:cNvPicPr>
          <p:nvPr/>
        </p:nvPicPr>
        <p:blipFill>
          <a:blip r:embed="rId1"/>
          <a:stretch>
            <a:fillRect/>
          </a:stretch>
        </p:blipFill>
        <p:spPr>
          <a:xfrm>
            <a:off x="591094" y="2286000"/>
            <a:ext cx="1417320" cy="1417320"/>
          </a:xfrm>
          <a:prstGeom prst="rect">
            <a:avLst/>
          </a:prstGeom>
        </p:spPr>
      </p:pic>
      <p:sp>
        <p:nvSpPr>
          <p:cNvPr id="8" name="Text 5"/>
          <p:cNvSpPr/>
          <p:nvPr/>
        </p:nvSpPr>
        <p:spPr>
          <a:xfrm>
            <a:off x="548640" y="3794760"/>
            <a:ext cx="1502229" cy="82296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Facades, cladding &amp; rain screens</a:t>
            </a:r>
            <a:endParaRPr lang="en-US" sz="1050" dirty="0"/>
          </a:p>
        </p:txBody>
      </p:sp>
      <p:pic>
        <p:nvPicPr>
          <p:cNvPr id="9" name="Image 1" descr="prep/tiles/tile_lobby.jpg">    </p:cNvPr>
          <p:cNvPicPr>
            <a:picLocks noChangeAspect="1"/>
          </p:cNvPicPr>
          <p:nvPr/>
        </p:nvPicPr>
        <p:blipFill>
          <a:blip r:embed="rId2"/>
          <a:stretch>
            <a:fillRect/>
          </a:stretch>
        </p:blipFill>
        <p:spPr>
          <a:xfrm>
            <a:off x="2184763" y="2286000"/>
            <a:ext cx="1417320" cy="1417320"/>
          </a:xfrm>
          <a:prstGeom prst="rect">
            <a:avLst/>
          </a:prstGeom>
        </p:spPr>
      </p:pic>
      <p:sp>
        <p:nvSpPr>
          <p:cNvPr id="10" name="Text 6"/>
          <p:cNvSpPr/>
          <p:nvPr/>
        </p:nvSpPr>
        <p:spPr>
          <a:xfrm>
            <a:off x="2142309" y="3794760"/>
            <a:ext cx="1502229" cy="82296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Biophilic interiors for office spaces</a:t>
            </a:r>
            <a:endParaRPr lang="en-US" sz="1050" dirty="0"/>
          </a:p>
        </p:txBody>
      </p:sp>
      <p:pic>
        <p:nvPicPr>
          <p:cNvPr id="11" name="Image 2" descr="prep/tiles/tile_louvers2.jpg">    </p:cNvPr>
          <p:cNvPicPr>
            <a:picLocks noChangeAspect="1"/>
          </p:cNvPicPr>
          <p:nvPr/>
        </p:nvPicPr>
        <p:blipFill>
          <a:blip r:embed="rId3"/>
          <a:stretch>
            <a:fillRect/>
          </a:stretch>
        </p:blipFill>
        <p:spPr>
          <a:xfrm>
            <a:off x="3778431" y="2286000"/>
            <a:ext cx="1417320" cy="1417320"/>
          </a:xfrm>
          <a:prstGeom prst="rect">
            <a:avLst/>
          </a:prstGeom>
        </p:spPr>
      </p:pic>
      <p:sp>
        <p:nvSpPr>
          <p:cNvPr id="12" name="Text 7"/>
          <p:cNvSpPr/>
          <p:nvPr/>
        </p:nvSpPr>
        <p:spPr>
          <a:xfrm>
            <a:off x="3735977" y="3794760"/>
            <a:ext cx="1502229" cy="82296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Louvers &amp; equipment screening</a:t>
            </a:r>
            <a:endParaRPr lang="en-US" sz="1050" dirty="0"/>
          </a:p>
        </p:txBody>
      </p:sp>
      <p:pic>
        <p:nvPicPr>
          <p:cNvPr id="13" name="Image 3" descr="prep/tiles/tile_fence_staff.jpg">    </p:cNvPr>
          <p:cNvPicPr>
            <a:picLocks noChangeAspect="1"/>
          </p:cNvPicPr>
          <p:nvPr/>
        </p:nvPicPr>
        <p:blipFill>
          <a:blip r:embed="rId4"/>
          <a:stretch>
            <a:fillRect/>
          </a:stretch>
        </p:blipFill>
        <p:spPr>
          <a:xfrm>
            <a:off x="5372100" y="2286000"/>
            <a:ext cx="1417320" cy="1417320"/>
          </a:xfrm>
          <a:prstGeom prst="rect">
            <a:avLst/>
          </a:prstGeom>
        </p:spPr>
      </p:pic>
      <p:sp>
        <p:nvSpPr>
          <p:cNvPr id="14" name="Text 8"/>
          <p:cNvSpPr/>
          <p:nvPr/>
        </p:nvSpPr>
        <p:spPr>
          <a:xfrm>
            <a:off x="5329646" y="3794760"/>
            <a:ext cx="1502229" cy="82296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Fencing for staff outdoor spaces</a:t>
            </a:r>
            <a:endParaRPr lang="en-US" sz="1050" dirty="0"/>
          </a:p>
        </p:txBody>
      </p:sp>
      <p:pic>
        <p:nvPicPr>
          <p:cNvPr id="15" name="Image 4" descr="prep/tiles/tile_fence_security.jpg">    </p:cNvPr>
          <p:cNvPicPr>
            <a:picLocks noChangeAspect="1"/>
          </p:cNvPicPr>
          <p:nvPr/>
        </p:nvPicPr>
        <p:blipFill>
          <a:blip r:embed="rId5"/>
          <a:stretch>
            <a:fillRect/>
          </a:stretch>
        </p:blipFill>
        <p:spPr>
          <a:xfrm>
            <a:off x="6965769" y="2286000"/>
            <a:ext cx="1417320" cy="1417320"/>
          </a:xfrm>
          <a:prstGeom prst="rect">
            <a:avLst/>
          </a:prstGeom>
        </p:spPr>
      </p:pic>
      <p:sp>
        <p:nvSpPr>
          <p:cNvPr id="16" name="Text 9"/>
          <p:cNvSpPr/>
          <p:nvPr/>
        </p:nvSpPr>
        <p:spPr>
          <a:xfrm>
            <a:off x="6923314" y="3794760"/>
            <a:ext cx="1502229" cy="82296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Security fencing around transformers &amp; outdoor infrastructure</a:t>
            </a:r>
            <a:endParaRPr lang="en-US" sz="1050" dirty="0"/>
          </a:p>
        </p:txBody>
      </p:sp>
      <p:pic>
        <p:nvPicPr>
          <p:cNvPr id="17" name="Image 5" descr="prep/tiles/tile_backplane.jpg">    </p:cNvPr>
          <p:cNvPicPr>
            <a:picLocks noChangeAspect="1"/>
          </p:cNvPicPr>
          <p:nvPr/>
        </p:nvPicPr>
        <p:blipFill>
          <a:blip r:embed="rId6"/>
          <a:stretch>
            <a:fillRect/>
          </a:stretch>
        </p:blipFill>
        <p:spPr>
          <a:xfrm>
            <a:off x="8559437" y="2286000"/>
            <a:ext cx="1417320" cy="1417320"/>
          </a:xfrm>
          <a:prstGeom prst="rect">
            <a:avLst/>
          </a:prstGeom>
        </p:spPr>
      </p:pic>
      <p:sp>
        <p:nvSpPr>
          <p:cNvPr id="18" name="Text 10"/>
          <p:cNvSpPr/>
          <p:nvPr/>
        </p:nvSpPr>
        <p:spPr>
          <a:xfrm>
            <a:off x="8516983" y="3794760"/>
            <a:ext cx="1502229" cy="82296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Equipment backplanes</a:t>
            </a:r>
            <a:endParaRPr lang="en-US" sz="1050" dirty="0"/>
          </a:p>
        </p:txBody>
      </p:sp>
      <p:pic>
        <p:nvPicPr>
          <p:cNvPr id="19" name="Image 6" descr="prep/tiles/tile_doorkick.jpg">    </p:cNvPr>
          <p:cNvPicPr>
            <a:picLocks noChangeAspect="1"/>
          </p:cNvPicPr>
          <p:nvPr/>
        </p:nvPicPr>
        <p:blipFill>
          <a:blip r:embed="rId7"/>
          <a:stretch>
            <a:fillRect/>
          </a:stretch>
        </p:blipFill>
        <p:spPr>
          <a:xfrm>
            <a:off x="10153106" y="2286000"/>
            <a:ext cx="1417320" cy="1417320"/>
          </a:xfrm>
          <a:prstGeom prst="rect">
            <a:avLst/>
          </a:prstGeom>
        </p:spPr>
      </p:pic>
      <p:sp>
        <p:nvSpPr>
          <p:cNvPr id="20" name="Text 11"/>
          <p:cNvSpPr/>
          <p:nvPr/>
        </p:nvSpPr>
        <p:spPr>
          <a:xfrm>
            <a:off x="10110651" y="3794760"/>
            <a:ext cx="1502229" cy="82296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Trim, door kicks &amp; sub-framing</a:t>
            </a:r>
            <a:endParaRPr lang="en-US" sz="1050" dirty="0"/>
          </a:p>
        </p:txBody>
      </p:sp>
      <p:sp>
        <p:nvSpPr>
          <p:cNvPr id="21" name="Shape 12"/>
          <p:cNvSpPr/>
          <p:nvPr/>
        </p:nvSpPr>
        <p:spPr>
          <a:xfrm>
            <a:off x="502920" y="4892040"/>
            <a:ext cx="11155680" cy="1005840"/>
          </a:xfrm>
          <a:prstGeom prst="roundRect">
            <a:avLst>
              <a:gd name="adj" fmla="val 8182"/>
            </a:avLst>
          </a:prstGeom>
          <a:solidFill>
            <a:srgbClr val="261A0F"/>
          </a:solidFill>
          <a:ln/>
        </p:spPr>
      </p:sp>
      <p:sp>
        <p:nvSpPr>
          <p:cNvPr id="22" name="Text 13"/>
          <p:cNvSpPr/>
          <p:nvPr/>
        </p:nvSpPr>
        <p:spPr>
          <a:xfrm>
            <a:off x="777240" y="4983480"/>
            <a:ext cx="10607040" cy="822960"/>
          </a:xfrm>
          <a:prstGeom prst="rect">
            <a:avLst/>
          </a:prstGeom>
          <a:noFill/>
          <a:ln/>
        </p:spPr>
        <p:txBody>
          <a:bodyPr wrap="square" lIns="0" tIns="0" rIns="0" bIns="0" rtlCol="0" anchor="ctr"/>
          <a:lstStyle/>
          <a:p>
            <a:pPr indent="0" marL="0">
              <a:buNone/>
            </a:pPr>
            <a:r>
              <a:rPr lang="en-US" sz="1150" b="1" dirty="0">
                <a:solidFill>
                  <a:srgbClr val="E2B877"/>
                </a:solidFill>
                <a:latin typeface="Calibri" pitchFamily="34" charset="0"/>
                <a:ea typeface="Calibri" pitchFamily="34" charset="-122"/>
                <a:cs typeface="Calibri" pitchFamily="34" charset="-120"/>
              </a:rPr>
              <a:t>Why these first.  </a:t>
            </a:r>
            <a:pPr indent="0" marL="0">
              <a:buNone/>
            </a:pPr>
            <a:r>
              <a:rPr lang="en-US" sz="1150" dirty="0">
                <a:solidFill>
                  <a:srgbClr val="CDBFA9"/>
                </a:solidFill>
                <a:latin typeface="Calibri" pitchFamily="34" charset="0"/>
                <a:ea typeface="Calibri" pitchFamily="34" charset="-122"/>
                <a:cs typeface="Calibri" pitchFamily="34" charset="-120"/>
              </a:rPr>
              <a:t>They need no assembly fire rating, they sit where the community and the workforce see the campus, and they are the near-term projects our hyperscaler customers have asked for: building facades, biophilic office interiors, staff-area fencing, and security fencing around critical outdoor infrastructure.</a:t>
            </a:r>
            <a:endParaRPr lang="en-US" sz="1150" dirty="0"/>
          </a:p>
        </p:txBody>
      </p:sp>
      <p:sp>
        <p:nvSpPr>
          <p:cNvPr id="23" name="Text 14"/>
          <p:cNvSpPr/>
          <p:nvPr/>
        </p:nvSpPr>
        <p:spPr>
          <a:xfrm>
            <a:off x="8915400" y="6035040"/>
            <a:ext cx="2743200" cy="274320"/>
          </a:xfrm>
          <a:prstGeom prst="rect">
            <a:avLst/>
          </a:prstGeom>
          <a:noFill/>
          <a:ln/>
        </p:spPr>
        <p:txBody>
          <a:bodyPr wrap="square" lIns="0" tIns="0" rIns="0" bIns="0" rtlCol="0" anchor="ctr"/>
          <a:lstStyle/>
          <a:p>
            <a:pPr algn="r" indent="0" marL="0">
              <a:buNone/>
            </a:pPr>
            <a:r>
              <a:rPr lang="en-US" sz="950" i="1" dirty="0">
                <a:solidFill>
                  <a:srgbClr val="9D8D76"/>
                </a:solidFill>
                <a:latin typeface="Calibri" pitchFamily="34" charset="0"/>
                <a:ea typeface="Calibri" pitchFamily="34" charset="-122"/>
                <a:cs typeface="Calibri" pitchFamily="34" charset="-120"/>
              </a:rPr>
              <a:t>Concept renderings</a:t>
            </a:r>
            <a:endParaRPr lang="en-US" sz="9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Applications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DATA CENTER APPLICATIONS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Next — applications gated by a specific test or listing</a:t>
            </a:r>
            <a:endParaRPr lang="en-US" sz="3200" dirty="0"/>
          </a:p>
        </p:txBody>
      </p:sp>
      <p:pic>
        <p:nvPicPr>
          <p:cNvPr id="6" name="Image 0" descr="prep/tiles/tile_barrier.jpg">    </p:cNvPr>
          <p:cNvPicPr>
            <a:picLocks noChangeAspect="1"/>
          </p:cNvPicPr>
          <p:nvPr/>
        </p:nvPicPr>
        <p:blipFill>
          <a:blip r:embed="rId1"/>
          <a:stretch>
            <a:fillRect/>
          </a:stretch>
        </p:blipFill>
        <p:spPr>
          <a:xfrm>
            <a:off x="723900" y="1920240"/>
            <a:ext cx="1417320" cy="1417320"/>
          </a:xfrm>
          <a:prstGeom prst="rect">
            <a:avLst/>
          </a:prstGeom>
        </p:spPr>
      </p:pic>
      <p:sp>
        <p:nvSpPr>
          <p:cNvPr id="7" name="Text 4"/>
          <p:cNvSpPr/>
          <p:nvPr/>
        </p:nvSpPr>
        <p:spPr>
          <a:xfrm>
            <a:off x="548640" y="3429000"/>
            <a:ext cx="1767840" cy="566928"/>
          </a:xfrm>
          <a:prstGeom prst="rect">
            <a:avLst/>
          </a:prstGeom>
          <a:noFill/>
          <a:ln/>
        </p:spPr>
        <p:txBody>
          <a:bodyPr wrap="square" lIns="0" tIns="0" rIns="0" bIns="0" rtlCol="0" anchor="t"/>
          <a:lstStyle/>
          <a:p>
            <a:pPr algn="ctr" indent="0" marL="0">
              <a:buNone/>
            </a:pPr>
            <a:r>
              <a:rPr lang="en-US" sz="1100" b="1" dirty="0">
                <a:solidFill>
                  <a:srgbClr val="F4ECDF"/>
                </a:solidFill>
                <a:latin typeface="Calibri" pitchFamily="34" charset="0"/>
                <a:ea typeface="Calibri" pitchFamily="34" charset="-122"/>
                <a:cs typeface="Calibri" pitchFamily="34" charset="-120"/>
              </a:rPr>
              <a:t>Acoustic barrier walls &amp; equipment screens</a:t>
            </a:r>
            <a:endParaRPr lang="en-US" sz="1100" dirty="0"/>
          </a:p>
        </p:txBody>
      </p:sp>
      <p:sp>
        <p:nvSpPr>
          <p:cNvPr id="8" name="Text 5"/>
          <p:cNvSpPr/>
          <p:nvPr/>
        </p:nvSpPr>
        <p:spPr>
          <a:xfrm>
            <a:off x="548640" y="4041648"/>
            <a:ext cx="1767840" cy="201168"/>
          </a:xfrm>
          <a:prstGeom prst="rect">
            <a:avLst/>
          </a:prstGeom>
          <a:noFill/>
          <a:ln/>
        </p:spPr>
        <p:txBody>
          <a:bodyPr wrap="square" lIns="0" tIns="0" rIns="0" bIns="0" rtlCol="0" anchor="ctr"/>
          <a:lstStyle/>
          <a:p>
            <a:pPr algn="ctr" indent="0" marL="0">
              <a:buNone/>
            </a:pPr>
            <a:r>
              <a:rPr lang="en-US" sz="800" b="1" spc="150" kern="0" dirty="0">
                <a:solidFill>
                  <a:srgbClr val="CDA165"/>
                </a:solidFill>
                <a:latin typeface="Calibri" pitchFamily="34" charset="0"/>
                <a:ea typeface="Calibri" pitchFamily="34" charset="-122"/>
                <a:cs typeface="Calibri" pitchFamily="34" charset="-120"/>
              </a:rPr>
              <a:t>GATED BY</a:t>
            </a:r>
            <a:endParaRPr lang="en-US" sz="800" dirty="0"/>
          </a:p>
        </p:txBody>
      </p:sp>
      <p:sp>
        <p:nvSpPr>
          <p:cNvPr id="9" name="Text 6"/>
          <p:cNvSpPr/>
          <p:nvPr/>
        </p:nvSpPr>
        <p:spPr>
          <a:xfrm>
            <a:off x="548640" y="4251960"/>
            <a:ext cx="1767840" cy="640080"/>
          </a:xfrm>
          <a:prstGeom prst="rect">
            <a:avLst/>
          </a:prstGeom>
          <a:noFill/>
          <a:ln/>
        </p:spPr>
        <p:txBody>
          <a:bodyPr wrap="square" lIns="0" tIns="0" rIns="0" bIns="0" rtlCol="0" anchor="t"/>
          <a:lstStyle/>
          <a:p>
            <a:pPr algn="ctr" indent="0" marL="0">
              <a:buNone/>
            </a:pPr>
            <a:r>
              <a:rPr lang="en-US" sz="950" dirty="0">
                <a:solidFill>
                  <a:srgbClr val="9D8D76"/>
                </a:solidFill>
                <a:latin typeface="Calibri" pitchFamily="34" charset="0"/>
                <a:ea typeface="Calibri" pitchFamily="34" charset="-122"/>
                <a:cs typeface="Calibri" pitchFamily="34" charset="-120"/>
              </a:rPr>
              <a:t>STC / OITC lab data, field insertion loss</a:t>
            </a:r>
            <a:endParaRPr lang="en-US" sz="950" dirty="0"/>
          </a:p>
        </p:txBody>
      </p:sp>
      <p:pic>
        <p:nvPicPr>
          <p:cNvPr id="10" name="Image 1" descr="prep/tiles/tile_walkway.jpg">    </p:cNvPr>
          <p:cNvPicPr>
            <a:picLocks noChangeAspect="1"/>
          </p:cNvPicPr>
          <p:nvPr/>
        </p:nvPicPr>
        <p:blipFill>
          <a:blip r:embed="rId2"/>
          <a:stretch>
            <a:fillRect/>
          </a:stretch>
        </p:blipFill>
        <p:spPr>
          <a:xfrm>
            <a:off x="2583180" y="1920240"/>
            <a:ext cx="1417320" cy="1417320"/>
          </a:xfrm>
          <a:prstGeom prst="rect">
            <a:avLst/>
          </a:prstGeom>
        </p:spPr>
      </p:pic>
      <p:sp>
        <p:nvSpPr>
          <p:cNvPr id="11" name="Text 7"/>
          <p:cNvSpPr/>
          <p:nvPr/>
        </p:nvSpPr>
        <p:spPr>
          <a:xfrm>
            <a:off x="2407920" y="3429000"/>
            <a:ext cx="1767840" cy="566928"/>
          </a:xfrm>
          <a:prstGeom prst="rect">
            <a:avLst/>
          </a:prstGeom>
          <a:noFill/>
          <a:ln/>
        </p:spPr>
        <p:txBody>
          <a:bodyPr wrap="square" lIns="0" tIns="0" rIns="0" bIns="0" rtlCol="0" anchor="t"/>
          <a:lstStyle/>
          <a:p>
            <a:pPr algn="ctr" indent="0" marL="0">
              <a:buNone/>
            </a:pPr>
            <a:r>
              <a:rPr lang="en-US" sz="1100" b="1" dirty="0">
                <a:solidFill>
                  <a:srgbClr val="F4ECDF"/>
                </a:solidFill>
                <a:latin typeface="Calibri" pitchFamily="34" charset="0"/>
                <a:ea typeface="Calibri" pitchFamily="34" charset="-122"/>
                <a:cs typeface="Calibri" pitchFamily="34" charset="-120"/>
              </a:rPr>
              <a:t>Walkways &amp; platforms</a:t>
            </a:r>
            <a:endParaRPr lang="en-US" sz="1100" dirty="0"/>
          </a:p>
        </p:txBody>
      </p:sp>
      <p:sp>
        <p:nvSpPr>
          <p:cNvPr id="12" name="Text 8"/>
          <p:cNvSpPr/>
          <p:nvPr/>
        </p:nvSpPr>
        <p:spPr>
          <a:xfrm>
            <a:off x="2407920" y="4041648"/>
            <a:ext cx="1767840" cy="201168"/>
          </a:xfrm>
          <a:prstGeom prst="rect">
            <a:avLst/>
          </a:prstGeom>
          <a:noFill/>
          <a:ln/>
        </p:spPr>
        <p:txBody>
          <a:bodyPr wrap="square" lIns="0" tIns="0" rIns="0" bIns="0" rtlCol="0" anchor="ctr"/>
          <a:lstStyle/>
          <a:p>
            <a:pPr algn="ctr" indent="0" marL="0">
              <a:buNone/>
            </a:pPr>
            <a:r>
              <a:rPr lang="en-US" sz="800" b="1" spc="150" kern="0" dirty="0">
                <a:solidFill>
                  <a:srgbClr val="CDA165"/>
                </a:solidFill>
                <a:latin typeface="Calibri" pitchFamily="34" charset="0"/>
                <a:ea typeface="Calibri" pitchFamily="34" charset="-122"/>
                <a:cs typeface="Calibri" pitchFamily="34" charset="-120"/>
              </a:rPr>
              <a:t>GATED BY</a:t>
            </a:r>
            <a:endParaRPr lang="en-US" sz="800" dirty="0"/>
          </a:p>
        </p:txBody>
      </p:sp>
      <p:sp>
        <p:nvSpPr>
          <p:cNvPr id="13" name="Text 9"/>
          <p:cNvSpPr/>
          <p:nvPr/>
        </p:nvSpPr>
        <p:spPr>
          <a:xfrm>
            <a:off x="2407920" y="4251960"/>
            <a:ext cx="1767840" cy="640080"/>
          </a:xfrm>
          <a:prstGeom prst="rect">
            <a:avLst/>
          </a:prstGeom>
          <a:noFill/>
          <a:ln/>
        </p:spPr>
        <p:txBody>
          <a:bodyPr wrap="square" lIns="0" tIns="0" rIns="0" bIns="0" rtlCol="0" anchor="t"/>
          <a:lstStyle/>
          <a:p>
            <a:pPr algn="ctr" indent="0" marL="0">
              <a:buNone/>
            </a:pPr>
            <a:r>
              <a:rPr lang="en-US" sz="950" dirty="0">
                <a:solidFill>
                  <a:srgbClr val="9D8D76"/>
                </a:solidFill>
                <a:latin typeface="Calibri" pitchFamily="34" charset="0"/>
                <a:ea typeface="Calibri" pitchFamily="34" charset="-122"/>
                <a:cs typeface="Calibri" pitchFamily="34" charset="-120"/>
              </a:rPr>
              <a:t>Published design values, connection data</a:t>
            </a:r>
            <a:endParaRPr lang="en-US" sz="950" dirty="0"/>
          </a:p>
        </p:txBody>
      </p:sp>
      <p:pic>
        <p:nvPicPr>
          <p:cNvPr id="14" name="Image 2" descr="prep/tiles/tile_railing2.jpg">    </p:cNvPr>
          <p:cNvPicPr>
            <a:picLocks noChangeAspect="1"/>
          </p:cNvPicPr>
          <p:nvPr/>
        </p:nvPicPr>
        <p:blipFill>
          <a:blip r:embed="rId3"/>
          <a:stretch>
            <a:fillRect/>
          </a:stretch>
        </p:blipFill>
        <p:spPr>
          <a:xfrm>
            <a:off x="4442460" y="1920240"/>
            <a:ext cx="1417320" cy="1417320"/>
          </a:xfrm>
          <a:prstGeom prst="rect">
            <a:avLst/>
          </a:prstGeom>
        </p:spPr>
      </p:pic>
      <p:sp>
        <p:nvSpPr>
          <p:cNvPr id="15" name="Text 10"/>
          <p:cNvSpPr/>
          <p:nvPr/>
        </p:nvSpPr>
        <p:spPr>
          <a:xfrm>
            <a:off x="4267200" y="3429000"/>
            <a:ext cx="1767840" cy="566928"/>
          </a:xfrm>
          <a:prstGeom prst="rect">
            <a:avLst/>
          </a:prstGeom>
          <a:noFill/>
          <a:ln/>
        </p:spPr>
        <p:txBody>
          <a:bodyPr wrap="square" lIns="0" tIns="0" rIns="0" bIns="0" rtlCol="0" anchor="t"/>
          <a:lstStyle/>
          <a:p>
            <a:pPr algn="ctr" indent="0" marL="0">
              <a:buNone/>
            </a:pPr>
            <a:r>
              <a:rPr lang="en-US" sz="1100" b="1" dirty="0">
                <a:solidFill>
                  <a:srgbClr val="F4ECDF"/>
                </a:solidFill>
                <a:latin typeface="Calibri" pitchFamily="34" charset="0"/>
                <a:ea typeface="Calibri" pitchFamily="34" charset="-122"/>
                <a:cs typeface="Calibri" pitchFamily="34" charset="-120"/>
              </a:rPr>
              <a:t>Railings</a:t>
            </a:r>
            <a:endParaRPr lang="en-US" sz="1100" dirty="0"/>
          </a:p>
        </p:txBody>
      </p:sp>
      <p:sp>
        <p:nvSpPr>
          <p:cNvPr id="16" name="Text 11"/>
          <p:cNvSpPr/>
          <p:nvPr/>
        </p:nvSpPr>
        <p:spPr>
          <a:xfrm>
            <a:off x="4267200" y="4041648"/>
            <a:ext cx="1767840" cy="201168"/>
          </a:xfrm>
          <a:prstGeom prst="rect">
            <a:avLst/>
          </a:prstGeom>
          <a:noFill/>
          <a:ln/>
        </p:spPr>
        <p:txBody>
          <a:bodyPr wrap="square" lIns="0" tIns="0" rIns="0" bIns="0" rtlCol="0" anchor="ctr"/>
          <a:lstStyle/>
          <a:p>
            <a:pPr algn="ctr" indent="0" marL="0">
              <a:buNone/>
            </a:pPr>
            <a:r>
              <a:rPr lang="en-US" sz="800" b="1" spc="150" kern="0" dirty="0">
                <a:solidFill>
                  <a:srgbClr val="CDA165"/>
                </a:solidFill>
                <a:latin typeface="Calibri" pitchFamily="34" charset="0"/>
                <a:ea typeface="Calibri" pitchFamily="34" charset="-122"/>
                <a:cs typeface="Calibri" pitchFamily="34" charset="-120"/>
              </a:rPr>
              <a:t>GATED BY</a:t>
            </a:r>
            <a:endParaRPr lang="en-US" sz="800" dirty="0"/>
          </a:p>
        </p:txBody>
      </p:sp>
      <p:sp>
        <p:nvSpPr>
          <p:cNvPr id="17" name="Text 12"/>
          <p:cNvSpPr/>
          <p:nvPr/>
        </p:nvSpPr>
        <p:spPr>
          <a:xfrm>
            <a:off x="4267200" y="4251960"/>
            <a:ext cx="1767840" cy="640080"/>
          </a:xfrm>
          <a:prstGeom prst="rect">
            <a:avLst/>
          </a:prstGeom>
          <a:noFill/>
          <a:ln/>
        </p:spPr>
        <p:txBody>
          <a:bodyPr wrap="square" lIns="0" tIns="0" rIns="0" bIns="0" rtlCol="0" anchor="t"/>
          <a:lstStyle/>
          <a:p>
            <a:pPr algn="ctr" indent="0" marL="0">
              <a:buNone/>
            </a:pPr>
            <a:r>
              <a:rPr lang="en-US" sz="950" dirty="0">
                <a:solidFill>
                  <a:srgbClr val="9D8D76"/>
                </a:solidFill>
                <a:latin typeface="Calibri" pitchFamily="34" charset="0"/>
                <a:ea typeface="Calibri" pitchFamily="34" charset="-122"/>
                <a:cs typeface="Calibri" pitchFamily="34" charset="-120"/>
              </a:rPr>
              <a:t>Load testing to code (IBC 1607)</a:t>
            </a:r>
            <a:endParaRPr lang="en-US" sz="950" dirty="0"/>
          </a:p>
        </p:txBody>
      </p:sp>
      <p:pic>
        <p:nvPicPr>
          <p:cNvPr id="18" name="Image 3" descr="prep/tiles/tile_mullion2.jpg">    </p:cNvPr>
          <p:cNvPicPr>
            <a:picLocks noChangeAspect="1"/>
          </p:cNvPicPr>
          <p:nvPr/>
        </p:nvPicPr>
        <p:blipFill>
          <a:blip r:embed="rId4"/>
          <a:stretch>
            <a:fillRect/>
          </a:stretch>
        </p:blipFill>
        <p:spPr>
          <a:xfrm>
            <a:off x="6301740" y="1920240"/>
            <a:ext cx="1417320" cy="1417320"/>
          </a:xfrm>
          <a:prstGeom prst="rect">
            <a:avLst/>
          </a:prstGeom>
        </p:spPr>
      </p:pic>
      <p:sp>
        <p:nvSpPr>
          <p:cNvPr id="19" name="Text 13"/>
          <p:cNvSpPr/>
          <p:nvPr/>
        </p:nvSpPr>
        <p:spPr>
          <a:xfrm>
            <a:off x="6126480" y="3429000"/>
            <a:ext cx="1767840" cy="566928"/>
          </a:xfrm>
          <a:prstGeom prst="rect">
            <a:avLst/>
          </a:prstGeom>
          <a:noFill/>
          <a:ln/>
        </p:spPr>
        <p:txBody>
          <a:bodyPr wrap="square" lIns="0" tIns="0" rIns="0" bIns="0" rtlCol="0" anchor="t"/>
          <a:lstStyle/>
          <a:p>
            <a:pPr algn="ctr" indent="0" marL="0">
              <a:buNone/>
            </a:pPr>
            <a:r>
              <a:rPr lang="en-US" sz="1100" b="1" dirty="0">
                <a:solidFill>
                  <a:srgbClr val="F4ECDF"/>
                </a:solidFill>
                <a:latin typeface="Calibri" pitchFamily="34" charset="0"/>
                <a:ea typeface="Calibri" pitchFamily="34" charset="-122"/>
                <a:cs typeface="Calibri" pitchFamily="34" charset="-120"/>
              </a:rPr>
              <a:t>Window mullions</a:t>
            </a:r>
            <a:endParaRPr lang="en-US" sz="1100" dirty="0"/>
          </a:p>
        </p:txBody>
      </p:sp>
      <p:sp>
        <p:nvSpPr>
          <p:cNvPr id="20" name="Text 14"/>
          <p:cNvSpPr/>
          <p:nvPr/>
        </p:nvSpPr>
        <p:spPr>
          <a:xfrm>
            <a:off x="6126480" y="4041648"/>
            <a:ext cx="1767840" cy="201168"/>
          </a:xfrm>
          <a:prstGeom prst="rect">
            <a:avLst/>
          </a:prstGeom>
          <a:noFill/>
          <a:ln/>
        </p:spPr>
        <p:txBody>
          <a:bodyPr wrap="square" lIns="0" tIns="0" rIns="0" bIns="0" rtlCol="0" anchor="ctr"/>
          <a:lstStyle/>
          <a:p>
            <a:pPr algn="ctr" indent="0" marL="0">
              <a:buNone/>
            </a:pPr>
            <a:r>
              <a:rPr lang="en-US" sz="800" b="1" spc="150" kern="0" dirty="0">
                <a:solidFill>
                  <a:srgbClr val="CDA165"/>
                </a:solidFill>
                <a:latin typeface="Calibri" pitchFamily="34" charset="0"/>
                <a:ea typeface="Calibri" pitchFamily="34" charset="-122"/>
                <a:cs typeface="Calibri" pitchFamily="34" charset="-120"/>
              </a:rPr>
              <a:t>GATED BY</a:t>
            </a:r>
            <a:endParaRPr lang="en-US" sz="800" dirty="0"/>
          </a:p>
        </p:txBody>
      </p:sp>
      <p:sp>
        <p:nvSpPr>
          <p:cNvPr id="21" name="Text 15"/>
          <p:cNvSpPr/>
          <p:nvPr/>
        </p:nvSpPr>
        <p:spPr>
          <a:xfrm>
            <a:off x="6126480" y="4251960"/>
            <a:ext cx="1767840" cy="640080"/>
          </a:xfrm>
          <a:prstGeom prst="rect">
            <a:avLst/>
          </a:prstGeom>
          <a:noFill/>
          <a:ln/>
        </p:spPr>
        <p:txBody>
          <a:bodyPr wrap="square" lIns="0" tIns="0" rIns="0" bIns="0" rtlCol="0" anchor="t"/>
          <a:lstStyle/>
          <a:p>
            <a:pPr algn="ctr" indent="0" marL="0">
              <a:buNone/>
            </a:pPr>
            <a:r>
              <a:rPr lang="en-US" sz="950" dirty="0">
                <a:solidFill>
                  <a:srgbClr val="9D8D76"/>
                </a:solidFill>
                <a:latin typeface="Calibri" pitchFamily="34" charset="0"/>
                <a:ea typeface="Calibri" pitchFamily="34" charset="-122"/>
                <a:cs typeface="Calibri" pitchFamily="34" charset="-120"/>
              </a:rPr>
              <a:t>Thermal and structural performance data</a:t>
            </a:r>
            <a:endParaRPr lang="en-US" sz="950" dirty="0"/>
          </a:p>
        </p:txBody>
      </p:sp>
      <p:pic>
        <p:nvPicPr>
          <p:cNvPr id="22" name="Image 4" descr="prep/tiles/tile_door.jpg">    </p:cNvPr>
          <p:cNvPicPr>
            <a:picLocks noChangeAspect="1"/>
          </p:cNvPicPr>
          <p:nvPr/>
        </p:nvPicPr>
        <p:blipFill>
          <a:blip r:embed="rId5"/>
          <a:stretch>
            <a:fillRect/>
          </a:stretch>
        </p:blipFill>
        <p:spPr>
          <a:xfrm>
            <a:off x="8161020" y="1920240"/>
            <a:ext cx="1417320" cy="1417320"/>
          </a:xfrm>
          <a:prstGeom prst="rect">
            <a:avLst/>
          </a:prstGeom>
        </p:spPr>
      </p:pic>
      <p:sp>
        <p:nvSpPr>
          <p:cNvPr id="23" name="Text 16"/>
          <p:cNvSpPr/>
          <p:nvPr/>
        </p:nvSpPr>
        <p:spPr>
          <a:xfrm>
            <a:off x="7985760" y="3429000"/>
            <a:ext cx="1767840" cy="566928"/>
          </a:xfrm>
          <a:prstGeom prst="rect">
            <a:avLst/>
          </a:prstGeom>
          <a:noFill/>
          <a:ln/>
        </p:spPr>
        <p:txBody>
          <a:bodyPr wrap="square" lIns="0" tIns="0" rIns="0" bIns="0" rtlCol="0" anchor="t"/>
          <a:lstStyle/>
          <a:p>
            <a:pPr algn="ctr" indent="0" marL="0">
              <a:buNone/>
            </a:pPr>
            <a:r>
              <a:rPr lang="en-US" sz="1100" b="1" dirty="0">
                <a:solidFill>
                  <a:srgbClr val="F4ECDF"/>
                </a:solidFill>
                <a:latin typeface="Calibri" pitchFamily="34" charset="0"/>
                <a:ea typeface="Calibri" pitchFamily="34" charset="-122"/>
                <a:cs typeface="Calibri" pitchFamily="34" charset="-120"/>
              </a:rPr>
              <a:t>Interior doors &amp; door protection</a:t>
            </a:r>
            <a:endParaRPr lang="en-US" sz="1100" dirty="0"/>
          </a:p>
        </p:txBody>
      </p:sp>
      <p:sp>
        <p:nvSpPr>
          <p:cNvPr id="24" name="Text 17"/>
          <p:cNvSpPr/>
          <p:nvPr/>
        </p:nvSpPr>
        <p:spPr>
          <a:xfrm>
            <a:off x="7985760" y="4041648"/>
            <a:ext cx="1767840" cy="201168"/>
          </a:xfrm>
          <a:prstGeom prst="rect">
            <a:avLst/>
          </a:prstGeom>
          <a:noFill/>
          <a:ln/>
        </p:spPr>
        <p:txBody>
          <a:bodyPr wrap="square" lIns="0" tIns="0" rIns="0" bIns="0" rtlCol="0" anchor="ctr"/>
          <a:lstStyle/>
          <a:p>
            <a:pPr algn="ctr" indent="0" marL="0">
              <a:buNone/>
            </a:pPr>
            <a:r>
              <a:rPr lang="en-US" sz="800" b="1" spc="150" kern="0" dirty="0">
                <a:solidFill>
                  <a:srgbClr val="CDA165"/>
                </a:solidFill>
                <a:latin typeface="Calibri" pitchFamily="34" charset="0"/>
                <a:ea typeface="Calibri" pitchFamily="34" charset="-122"/>
                <a:cs typeface="Calibri" pitchFamily="34" charset="-120"/>
              </a:rPr>
              <a:t>GATED BY</a:t>
            </a:r>
            <a:endParaRPr lang="en-US" sz="800" dirty="0"/>
          </a:p>
        </p:txBody>
      </p:sp>
      <p:sp>
        <p:nvSpPr>
          <p:cNvPr id="25" name="Text 18"/>
          <p:cNvSpPr/>
          <p:nvPr/>
        </p:nvSpPr>
        <p:spPr>
          <a:xfrm>
            <a:off x="7985760" y="4251960"/>
            <a:ext cx="1767840" cy="640080"/>
          </a:xfrm>
          <a:prstGeom prst="rect">
            <a:avLst/>
          </a:prstGeom>
          <a:noFill/>
          <a:ln/>
        </p:spPr>
        <p:txBody>
          <a:bodyPr wrap="square" lIns="0" tIns="0" rIns="0" bIns="0" rtlCol="0" anchor="t"/>
          <a:lstStyle/>
          <a:p>
            <a:pPr algn="ctr" indent="0" marL="0">
              <a:buNone/>
            </a:pPr>
            <a:r>
              <a:rPr lang="en-US" sz="950" dirty="0">
                <a:solidFill>
                  <a:srgbClr val="9D8D76"/>
                </a:solidFill>
                <a:latin typeface="Calibri" pitchFamily="34" charset="0"/>
                <a:ea typeface="Calibri" pitchFamily="34" charset="-122"/>
                <a:cs typeface="Calibri" pitchFamily="34" charset="-120"/>
              </a:rPr>
              <a:t>UL 10C listing for rated openings</a:t>
            </a:r>
            <a:endParaRPr lang="en-US" sz="950" dirty="0"/>
          </a:p>
        </p:txBody>
      </p:sp>
      <p:pic>
        <p:nvPicPr>
          <p:cNvPr id="26" name="Image 5" descr="prep/tiles/tile_flooring2.jpg">    </p:cNvPr>
          <p:cNvPicPr>
            <a:picLocks noChangeAspect="1"/>
          </p:cNvPicPr>
          <p:nvPr/>
        </p:nvPicPr>
        <p:blipFill>
          <a:blip r:embed="rId6"/>
          <a:stretch>
            <a:fillRect/>
          </a:stretch>
        </p:blipFill>
        <p:spPr>
          <a:xfrm>
            <a:off x="10020300" y="1920240"/>
            <a:ext cx="1417320" cy="1417320"/>
          </a:xfrm>
          <a:prstGeom prst="rect">
            <a:avLst/>
          </a:prstGeom>
        </p:spPr>
      </p:pic>
      <p:sp>
        <p:nvSpPr>
          <p:cNvPr id="27" name="Text 19"/>
          <p:cNvSpPr/>
          <p:nvPr/>
        </p:nvSpPr>
        <p:spPr>
          <a:xfrm>
            <a:off x="9845040" y="3429000"/>
            <a:ext cx="1767840" cy="566928"/>
          </a:xfrm>
          <a:prstGeom prst="rect">
            <a:avLst/>
          </a:prstGeom>
          <a:noFill/>
          <a:ln/>
        </p:spPr>
        <p:txBody>
          <a:bodyPr wrap="square" lIns="0" tIns="0" rIns="0" bIns="0" rtlCol="0" anchor="t"/>
          <a:lstStyle/>
          <a:p>
            <a:pPr algn="ctr" indent="0" marL="0">
              <a:buNone/>
            </a:pPr>
            <a:r>
              <a:rPr lang="en-US" sz="1100" b="1" dirty="0">
                <a:solidFill>
                  <a:srgbClr val="F4ECDF"/>
                </a:solidFill>
                <a:latin typeface="Calibri" pitchFamily="34" charset="0"/>
                <a:ea typeface="Calibri" pitchFamily="34" charset="-122"/>
                <a:cs typeface="Calibri" pitchFamily="34" charset="-120"/>
              </a:rPr>
              <a:t>Industrial-grade flooring</a:t>
            </a:r>
            <a:endParaRPr lang="en-US" sz="1100" dirty="0"/>
          </a:p>
        </p:txBody>
      </p:sp>
      <p:sp>
        <p:nvSpPr>
          <p:cNvPr id="28" name="Text 20"/>
          <p:cNvSpPr/>
          <p:nvPr/>
        </p:nvSpPr>
        <p:spPr>
          <a:xfrm>
            <a:off x="9845040" y="4041648"/>
            <a:ext cx="1767840" cy="201168"/>
          </a:xfrm>
          <a:prstGeom prst="rect">
            <a:avLst/>
          </a:prstGeom>
          <a:noFill/>
          <a:ln/>
        </p:spPr>
        <p:txBody>
          <a:bodyPr wrap="square" lIns="0" tIns="0" rIns="0" bIns="0" rtlCol="0" anchor="ctr"/>
          <a:lstStyle/>
          <a:p>
            <a:pPr algn="ctr" indent="0" marL="0">
              <a:buNone/>
            </a:pPr>
            <a:r>
              <a:rPr lang="en-US" sz="800" b="1" spc="150" kern="0" dirty="0">
                <a:solidFill>
                  <a:srgbClr val="CDA165"/>
                </a:solidFill>
                <a:latin typeface="Calibri" pitchFamily="34" charset="0"/>
                <a:ea typeface="Calibri" pitchFamily="34" charset="-122"/>
                <a:cs typeface="Calibri" pitchFamily="34" charset="-120"/>
              </a:rPr>
              <a:t>GATED BY</a:t>
            </a:r>
            <a:endParaRPr lang="en-US" sz="800" dirty="0"/>
          </a:p>
        </p:txBody>
      </p:sp>
      <p:sp>
        <p:nvSpPr>
          <p:cNvPr id="29" name="Text 21"/>
          <p:cNvSpPr/>
          <p:nvPr/>
        </p:nvSpPr>
        <p:spPr>
          <a:xfrm>
            <a:off x="9845040" y="4251960"/>
            <a:ext cx="1767840" cy="640080"/>
          </a:xfrm>
          <a:prstGeom prst="rect">
            <a:avLst/>
          </a:prstGeom>
          <a:noFill/>
          <a:ln/>
        </p:spPr>
        <p:txBody>
          <a:bodyPr wrap="square" lIns="0" tIns="0" rIns="0" bIns="0" rtlCol="0" anchor="t"/>
          <a:lstStyle/>
          <a:p>
            <a:pPr algn="ctr" indent="0" marL="0">
              <a:buNone/>
            </a:pPr>
            <a:r>
              <a:rPr lang="en-US" sz="950" dirty="0">
                <a:solidFill>
                  <a:srgbClr val="9D8D76"/>
                </a:solidFill>
                <a:latin typeface="Calibri" pitchFamily="34" charset="0"/>
                <a:ea typeface="Calibri" pitchFamily="34" charset="-122"/>
                <a:cs typeface="Calibri" pitchFamily="34" charset="-120"/>
              </a:rPr>
              <a:t>Rolling-load and slip testing</a:t>
            </a:r>
            <a:endParaRPr lang="en-US" sz="950" dirty="0"/>
          </a:p>
        </p:txBody>
      </p:sp>
      <p:sp>
        <p:nvSpPr>
          <p:cNvPr id="30" name="Text 22"/>
          <p:cNvSpPr/>
          <p:nvPr/>
        </p:nvSpPr>
        <p:spPr>
          <a:xfrm>
            <a:off x="502920" y="5212080"/>
            <a:ext cx="11155680" cy="548640"/>
          </a:xfrm>
          <a:prstGeom prst="rect">
            <a:avLst/>
          </a:prstGeom>
          <a:noFill/>
          <a:ln/>
        </p:spPr>
        <p:txBody>
          <a:bodyPr wrap="square" lIns="0" tIns="0" rIns="0" bIns="0" rtlCol="0" anchor="ctr"/>
          <a:lstStyle/>
          <a:p>
            <a:pPr indent="0" marL="0">
              <a:buNone/>
            </a:pPr>
            <a:r>
              <a:rPr lang="en-US" sz="1150" i="1" dirty="0">
                <a:solidFill>
                  <a:srgbClr val="9D8D76"/>
                </a:solidFill>
                <a:latin typeface="Calibri" pitchFamily="34" charset="0"/>
                <a:ea typeface="Calibri" pitchFamily="34" charset="-122"/>
                <a:cs typeface="Calibri" pitchFamily="34" charset="-120"/>
              </a:rPr>
              <a:t>Each of these is a scoped test program, not a research question — and the natural first co-funded project with a customer. Timing depends on which one a customer picks up first.</a:t>
            </a:r>
            <a:endParaRPr lang="en-US" sz="1150" dirty="0"/>
          </a:p>
        </p:txBody>
      </p:sp>
      <p:sp>
        <p:nvSpPr>
          <p:cNvPr id="31" name="Text 23"/>
          <p:cNvSpPr/>
          <p:nvPr/>
        </p:nvSpPr>
        <p:spPr>
          <a:xfrm>
            <a:off x="8915400" y="6035040"/>
            <a:ext cx="2743200" cy="274320"/>
          </a:xfrm>
          <a:prstGeom prst="rect">
            <a:avLst/>
          </a:prstGeom>
          <a:noFill/>
          <a:ln/>
        </p:spPr>
        <p:txBody>
          <a:bodyPr wrap="square" lIns="0" tIns="0" rIns="0" bIns="0" rtlCol="0" anchor="ctr"/>
          <a:lstStyle/>
          <a:p>
            <a:pPr algn="r" indent="0" marL="0">
              <a:buNone/>
            </a:pPr>
            <a:r>
              <a:rPr lang="en-US" sz="950" i="1" dirty="0">
                <a:solidFill>
                  <a:srgbClr val="9D8D76"/>
                </a:solidFill>
                <a:latin typeface="Calibri" pitchFamily="34" charset="0"/>
                <a:ea typeface="Calibri" pitchFamily="34" charset="-122"/>
                <a:cs typeface="Calibri" pitchFamily="34" charset="-120"/>
              </a:rPr>
              <a:t>Concept renderings</a:t>
            </a:r>
            <a:endParaRPr lang="en-US" sz="9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Applications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DATA CENTER APPLICATIONS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Then — structure, through the mass-timber pathway</a:t>
            </a:r>
            <a:endParaRPr lang="en-US" sz="3200" dirty="0"/>
          </a:p>
        </p:txBody>
      </p:sp>
      <p:sp>
        <p:nvSpPr>
          <p:cNvPr id="6" name="Shape 4"/>
          <p:cNvSpPr/>
          <p:nvPr/>
        </p:nvSpPr>
        <p:spPr>
          <a:xfrm>
            <a:off x="502920" y="1920240"/>
            <a:ext cx="5486400" cy="1783080"/>
          </a:xfrm>
          <a:prstGeom prst="roundRect">
            <a:avLst>
              <a:gd name="adj" fmla="val 4615"/>
            </a:avLst>
          </a:prstGeom>
          <a:solidFill>
            <a:srgbClr val="261A0F"/>
          </a:solidFill>
          <a:ln/>
        </p:spPr>
      </p:sp>
      <p:pic>
        <p:nvPicPr>
          <p:cNvPr id="7" name="Image 0" descr="prep/tiles/tile_spaceframe.jpg">    </p:cNvPr>
          <p:cNvPicPr>
            <a:picLocks noChangeAspect="1"/>
          </p:cNvPicPr>
          <p:nvPr/>
        </p:nvPicPr>
        <p:blipFill>
          <a:blip r:embed="rId1"/>
          <a:stretch>
            <a:fillRect/>
          </a:stretch>
        </p:blipFill>
        <p:spPr>
          <a:xfrm>
            <a:off x="731520" y="2148840"/>
            <a:ext cx="1325880" cy="1325880"/>
          </a:xfrm>
          <a:prstGeom prst="rect">
            <a:avLst/>
          </a:prstGeom>
        </p:spPr>
      </p:pic>
      <p:sp>
        <p:nvSpPr>
          <p:cNvPr id="8" name="Text 5"/>
          <p:cNvSpPr/>
          <p:nvPr/>
        </p:nvSpPr>
        <p:spPr>
          <a:xfrm>
            <a:off x="2286000" y="2121408"/>
            <a:ext cx="3474720" cy="56692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Building enclosures &amp; structural components</a:t>
            </a:r>
            <a:endParaRPr lang="en-US" sz="1300" dirty="0"/>
          </a:p>
        </p:txBody>
      </p:sp>
      <p:sp>
        <p:nvSpPr>
          <p:cNvPr id="9" name="Text 6"/>
          <p:cNvSpPr/>
          <p:nvPr/>
        </p:nvSpPr>
        <p:spPr>
          <a:xfrm>
            <a:off x="2286000" y="2706624"/>
            <a:ext cx="347472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The co-development target with our hyperscaler customers' architects and engineers; ultimately optimized shells and foundations</a:t>
            </a:r>
            <a:endParaRPr lang="en-US" sz="1000" dirty="0"/>
          </a:p>
        </p:txBody>
      </p:sp>
      <p:sp>
        <p:nvSpPr>
          <p:cNvPr id="10" name="Shape 7"/>
          <p:cNvSpPr/>
          <p:nvPr/>
        </p:nvSpPr>
        <p:spPr>
          <a:xfrm>
            <a:off x="6172200" y="1920240"/>
            <a:ext cx="5486400" cy="1783080"/>
          </a:xfrm>
          <a:prstGeom prst="roundRect">
            <a:avLst>
              <a:gd name="adj" fmla="val 4615"/>
            </a:avLst>
          </a:prstGeom>
          <a:solidFill>
            <a:srgbClr val="261A0F"/>
          </a:solidFill>
          <a:ln/>
        </p:spPr>
      </p:sp>
      <p:pic>
        <p:nvPicPr>
          <p:cNvPr id="11" name="Image 1" descr="prep/tiles/tile_truss2.jpg">    </p:cNvPr>
          <p:cNvPicPr>
            <a:picLocks noChangeAspect="1"/>
          </p:cNvPicPr>
          <p:nvPr/>
        </p:nvPicPr>
        <p:blipFill>
          <a:blip r:embed="rId2"/>
          <a:stretch>
            <a:fillRect/>
          </a:stretch>
        </p:blipFill>
        <p:spPr>
          <a:xfrm>
            <a:off x="6400800" y="2148840"/>
            <a:ext cx="1325880" cy="1325880"/>
          </a:xfrm>
          <a:prstGeom prst="rect">
            <a:avLst/>
          </a:prstGeom>
        </p:spPr>
      </p:pic>
      <p:sp>
        <p:nvSpPr>
          <p:cNvPr id="12" name="Text 8"/>
          <p:cNvSpPr/>
          <p:nvPr/>
        </p:nvSpPr>
        <p:spPr>
          <a:xfrm>
            <a:off x="7955280" y="2121408"/>
            <a:ext cx="3474720" cy="56692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Trusses and CLT-type floor, roof &amp; wall assemblies</a:t>
            </a:r>
            <a:endParaRPr lang="en-US" sz="1300" dirty="0"/>
          </a:p>
        </p:txBody>
      </p:sp>
      <p:sp>
        <p:nvSpPr>
          <p:cNvPr id="13" name="Text 9"/>
          <p:cNvSpPr/>
          <p:nvPr/>
        </p:nvSpPr>
        <p:spPr>
          <a:xfrm>
            <a:off x="7955280" y="2706624"/>
            <a:ext cx="347472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Trusses carry no fire-resistance requirement; assemblies follow E119 and the PRG 320-style qualification route</a:t>
            </a:r>
            <a:endParaRPr lang="en-US" sz="1000" dirty="0"/>
          </a:p>
        </p:txBody>
      </p:sp>
      <p:sp>
        <p:nvSpPr>
          <p:cNvPr id="14" name="Shape 10"/>
          <p:cNvSpPr/>
          <p:nvPr/>
        </p:nvSpPr>
        <p:spPr>
          <a:xfrm>
            <a:off x="502920" y="3886200"/>
            <a:ext cx="5486400" cy="1783080"/>
          </a:xfrm>
          <a:prstGeom prst="roundRect">
            <a:avLst>
              <a:gd name="adj" fmla="val 4615"/>
            </a:avLst>
          </a:prstGeom>
          <a:solidFill>
            <a:srgbClr val="261A0F"/>
          </a:solidFill>
          <a:ln/>
        </p:spPr>
      </p:sp>
      <p:pic>
        <p:nvPicPr>
          <p:cNvPr id="15" name="Image 2" descr="prep/tiles/tile_fanwall.jpg">    </p:cNvPr>
          <p:cNvPicPr>
            <a:picLocks noChangeAspect="1"/>
          </p:cNvPicPr>
          <p:nvPr/>
        </p:nvPicPr>
        <p:blipFill>
          <a:blip r:embed="rId3"/>
          <a:stretch>
            <a:fillRect/>
          </a:stretch>
        </p:blipFill>
        <p:spPr>
          <a:xfrm>
            <a:off x="731520" y="4114800"/>
            <a:ext cx="1325880" cy="1325880"/>
          </a:xfrm>
          <a:prstGeom prst="rect">
            <a:avLst/>
          </a:prstGeom>
        </p:spPr>
      </p:pic>
      <p:sp>
        <p:nvSpPr>
          <p:cNvPr id="16" name="Text 11"/>
          <p:cNvSpPr/>
          <p:nvPr/>
        </p:nvSpPr>
        <p:spPr>
          <a:xfrm>
            <a:off x="2286000" y="4087368"/>
            <a:ext cx="3474720" cy="56692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HVAC enclosures &amp; separations</a:t>
            </a:r>
            <a:endParaRPr lang="en-US" sz="1300" dirty="0"/>
          </a:p>
        </p:txBody>
      </p:sp>
      <p:sp>
        <p:nvSpPr>
          <p:cNvPr id="17" name="Text 12"/>
          <p:cNvSpPr/>
          <p:nvPr/>
        </p:nvSpPr>
        <p:spPr>
          <a:xfrm>
            <a:off x="2286000" y="4672584"/>
            <a:ext cx="347472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Insulating, lightweight, vibration-damping enclosures and air separations — not in-airstream ducting</a:t>
            </a:r>
            <a:endParaRPr lang="en-US" sz="1000" dirty="0"/>
          </a:p>
        </p:txBody>
      </p:sp>
      <p:sp>
        <p:nvSpPr>
          <p:cNvPr id="18" name="Shape 13"/>
          <p:cNvSpPr/>
          <p:nvPr/>
        </p:nvSpPr>
        <p:spPr>
          <a:xfrm>
            <a:off x="6172200" y="3886200"/>
            <a:ext cx="5486400" cy="1783080"/>
          </a:xfrm>
          <a:prstGeom prst="roundRect">
            <a:avLst>
              <a:gd name="adj" fmla="val 4615"/>
            </a:avLst>
          </a:prstGeom>
          <a:solidFill>
            <a:srgbClr val="261A0F"/>
          </a:solidFill>
          <a:ln/>
        </p:spPr>
      </p:sp>
      <p:pic>
        <p:nvPicPr>
          <p:cNvPr id="19" name="Image 3" descr="prep/tiles/tile_rackocp.jpg">    </p:cNvPr>
          <p:cNvPicPr>
            <a:picLocks noChangeAspect="1"/>
          </p:cNvPicPr>
          <p:nvPr/>
        </p:nvPicPr>
        <p:blipFill>
          <a:blip r:embed="rId4"/>
          <a:stretch>
            <a:fillRect/>
          </a:stretch>
        </p:blipFill>
        <p:spPr>
          <a:xfrm>
            <a:off x="6400800" y="4114800"/>
            <a:ext cx="1325880" cy="1325880"/>
          </a:xfrm>
          <a:prstGeom prst="rect">
            <a:avLst/>
          </a:prstGeom>
        </p:spPr>
      </p:pic>
      <p:sp>
        <p:nvSpPr>
          <p:cNvPr id="20" name="Text 14"/>
          <p:cNvSpPr/>
          <p:nvPr/>
        </p:nvSpPr>
        <p:spPr>
          <a:xfrm>
            <a:off x="7955280" y="4087368"/>
            <a:ext cx="3474720" cy="56692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Racking &amp; equipment supports</a:t>
            </a:r>
            <a:endParaRPr lang="en-US" sz="1300" dirty="0"/>
          </a:p>
        </p:txBody>
      </p:sp>
      <p:sp>
        <p:nvSpPr>
          <p:cNvPr id="21" name="Text 15"/>
          <p:cNvSpPr/>
          <p:nvPr/>
        </p:nvSpPr>
        <p:spPr>
          <a:xfrm>
            <a:off x="7955280" y="4672584"/>
            <a:ext cx="3474720" cy="914400"/>
          </a:xfrm>
          <a:prstGeom prst="rect">
            <a:avLst/>
          </a:prstGeom>
          <a:noFill/>
          <a:ln/>
        </p:spPr>
        <p:txBody>
          <a:bodyPr wrap="square" lIns="0" tIns="0" rIns="0" bIns="0" rtlCol="0" anchor="t"/>
          <a:lstStyle/>
          <a:p>
            <a:pPr indent="0" marL="0">
              <a:buNone/>
            </a:pPr>
            <a:r>
              <a:rPr lang="en-US" sz="1000" dirty="0">
                <a:solidFill>
                  <a:srgbClr val="9D8D76"/>
                </a:solidFill>
                <a:latin typeface="Calibri" pitchFamily="34" charset="0"/>
                <a:ea typeface="Calibri" pitchFamily="34" charset="-122"/>
                <a:cs typeface="Calibri" pitchFamily="34" charset="-120"/>
              </a:rPr>
              <a:t>Backplanes first (UL 94), then racking and heavy-load supports as design values and seismic qualification complete</a:t>
            </a:r>
            <a:endParaRPr lang="en-US" sz="1000" dirty="0"/>
          </a:p>
        </p:txBody>
      </p:sp>
      <p:sp>
        <p:nvSpPr>
          <p:cNvPr id="22" name="Text 16"/>
          <p:cNvSpPr/>
          <p:nvPr/>
        </p:nvSpPr>
        <p:spPr>
          <a:xfrm>
            <a:off x="502920" y="5897880"/>
            <a:ext cx="11155680" cy="502920"/>
          </a:xfrm>
          <a:prstGeom prst="rect">
            <a:avLst/>
          </a:prstGeom>
          <a:noFill/>
          <a:ln/>
        </p:spPr>
        <p:txBody>
          <a:bodyPr wrap="square" lIns="0" tIns="0" rIns="0" bIns="0" rtlCol="0" anchor="ctr"/>
          <a:lstStyle/>
          <a:p>
            <a:pPr indent="0" marL="0">
              <a:buNone/>
            </a:pPr>
            <a:r>
              <a:rPr lang="en-US" sz="1050" i="1" dirty="0">
                <a:solidFill>
                  <a:srgbClr val="9D8D76"/>
                </a:solidFill>
                <a:latin typeface="Calibri" pitchFamily="34" charset="0"/>
                <a:ea typeface="Calibri" pitchFamily="34" charset="-122"/>
                <a:cs typeface="Calibri" pitchFamily="34" charset="-120"/>
              </a:rPr>
              <a:t>Concept renderings · SUPERWOOD can be qualified as a new, far stronger species through the pathway mass timber has already opened in the building codes. This is the structural-steel replacement our customers are asking about, and it is SuperMill Two-scale demand.</a:t>
            </a:r>
            <a:endParaRPr lang="en-US" sz="10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286000"/>
            <a:ext cx="5486400" cy="320040"/>
          </a:xfrm>
          <a:prstGeom prst="rect">
            <a:avLst/>
          </a:prstGeom>
          <a:noFill/>
          <a:ln/>
        </p:spPr>
        <p:txBody>
          <a:bodyPr wrap="square" lIns="0" tIns="0" rIns="0" bIns="0" rtlCol="0" anchor="ctr"/>
          <a:lstStyle/>
          <a:p>
            <a:pPr indent="0" marL="0">
              <a:buNone/>
            </a:pPr>
            <a:r>
              <a:rPr lang="en-US" sz="1300" b="1" spc="400" kern="0" dirty="0">
                <a:solidFill>
                  <a:srgbClr val="CDA165"/>
                </a:solidFill>
                <a:latin typeface="Calibri" pitchFamily="34" charset="0"/>
                <a:ea typeface="Calibri" pitchFamily="34" charset="-122"/>
                <a:cs typeface="Calibri" pitchFamily="34" charset="-120"/>
              </a:rPr>
              <a:t>SECTION 05</a:t>
            </a:r>
            <a:endParaRPr lang="en-US" sz="1300" dirty="0"/>
          </a:p>
        </p:txBody>
      </p:sp>
      <p:sp>
        <p:nvSpPr>
          <p:cNvPr id="3" name="Text 1"/>
          <p:cNvSpPr/>
          <p:nvPr/>
        </p:nvSpPr>
        <p:spPr>
          <a:xfrm>
            <a:off x="914400" y="2743200"/>
            <a:ext cx="10332720" cy="1005840"/>
          </a:xfrm>
          <a:prstGeom prst="rect">
            <a:avLst/>
          </a:prstGeom>
          <a:noFill/>
          <a:ln/>
        </p:spPr>
        <p:txBody>
          <a:bodyPr wrap="square" lIns="0" tIns="0" rIns="0" bIns="0" rtlCol="0" anchor="ctr"/>
          <a:lstStyle/>
          <a:p>
            <a:pPr indent="0" marL="0">
              <a:buNone/>
            </a:pPr>
            <a:r>
              <a:rPr lang="en-US" sz="4800" dirty="0">
                <a:solidFill>
                  <a:srgbClr val="F4ECDF"/>
                </a:solidFill>
                <a:latin typeface="Georgia" pitchFamily="34" charset="0"/>
                <a:ea typeface="Georgia" pitchFamily="34" charset="-122"/>
                <a:cs typeface="Georgia" pitchFamily="34" charset="-120"/>
              </a:rPr>
              <a:t>Our</a:t>
            </a:r>
            <a:pPr indent="0" marL="0">
              <a:buNone/>
            </a:pPr>
            <a:r>
              <a:rPr lang="en-US" sz="4800" i="1" dirty="0">
                <a:solidFill>
                  <a:srgbClr val="E2B877"/>
                </a:solidFill>
                <a:latin typeface="Georgia" pitchFamily="34" charset="0"/>
                <a:ea typeface="Georgia" pitchFamily="34" charset="-122"/>
                <a:cs typeface="Georgia" pitchFamily="34" charset="-120"/>
              </a:rPr>
              <a:t> Customers</a:t>
            </a:r>
            <a:endParaRPr lang="en-US" sz="4800" dirty="0"/>
          </a:p>
        </p:txBody>
      </p:sp>
      <p:sp>
        <p:nvSpPr>
          <p:cNvPr id="4" name="Text 2"/>
          <p:cNvSpPr/>
          <p:nvPr/>
        </p:nvSpPr>
        <p:spPr>
          <a:xfrm>
            <a:off x="914400" y="3886200"/>
            <a:ext cx="8686800" cy="45720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Who is already building with us — engagement as of September 2026</a:t>
            </a:r>
            <a:endParaRPr lang="en-US" sz="15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Customers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CUSTOMERS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Hyperscaler engagement at a glance</a:t>
            </a:r>
            <a:endParaRPr lang="en-US" sz="3200" dirty="0"/>
          </a:p>
        </p:txBody>
      </p:sp>
      <p:sp>
        <p:nvSpPr>
          <p:cNvPr id="6" name="Shape 4"/>
          <p:cNvSpPr/>
          <p:nvPr/>
        </p:nvSpPr>
        <p:spPr>
          <a:xfrm>
            <a:off x="502920" y="1783080"/>
            <a:ext cx="3611880" cy="2331720"/>
          </a:xfrm>
          <a:prstGeom prst="roundRect">
            <a:avLst>
              <a:gd name="adj" fmla="val 3529"/>
            </a:avLst>
          </a:prstGeom>
          <a:solidFill>
            <a:srgbClr val="261A0F"/>
          </a:solidFill>
          <a:ln w="9525">
            <a:solidFill>
              <a:srgbClr val="B87D44"/>
            </a:solidFill>
            <a:prstDash val="solid"/>
          </a:ln>
        </p:spPr>
      </p:sp>
      <p:sp>
        <p:nvSpPr>
          <p:cNvPr id="7" name="Text 5"/>
          <p:cNvSpPr/>
          <p:nvPr/>
        </p:nvSpPr>
        <p:spPr>
          <a:xfrm>
            <a:off x="758952" y="1938528"/>
            <a:ext cx="3099816" cy="457200"/>
          </a:xfrm>
          <a:prstGeom prst="rect">
            <a:avLst/>
          </a:prstGeom>
          <a:noFill/>
          <a:ln/>
        </p:spPr>
        <p:txBody>
          <a:bodyPr wrap="square" lIns="0" tIns="0" rIns="0" bIns="0" rtlCol="0" anchor="ctr"/>
          <a:lstStyle/>
          <a:p>
            <a:pPr indent="0" marL="0">
              <a:buNone/>
            </a:pPr>
            <a:r>
              <a:rPr lang="en-US" sz="2400" dirty="0">
                <a:solidFill>
                  <a:srgbClr val="F4ECDF"/>
                </a:solidFill>
                <a:latin typeface="Georgia" pitchFamily="34" charset="0"/>
                <a:ea typeface="Georgia" pitchFamily="34" charset="-122"/>
                <a:cs typeface="Georgia" pitchFamily="34" charset="-120"/>
              </a:rPr>
              <a:t>Microsoft</a:t>
            </a:r>
            <a:endParaRPr lang="en-US" sz="2400" dirty="0"/>
          </a:p>
        </p:txBody>
      </p:sp>
      <p:sp>
        <p:nvSpPr>
          <p:cNvPr id="8" name="Shape 6"/>
          <p:cNvSpPr/>
          <p:nvPr/>
        </p:nvSpPr>
        <p:spPr>
          <a:xfrm>
            <a:off x="758952" y="2468880"/>
            <a:ext cx="2103120" cy="274320"/>
          </a:xfrm>
          <a:prstGeom prst="roundRect">
            <a:avLst>
              <a:gd name="adj" fmla="val 50000"/>
            </a:avLst>
          </a:prstGeom>
          <a:solidFill>
            <a:srgbClr val="3A2B1A"/>
          </a:solidFill>
          <a:ln/>
        </p:spPr>
      </p:sp>
      <p:sp>
        <p:nvSpPr>
          <p:cNvPr id="9" name="Text 7"/>
          <p:cNvSpPr/>
          <p:nvPr/>
        </p:nvSpPr>
        <p:spPr>
          <a:xfrm>
            <a:off x="758952" y="2468880"/>
            <a:ext cx="2103120" cy="274320"/>
          </a:xfrm>
          <a:prstGeom prst="rect">
            <a:avLst/>
          </a:prstGeom>
          <a:noFill/>
          <a:ln/>
        </p:spPr>
        <p:txBody>
          <a:bodyPr wrap="square" lIns="0" tIns="0" rIns="0" bIns="0" rtlCol="0" anchor="ctr"/>
          <a:lstStyle/>
          <a:p>
            <a:pPr algn="ctr" indent="0" marL="0">
              <a:buNone/>
            </a:pPr>
            <a:r>
              <a:rPr lang="en-US" sz="800" b="1" spc="120" kern="0" dirty="0">
                <a:solidFill>
                  <a:srgbClr val="E2B877"/>
                </a:solidFill>
                <a:latin typeface="Calibri" pitchFamily="34" charset="0"/>
                <a:ea typeface="Calibri" pitchFamily="34" charset="-122"/>
                <a:cs typeface="Calibri" pitchFamily="34" charset="-120"/>
              </a:rPr>
              <a:t>BROAD ENGAGEMENT</a:t>
            </a:r>
            <a:endParaRPr lang="en-US" sz="800" dirty="0"/>
          </a:p>
        </p:txBody>
      </p:sp>
      <p:sp>
        <p:nvSpPr>
          <p:cNvPr id="10" name="Text 8"/>
          <p:cNvSpPr/>
          <p:nvPr/>
        </p:nvSpPr>
        <p:spPr>
          <a:xfrm>
            <a:off x="758952" y="2852928"/>
            <a:ext cx="3099816" cy="118872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Already builds data centers with CLT floors. Strategic interest in SUPERWOOD in the basis of design for future data centers; roof trusses leading to roofs and fast-to-build enclosures; immediate deployment of facades, interiors and fencing.</a:t>
            </a:r>
            <a:endParaRPr lang="en-US" sz="1050" dirty="0"/>
          </a:p>
        </p:txBody>
      </p:sp>
      <p:sp>
        <p:nvSpPr>
          <p:cNvPr id="11" name="Shape 9"/>
          <p:cNvSpPr/>
          <p:nvPr/>
        </p:nvSpPr>
        <p:spPr>
          <a:xfrm>
            <a:off x="4274820" y="1783080"/>
            <a:ext cx="3611880" cy="2331720"/>
          </a:xfrm>
          <a:prstGeom prst="roundRect">
            <a:avLst>
              <a:gd name="adj" fmla="val 3529"/>
            </a:avLst>
          </a:prstGeom>
          <a:solidFill>
            <a:srgbClr val="261A0F"/>
          </a:solidFill>
          <a:ln w="9525">
            <a:solidFill>
              <a:srgbClr val="B87D44"/>
            </a:solidFill>
            <a:prstDash val="solid"/>
          </a:ln>
        </p:spPr>
      </p:sp>
      <p:sp>
        <p:nvSpPr>
          <p:cNvPr id="12" name="Text 10"/>
          <p:cNvSpPr/>
          <p:nvPr/>
        </p:nvSpPr>
        <p:spPr>
          <a:xfrm>
            <a:off x="4530852" y="1938528"/>
            <a:ext cx="3099816" cy="457200"/>
          </a:xfrm>
          <a:prstGeom prst="rect">
            <a:avLst/>
          </a:prstGeom>
          <a:noFill/>
          <a:ln/>
        </p:spPr>
        <p:txBody>
          <a:bodyPr wrap="square" lIns="0" tIns="0" rIns="0" bIns="0" rtlCol="0" anchor="ctr"/>
          <a:lstStyle/>
          <a:p>
            <a:pPr indent="0" marL="0">
              <a:buNone/>
            </a:pPr>
            <a:r>
              <a:rPr lang="en-US" sz="2400" dirty="0">
                <a:solidFill>
                  <a:srgbClr val="F4ECDF"/>
                </a:solidFill>
                <a:latin typeface="Georgia" pitchFamily="34" charset="0"/>
                <a:ea typeface="Georgia" pitchFamily="34" charset="-122"/>
                <a:cs typeface="Georgia" pitchFamily="34" charset="-120"/>
              </a:rPr>
              <a:t>Meta</a:t>
            </a:r>
            <a:endParaRPr lang="en-US" sz="2400" dirty="0"/>
          </a:p>
        </p:txBody>
      </p:sp>
      <p:sp>
        <p:nvSpPr>
          <p:cNvPr id="13" name="Shape 11"/>
          <p:cNvSpPr/>
          <p:nvPr/>
        </p:nvSpPr>
        <p:spPr>
          <a:xfrm>
            <a:off x="4530852" y="2468880"/>
            <a:ext cx="2103120" cy="274320"/>
          </a:xfrm>
          <a:prstGeom prst="roundRect">
            <a:avLst>
              <a:gd name="adj" fmla="val 50000"/>
            </a:avLst>
          </a:prstGeom>
          <a:solidFill>
            <a:srgbClr val="3A2B1A"/>
          </a:solidFill>
          <a:ln/>
        </p:spPr>
      </p:sp>
      <p:sp>
        <p:nvSpPr>
          <p:cNvPr id="14" name="Text 12"/>
          <p:cNvSpPr/>
          <p:nvPr/>
        </p:nvSpPr>
        <p:spPr>
          <a:xfrm>
            <a:off x="4530852" y="2468880"/>
            <a:ext cx="2103120" cy="274320"/>
          </a:xfrm>
          <a:prstGeom prst="rect">
            <a:avLst/>
          </a:prstGeom>
          <a:noFill/>
          <a:ln/>
        </p:spPr>
        <p:txBody>
          <a:bodyPr wrap="square" lIns="0" tIns="0" rIns="0" bIns="0" rtlCol="0" anchor="ctr"/>
          <a:lstStyle/>
          <a:p>
            <a:pPr algn="ctr" indent="0" marL="0">
              <a:buNone/>
            </a:pPr>
            <a:r>
              <a:rPr lang="en-US" sz="800" b="1" spc="120" kern="0" dirty="0">
                <a:solidFill>
                  <a:srgbClr val="E2B877"/>
                </a:solidFill>
                <a:latin typeface="Calibri" pitchFamily="34" charset="0"/>
                <a:ea typeface="Calibri" pitchFamily="34" charset="-122"/>
                <a:cs typeface="Calibri" pitchFamily="34" charset="-120"/>
              </a:rPr>
              <a:t>ENGAGED FOR OVER A YEAR</a:t>
            </a:r>
            <a:endParaRPr lang="en-US" sz="800" dirty="0"/>
          </a:p>
        </p:txBody>
      </p:sp>
      <p:sp>
        <p:nvSpPr>
          <p:cNvPr id="15" name="Text 13"/>
          <p:cNvSpPr/>
          <p:nvPr/>
        </p:nvSpPr>
        <p:spPr>
          <a:xfrm>
            <a:off x="4530852" y="2852928"/>
            <a:ext cx="3099816" cy="118872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Broad engagement across the data center ecosystem. Facade applications and backplanes under way; plan to move into structural applications and racking over time.</a:t>
            </a:r>
            <a:endParaRPr lang="en-US" sz="1050" dirty="0"/>
          </a:p>
        </p:txBody>
      </p:sp>
      <p:sp>
        <p:nvSpPr>
          <p:cNvPr id="16" name="Shape 14"/>
          <p:cNvSpPr/>
          <p:nvPr/>
        </p:nvSpPr>
        <p:spPr>
          <a:xfrm>
            <a:off x="8046720" y="1783080"/>
            <a:ext cx="3611880" cy="2331720"/>
          </a:xfrm>
          <a:prstGeom prst="roundRect">
            <a:avLst>
              <a:gd name="adj" fmla="val 3529"/>
            </a:avLst>
          </a:prstGeom>
          <a:solidFill>
            <a:srgbClr val="261A0F"/>
          </a:solidFill>
          <a:ln w="9525">
            <a:solidFill>
              <a:srgbClr val="B87D44"/>
            </a:solidFill>
            <a:prstDash val="solid"/>
          </a:ln>
        </p:spPr>
      </p:sp>
      <p:sp>
        <p:nvSpPr>
          <p:cNvPr id="17" name="Text 15"/>
          <p:cNvSpPr/>
          <p:nvPr/>
        </p:nvSpPr>
        <p:spPr>
          <a:xfrm>
            <a:off x="8302752" y="1938528"/>
            <a:ext cx="3099816" cy="457200"/>
          </a:xfrm>
          <a:prstGeom prst="rect">
            <a:avLst/>
          </a:prstGeom>
          <a:noFill/>
          <a:ln/>
        </p:spPr>
        <p:txBody>
          <a:bodyPr wrap="square" lIns="0" tIns="0" rIns="0" bIns="0" rtlCol="0" anchor="ctr"/>
          <a:lstStyle/>
          <a:p>
            <a:pPr indent="0" marL="0">
              <a:buNone/>
            </a:pPr>
            <a:r>
              <a:rPr lang="en-US" sz="2400" dirty="0">
                <a:solidFill>
                  <a:srgbClr val="F4ECDF"/>
                </a:solidFill>
                <a:latin typeface="Georgia" pitchFamily="34" charset="0"/>
                <a:ea typeface="Georgia" pitchFamily="34" charset="-122"/>
                <a:cs typeface="Georgia" pitchFamily="34" charset="-120"/>
              </a:rPr>
              <a:t>Google</a:t>
            </a:r>
            <a:endParaRPr lang="en-US" sz="2400" dirty="0"/>
          </a:p>
        </p:txBody>
      </p:sp>
      <p:sp>
        <p:nvSpPr>
          <p:cNvPr id="18" name="Shape 16"/>
          <p:cNvSpPr/>
          <p:nvPr/>
        </p:nvSpPr>
        <p:spPr>
          <a:xfrm>
            <a:off x="8302752" y="2468880"/>
            <a:ext cx="2103120" cy="274320"/>
          </a:xfrm>
          <a:prstGeom prst="roundRect">
            <a:avLst>
              <a:gd name="adj" fmla="val 50000"/>
            </a:avLst>
          </a:prstGeom>
          <a:solidFill>
            <a:srgbClr val="3A2B1A"/>
          </a:solidFill>
          <a:ln/>
        </p:spPr>
      </p:sp>
      <p:sp>
        <p:nvSpPr>
          <p:cNvPr id="19" name="Text 17"/>
          <p:cNvSpPr/>
          <p:nvPr/>
        </p:nvSpPr>
        <p:spPr>
          <a:xfrm>
            <a:off x="8302752" y="2468880"/>
            <a:ext cx="2103120" cy="274320"/>
          </a:xfrm>
          <a:prstGeom prst="rect">
            <a:avLst/>
          </a:prstGeom>
          <a:noFill/>
          <a:ln/>
        </p:spPr>
        <p:txBody>
          <a:bodyPr wrap="square" lIns="0" tIns="0" rIns="0" bIns="0" rtlCol="0" anchor="ctr"/>
          <a:lstStyle/>
          <a:p>
            <a:pPr algn="ctr" indent="0" marL="0">
              <a:buNone/>
            </a:pPr>
            <a:r>
              <a:rPr lang="en-US" sz="800" b="1" spc="120" kern="0" dirty="0">
                <a:solidFill>
                  <a:srgbClr val="E2B877"/>
                </a:solidFill>
                <a:latin typeface="Calibri" pitchFamily="34" charset="0"/>
                <a:ea typeface="Calibri" pitchFamily="34" charset="-122"/>
                <a:cs typeface="Calibri" pitchFamily="34" charset="-120"/>
              </a:rPr>
              <a:t>ENGAGEMENT JUST BEGUN</a:t>
            </a:r>
            <a:endParaRPr lang="en-US" sz="800" dirty="0"/>
          </a:p>
        </p:txBody>
      </p:sp>
      <p:sp>
        <p:nvSpPr>
          <p:cNvPr id="20" name="Text 18"/>
          <p:cNvSpPr/>
          <p:nvPr/>
        </p:nvSpPr>
        <p:spPr>
          <a:xfrm>
            <a:off x="8302752" y="2852928"/>
            <a:ext cx="3099816" cy="1188720"/>
          </a:xfrm>
          <a:prstGeom prst="rect">
            <a:avLst/>
          </a:prstGeom>
          <a:noFill/>
          <a:ln/>
        </p:spPr>
        <p:txBody>
          <a:bodyPr wrap="square" lIns="0" tIns="0" rIns="0" bIns="0" rtlCol="0" anchor="t"/>
          <a:lstStyle/>
          <a:p>
            <a:pPr indent="0" marL="0">
              <a:buNone/>
            </a:pPr>
            <a:r>
              <a:rPr lang="en-US" sz="1050" dirty="0">
                <a:solidFill>
                  <a:srgbClr val="CDBFA9"/>
                </a:solidFill>
                <a:latin typeface="Calibri" pitchFamily="34" charset="0"/>
                <a:ea typeface="Calibri" pitchFamily="34" charset="-122"/>
                <a:cs typeface="Calibri" pitchFamily="34" charset="-120"/>
              </a:rPr>
              <a:t>Initial focus on replacement of structural steel.</a:t>
            </a:r>
            <a:endParaRPr lang="en-US" sz="1050" dirty="0"/>
          </a:p>
        </p:txBody>
      </p:sp>
      <p:sp>
        <p:nvSpPr>
          <p:cNvPr id="21" name="Shape 19"/>
          <p:cNvSpPr/>
          <p:nvPr/>
        </p:nvSpPr>
        <p:spPr>
          <a:xfrm>
            <a:off x="502920" y="4343400"/>
            <a:ext cx="11155680" cy="512064"/>
          </a:xfrm>
          <a:prstGeom prst="roundRect">
            <a:avLst>
              <a:gd name="adj" fmla="val 12500"/>
            </a:avLst>
          </a:prstGeom>
          <a:solidFill>
            <a:srgbClr val="2E2113"/>
          </a:solidFill>
          <a:ln/>
        </p:spPr>
      </p:sp>
      <p:sp>
        <p:nvSpPr>
          <p:cNvPr id="22" name="Text 20"/>
          <p:cNvSpPr/>
          <p:nvPr/>
        </p:nvSpPr>
        <p:spPr>
          <a:xfrm>
            <a:off x="777240" y="4462272"/>
            <a:ext cx="2926080" cy="274320"/>
          </a:xfrm>
          <a:prstGeom prst="rect">
            <a:avLst/>
          </a:prstGeom>
          <a:noFill/>
          <a:ln/>
        </p:spPr>
        <p:txBody>
          <a:bodyPr wrap="square" lIns="0" tIns="0" rIns="0" bIns="0" rtlCol="0" anchor="ctr"/>
          <a:lstStyle/>
          <a:p>
            <a:pPr indent="0" marL="0">
              <a:buNone/>
            </a:pPr>
            <a:r>
              <a:rPr lang="en-US" sz="950" b="1" spc="150" kern="0" dirty="0">
                <a:solidFill>
                  <a:srgbClr val="CDA165"/>
                </a:solidFill>
                <a:latin typeface="Calibri" pitchFamily="34" charset="0"/>
                <a:ea typeface="Calibri" pitchFamily="34" charset="-122"/>
                <a:cs typeface="Calibri" pitchFamily="34" charset="-120"/>
              </a:rPr>
              <a:t>ALSO AT THE TABLE</a:t>
            </a:r>
            <a:endParaRPr lang="en-US" sz="950" dirty="0"/>
          </a:p>
        </p:txBody>
      </p:sp>
      <p:sp>
        <p:nvSpPr>
          <p:cNvPr id="23" name="Text 21"/>
          <p:cNvSpPr/>
          <p:nvPr/>
        </p:nvSpPr>
        <p:spPr>
          <a:xfrm>
            <a:off x="3749040" y="4398264"/>
            <a:ext cx="7772400" cy="402336"/>
          </a:xfrm>
          <a:prstGeom prst="rect">
            <a:avLst/>
          </a:prstGeom>
          <a:noFill/>
          <a:ln/>
        </p:spPr>
        <p:txBody>
          <a:bodyPr wrap="square" lIns="0" tIns="0" rIns="0" bIns="0" rtlCol="0" anchor="ctr"/>
          <a:lstStyle/>
          <a:p>
            <a:pPr indent="0" marL="0">
              <a:buNone/>
            </a:pPr>
            <a:r>
              <a:rPr lang="en-US" sz="1100" dirty="0">
                <a:solidFill>
                  <a:srgbClr val="F4ECDF"/>
                </a:solidFill>
                <a:latin typeface="Calibri" pitchFamily="34" charset="0"/>
                <a:ea typeface="Calibri" pitchFamily="34" charset="-122"/>
                <a:cs typeface="Calibri" pitchFamily="34" charset="-120"/>
              </a:rPr>
              <a:t>Vertiv · Wooden Data Center · data center operators focused on security fencing</a:t>
            </a:r>
            <a:endParaRPr lang="en-US" sz="1100" dirty="0"/>
          </a:p>
        </p:txBody>
      </p:sp>
      <p:sp>
        <p:nvSpPr>
          <p:cNvPr id="24" name="Shape 22"/>
          <p:cNvSpPr/>
          <p:nvPr/>
        </p:nvSpPr>
        <p:spPr>
          <a:xfrm>
            <a:off x="502920" y="4983480"/>
            <a:ext cx="11155680" cy="512064"/>
          </a:xfrm>
          <a:prstGeom prst="roundRect">
            <a:avLst>
              <a:gd name="adj" fmla="val 12500"/>
            </a:avLst>
          </a:prstGeom>
          <a:solidFill>
            <a:srgbClr val="2E2113"/>
          </a:solidFill>
          <a:ln/>
        </p:spPr>
      </p:sp>
      <p:sp>
        <p:nvSpPr>
          <p:cNvPr id="25" name="Text 23"/>
          <p:cNvSpPr/>
          <p:nvPr/>
        </p:nvSpPr>
        <p:spPr>
          <a:xfrm>
            <a:off x="777240" y="5102352"/>
            <a:ext cx="2926080" cy="274320"/>
          </a:xfrm>
          <a:prstGeom prst="rect">
            <a:avLst/>
          </a:prstGeom>
          <a:noFill/>
          <a:ln/>
        </p:spPr>
        <p:txBody>
          <a:bodyPr wrap="square" lIns="0" tIns="0" rIns="0" bIns="0" rtlCol="0" anchor="ctr"/>
          <a:lstStyle/>
          <a:p>
            <a:pPr indent="0" marL="0">
              <a:buNone/>
            </a:pPr>
            <a:r>
              <a:rPr lang="en-US" sz="950" b="1" spc="150" kern="0" dirty="0">
                <a:solidFill>
                  <a:srgbClr val="CDA165"/>
                </a:solidFill>
                <a:latin typeface="Calibri" pitchFamily="34" charset="0"/>
                <a:ea typeface="Calibri" pitchFamily="34" charset="-122"/>
                <a:cs typeface="Calibri" pitchFamily="34" charset="-120"/>
              </a:rPr>
              <a:t>CONSTRUCTION PARTNERS</a:t>
            </a:r>
            <a:endParaRPr lang="en-US" sz="950" dirty="0"/>
          </a:p>
        </p:txBody>
      </p:sp>
      <p:sp>
        <p:nvSpPr>
          <p:cNvPr id="26" name="Text 24"/>
          <p:cNvSpPr/>
          <p:nvPr/>
        </p:nvSpPr>
        <p:spPr>
          <a:xfrm>
            <a:off x="3749040" y="5038344"/>
            <a:ext cx="7772400" cy="402336"/>
          </a:xfrm>
          <a:prstGeom prst="rect">
            <a:avLst/>
          </a:prstGeom>
          <a:noFill/>
          <a:ln/>
        </p:spPr>
        <p:txBody>
          <a:bodyPr wrap="square" lIns="0" tIns="0" rIns="0" bIns="0" rtlCol="0" anchor="ctr"/>
          <a:lstStyle/>
          <a:p>
            <a:pPr indent="0" marL="0">
              <a:buNone/>
            </a:pPr>
            <a:r>
              <a:rPr lang="en-US" sz="1100" dirty="0">
                <a:solidFill>
                  <a:srgbClr val="F4ECDF"/>
                </a:solidFill>
                <a:latin typeface="Calibri" pitchFamily="34" charset="0"/>
                <a:ea typeface="Calibri" pitchFamily="34" charset="-122"/>
                <a:cs typeface="Calibri" pitchFamily="34" charset="-120"/>
              </a:rPr>
              <a:t>Enthusiastic support from some of the largest data center builders — HITT and Turner — alongside engineering partners Fast + Epp and Timber Engineering</a:t>
            </a:r>
            <a:endParaRPr lang="en-US" sz="1100" dirty="0"/>
          </a:p>
        </p:txBody>
      </p:sp>
      <p:sp>
        <p:nvSpPr>
          <p:cNvPr id="27" name="Text 25"/>
          <p:cNvSpPr/>
          <p:nvPr/>
        </p:nvSpPr>
        <p:spPr>
          <a:xfrm>
            <a:off x="502920" y="5760720"/>
            <a:ext cx="11155680" cy="274320"/>
          </a:xfrm>
          <a:prstGeom prst="rect">
            <a:avLst/>
          </a:prstGeom>
          <a:noFill/>
          <a:ln/>
        </p:spPr>
        <p:txBody>
          <a:bodyPr wrap="square" lIns="0" tIns="0" rIns="0" bIns="0" rtlCol="0" anchor="ctr"/>
          <a:lstStyle/>
          <a:p>
            <a:pPr indent="0" marL="0">
              <a:buNone/>
            </a:pPr>
            <a:r>
              <a:rPr lang="en-US" sz="900" i="1" dirty="0">
                <a:solidFill>
                  <a:srgbClr val="9D8D76"/>
                </a:solidFill>
                <a:latin typeface="Calibri" pitchFamily="34" charset="0"/>
                <a:ea typeface="Calibri" pitchFamily="34" charset="-122"/>
                <a:cs typeface="Calibri" pitchFamily="34" charset="-120"/>
              </a:rPr>
              <a:t>Engagement stages as reported by InventWood, September 2026. Customer names used with permission.</a:t>
            </a:r>
            <a:endParaRPr lang="en-US" sz="9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Customers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CUSTOMER PROFILE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Microsoft</a:t>
            </a:r>
            <a:pPr indent="0" marL="0">
              <a:buNone/>
            </a:pPr>
            <a:r>
              <a:rPr lang="en-US" sz="2000" i="1" dirty="0">
                <a:solidFill>
                  <a:srgbClr val="E2B877"/>
                </a:solidFill>
                <a:latin typeface="Georgia" pitchFamily="34" charset="0"/>
                <a:ea typeface="Georgia" pitchFamily="34" charset="-122"/>
                <a:cs typeface="Georgia" pitchFamily="34" charset="-120"/>
              </a:rPr>
              <a:t>  broad engagement</a:t>
            </a:r>
            <a:endParaRPr lang="en-US" sz="3200" dirty="0"/>
          </a:p>
        </p:txBody>
      </p:sp>
      <p:sp>
        <p:nvSpPr>
          <p:cNvPr id="6" name="Shape 4"/>
          <p:cNvSpPr/>
          <p:nvPr/>
        </p:nvSpPr>
        <p:spPr>
          <a:xfrm>
            <a:off x="502920" y="1783080"/>
            <a:ext cx="6675120" cy="960120"/>
          </a:xfrm>
          <a:prstGeom prst="roundRect">
            <a:avLst>
              <a:gd name="adj" fmla="val 8571"/>
            </a:avLst>
          </a:prstGeom>
          <a:solidFill>
            <a:srgbClr val="2E2113"/>
          </a:solidFill>
          <a:ln/>
        </p:spPr>
      </p:sp>
      <p:sp>
        <p:nvSpPr>
          <p:cNvPr id="7" name="Text 5"/>
          <p:cNvSpPr/>
          <p:nvPr/>
        </p:nvSpPr>
        <p:spPr>
          <a:xfrm>
            <a:off x="777240" y="1874520"/>
            <a:ext cx="6217920" cy="228600"/>
          </a:xfrm>
          <a:prstGeom prst="rect">
            <a:avLst/>
          </a:prstGeom>
          <a:noFill/>
          <a:ln/>
        </p:spPr>
        <p:txBody>
          <a:bodyPr wrap="square" lIns="0" tIns="0" rIns="0" bIns="0" rtlCol="0" anchor="ctr"/>
          <a:lstStyle/>
          <a:p>
            <a:pPr indent="0" marL="0">
              <a:buNone/>
            </a:pPr>
            <a:r>
              <a:rPr lang="en-US" sz="850" b="1" spc="150" kern="0" dirty="0">
                <a:solidFill>
                  <a:srgbClr val="CDA165"/>
                </a:solidFill>
                <a:latin typeface="Calibri" pitchFamily="34" charset="0"/>
                <a:ea typeface="Calibri" pitchFamily="34" charset="-122"/>
                <a:cs typeface="Calibri" pitchFamily="34" charset="-120"/>
              </a:rPr>
              <a:t>ON THE PUBLIC RECORD</a:t>
            </a:r>
            <a:endParaRPr lang="en-US" sz="850" dirty="0"/>
          </a:p>
        </p:txBody>
      </p:sp>
      <p:sp>
        <p:nvSpPr>
          <p:cNvPr id="8" name="Text 6"/>
          <p:cNvSpPr/>
          <p:nvPr/>
        </p:nvSpPr>
        <p:spPr>
          <a:xfrm>
            <a:off x="777240" y="2121408"/>
            <a:ext cx="6217920" cy="566928"/>
          </a:xfrm>
          <a:prstGeom prst="rect">
            <a:avLst/>
          </a:prstGeom>
          <a:noFill/>
          <a:ln/>
        </p:spPr>
        <p:txBody>
          <a:bodyPr wrap="square" lIns="0" tIns="0" rIns="0" bIns="0" rtlCol="0" anchor="t"/>
          <a:lstStyle/>
          <a:p>
            <a:pPr indent="0" marL="0">
              <a:buNone/>
            </a:pPr>
            <a:r>
              <a:rPr lang="en-US" sz="1050" dirty="0">
                <a:solidFill>
                  <a:srgbClr val="F4ECDF"/>
                </a:solidFill>
                <a:latin typeface="Calibri" pitchFamily="34" charset="0"/>
                <a:ea typeface="Calibri" pitchFamily="34" charset="-122"/>
                <a:cs typeface="Calibri" pitchFamily="34" charset="-120"/>
              </a:rPr>
              <a:t>Two Northern Virginia datacenters built with cross-laminated timber floor panels on a steel frame — an estimated 35% embodied-carbon reduction vs. conventional steel construction and 65% vs. precast concrete. Design by Gensler; structural engineering by Thornton Tomasetti.</a:t>
            </a:r>
            <a:endParaRPr lang="en-US" sz="1050" dirty="0"/>
          </a:p>
        </p:txBody>
      </p:sp>
      <p:sp>
        <p:nvSpPr>
          <p:cNvPr id="9" name="Text 7"/>
          <p:cNvSpPr/>
          <p:nvPr/>
        </p:nvSpPr>
        <p:spPr>
          <a:xfrm>
            <a:off x="502920" y="2926080"/>
            <a:ext cx="6675120" cy="256032"/>
          </a:xfrm>
          <a:prstGeom prst="rect">
            <a:avLst/>
          </a:prstGeom>
          <a:noFill/>
          <a:ln/>
        </p:spPr>
        <p:txBody>
          <a:bodyPr wrap="square" lIns="0" tIns="0" rIns="0" bIns="0" rtlCol="0" anchor="ctr"/>
          <a:lstStyle/>
          <a:p>
            <a:pPr indent="0" marL="0">
              <a:buNone/>
            </a:pPr>
            <a:r>
              <a:rPr lang="en-US" sz="1000" b="1" spc="200" kern="0" dirty="0">
                <a:solidFill>
                  <a:srgbClr val="CDA165"/>
                </a:solidFill>
                <a:latin typeface="Calibri" pitchFamily="34" charset="0"/>
                <a:ea typeface="Calibri" pitchFamily="34" charset="-122"/>
                <a:cs typeface="Calibri" pitchFamily="34" charset="-120"/>
              </a:rPr>
              <a:t>WORKING WITH INVENTWOOD</a:t>
            </a:r>
            <a:endParaRPr lang="en-US" sz="1000" dirty="0"/>
          </a:p>
        </p:txBody>
      </p:sp>
      <p:sp>
        <p:nvSpPr>
          <p:cNvPr id="10" name="Shape 8"/>
          <p:cNvSpPr/>
          <p:nvPr/>
        </p:nvSpPr>
        <p:spPr>
          <a:xfrm>
            <a:off x="530352" y="3346704"/>
            <a:ext cx="128016" cy="128016"/>
          </a:xfrm>
          <a:prstGeom prst="ellipse">
            <a:avLst/>
          </a:prstGeom>
          <a:solidFill>
            <a:srgbClr val="E2B877"/>
          </a:solidFill>
          <a:ln/>
        </p:spPr>
      </p:sp>
      <p:sp>
        <p:nvSpPr>
          <p:cNvPr id="11" name="Text 9"/>
          <p:cNvSpPr/>
          <p:nvPr/>
        </p:nvSpPr>
        <p:spPr>
          <a:xfrm>
            <a:off x="868680" y="3273552"/>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Strategic interest</a:t>
            </a:r>
            <a:endParaRPr lang="en-US" sz="1300" dirty="0"/>
          </a:p>
        </p:txBody>
      </p:sp>
      <p:sp>
        <p:nvSpPr>
          <p:cNvPr id="12" name="Text 10"/>
          <p:cNvSpPr/>
          <p:nvPr/>
        </p:nvSpPr>
        <p:spPr>
          <a:xfrm>
            <a:off x="868680" y="3575304"/>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Incorporating SUPERWOOD into the basis of design for future data centers</a:t>
            </a:r>
            <a:endParaRPr lang="en-US" sz="1050" dirty="0"/>
          </a:p>
        </p:txBody>
      </p:sp>
      <p:sp>
        <p:nvSpPr>
          <p:cNvPr id="13" name="Shape 11"/>
          <p:cNvSpPr/>
          <p:nvPr/>
        </p:nvSpPr>
        <p:spPr>
          <a:xfrm>
            <a:off x="530352" y="4096512"/>
            <a:ext cx="128016" cy="128016"/>
          </a:xfrm>
          <a:prstGeom prst="ellipse">
            <a:avLst/>
          </a:prstGeom>
          <a:solidFill>
            <a:srgbClr val="E2B877"/>
          </a:solidFill>
          <a:ln/>
        </p:spPr>
      </p:sp>
      <p:sp>
        <p:nvSpPr>
          <p:cNvPr id="14" name="Text 12"/>
          <p:cNvSpPr/>
          <p:nvPr/>
        </p:nvSpPr>
        <p:spPr>
          <a:xfrm>
            <a:off x="868680" y="4023360"/>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Application areas</a:t>
            </a:r>
            <a:endParaRPr lang="en-US" sz="1300" dirty="0"/>
          </a:p>
        </p:txBody>
      </p:sp>
      <p:sp>
        <p:nvSpPr>
          <p:cNvPr id="15" name="Text 13"/>
          <p:cNvSpPr/>
          <p:nvPr/>
        </p:nvSpPr>
        <p:spPr>
          <a:xfrm>
            <a:off x="868680" y="4325112"/>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Roof trusses, leading to roofs and fast-to-build building enclosures — developed with their principal architecture and engineering firms</a:t>
            </a:r>
            <a:endParaRPr lang="en-US" sz="1050" dirty="0"/>
          </a:p>
        </p:txBody>
      </p:sp>
      <p:sp>
        <p:nvSpPr>
          <p:cNvPr id="16" name="Shape 14"/>
          <p:cNvSpPr/>
          <p:nvPr/>
        </p:nvSpPr>
        <p:spPr>
          <a:xfrm>
            <a:off x="530352" y="4846320"/>
            <a:ext cx="128016" cy="128016"/>
          </a:xfrm>
          <a:prstGeom prst="ellipse">
            <a:avLst/>
          </a:prstGeom>
          <a:solidFill>
            <a:srgbClr val="E2B877"/>
          </a:solidFill>
          <a:ln/>
        </p:spPr>
      </p:sp>
      <p:sp>
        <p:nvSpPr>
          <p:cNvPr id="17" name="Text 15"/>
          <p:cNvSpPr/>
          <p:nvPr/>
        </p:nvSpPr>
        <p:spPr>
          <a:xfrm>
            <a:off x="868680" y="4773168"/>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Immediate deployment opportunities</a:t>
            </a:r>
            <a:endParaRPr lang="en-US" sz="1300" dirty="0"/>
          </a:p>
        </p:txBody>
      </p:sp>
      <p:sp>
        <p:nvSpPr>
          <p:cNvPr id="18" name="Text 16"/>
          <p:cNvSpPr/>
          <p:nvPr/>
        </p:nvSpPr>
        <p:spPr>
          <a:xfrm>
            <a:off x="868680" y="5074920"/>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Building facades · biophilic interiors for office spaces · fencing for staff outdoor spaces · security fencing around critical outdoor infrastructure such as transformers</a:t>
            </a:r>
            <a:endParaRPr lang="en-US" sz="1050" dirty="0"/>
          </a:p>
        </p:txBody>
      </p:sp>
      <p:pic>
        <p:nvPicPr>
          <p:cNvPr id="19" name="Image 0" descr="prep/tiles/tile_fence_security.jpg">    </p:cNvPr>
          <p:cNvPicPr>
            <a:picLocks noChangeAspect="1"/>
          </p:cNvPicPr>
          <p:nvPr/>
        </p:nvPicPr>
        <p:blipFill>
          <a:blip r:embed="rId1"/>
          <a:srcRect l="0" r="0" t="0" b="0"/>
          <a:stretch/>
        </p:blipFill>
        <p:spPr>
          <a:xfrm>
            <a:off x="7635240" y="1783080"/>
            <a:ext cx="4023360" cy="4023360"/>
          </a:xfrm>
          <a:prstGeom prst="rect">
            <a:avLst/>
          </a:prstGeom>
        </p:spPr>
      </p:pic>
      <p:sp>
        <p:nvSpPr>
          <p:cNvPr id="20" name="Text 17"/>
          <p:cNvSpPr/>
          <p:nvPr/>
        </p:nvSpPr>
        <p:spPr>
          <a:xfrm>
            <a:off x="7635240" y="5852160"/>
            <a:ext cx="4023360" cy="365760"/>
          </a:xfrm>
          <a:prstGeom prst="rect">
            <a:avLst/>
          </a:prstGeom>
          <a:noFill/>
          <a:ln/>
        </p:spPr>
        <p:txBody>
          <a:bodyPr wrap="square" lIns="0" tIns="0" rIns="0" bIns="0" rtlCol="0" anchor="ctr"/>
          <a:lstStyle/>
          <a:p>
            <a:pPr indent="0" marL="0">
              <a:buNone/>
            </a:pPr>
            <a:r>
              <a:rPr lang="en-US" sz="950" i="1" dirty="0">
                <a:solidFill>
                  <a:srgbClr val="9D8D76"/>
                </a:solidFill>
                <a:latin typeface="Calibri" pitchFamily="34" charset="0"/>
                <a:ea typeface="Calibri" pitchFamily="34" charset="-122"/>
                <a:cs typeface="Calibri" pitchFamily="34" charset="-120"/>
              </a:rPr>
              <a:t>Concept rendering — SUPERWOOD security fencing around a transformer yard.</a:t>
            </a:r>
            <a:endParaRPr lang="en-US" sz="950" dirty="0"/>
          </a:p>
        </p:txBody>
      </p:sp>
      <p:sp>
        <p:nvSpPr>
          <p:cNvPr id="21" name="Text 18"/>
          <p:cNvSpPr/>
          <p:nvPr/>
        </p:nvSpPr>
        <p:spPr>
          <a:xfrm>
            <a:off x="502920" y="6172200"/>
            <a:ext cx="6858000" cy="274320"/>
          </a:xfrm>
          <a:prstGeom prst="rect">
            <a:avLst/>
          </a:prstGeom>
          <a:noFill/>
          <a:ln/>
        </p:spPr>
        <p:txBody>
          <a:bodyPr wrap="square" lIns="0" tIns="0" rIns="0" bIns="0" rtlCol="0" anchor="ctr"/>
          <a:lstStyle/>
          <a:p>
            <a:pPr indent="0" marL="0">
              <a:buNone/>
            </a:pPr>
            <a:r>
              <a:rPr lang="en-US" sz="850" i="1" dirty="0">
                <a:solidFill>
                  <a:srgbClr val="9D8D76"/>
                </a:solidFill>
                <a:latin typeface="Calibri" pitchFamily="34" charset="0"/>
                <a:ea typeface="Calibri" pitchFamily="34" charset="-122"/>
                <a:cs typeface="Calibri" pitchFamily="34" charset="-120"/>
              </a:rPr>
              <a:t>Source: Microsoft Source, “Microsoft builds first datacenters with wood to slash carbon emissions,” Nov 2024; Thornton Tomasetti project page.</a:t>
            </a:r>
            <a:endParaRPr lang="en-US" sz="8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Customers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CUSTOMER PROFILE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Meta</a:t>
            </a:r>
            <a:pPr indent="0" marL="0">
              <a:buNone/>
            </a:pPr>
            <a:r>
              <a:rPr lang="en-US" sz="2000" i="1" dirty="0">
                <a:solidFill>
                  <a:srgbClr val="E2B877"/>
                </a:solidFill>
                <a:latin typeface="Georgia" pitchFamily="34" charset="0"/>
                <a:ea typeface="Georgia" pitchFamily="34" charset="-122"/>
                <a:cs typeface="Georgia" pitchFamily="34" charset="-120"/>
              </a:rPr>
              <a:t>  engaged for over a year</a:t>
            </a:r>
            <a:endParaRPr lang="en-US" sz="3200" dirty="0"/>
          </a:p>
        </p:txBody>
      </p:sp>
      <p:sp>
        <p:nvSpPr>
          <p:cNvPr id="6" name="Shape 4"/>
          <p:cNvSpPr/>
          <p:nvPr/>
        </p:nvSpPr>
        <p:spPr>
          <a:xfrm>
            <a:off x="502920" y="1783080"/>
            <a:ext cx="6675120" cy="960120"/>
          </a:xfrm>
          <a:prstGeom prst="roundRect">
            <a:avLst>
              <a:gd name="adj" fmla="val 8571"/>
            </a:avLst>
          </a:prstGeom>
          <a:solidFill>
            <a:srgbClr val="2E2113"/>
          </a:solidFill>
          <a:ln/>
        </p:spPr>
      </p:sp>
      <p:sp>
        <p:nvSpPr>
          <p:cNvPr id="7" name="Text 5"/>
          <p:cNvSpPr/>
          <p:nvPr/>
        </p:nvSpPr>
        <p:spPr>
          <a:xfrm>
            <a:off x="777240" y="1874520"/>
            <a:ext cx="6217920" cy="228600"/>
          </a:xfrm>
          <a:prstGeom prst="rect">
            <a:avLst/>
          </a:prstGeom>
          <a:noFill/>
          <a:ln/>
        </p:spPr>
        <p:txBody>
          <a:bodyPr wrap="square" lIns="0" tIns="0" rIns="0" bIns="0" rtlCol="0" anchor="ctr"/>
          <a:lstStyle/>
          <a:p>
            <a:pPr indent="0" marL="0">
              <a:buNone/>
            </a:pPr>
            <a:r>
              <a:rPr lang="en-US" sz="850" b="1" spc="150" kern="0" dirty="0">
                <a:solidFill>
                  <a:srgbClr val="CDA165"/>
                </a:solidFill>
                <a:latin typeface="Calibri" pitchFamily="34" charset="0"/>
                <a:ea typeface="Calibri" pitchFamily="34" charset="-122"/>
                <a:cs typeface="Calibri" pitchFamily="34" charset="-120"/>
              </a:rPr>
              <a:t>ON THE PUBLIC RECORD</a:t>
            </a:r>
            <a:endParaRPr lang="en-US" sz="850" dirty="0"/>
          </a:p>
        </p:txBody>
      </p:sp>
      <p:sp>
        <p:nvSpPr>
          <p:cNvPr id="8" name="Text 6"/>
          <p:cNvSpPr/>
          <p:nvPr/>
        </p:nvSpPr>
        <p:spPr>
          <a:xfrm>
            <a:off x="777240" y="2121408"/>
            <a:ext cx="6217920" cy="566928"/>
          </a:xfrm>
          <a:prstGeom prst="rect">
            <a:avLst/>
          </a:prstGeom>
          <a:noFill/>
          <a:ln/>
        </p:spPr>
        <p:txBody>
          <a:bodyPr wrap="square" lIns="0" tIns="0" rIns="0" bIns="0" rtlCol="0" anchor="t"/>
          <a:lstStyle/>
          <a:p>
            <a:pPr indent="0" marL="0">
              <a:buNone/>
            </a:pPr>
            <a:r>
              <a:rPr lang="en-US" sz="1050" dirty="0">
                <a:solidFill>
                  <a:srgbClr val="F4ECDF"/>
                </a:solidFill>
                <a:latin typeface="Calibri" pitchFamily="34" charset="0"/>
                <a:ea typeface="Calibri" pitchFamily="34" charset="-122"/>
                <a:cs typeface="Calibri" pitchFamily="34" charset="-120"/>
              </a:rPr>
              <a:t>Piloting mass timber for data center administrative buildings: first completed in 2025 at Aiken, South Carolina (DPR, SmartLam), with projects under way in Cheyenne, Wyoming and Montgomery, Alabama — about a 41% reduction in the embodied carbon of the materials substituted.</a:t>
            </a:r>
            <a:endParaRPr lang="en-US" sz="1050" dirty="0"/>
          </a:p>
        </p:txBody>
      </p:sp>
      <p:sp>
        <p:nvSpPr>
          <p:cNvPr id="9" name="Text 7"/>
          <p:cNvSpPr/>
          <p:nvPr/>
        </p:nvSpPr>
        <p:spPr>
          <a:xfrm>
            <a:off x="502920" y="2926080"/>
            <a:ext cx="6675120" cy="256032"/>
          </a:xfrm>
          <a:prstGeom prst="rect">
            <a:avLst/>
          </a:prstGeom>
          <a:noFill/>
          <a:ln/>
        </p:spPr>
        <p:txBody>
          <a:bodyPr wrap="square" lIns="0" tIns="0" rIns="0" bIns="0" rtlCol="0" anchor="ctr"/>
          <a:lstStyle/>
          <a:p>
            <a:pPr indent="0" marL="0">
              <a:buNone/>
            </a:pPr>
            <a:r>
              <a:rPr lang="en-US" sz="1000" b="1" spc="200" kern="0" dirty="0">
                <a:solidFill>
                  <a:srgbClr val="CDA165"/>
                </a:solidFill>
                <a:latin typeface="Calibri" pitchFamily="34" charset="0"/>
                <a:ea typeface="Calibri" pitchFamily="34" charset="-122"/>
                <a:cs typeface="Calibri" pitchFamily="34" charset="-120"/>
              </a:rPr>
              <a:t>WORKING WITH INVENTWOOD</a:t>
            </a:r>
            <a:endParaRPr lang="en-US" sz="1000" dirty="0"/>
          </a:p>
        </p:txBody>
      </p:sp>
      <p:sp>
        <p:nvSpPr>
          <p:cNvPr id="10" name="Shape 8"/>
          <p:cNvSpPr/>
          <p:nvPr/>
        </p:nvSpPr>
        <p:spPr>
          <a:xfrm>
            <a:off x="530352" y="3346704"/>
            <a:ext cx="128016" cy="128016"/>
          </a:xfrm>
          <a:prstGeom prst="ellipse">
            <a:avLst/>
          </a:prstGeom>
          <a:solidFill>
            <a:srgbClr val="E2B877"/>
          </a:solidFill>
          <a:ln/>
        </p:spPr>
      </p:sp>
      <p:sp>
        <p:nvSpPr>
          <p:cNvPr id="11" name="Text 9"/>
          <p:cNvSpPr/>
          <p:nvPr/>
        </p:nvSpPr>
        <p:spPr>
          <a:xfrm>
            <a:off x="868680" y="3273552"/>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Broad engagement across every part of the data center ecosystem</a:t>
            </a:r>
            <a:endParaRPr lang="en-US" sz="1300" dirty="0"/>
          </a:p>
        </p:txBody>
      </p:sp>
      <p:sp>
        <p:nvSpPr>
          <p:cNvPr id="12" name="Text 10"/>
          <p:cNvSpPr/>
          <p:nvPr/>
        </p:nvSpPr>
        <p:spPr>
          <a:xfrm>
            <a:off x="868680" y="3575304"/>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Conversations running for more than a year</a:t>
            </a:r>
            <a:endParaRPr lang="en-US" sz="1050" dirty="0"/>
          </a:p>
        </p:txBody>
      </p:sp>
      <p:sp>
        <p:nvSpPr>
          <p:cNvPr id="13" name="Shape 11"/>
          <p:cNvSpPr/>
          <p:nvPr/>
        </p:nvSpPr>
        <p:spPr>
          <a:xfrm>
            <a:off x="530352" y="4096512"/>
            <a:ext cx="128016" cy="128016"/>
          </a:xfrm>
          <a:prstGeom prst="ellipse">
            <a:avLst/>
          </a:prstGeom>
          <a:solidFill>
            <a:srgbClr val="E2B877"/>
          </a:solidFill>
          <a:ln/>
        </p:spPr>
      </p:sp>
      <p:sp>
        <p:nvSpPr>
          <p:cNvPr id="14" name="Text 12"/>
          <p:cNvSpPr/>
          <p:nvPr/>
        </p:nvSpPr>
        <p:spPr>
          <a:xfrm>
            <a:off x="868680" y="4023360"/>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Facade applications and backplanes under way</a:t>
            </a:r>
            <a:endParaRPr lang="en-US" sz="1300" dirty="0"/>
          </a:p>
        </p:txBody>
      </p:sp>
      <p:sp>
        <p:nvSpPr>
          <p:cNvPr id="15" name="Text 13"/>
          <p:cNvSpPr/>
          <p:nvPr/>
        </p:nvSpPr>
        <p:spPr>
          <a:xfrm>
            <a:off x="868680" y="4325112"/>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Backplane certification path: UL 94 (yellow card)</a:t>
            </a:r>
            <a:endParaRPr lang="en-US" sz="1050" dirty="0"/>
          </a:p>
        </p:txBody>
      </p:sp>
      <p:sp>
        <p:nvSpPr>
          <p:cNvPr id="16" name="Shape 14"/>
          <p:cNvSpPr/>
          <p:nvPr/>
        </p:nvSpPr>
        <p:spPr>
          <a:xfrm>
            <a:off x="530352" y="4846320"/>
            <a:ext cx="128016" cy="128016"/>
          </a:xfrm>
          <a:prstGeom prst="ellipse">
            <a:avLst/>
          </a:prstGeom>
          <a:solidFill>
            <a:srgbClr val="E2B877"/>
          </a:solidFill>
          <a:ln/>
        </p:spPr>
      </p:sp>
      <p:sp>
        <p:nvSpPr>
          <p:cNvPr id="17" name="Text 15"/>
          <p:cNvSpPr/>
          <p:nvPr/>
        </p:nvSpPr>
        <p:spPr>
          <a:xfrm>
            <a:off x="868680" y="4773168"/>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Structural applications and racking next</a:t>
            </a:r>
            <a:endParaRPr lang="en-US" sz="1300" dirty="0"/>
          </a:p>
        </p:txBody>
      </p:sp>
      <p:sp>
        <p:nvSpPr>
          <p:cNvPr id="18" name="Text 16"/>
          <p:cNvSpPr/>
          <p:nvPr/>
        </p:nvSpPr>
        <p:spPr>
          <a:xfrm>
            <a:off x="868680" y="5074920"/>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The plan is to move from skins into structure and racking over time</a:t>
            </a:r>
            <a:endParaRPr lang="en-US" sz="1050" dirty="0"/>
          </a:p>
        </p:txBody>
      </p:sp>
      <p:pic>
        <p:nvPicPr>
          <p:cNvPr id="19" name="Image 0" descr="prep/tiles/tile_backplane.jpg">    </p:cNvPr>
          <p:cNvPicPr>
            <a:picLocks noChangeAspect="1"/>
          </p:cNvPicPr>
          <p:nvPr/>
        </p:nvPicPr>
        <p:blipFill>
          <a:blip r:embed="rId1"/>
          <a:srcRect l="0" r="0" t="0" b="0"/>
          <a:stretch/>
        </p:blipFill>
        <p:spPr>
          <a:xfrm>
            <a:off x="7635240" y="1783080"/>
            <a:ext cx="4023360" cy="4023360"/>
          </a:xfrm>
          <a:prstGeom prst="rect">
            <a:avLst/>
          </a:prstGeom>
        </p:spPr>
      </p:pic>
      <p:sp>
        <p:nvSpPr>
          <p:cNvPr id="20" name="Text 17"/>
          <p:cNvSpPr/>
          <p:nvPr/>
        </p:nvSpPr>
        <p:spPr>
          <a:xfrm>
            <a:off x="7635240" y="5852160"/>
            <a:ext cx="4023360" cy="365760"/>
          </a:xfrm>
          <a:prstGeom prst="rect">
            <a:avLst/>
          </a:prstGeom>
          <a:noFill/>
          <a:ln/>
        </p:spPr>
        <p:txBody>
          <a:bodyPr wrap="square" lIns="0" tIns="0" rIns="0" bIns="0" rtlCol="0" anchor="ctr"/>
          <a:lstStyle/>
          <a:p>
            <a:pPr indent="0" marL="0">
              <a:buNone/>
            </a:pPr>
            <a:r>
              <a:rPr lang="en-US" sz="950" i="1" dirty="0">
                <a:solidFill>
                  <a:srgbClr val="9D8D76"/>
                </a:solidFill>
                <a:latin typeface="Calibri" pitchFamily="34" charset="0"/>
                <a:ea typeface="Calibri" pitchFamily="34" charset="-122"/>
                <a:cs typeface="Calibri" pitchFamily="34" charset="-120"/>
              </a:rPr>
              <a:t>Concept rendering — SUPERWOOD equipment backplane in an electrical room.</a:t>
            </a:r>
            <a:endParaRPr lang="en-US" sz="950" dirty="0"/>
          </a:p>
        </p:txBody>
      </p:sp>
      <p:sp>
        <p:nvSpPr>
          <p:cNvPr id="21" name="Text 18"/>
          <p:cNvSpPr/>
          <p:nvPr/>
        </p:nvSpPr>
        <p:spPr>
          <a:xfrm>
            <a:off x="502920" y="6172200"/>
            <a:ext cx="6858000" cy="274320"/>
          </a:xfrm>
          <a:prstGeom prst="rect">
            <a:avLst/>
          </a:prstGeom>
          <a:noFill/>
          <a:ln/>
        </p:spPr>
        <p:txBody>
          <a:bodyPr wrap="square" lIns="0" tIns="0" rIns="0" bIns="0" rtlCol="0" anchor="ctr"/>
          <a:lstStyle/>
          <a:p>
            <a:pPr indent="0" marL="0">
              <a:buNone/>
            </a:pPr>
            <a:r>
              <a:rPr lang="en-US" sz="850" i="1" dirty="0">
                <a:solidFill>
                  <a:srgbClr val="9D8D76"/>
                </a:solidFill>
                <a:latin typeface="Calibri" pitchFamily="34" charset="0"/>
                <a:ea typeface="Calibri" pitchFamily="34" charset="-122"/>
                <a:cs typeface="Calibri" pitchFamily="34" charset="-120"/>
              </a:rPr>
              <a:t>Source: Meta Sustainability, “Meta pilots mass timber for more sustainable data center construction,” 31 Jul 2025.</a:t>
            </a:r>
            <a:endParaRPr lang="en-US" sz="8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Customers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CUSTOMER PROFILE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Google</a:t>
            </a:r>
            <a:pPr indent="0" marL="0">
              <a:buNone/>
            </a:pPr>
            <a:r>
              <a:rPr lang="en-US" sz="2000" i="1" dirty="0">
                <a:solidFill>
                  <a:srgbClr val="E2B877"/>
                </a:solidFill>
                <a:latin typeface="Georgia" pitchFamily="34" charset="0"/>
                <a:ea typeface="Georgia" pitchFamily="34" charset="-122"/>
                <a:cs typeface="Georgia" pitchFamily="34" charset="-120"/>
              </a:rPr>
              <a:t>  engagement just begun</a:t>
            </a:r>
            <a:endParaRPr lang="en-US" sz="3200" dirty="0"/>
          </a:p>
        </p:txBody>
      </p:sp>
      <p:sp>
        <p:nvSpPr>
          <p:cNvPr id="6" name="Text 4"/>
          <p:cNvSpPr/>
          <p:nvPr/>
        </p:nvSpPr>
        <p:spPr>
          <a:xfrm>
            <a:off x="502920" y="1783080"/>
            <a:ext cx="6675120" cy="256032"/>
          </a:xfrm>
          <a:prstGeom prst="rect">
            <a:avLst/>
          </a:prstGeom>
          <a:noFill/>
          <a:ln/>
        </p:spPr>
        <p:txBody>
          <a:bodyPr wrap="square" lIns="0" tIns="0" rIns="0" bIns="0" rtlCol="0" anchor="ctr"/>
          <a:lstStyle/>
          <a:p>
            <a:pPr indent="0" marL="0">
              <a:buNone/>
            </a:pPr>
            <a:r>
              <a:rPr lang="en-US" sz="1000" b="1" spc="200" kern="0" dirty="0">
                <a:solidFill>
                  <a:srgbClr val="CDA165"/>
                </a:solidFill>
                <a:latin typeface="Calibri" pitchFamily="34" charset="0"/>
                <a:ea typeface="Calibri" pitchFamily="34" charset="-122"/>
                <a:cs typeface="Calibri" pitchFamily="34" charset="-120"/>
              </a:rPr>
              <a:t>WORKING WITH INVENTWOOD</a:t>
            </a:r>
            <a:endParaRPr lang="en-US" sz="1000" dirty="0"/>
          </a:p>
        </p:txBody>
      </p:sp>
      <p:sp>
        <p:nvSpPr>
          <p:cNvPr id="7" name="Shape 5"/>
          <p:cNvSpPr/>
          <p:nvPr/>
        </p:nvSpPr>
        <p:spPr>
          <a:xfrm>
            <a:off x="530352" y="2221992"/>
            <a:ext cx="128016" cy="128016"/>
          </a:xfrm>
          <a:prstGeom prst="ellipse">
            <a:avLst/>
          </a:prstGeom>
          <a:solidFill>
            <a:srgbClr val="E2B877"/>
          </a:solidFill>
          <a:ln/>
        </p:spPr>
      </p:sp>
      <p:sp>
        <p:nvSpPr>
          <p:cNvPr id="8" name="Text 6"/>
          <p:cNvSpPr/>
          <p:nvPr/>
        </p:nvSpPr>
        <p:spPr>
          <a:xfrm>
            <a:off x="868680" y="2148840"/>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Initial focus: replacement of structural steel</a:t>
            </a:r>
            <a:endParaRPr lang="en-US" sz="1300" dirty="0"/>
          </a:p>
        </p:txBody>
      </p:sp>
      <p:sp>
        <p:nvSpPr>
          <p:cNvPr id="9" name="Text 7"/>
          <p:cNvSpPr/>
          <p:nvPr/>
        </p:nvSpPr>
        <p:spPr>
          <a:xfrm>
            <a:off x="868680" y="2450592"/>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The structural-steel conversation starts at the qualification pathway — trusses first (no fire-resistance requirement), then assemblies</a:t>
            </a:r>
            <a:endParaRPr lang="en-US" sz="1050" dirty="0"/>
          </a:p>
        </p:txBody>
      </p:sp>
      <p:sp>
        <p:nvSpPr>
          <p:cNvPr id="10" name="Shape 8"/>
          <p:cNvSpPr/>
          <p:nvPr/>
        </p:nvSpPr>
        <p:spPr>
          <a:xfrm>
            <a:off x="530352" y="2971800"/>
            <a:ext cx="128016" cy="128016"/>
          </a:xfrm>
          <a:prstGeom prst="ellipse">
            <a:avLst/>
          </a:prstGeom>
          <a:solidFill>
            <a:srgbClr val="E2B877"/>
          </a:solidFill>
          <a:ln/>
        </p:spPr>
      </p:sp>
      <p:sp>
        <p:nvSpPr>
          <p:cNvPr id="11" name="Text 9"/>
          <p:cNvSpPr/>
          <p:nvPr/>
        </p:nvSpPr>
        <p:spPr>
          <a:xfrm>
            <a:off x="868680" y="2898648"/>
            <a:ext cx="63093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Early stage</a:t>
            </a:r>
            <a:endParaRPr lang="en-US" sz="1300" dirty="0"/>
          </a:p>
        </p:txBody>
      </p:sp>
      <p:sp>
        <p:nvSpPr>
          <p:cNvPr id="12" name="Text 10"/>
          <p:cNvSpPr/>
          <p:nvPr/>
        </p:nvSpPr>
        <p:spPr>
          <a:xfrm>
            <a:off x="868680" y="3200400"/>
            <a:ext cx="6309360" cy="438912"/>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Scope and timeline to be defined with their design teams</a:t>
            </a:r>
            <a:endParaRPr lang="en-US" sz="10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Customers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CUSTOMERS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200" dirty="0">
                <a:solidFill>
                  <a:srgbClr val="F4ECDF"/>
                </a:solidFill>
                <a:latin typeface="Georgia" pitchFamily="34" charset="0"/>
                <a:ea typeface="Georgia" pitchFamily="34" charset="-122"/>
                <a:cs typeface="Georgia" pitchFamily="34" charset="-120"/>
              </a:rPr>
              <a:t>A concrete path to first projects</a:t>
            </a:r>
            <a:endParaRPr lang="en-US" sz="3200" dirty="0"/>
          </a:p>
        </p:txBody>
      </p:sp>
      <p:sp>
        <p:nvSpPr>
          <p:cNvPr id="6" name="Text 4"/>
          <p:cNvSpPr/>
          <p:nvPr/>
        </p:nvSpPr>
        <p:spPr>
          <a:xfrm>
            <a:off x="502920" y="196596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1</a:t>
            </a:r>
            <a:endParaRPr lang="en-US" sz="2600" dirty="0"/>
          </a:p>
        </p:txBody>
      </p:sp>
      <p:sp>
        <p:nvSpPr>
          <p:cNvPr id="7" name="Text 5"/>
          <p:cNvSpPr/>
          <p:nvPr/>
        </p:nvSpPr>
        <p:spPr>
          <a:xfrm>
            <a:off x="1280160" y="1965960"/>
            <a:ext cx="6675120" cy="365760"/>
          </a:xfrm>
          <a:prstGeom prst="rect">
            <a:avLst/>
          </a:prstGeom>
          <a:noFill/>
          <a:ln/>
        </p:spPr>
        <p:txBody>
          <a:bodyPr wrap="square" lIns="0" tIns="0" rIns="0" bIns="0" rtlCol="0" anchor="ctr"/>
          <a:lstStyle/>
          <a:p>
            <a:pPr indent="0" marL="0">
              <a:buNone/>
            </a:pPr>
            <a:r>
              <a:rPr lang="en-US" sz="1600" b="1" dirty="0">
                <a:solidFill>
                  <a:srgbClr val="F4ECDF"/>
                </a:solidFill>
                <a:latin typeface="Calibri" pitchFamily="34" charset="0"/>
                <a:ea typeface="Calibri" pitchFamily="34" charset="-122"/>
                <a:cs typeface="Calibri" pitchFamily="34" charset="-120"/>
              </a:rPr>
              <a:t>Skins on one building or yard</a:t>
            </a:r>
            <a:endParaRPr lang="en-US" sz="1600" dirty="0"/>
          </a:p>
        </p:txBody>
      </p:sp>
      <p:sp>
        <p:nvSpPr>
          <p:cNvPr id="8" name="Text 6"/>
          <p:cNvSpPr/>
          <p:nvPr/>
        </p:nvSpPr>
        <p:spPr>
          <a:xfrm>
            <a:off x="1280160" y="2350008"/>
            <a:ext cx="6675120" cy="548640"/>
          </a:xfrm>
          <a:prstGeom prst="rect">
            <a:avLst/>
          </a:prstGeom>
          <a:noFill/>
          <a:ln/>
        </p:spPr>
        <p:txBody>
          <a:bodyPr wrap="square" lIns="0" tIns="0" rIns="0" bIns="0" rtlCol="0" anchor="ctr"/>
          <a:lstStyle/>
          <a:p>
            <a:pPr indent="0" marL="0">
              <a:buNone/>
            </a:pPr>
            <a:r>
              <a:rPr lang="en-US" sz="1100" dirty="0">
                <a:solidFill>
                  <a:srgbClr val="9D8D76"/>
                </a:solidFill>
                <a:latin typeface="Calibri" pitchFamily="34" charset="0"/>
                <a:ea typeface="Calibri" pitchFamily="34" charset="-122"/>
                <a:cs typeface="Calibri" pitchFamily="34" charset="-120"/>
              </a:rPr>
              <a:t>Facades, interiors, louvers, staff-area or security fencing — installed from SuperMill One output, on a friendly site</a:t>
            </a:r>
            <a:endParaRPr lang="en-US" sz="1100" dirty="0"/>
          </a:p>
        </p:txBody>
      </p:sp>
      <p:sp>
        <p:nvSpPr>
          <p:cNvPr id="9" name="Text 7"/>
          <p:cNvSpPr/>
          <p:nvPr/>
        </p:nvSpPr>
        <p:spPr>
          <a:xfrm>
            <a:off x="502920" y="301752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2</a:t>
            </a:r>
            <a:endParaRPr lang="en-US" sz="2600" dirty="0"/>
          </a:p>
        </p:txBody>
      </p:sp>
      <p:sp>
        <p:nvSpPr>
          <p:cNvPr id="10" name="Text 8"/>
          <p:cNvSpPr/>
          <p:nvPr/>
        </p:nvSpPr>
        <p:spPr>
          <a:xfrm>
            <a:off x="1280160" y="3017520"/>
            <a:ext cx="6675120" cy="365760"/>
          </a:xfrm>
          <a:prstGeom prst="rect">
            <a:avLst/>
          </a:prstGeom>
          <a:noFill/>
          <a:ln/>
        </p:spPr>
        <p:txBody>
          <a:bodyPr wrap="square" lIns="0" tIns="0" rIns="0" bIns="0" rtlCol="0" anchor="ctr"/>
          <a:lstStyle/>
          <a:p>
            <a:pPr indent="0" marL="0">
              <a:buNone/>
            </a:pPr>
            <a:r>
              <a:rPr lang="en-US" sz="1600" b="1" dirty="0">
                <a:solidFill>
                  <a:srgbClr val="F4ECDF"/>
                </a:solidFill>
                <a:latin typeface="Calibri" pitchFamily="34" charset="0"/>
                <a:ea typeface="Calibri" pitchFamily="34" charset="-122"/>
                <a:cs typeface="Calibri" pitchFamily="34" charset="-120"/>
              </a:rPr>
              <a:t>Testing toward the standard the application needs</a:t>
            </a:r>
            <a:endParaRPr lang="en-US" sz="1600" dirty="0"/>
          </a:p>
        </p:txBody>
      </p:sp>
      <p:sp>
        <p:nvSpPr>
          <p:cNvPr id="11" name="Text 9"/>
          <p:cNvSpPr/>
          <p:nvPr/>
        </p:nvSpPr>
        <p:spPr>
          <a:xfrm>
            <a:off x="1280160" y="3401568"/>
            <a:ext cx="6675120" cy="548640"/>
          </a:xfrm>
          <a:prstGeom prst="rect">
            <a:avLst/>
          </a:prstGeom>
          <a:noFill/>
          <a:ln/>
        </p:spPr>
        <p:txBody>
          <a:bodyPr wrap="square" lIns="0" tIns="0" rIns="0" bIns="0" rtlCol="0" anchor="ctr"/>
          <a:lstStyle/>
          <a:p>
            <a:pPr indent="0" marL="0">
              <a:buNone/>
            </a:pPr>
            <a:r>
              <a:rPr lang="en-US" sz="1100" dirty="0">
                <a:solidFill>
                  <a:srgbClr val="9D8D76"/>
                </a:solidFill>
                <a:latin typeface="Calibri" pitchFamily="34" charset="0"/>
                <a:ea typeface="Calibri" pitchFamily="34" charset="-122"/>
                <a:cs typeface="Calibri" pitchFamily="34" charset="-120"/>
              </a:rPr>
              <a:t>UL 94 for backplanes, STC/OITC for barriers, E119 and NFPA 285 for assemblies — scoped and co-funded with the customer</a:t>
            </a:r>
            <a:endParaRPr lang="en-US" sz="1100" dirty="0"/>
          </a:p>
        </p:txBody>
      </p:sp>
      <p:sp>
        <p:nvSpPr>
          <p:cNvPr id="12" name="Text 10"/>
          <p:cNvSpPr/>
          <p:nvPr/>
        </p:nvSpPr>
        <p:spPr>
          <a:xfrm>
            <a:off x="502920" y="406908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3</a:t>
            </a:r>
            <a:endParaRPr lang="en-US" sz="2600" dirty="0"/>
          </a:p>
        </p:txBody>
      </p:sp>
      <p:sp>
        <p:nvSpPr>
          <p:cNvPr id="13" name="Text 11"/>
          <p:cNvSpPr/>
          <p:nvPr/>
        </p:nvSpPr>
        <p:spPr>
          <a:xfrm>
            <a:off x="1280160" y="4069080"/>
            <a:ext cx="6675120" cy="365760"/>
          </a:xfrm>
          <a:prstGeom prst="rect">
            <a:avLst/>
          </a:prstGeom>
          <a:noFill/>
          <a:ln/>
        </p:spPr>
        <p:txBody>
          <a:bodyPr wrap="square" lIns="0" tIns="0" rIns="0" bIns="0" rtlCol="0" anchor="ctr"/>
          <a:lstStyle/>
          <a:p>
            <a:pPr indent="0" marL="0">
              <a:buNone/>
            </a:pPr>
            <a:r>
              <a:rPr lang="en-US" sz="1600" b="1" dirty="0">
                <a:solidFill>
                  <a:srgbClr val="F4ECDF"/>
                </a:solidFill>
                <a:latin typeface="Calibri" pitchFamily="34" charset="0"/>
                <a:ea typeface="Calibri" pitchFamily="34" charset="-122"/>
                <a:cs typeface="Calibri" pitchFamily="34" charset="-120"/>
              </a:rPr>
              <a:t>Basis-of-design work with the customer's architect and engineer</a:t>
            </a:r>
            <a:endParaRPr lang="en-US" sz="1600" dirty="0"/>
          </a:p>
        </p:txBody>
      </p:sp>
      <p:sp>
        <p:nvSpPr>
          <p:cNvPr id="14" name="Text 12"/>
          <p:cNvSpPr/>
          <p:nvPr/>
        </p:nvSpPr>
        <p:spPr>
          <a:xfrm>
            <a:off x="1280160" y="4453128"/>
            <a:ext cx="6675120" cy="548640"/>
          </a:xfrm>
          <a:prstGeom prst="rect">
            <a:avLst/>
          </a:prstGeom>
          <a:noFill/>
          <a:ln/>
        </p:spPr>
        <p:txBody>
          <a:bodyPr wrap="square" lIns="0" tIns="0" rIns="0" bIns="0" rtlCol="0" anchor="ctr"/>
          <a:lstStyle/>
          <a:p>
            <a:pPr indent="0" marL="0">
              <a:buNone/>
            </a:pPr>
            <a:r>
              <a:rPr lang="en-US" sz="1100" dirty="0">
                <a:solidFill>
                  <a:srgbClr val="9D8D76"/>
                </a:solidFill>
                <a:latin typeface="Calibri" pitchFamily="34" charset="0"/>
                <a:ea typeface="Calibri" pitchFamily="34" charset="-122"/>
                <a:cs typeface="Calibri" pitchFamily="34" charset="-120"/>
              </a:rPr>
              <a:t>Structural enclosure and truss solutions that can be written into the standard campus design</a:t>
            </a:r>
            <a:endParaRPr lang="en-US" sz="1100" dirty="0"/>
          </a:p>
        </p:txBody>
      </p:sp>
      <p:sp>
        <p:nvSpPr>
          <p:cNvPr id="15" name="Text 13"/>
          <p:cNvSpPr/>
          <p:nvPr/>
        </p:nvSpPr>
        <p:spPr>
          <a:xfrm>
            <a:off x="502920" y="512064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4</a:t>
            </a:r>
            <a:endParaRPr lang="en-US" sz="2600" dirty="0"/>
          </a:p>
        </p:txBody>
      </p:sp>
      <p:sp>
        <p:nvSpPr>
          <p:cNvPr id="16" name="Text 14"/>
          <p:cNvSpPr/>
          <p:nvPr/>
        </p:nvSpPr>
        <p:spPr>
          <a:xfrm>
            <a:off x="1280160" y="5120640"/>
            <a:ext cx="6675120" cy="365760"/>
          </a:xfrm>
          <a:prstGeom prst="rect">
            <a:avLst/>
          </a:prstGeom>
          <a:noFill/>
          <a:ln/>
        </p:spPr>
        <p:txBody>
          <a:bodyPr wrap="square" lIns="0" tIns="0" rIns="0" bIns="0" rtlCol="0" anchor="ctr"/>
          <a:lstStyle/>
          <a:p>
            <a:pPr indent="0" marL="0">
              <a:buNone/>
            </a:pPr>
            <a:r>
              <a:rPr lang="en-US" sz="1600" b="1" dirty="0">
                <a:solidFill>
                  <a:srgbClr val="F4ECDF"/>
                </a:solidFill>
                <a:latin typeface="Calibri" pitchFamily="34" charset="0"/>
                <a:ea typeface="Calibri" pitchFamily="34" charset="-122"/>
                <a:cs typeface="Calibri" pitchFamily="34" charset="-120"/>
              </a:rPr>
              <a:t>Measure the carbon delta</a:t>
            </a:r>
            <a:endParaRPr lang="en-US" sz="1600" dirty="0"/>
          </a:p>
        </p:txBody>
      </p:sp>
      <p:sp>
        <p:nvSpPr>
          <p:cNvPr id="17" name="Text 15"/>
          <p:cNvSpPr/>
          <p:nvPr/>
        </p:nvSpPr>
        <p:spPr>
          <a:xfrm>
            <a:off x="1280160" y="5504688"/>
            <a:ext cx="6675120" cy="548640"/>
          </a:xfrm>
          <a:prstGeom prst="rect">
            <a:avLst/>
          </a:prstGeom>
          <a:noFill/>
          <a:ln/>
        </p:spPr>
        <p:txBody>
          <a:bodyPr wrap="square" lIns="0" tIns="0" rIns="0" bIns="0" rtlCol="0" anchor="ctr"/>
          <a:lstStyle/>
          <a:p>
            <a:pPr indent="0" marL="0">
              <a:buNone/>
            </a:pPr>
            <a:r>
              <a:rPr lang="en-US" sz="1100" dirty="0">
                <a:solidFill>
                  <a:srgbClr val="9D8D76"/>
                </a:solidFill>
                <a:latin typeface="Calibri" pitchFamily="34" charset="0"/>
                <a:ea typeface="Calibri" pitchFamily="34" charset="-122"/>
                <a:cs typeface="Calibri" pitchFamily="34" charset="-120"/>
              </a:rPr>
              <a:t>A baseline bill-of-materials comparison and verification plan, so each project produces defensible numbers as the LCA completes</a:t>
            </a:r>
            <a:endParaRPr lang="en-US" sz="1100" dirty="0"/>
          </a:p>
        </p:txBody>
      </p:sp>
      <p:pic>
        <p:nvPicPr>
          <p:cNvPr id="18" name="Image 0" descr="prep/factory.jpg">    </p:cNvPr>
          <p:cNvPicPr>
            <a:picLocks noChangeAspect="1"/>
          </p:cNvPicPr>
          <p:nvPr/>
        </p:nvPicPr>
        <p:blipFill>
          <a:blip r:embed="rId1"/>
          <a:stretch>
            <a:fillRect/>
          </a:stretch>
        </p:blipFill>
        <p:spPr>
          <a:xfrm>
            <a:off x="8503920" y="1965960"/>
            <a:ext cx="3200400" cy="1800225"/>
          </a:xfrm>
          <a:prstGeom prst="rect">
            <a:avLst/>
          </a:prstGeom>
        </p:spPr>
      </p:pic>
      <p:sp>
        <p:nvSpPr>
          <p:cNvPr id="19" name="Text 16"/>
          <p:cNvSpPr/>
          <p:nvPr/>
        </p:nvSpPr>
        <p:spPr>
          <a:xfrm>
            <a:off x="8503920" y="3794760"/>
            <a:ext cx="3200400" cy="274320"/>
          </a:xfrm>
          <a:prstGeom prst="rect">
            <a:avLst/>
          </a:prstGeom>
          <a:noFill/>
          <a:ln/>
        </p:spPr>
        <p:txBody>
          <a:bodyPr wrap="square" lIns="0" tIns="0" rIns="0" bIns="0" rtlCol="0" anchor="ctr"/>
          <a:lstStyle/>
          <a:p>
            <a:pPr algn="ctr" indent="0" marL="0">
              <a:buNone/>
            </a:pPr>
            <a:r>
              <a:rPr lang="en-US" sz="1050" i="1" dirty="0">
                <a:solidFill>
                  <a:srgbClr val="9D8D76"/>
                </a:solidFill>
                <a:latin typeface="Calibri" pitchFamily="34" charset="0"/>
                <a:ea typeface="Calibri" pitchFamily="34" charset="-122"/>
                <a:cs typeface="Calibri" pitchFamily="34" charset="-120"/>
              </a:rPr>
              <a:t>SuperMill One, Frederick, MD</a:t>
            </a:r>
            <a:endParaRPr lang="en-US" sz="1050" dirty="0"/>
          </a:p>
        </p:txBody>
      </p:sp>
      <p:pic>
        <p:nvPicPr>
          <p:cNvPr id="20" name="Image 1" descr="media/image111.png">    </p:cNvPr>
          <p:cNvPicPr>
            <a:picLocks noChangeAspect="1"/>
          </p:cNvPicPr>
          <p:nvPr/>
        </p:nvPicPr>
        <p:blipFill>
          <a:blip r:embed="rId2"/>
          <a:srcRect l="0" r="0" t="0" b="0"/>
          <a:stretch/>
        </p:blipFill>
        <p:spPr>
          <a:xfrm>
            <a:off x="8503920" y="4160520"/>
            <a:ext cx="3200400" cy="1682496"/>
          </a:xfrm>
          <a:prstGeom prst="rect">
            <a:avLst/>
          </a:prstGeom>
        </p:spPr>
      </p:pic>
      <p:sp>
        <p:nvSpPr>
          <p:cNvPr id="21" name="Text 17"/>
          <p:cNvSpPr/>
          <p:nvPr/>
        </p:nvSpPr>
        <p:spPr>
          <a:xfrm>
            <a:off x="8503920" y="5897880"/>
            <a:ext cx="3200400" cy="274320"/>
          </a:xfrm>
          <a:prstGeom prst="rect">
            <a:avLst/>
          </a:prstGeom>
          <a:noFill/>
          <a:ln/>
        </p:spPr>
        <p:txBody>
          <a:bodyPr wrap="square" lIns="0" tIns="0" rIns="0" bIns="0" rtlCol="0" anchor="ctr"/>
          <a:lstStyle/>
          <a:p>
            <a:pPr algn="ctr" indent="0" marL="0">
              <a:buNone/>
            </a:pPr>
            <a:r>
              <a:rPr lang="en-US" sz="1050" i="1" dirty="0">
                <a:solidFill>
                  <a:srgbClr val="9D8D76"/>
                </a:solidFill>
                <a:latin typeface="Calibri" pitchFamily="34" charset="0"/>
                <a:ea typeface="Calibri" pitchFamily="34" charset="-122"/>
                <a:cs typeface="Calibri" pitchFamily="34" charset="-120"/>
              </a:rPr>
              <a:t>Concept for SuperMill Two</a:t>
            </a:r>
            <a:endParaRPr lang="en-US" sz="10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377440"/>
            <a:ext cx="9144000" cy="914400"/>
          </a:xfrm>
          <a:prstGeom prst="rect">
            <a:avLst/>
          </a:prstGeom>
          <a:noFill/>
          <a:ln/>
        </p:spPr>
        <p:txBody>
          <a:bodyPr wrap="square" lIns="0" tIns="0" rIns="0" bIns="0" rtlCol="0" anchor="ctr"/>
          <a:lstStyle/>
          <a:p>
            <a:pPr indent="0" marL="0">
              <a:buNone/>
            </a:pPr>
            <a:r>
              <a:rPr lang="en-US" sz="4400" dirty="0">
                <a:solidFill>
                  <a:srgbClr val="F4ECDF"/>
                </a:solidFill>
                <a:latin typeface="Georgia" pitchFamily="34" charset="0"/>
                <a:ea typeface="Georgia" pitchFamily="34" charset="-122"/>
                <a:cs typeface="Georgia" pitchFamily="34" charset="-120"/>
              </a:rPr>
              <a:t>Let's build what's </a:t>
            </a:r>
            <a:pPr indent="0" marL="0">
              <a:buNone/>
            </a:pPr>
            <a:r>
              <a:rPr lang="en-US" sz="4400" i="1" dirty="0">
                <a:solidFill>
                  <a:srgbClr val="E2B877"/>
                </a:solidFill>
                <a:latin typeface="Georgia" pitchFamily="34" charset="0"/>
                <a:ea typeface="Georgia" pitchFamily="34" charset="-122"/>
                <a:cs typeface="Georgia" pitchFamily="34" charset="-120"/>
              </a:rPr>
              <a:t>next</a:t>
            </a:r>
            <a:pPr indent="0" marL="0">
              <a:buNone/>
            </a:pPr>
            <a:r>
              <a:rPr lang="en-US" sz="4400" dirty="0">
                <a:solidFill>
                  <a:srgbClr val="F4ECDF"/>
                </a:solidFill>
                <a:latin typeface="Georgia" pitchFamily="34" charset="0"/>
                <a:ea typeface="Georgia" pitchFamily="34" charset="-122"/>
                <a:cs typeface="Georgia" pitchFamily="34" charset="-120"/>
              </a:rPr>
              <a:t>.</a:t>
            </a:r>
            <a:endParaRPr lang="en-US" sz="4400" dirty="0"/>
          </a:p>
        </p:txBody>
      </p:sp>
      <p:pic>
        <p:nvPicPr>
          <p:cNvPr id="3" name="Image 0" descr="prep/wordmark_cream.png">    </p:cNvPr>
          <p:cNvPicPr>
            <a:picLocks noChangeAspect="1"/>
          </p:cNvPicPr>
          <p:nvPr/>
        </p:nvPicPr>
        <p:blipFill>
          <a:blip r:embed="rId2"/>
          <a:stretch>
            <a:fillRect/>
          </a:stretch>
        </p:blipFill>
        <p:spPr>
          <a:xfrm>
            <a:off x="914400" y="3657600"/>
            <a:ext cx="4114800" cy="658237"/>
          </a:xfrm>
          <a:prstGeom prst="rect">
            <a:avLst/>
          </a:prstGeom>
        </p:spPr>
      </p:pic>
      <p:sp>
        <p:nvSpPr>
          <p:cNvPr id="4" name="Text 1"/>
          <p:cNvSpPr/>
          <p:nvPr/>
        </p:nvSpPr>
        <p:spPr>
          <a:xfrm>
            <a:off x="914400" y="4480560"/>
            <a:ext cx="8229600" cy="365760"/>
          </a:xfrm>
          <a:prstGeom prst="rect">
            <a:avLst/>
          </a:prstGeom>
          <a:noFill/>
          <a:ln/>
        </p:spPr>
        <p:txBody>
          <a:bodyPr wrap="square" lIns="0" tIns="0" rIns="0" bIns="0" rtlCol="0" anchor="ctr"/>
          <a:lstStyle/>
          <a:p>
            <a:pPr indent="0" marL="0">
              <a:buNone/>
            </a:pPr>
            <a:r>
              <a:rPr lang="en-US" sz="1400" dirty="0">
                <a:solidFill>
                  <a:srgbClr val="CDBFA9"/>
                </a:solidFill>
                <a:latin typeface="Calibri" pitchFamily="34" charset="0"/>
                <a:ea typeface="Calibri" pitchFamily="34" charset="-122"/>
                <a:cs typeface="Calibri" pitchFamily="34" charset="-120"/>
              </a:rPr>
              <a:t>Alex Lau · CEO / Co-Founder · alex@inventwood.com</a:t>
            </a:r>
            <a:endParaRPr lang="en-US" sz="1400" dirty="0"/>
          </a:p>
        </p:txBody>
      </p:sp>
      <p:sp>
        <p:nvSpPr>
          <p:cNvPr id="5" name="Text 2"/>
          <p:cNvSpPr/>
          <p:nvPr/>
        </p:nvSpPr>
        <p:spPr>
          <a:xfrm>
            <a:off x="914400" y="4892040"/>
            <a:ext cx="8229600" cy="365760"/>
          </a:xfrm>
          <a:prstGeom prst="rect">
            <a:avLst/>
          </a:prstGeom>
          <a:noFill/>
          <a:ln/>
        </p:spPr>
        <p:txBody>
          <a:bodyPr wrap="square" lIns="0" tIns="0" rIns="0" bIns="0" rtlCol="0" anchor="ctr"/>
          <a:lstStyle/>
          <a:p>
            <a:pPr indent="0" marL="0">
              <a:buNone/>
            </a:pPr>
            <a:r>
              <a:rPr lang="en-US" sz="1400" dirty="0">
                <a:solidFill>
                  <a:srgbClr val="CDBFA9"/>
                </a:solidFill>
                <a:latin typeface="Calibri" pitchFamily="34" charset="0"/>
                <a:ea typeface="Calibri" pitchFamily="34" charset="-122"/>
                <a:cs typeface="Calibri" pitchFamily="34" charset="-120"/>
              </a:rPr>
              <a:t>Lex Harris · Director, Capital Markets &amp; IR · lex@inventwood.com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2026-09-02T07:50:37Z</dcterms:created>
  <dcterms:modified xsi:type="dcterms:W3CDTF">2026-09-02T07:50:37Z</dcterms:modified>
</cp:coreProperties>
</file>